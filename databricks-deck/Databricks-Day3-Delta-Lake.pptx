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Day 3 — a deep dive on Delta Lake, the single most important storage technology in the Databricks platform. Frame the arc: Part 1, why traditional data lakes fail and what that costs the business; Part 2, what Delta Lake is and how it's architected; Part 3, how it works internally — ACID, the transaction log, time travel, schema enforcement and evolution; Part 4, how it powers the medallion architecture, the Lakehouse, performance, governance and real pipelines. By the end, attendees should understand not just what Delta Lake does, but WHY each feature exists and how it makes a data lake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 out the four parts and the learning outcome of each. Stress the narrative logic: we start with the pain (why lakes fail), then the solution (what Delta is), then the mechanism (how it works), then the application (how it powers a real platform). Tell learners that Day 1 and Day 2 introduced Delta Lake at a high level; today we go deep enough that they can reason about reliability, versioning and performance themselves.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01: The Problem. Transition slide — pause, then preview the four ideas listed. Use it to re-anchor the narrative and tell the audience what they'll be able to do by the end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entire course problem. A 'data lake' in its raw form is simply a pile of files (often Parquet) on cheap object storage. That gives scale and low cost, but none of the guarantees a database provides. Walk the five failure modes: DIRTY DATA (no validation, so nulls and malformed rows accumulate), CORRUPTION (a job that fails mid-write leaves partial files), NO TRANSACTIONS (two writers at once can clobber each other — there's no ACID), DUPLICATES (a retried or re-run job appends the same data twice), and SCHEMA DRIFT (the shape of the data changes silently and breaks downstream reads). The vivid term is 'data swamp.' Delta Lake exists to fix every one of these.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Translate the technical problems into business consequences for the executives in the room. Bad data isn't an engineering nuisance — it's a financial and risk problem. Industry studies (Gartner) peg the average cost of poor data quality around $12.9M per year per organization. Engineers reportedly spend up to 80% of their time wrangling and fixing data rather than creating value. And when leaders don't trust the numbers, analytics initiatives stall. Present the figures as widely-cited industry estimates. The point: reliability isn't a 'nice to have' — it directly protects revenue, speed and trust. That's the value case for Delta Lake.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02: Delta Lake Fundamentals. Transition slide — pause, then preview the four ideas listed. Use it to re-anchor the narrative and tell the audience what they'll be able to do by the end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crisp definition: Delta Lake is an open-source storage layer that adds ACID transactions and reliability on top of data lakes. The radial wheel previews the six capabilities we'll explore — reliability, ACID, time travel, streaming, governance and scalability — all radiating from one open table format. Three things to stress: it's OPEN (just Parquet files plus a log, no proprietary lock-in), it UNIFIES batch and streaming on a single table, and it's the foundation the entire Lakehouse is built on. Everything in Parts 3 and 4 elaborates one of these spokes.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how Delta Lake sits in the stack and what a Delta table actually contains. On the left, the layered flow: USERS work through DATABRICKS (Spark + Photon), which reads and writes DELTA LAKE tables that physically live in the customer's own CLOUD STORAGE. Delta is the reliability layer between the compute and the raw files. On the right, open up a single Delta table: it's three things — the TRANSACTION LOG (_delta_log, the ordered JSON commits that are the brain of the table), the METADATA (schema, partitions, statistics, the list of valid files), and the DATA FILES (immutable Parquet). The log is what we'll spend Part 3 on — it's the source of every guarantee.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moving parts as a wheel. The DELTA TABLE is the user-facing unit — what feels like a single reliable table. Underneath, the TRANSACTION LOG records every change as ordered commits. The METADATA layer tracks schema, partitions and column statistics (used to skip files for speed). The STORAGE LAYER is the immutable Parquet data files on object storage. And the OPTIMIZATION ENGINE provides operations like OPTIMIZE (compaction) and Z-ORDER (data clustering) to keep reads fast. These five pieces working together are what make a folder of files behave like a database. We'll see the log and optimization in detail shortly.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03: How Delta Lake Works. Transition slide — pause, then preview the four ideas listed. Use it to re-anchor the narrative and tell the audience what they'll be able to do by the end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ACID is the bedrock concept — define each with a relatable example. ATOMICITY: a write is all-or-nothing; if a job loading a million rows fails at row 600k, the table is left exactly as it was — no half-loaded mess. CONSISTENCY: every committed transaction leaves the table in a valid state that respects its schema and constraints. ISOLATION: while one job is writing, readers still see the last good version — they never see a dirty, in-progress state, and concurrent writers are serialized safely. DURABILITY: once a commit succeeds, it's permanent and survives crashes. The punchline: these four properties are exactly what traditional data lakes lacked, and what Delta delivers directly on object storage.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transaction log is the single most important internal concept — everything else derives from it. Walk the flow: a WRITE REQUEST proposes changes; Delta prepares a new commit (LOG UPDATE) that records exactly which files are added and removed; the ATOMIC COMMIT writes a new numbered JSON file into the _delta_log folder in one operation — it either lands completely or not at all; and any reader achieves READ CONSISTENCY by replaying the ordered log to compute the current set of valid files, giving a clean snapshot. Show the version strip: 00000.json, 00001.json, … — each commit is a new immutable version. This is simultaneously the source of ACID, time travel and audit. Optimistic concurrency control resolves competing writers.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ACID and the log together into the end-to-end reliability path that every write follows. WRITE: new Parquet files are staged. VALIDATE: the data is checked against the table's schema and constraints — bad data is rejected before it can pollute the table. COMMIT: an atomic entry is added to the transaction log. VERSION: that commit becomes a new, numbered version of the table. READ: every reader gets a consistent snapshot computed from the log. The message for engineers: reliability isn't something you bolt on with extra code — it's structurally guaranteed by this pipeline. This is exactly what raw data lakes couldn't promise.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travel is one of Delta's most loved features and follows directly from the log. Because every commit creates a new version (v0, v1, v2, …), you can query the table AS OF any past version or timestamp. Walk the story: v0 initial load, v1 adds rows, v2 is a bad update that corrupts values, and v3 simply RESTORES back to v1 — the bad change is undone in one command. Real uses: auditing (what did this table look like last quarter?), reproducible ML (train on the exact data snapshot), debugging (compare versions), and instant recovery from mistakes. The reassuring message: with Delta, a bad write is no longer a disaster — it's reversible.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Schema enforcement (also called schema-on-write validation) is Delta's quality gatekeeper. Use the before/after contrast. WITHOUT Delta, any job can write any shape of data — a column typo, a wrong data type, an extra field — and it lands silently, drifting the schema and eventually breaking the dashboards and pipelines that read it. WITH Delta, every write is checked against the table's declared schema; if it doesn't match, the write is rejected before any damage is done. This single behavior prevents the most common cause of 'data swamp' decay. Note it's strict by default but intentionally overridable — which leads to the next slide, schema evolution.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Schema evolution is the deliberate counterpart to enforcement. Business data legitimately changes — a new column appears, a field is added. Without control, that's chaos; with Delta, it's a managed operation. Walk the flow: a NEW COLUMN arrives in the source; Delta VALIDATES that the change is safe and explicit; using an explicit option (mergeSchema), the table EVOLVES to include the new column; and you get an UPDATED TABLE with zero pipeline rewrites. The key teaching point: enforcement and evolution are two sides of one coin — enforcement blocks ACCIDENTAL drift, evolution permits INTENTIONAL change. Together they let tables adapt without ever becoming unreliable.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defining Delta capability: the same table serves both batch and streaming, eliminating the classic 'two pipelines' problem (the old Lambda architecture). On the left, BATCH sources (file loads, database dumps, history) and STREAMING sources (Kafka, events, IoT) both write into ONE Delta table. On the right, that single table simultaneously feeds BI, machine learning and analytics. Because Delta provides ACID and a transaction log, a streaming writer and a batch reader can safely share the same table at the same time. The benefit: one copy of data, one codebase, no reconciling separate batch and speed layers — a huge simplification.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04: Platform &amp; Value. Transition slide — pause, then preview the four ideas listed. Use it to re-anchor the narrative and tell the audience what they'll be able to do by the end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Delta to the architecture pattern attendees saw in Days 1-2 — but now they understand WHY it works. The medallion refines data through Bronze (raw), Silver (cleansed) and Gold (curated) layers. The crucial point for this deck: every one of those layers is a Delta table, so ACID, schema enforcement and time travel apply at every hop. That's what makes the pattern trustworthy — if Silver were just raw files, a failed cleansing job could corrupt it. Because it's Delta, the transformation either commits cleanly or not at all, and you can always roll back. Reliability compounds as data flows toward Gold.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where Delta fits in the bigger picture with a simple equation. Cloud Storage gives you cheap, infinite capacity but no reliability. Databricks gives you powerful compute and governance. Delta Lake is the missing middle layer — the reliability and transaction layer — that binds them into a Lakehouse. The key message: Delta is the KEYSTONE. Without it, cloud storage plus compute is just a data lake with all the problems from Part 1. With it, you get warehouse-grade reliability on lake-grade economics. This is why Delta is the default table format on Databricks.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isn't just reliable — it's fast, and these four levers are how. OPTIMIZE compacts the many small files that streaming and frequent writes create into fewer large ones, which dramatically speeds up scans (the 'small file problem' is a top cause of slow lakes). Z-ORDER physically co-locates related data so that, combined with the column statistics in the log, queries can SKIP files that can't match — reading far less data. Auto-compaction and optimized writes do this automatically. And the Delta cache plus Photon keep hot data fast. The combined payoff: faster queries at lower cost, because the engine reads less and works more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Reliability and governance are complementary: Delta makes data trustworthy, Unity Catalog controls and proves how it's used. Walk the chain: UNITY CATALOG provides one governance layer over every Delta table (and ML model and file); SECURITY means fine-grained, SQL-based access control down to rows and columns, tied to corporate identity; AUDIT &amp; LINEAGE are automatic and column-level, so you can see exactly where data came from and who touched it; and COMPLIANCE (GDPR, HIPAA, SOC 2) is achievable — Delta's time travel even provides historical evidence of what data looked like at any point. The combination is what enterprises need to run regulated workloads on a lake.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pipeline, now told from Delta's perspective. Data flows from SOURCES through INGESTION (Auto Loader handles both streaming and batch) into the BRONZE → SILVER → GOLD medallion, then out to DASHBOARDS and AI/ML. The single unifying message of the whole day: every stage reads and writes DELTA LAKE tables, so the entire pipeline inherits ACID reliability, schema control, time travel and governance from end to end — one open copy of data, no silos, no swamp. Walk it slowly and connect each box back to a feature covered earlier today.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breadth across industries, anchoring each to a Delta capability the audience now understands. Retail and e-commerce lean on unified batch+streaming for real-time inventory and recommendations. Banking depends on ACID and time travel for auditable, compliant transaction data. Healthcare values versioning for reproducible research and regulatory evidence. Manufacturing and telecom rely on merging massive IoT/event streams with batch data into one trusted table. Pick the two verticals closest to your audience and go deeper. The common thread: in every case, Delta's reliability is what makes the use case production-grade rather than a fragile experiment.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value as a benefits wheel — the executive takeaway. RELIABILITY (ACID and quality) is the headline. FASTER ANALYTICS comes from OPTIMIZE, Z-ORDER and Photon. SCALABILITY to petabytes on cheap storage. GOVERNANCE through Unity Catalog. LOWER COST because you keep one open copy of data instead of duplicating into a separate warehouse. And DATA QUALITY from schema enforcement. Each spoke maps back to something we covered today, so this slide doubles as a recap. If a leader remembers one thing: Delta makes the data lake trustworthy enough to run the business 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the audience with an actionable checklist. The most important habit: make Delta the default for every table — there's rarely a reason to use plain Parquet. Structure pipelines with the medallion pattern. Maintain performance with OPTIMIZE and Z-ORDER on big tables. Keep schema enforcement on and evolve deliberately with mergeSchema. Use MERGE for upserts and CDC rather than delete-and-reload. Be thoughtful with partitioning — over-partitioning recreates the small-file problem. Govern with Unity Catalog from the start, not as an afterthought. And lean on time travel for audits, recovery and reproducible ML. These eight habits cover the vast majority of production Delta success.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four-part journey: the PROBLEM (raw lakes are unreliable and that costs the business), DELTA LAKE (an open Parquet-plus-log layer that adds ACID), HOW IT WORKS (the transaction log is the brain, enabling time travel and schema control), and THE VALUE (Delta is the trusted, fast, governed foundation of the Lakehouse). Quiz the room on the four banner statements. If they can explain why the transaction log makes a lake reliable, the day succeeded. Transition to Q&amp;A.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and open the floor. Recap the six icons — reliability, ACID, time travel, schema control, medallion and the Lakehouse. Point to resources: docs.delta.io and delta.io (Delta is open source — anyone can use it beyond Databricks), Databricks Academy for structured learning, and the free edition to practice. Preview the next session: a hands-on lab creating Delta tables, running MERGE and OPTIMIZE, and demonstrating time travel live.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Isosceles Triangle 7"/>
          <p:cNvSpPr/>
          <p:nvPr/>
        </p:nvSpPr>
        <p:spPr>
          <a:xfrm>
            <a:off x="8595360" y="1920240"/>
            <a:ext cx="2743200" cy="2468880"/>
          </a:xfrm>
          <a:prstGeom prst="triangle">
            <a:avLst/>
          </a:prstGeom>
          <a:noFill/>
          <a:ln w="31750">
            <a:solidFill>
              <a:srgbClr val="FF36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Isosceles Triangle 8"/>
          <p:cNvSpPr/>
          <p:nvPr/>
        </p:nvSpPr>
        <p:spPr>
          <a:xfrm>
            <a:off x="9281160" y="2788920"/>
            <a:ext cx="1371600" cy="1280160"/>
          </a:xfrm>
          <a:prstGeom prst="triangl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566928" y="1325880"/>
            <a:ext cx="82296" cy="182880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41247" y="1280160"/>
            <a:ext cx="8686800" cy="274320"/>
          </a:xfrm>
          <a:prstGeom prst="rect">
            <a:avLst/>
          </a:prstGeom>
          <a:noFill/>
        </p:spPr>
        <p:txBody>
          <a:bodyPr wrap="square" anchor="t" lIns="0" rIns="0" tIns="0" bIns="0">
            <a:spAutoFit/>
          </a:bodyPr>
          <a:lstStyle/>
          <a:p>
            <a:pPr algn="l">
              <a:lnSpc>
                <a:spcPct val="100000"/>
              </a:lnSpc>
              <a:spcBef>
                <a:spcPts val="0"/>
              </a:spcBef>
              <a:spcAft>
                <a:spcPts val="200"/>
              </a:spcAft>
            </a:pPr>
            <a:r>
              <a:rPr sz="1250" b="1" i="0">
                <a:solidFill>
                  <a:srgbClr val="FF6B57"/>
                </a:solidFill>
                <a:latin typeface="Segoe UI Semibold"/>
              </a:rPr>
              <a:t>DATABRICKS ENABLEMENT  ·  DAY 3</a:t>
            </a:r>
          </a:p>
        </p:txBody>
      </p:sp>
      <p:sp>
        <p:nvSpPr>
          <p:cNvPr id="12" name="TextBox 11"/>
          <p:cNvSpPr txBox="1"/>
          <p:nvPr/>
        </p:nvSpPr>
        <p:spPr>
          <a:xfrm>
            <a:off x="813816" y="1664208"/>
            <a:ext cx="8229600" cy="1097280"/>
          </a:xfrm>
          <a:prstGeom prst="rect">
            <a:avLst/>
          </a:prstGeom>
          <a:noFill/>
        </p:spPr>
        <p:txBody>
          <a:bodyPr wrap="square" anchor="t" lIns="0" rIns="0" tIns="0" bIns="0">
            <a:spAutoFit/>
          </a:bodyPr>
          <a:lstStyle/>
          <a:p>
            <a:pPr algn="l">
              <a:lnSpc>
                <a:spcPct val="100000"/>
              </a:lnSpc>
              <a:spcBef>
                <a:spcPts val="0"/>
              </a:spcBef>
              <a:spcAft>
                <a:spcPts val="200"/>
              </a:spcAft>
            </a:pPr>
            <a:r>
              <a:rPr sz="5800" b="1" i="0">
                <a:solidFill>
                  <a:srgbClr val="FFFFFF"/>
                </a:solidFill>
                <a:latin typeface="Segoe UI"/>
              </a:rPr>
              <a:t>Delta Lake</a:t>
            </a:r>
          </a:p>
        </p:txBody>
      </p:sp>
      <p:sp>
        <p:nvSpPr>
          <p:cNvPr id="13" name="TextBox 12"/>
          <p:cNvSpPr txBox="1"/>
          <p:nvPr/>
        </p:nvSpPr>
        <p:spPr>
          <a:xfrm>
            <a:off x="832103" y="2706624"/>
            <a:ext cx="8229600" cy="731520"/>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FF3621"/>
                </a:solidFill>
                <a:latin typeface="Segoe UI Light"/>
              </a:rPr>
              <a:t>Reliability for the Data Lake</a:t>
            </a:r>
          </a:p>
        </p:txBody>
      </p:sp>
      <p:sp>
        <p:nvSpPr>
          <p:cNvPr id="14" name="TextBox 13"/>
          <p:cNvSpPr txBox="1"/>
          <p:nvPr/>
        </p:nvSpPr>
        <p:spPr>
          <a:xfrm>
            <a:off x="841247" y="3529584"/>
            <a:ext cx="7680960" cy="640080"/>
          </a:xfrm>
          <a:prstGeom prst="rect">
            <a:avLst/>
          </a:prstGeom>
          <a:noFill/>
        </p:spPr>
        <p:txBody>
          <a:bodyPr wrap="square" anchor="t" lIns="0" rIns="0" tIns="0" bIns="0">
            <a:spAutoFit/>
          </a:bodyPr>
          <a:lstStyle/>
          <a:p>
            <a:pPr algn="l">
              <a:lnSpc>
                <a:spcPct val="125000"/>
              </a:lnSpc>
              <a:spcBef>
                <a:spcPts val="0"/>
              </a:spcBef>
              <a:spcAft>
                <a:spcPts val="200"/>
              </a:spcAft>
            </a:pPr>
            <a:r>
              <a:rPr sz="1400" b="0" i="0">
                <a:solidFill>
                  <a:srgbClr val="C4D0D4"/>
                </a:solidFill>
                <a:latin typeface="Segoe UI"/>
              </a:rPr>
              <a:t>The open storage layer that brings ACID transactions, time travel and governed reliability to cheap cloud storage — the foundation of the Lakehouse.</a:t>
            </a:r>
          </a:p>
        </p:txBody>
      </p:sp>
      <p:sp>
        <p:nvSpPr>
          <p:cNvPr id="15" name="Rounded Rectangle 14"/>
          <p:cNvSpPr/>
          <p:nvPr/>
        </p:nvSpPr>
        <p:spPr>
          <a:xfrm>
            <a:off x="841247" y="4434840"/>
            <a:ext cx="2432304" cy="548640"/>
          </a:xfrm>
          <a:prstGeom prst="roundRect">
            <a:avLst>
              <a:gd name="adj" fmla="val 50000"/>
            </a:avLst>
          </a:prstGeom>
          <a:noFill/>
          <a:ln w="1651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42415" y="4434840"/>
            <a:ext cx="2157984" cy="548640"/>
          </a:xfrm>
          <a:prstGeom prst="rect">
            <a:avLst/>
          </a:prstGeom>
          <a:noFill/>
        </p:spPr>
        <p:txBody>
          <a:bodyPr wrap="square" anchor="ctr" lIns="0" rIns="0" tIns="0" bIns="0">
            <a:spAutoFit/>
          </a:bodyPr>
          <a:lstStyle/>
          <a:p>
            <a:pPr algn="l">
              <a:lnSpc>
                <a:spcPct val="100000"/>
              </a:lnSpc>
              <a:spcBef>
                <a:spcPts val="0"/>
              </a:spcBef>
              <a:spcAft>
                <a:spcPts val="200"/>
              </a:spcAft>
            </a:pPr>
            <a:r>
              <a:rPr sz="1200" b="1" i="0">
                <a:solidFill>
                  <a:srgbClr val="FF3621"/>
                </a:solidFill>
                <a:latin typeface="Segoe UI"/>
              </a:rPr>
              <a:t>01  </a:t>
            </a:r>
            <a:r>
              <a:rPr sz="1100" b="1" i="0">
                <a:solidFill>
                  <a:srgbClr val="FFFFFF"/>
                </a:solidFill>
                <a:latin typeface="Segoe UI"/>
              </a:rPr>
              <a:t>The Problem</a:t>
            </a:r>
          </a:p>
        </p:txBody>
      </p:sp>
      <p:sp>
        <p:nvSpPr>
          <p:cNvPr id="17" name="Rounded Rectangle 16"/>
          <p:cNvSpPr/>
          <p:nvPr/>
        </p:nvSpPr>
        <p:spPr>
          <a:xfrm>
            <a:off x="3456432" y="4434840"/>
            <a:ext cx="2432304" cy="548640"/>
          </a:xfrm>
          <a:prstGeom prst="roundRect">
            <a:avLst>
              <a:gd name="adj" fmla="val 50000"/>
            </a:avLst>
          </a:prstGeom>
          <a:noFill/>
          <a:ln w="1651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57600" y="4434840"/>
            <a:ext cx="2157984" cy="548640"/>
          </a:xfrm>
          <a:prstGeom prst="rect">
            <a:avLst/>
          </a:prstGeom>
          <a:noFill/>
        </p:spPr>
        <p:txBody>
          <a:bodyPr wrap="square" anchor="ctr" lIns="0" rIns="0" tIns="0" bIns="0">
            <a:spAutoFit/>
          </a:bodyPr>
          <a:lstStyle/>
          <a:p>
            <a:pPr algn="l">
              <a:lnSpc>
                <a:spcPct val="100000"/>
              </a:lnSpc>
              <a:spcBef>
                <a:spcPts val="0"/>
              </a:spcBef>
              <a:spcAft>
                <a:spcPts val="200"/>
              </a:spcAft>
            </a:pPr>
            <a:r>
              <a:rPr sz="1200" b="1" i="0">
                <a:solidFill>
                  <a:srgbClr val="FF3621"/>
                </a:solidFill>
                <a:latin typeface="Segoe UI"/>
              </a:rPr>
              <a:t>02  </a:t>
            </a:r>
            <a:r>
              <a:rPr sz="1100" b="1" i="0">
                <a:solidFill>
                  <a:srgbClr val="FFFFFF"/>
                </a:solidFill>
                <a:latin typeface="Segoe UI"/>
              </a:rPr>
              <a:t>Fundamentals</a:t>
            </a:r>
          </a:p>
        </p:txBody>
      </p:sp>
      <p:sp>
        <p:nvSpPr>
          <p:cNvPr id="19" name="Rounded Rectangle 18"/>
          <p:cNvSpPr/>
          <p:nvPr/>
        </p:nvSpPr>
        <p:spPr>
          <a:xfrm>
            <a:off x="6071616" y="4434840"/>
            <a:ext cx="2432304" cy="548640"/>
          </a:xfrm>
          <a:prstGeom prst="roundRect">
            <a:avLst>
              <a:gd name="adj" fmla="val 50000"/>
            </a:avLst>
          </a:prstGeom>
          <a:noFill/>
          <a:ln w="1651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272784" y="4434840"/>
            <a:ext cx="2157984" cy="548640"/>
          </a:xfrm>
          <a:prstGeom prst="rect">
            <a:avLst/>
          </a:prstGeom>
          <a:noFill/>
        </p:spPr>
        <p:txBody>
          <a:bodyPr wrap="square" anchor="ctr" lIns="0" rIns="0" tIns="0" bIns="0">
            <a:spAutoFit/>
          </a:bodyPr>
          <a:lstStyle/>
          <a:p>
            <a:pPr algn="l">
              <a:lnSpc>
                <a:spcPct val="100000"/>
              </a:lnSpc>
              <a:spcBef>
                <a:spcPts val="0"/>
              </a:spcBef>
              <a:spcAft>
                <a:spcPts val="200"/>
              </a:spcAft>
            </a:pPr>
            <a:r>
              <a:rPr sz="1200" b="1" i="0">
                <a:solidFill>
                  <a:srgbClr val="FF3621"/>
                </a:solidFill>
                <a:latin typeface="Segoe UI"/>
              </a:rPr>
              <a:t>03  </a:t>
            </a:r>
            <a:r>
              <a:rPr sz="1100" b="1" i="0">
                <a:solidFill>
                  <a:srgbClr val="FFFFFF"/>
                </a:solidFill>
                <a:latin typeface="Segoe UI"/>
              </a:rPr>
              <a:t>How It Works</a:t>
            </a:r>
          </a:p>
        </p:txBody>
      </p:sp>
      <p:sp>
        <p:nvSpPr>
          <p:cNvPr id="21" name="Rounded Rectangle 20"/>
          <p:cNvSpPr/>
          <p:nvPr/>
        </p:nvSpPr>
        <p:spPr>
          <a:xfrm>
            <a:off x="8686800" y="4434840"/>
            <a:ext cx="2432304" cy="548640"/>
          </a:xfrm>
          <a:prstGeom prst="roundRect">
            <a:avLst>
              <a:gd name="adj" fmla="val 50000"/>
            </a:avLst>
          </a:prstGeom>
          <a:noFill/>
          <a:ln w="1651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887968" y="4434840"/>
            <a:ext cx="2157984" cy="548640"/>
          </a:xfrm>
          <a:prstGeom prst="rect">
            <a:avLst/>
          </a:prstGeom>
          <a:noFill/>
        </p:spPr>
        <p:txBody>
          <a:bodyPr wrap="square" anchor="ctr" lIns="0" rIns="0" tIns="0" bIns="0">
            <a:spAutoFit/>
          </a:bodyPr>
          <a:lstStyle/>
          <a:p>
            <a:pPr algn="l">
              <a:lnSpc>
                <a:spcPct val="100000"/>
              </a:lnSpc>
              <a:spcBef>
                <a:spcPts val="0"/>
              </a:spcBef>
              <a:spcAft>
                <a:spcPts val="200"/>
              </a:spcAft>
            </a:pPr>
            <a:r>
              <a:rPr sz="1200" b="1" i="0">
                <a:solidFill>
                  <a:srgbClr val="FF3621"/>
                </a:solidFill>
                <a:latin typeface="Segoe UI"/>
              </a:rPr>
              <a:t>04  </a:t>
            </a:r>
            <a:r>
              <a:rPr sz="1100" b="1" i="0">
                <a:solidFill>
                  <a:srgbClr val="FFFFFF"/>
                </a:solidFill>
                <a:latin typeface="Segoe UI"/>
              </a:rPr>
              <a:t>Platform &amp; Value</a:t>
            </a:r>
          </a:p>
        </p:txBody>
      </p:sp>
      <p:sp>
        <p:nvSpPr>
          <p:cNvPr id="23" name="Rectangle 22"/>
          <p:cNvSpPr/>
          <p:nvPr/>
        </p:nvSpPr>
        <p:spPr>
          <a:xfrm>
            <a:off x="841247" y="5532120"/>
            <a:ext cx="5943600" cy="18288"/>
          </a:xfrm>
          <a:prstGeom prst="rect">
            <a:avLst/>
          </a:prstGeom>
          <a:solidFill>
            <a:srgbClr val="3A53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41247" y="5687568"/>
            <a:ext cx="10058400" cy="365760"/>
          </a:xfrm>
          <a:prstGeom prst="rect">
            <a:avLst/>
          </a:prstGeom>
          <a:noFill/>
        </p:spPr>
        <p:txBody>
          <a:bodyPr wrap="square" anchor="t" lIns="0" rIns="0" tIns="0" bIns="0">
            <a:spAutoFit/>
          </a:bodyPr>
          <a:lstStyle/>
          <a:p>
            <a:pPr algn="l">
              <a:lnSpc>
                <a:spcPct val="100000"/>
              </a:lnSpc>
              <a:spcBef>
                <a:spcPts val="0"/>
              </a:spcBef>
              <a:spcAft>
                <a:spcPts val="200"/>
              </a:spcAft>
            </a:pPr>
            <a:r>
              <a:rPr sz="1150" b="0" i="0">
                <a:solidFill>
                  <a:srgbClr val="9AA6AB"/>
                </a:solidFill>
                <a:latin typeface="Segoe UI"/>
              </a:rPr>
              <a:t>Audience:  Data Engineers · Architects · Big Data Developers · Cloud &amp; Analytics Teams</a:t>
            </a:r>
          </a:p>
        </p:txBody>
      </p:sp>
      <p:sp>
        <p:nvSpPr>
          <p:cNvPr id="25" name="TextBox 24"/>
          <p:cNvSpPr txBox="1"/>
          <p:nvPr/>
        </p:nvSpPr>
        <p:spPr>
          <a:xfrm>
            <a:off x="841247" y="6053328"/>
            <a:ext cx="10058400" cy="365760"/>
          </a:xfrm>
          <a:prstGeom prst="rect">
            <a:avLst/>
          </a:prstGeom>
          <a:noFill/>
        </p:spPr>
        <p:txBody>
          <a:bodyPr wrap="square" anchor="t" lIns="0" rIns="0" tIns="0" bIns="0">
            <a:spAutoFit/>
          </a:bodyPr>
          <a:lstStyle/>
          <a:p>
            <a:pPr algn="l">
              <a:lnSpc>
                <a:spcPct val="100000"/>
              </a:lnSpc>
              <a:spcBef>
                <a:spcPts val="0"/>
              </a:spcBef>
              <a:spcAft>
                <a:spcPts val="200"/>
              </a:spcAft>
            </a:pPr>
            <a:r>
              <a:rPr sz="1150" b="0" i="1">
                <a:solidFill>
                  <a:srgbClr val="9AA6AB"/>
                </a:solidFill>
                <a:latin typeface="Segoe UI"/>
              </a:rPr>
              <a:t>Open source · multi-cloud · the storage foundation beneath every Databricks workload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DAY 3 ROADMAP</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What You'll Learn</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74519"/>
            <a:ext cx="2558719" cy="41148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874519"/>
            <a:ext cx="2558719" cy="128016"/>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1411947" y="2263140"/>
            <a:ext cx="868680" cy="86868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Isosceles Triangle 9"/>
          <p:cNvSpPr/>
          <p:nvPr/>
        </p:nvSpPr>
        <p:spPr>
          <a:xfrm>
            <a:off x="1646491" y="2521659"/>
            <a:ext cx="399592" cy="351641"/>
          </a:xfrm>
          <a:prstGeom prst="triangle">
            <a:avLst/>
          </a:prstGeom>
          <a:noFill/>
          <a:ln w="38849">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1826308" y="2665512"/>
            <a:ext cx="39959" cy="10389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829305" y="2792383"/>
            <a:ext cx="33965" cy="3396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8368" y="3246120"/>
            <a:ext cx="2375839" cy="310896"/>
          </a:xfrm>
          <a:prstGeom prst="rect">
            <a:avLst/>
          </a:prstGeom>
          <a:noFill/>
        </p:spPr>
        <p:txBody>
          <a:bodyPr wrap="square" anchor="t" lIns="0" rIns="0" tIns="0" bIns="0">
            <a:spAutoFit/>
          </a:bodyPr>
          <a:lstStyle/>
          <a:p>
            <a:pPr algn="ctr">
              <a:lnSpc>
                <a:spcPct val="100000"/>
              </a:lnSpc>
              <a:spcBef>
                <a:spcPts val="0"/>
              </a:spcBef>
              <a:spcAft>
                <a:spcPts val="200"/>
              </a:spcAft>
            </a:pPr>
            <a:r>
              <a:rPr sz="1050" b="1" i="0">
                <a:solidFill>
                  <a:srgbClr val="FF3621"/>
                </a:solidFill>
                <a:latin typeface="Segoe UI Semibold"/>
              </a:rPr>
              <a:t>PART 01</a:t>
            </a:r>
          </a:p>
        </p:txBody>
      </p:sp>
      <p:sp>
        <p:nvSpPr>
          <p:cNvPr id="14" name="TextBox 13"/>
          <p:cNvSpPr txBox="1"/>
          <p:nvPr/>
        </p:nvSpPr>
        <p:spPr>
          <a:xfrm>
            <a:off x="658368" y="3520440"/>
            <a:ext cx="2375839" cy="457200"/>
          </a:xfrm>
          <a:prstGeom prst="rect">
            <a:avLst/>
          </a:prstGeom>
          <a:noFill/>
        </p:spPr>
        <p:txBody>
          <a:bodyPr wrap="square" anchor="t" lIns="0" rIns="0" tIns="0" bIns="0">
            <a:spAutoFit/>
          </a:bodyPr>
          <a:lstStyle/>
          <a:p>
            <a:pPr algn="ctr">
              <a:lnSpc>
                <a:spcPct val="95000"/>
              </a:lnSpc>
              <a:spcBef>
                <a:spcPts val="0"/>
              </a:spcBef>
              <a:spcAft>
                <a:spcPts val="200"/>
              </a:spcAft>
            </a:pPr>
            <a:r>
              <a:rPr sz="1500" b="1" i="0">
                <a:solidFill>
                  <a:srgbClr val="1B3139"/>
                </a:solidFill>
                <a:latin typeface="Segoe UI"/>
              </a:rPr>
              <a:t>The Problem</a:t>
            </a:r>
          </a:p>
        </p:txBody>
      </p:sp>
      <p:sp>
        <p:nvSpPr>
          <p:cNvPr id="15" name="Rectangle 14"/>
          <p:cNvSpPr/>
          <p:nvPr/>
        </p:nvSpPr>
        <p:spPr>
          <a:xfrm>
            <a:off x="886968" y="4069080"/>
            <a:ext cx="19186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41247" y="4206240"/>
            <a:ext cx="2055799" cy="1097280"/>
          </a:xfrm>
          <a:prstGeom prst="rect">
            <a:avLst/>
          </a:prstGeom>
          <a:noFill/>
        </p:spPr>
        <p:txBody>
          <a:bodyPr wrap="square" anchor="t" lIns="0" rIns="0" tIns="0" bIns="0">
            <a:spAutoFit/>
          </a:bodyPr>
          <a:lstStyle/>
          <a:p>
            <a:pPr marL="274320" indent="-274320">
              <a:lnSpc>
                <a:spcPct val="105000"/>
              </a:lnSpc>
              <a:spcBef>
                <a:spcPts val="0"/>
              </a:spcBef>
              <a:spcAft>
                <a:spcPts val="700"/>
              </a:spcAft>
            </a:pPr>
            <a:r>
              <a:rPr sz="1080" b="1">
                <a:solidFill>
                  <a:srgbClr val="FF3621"/>
                </a:solidFill>
                <a:latin typeface="Segoe UI"/>
              </a:rPr>
              <a:t>▪   </a:t>
            </a:r>
            <a:r>
              <a:rPr sz="1080">
                <a:solidFill>
                  <a:srgbClr val="465257"/>
                </a:solidFill>
                <a:latin typeface="Segoe UI"/>
              </a:rPr>
              <a:t>Why data lakes fail</a:t>
            </a:r>
          </a:p>
          <a:p>
            <a:pPr marL="274320" indent="-274320">
              <a:lnSpc>
                <a:spcPct val="105000"/>
              </a:lnSpc>
              <a:spcBef>
                <a:spcPts val="0"/>
              </a:spcBef>
              <a:spcAft>
                <a:spcPts val="700"/>
              </a:spcAft>
            </a:pPr>
            <a:r>
              <a:rPr sz="1080" b="1">
                <a:solidFill>
                  <a:srgbClr val="FF3621"/>
                </a:solidFill>
                <a:latin typeface="Segoe UI"/>
              </a:rPr>
              <a:t>▪   </a:t>
            </a:r>
            <a:r>
              <a:rPr sz="1080">
                <a:solidFill>
                  <a:srgbClr val="465257"/>
                </a:solidFill>
                <a:latin typeface="Segoe UI"/>
              </a:rPr>
              <a:t>The cost of bad data quality</a:t>
            </a:r>
          </a:p>
        </p:txBody>
      </p:sp>
      <p:sp>
        <p:nvSpPr>
          <p:cNvPr id="17" name="TextBox 16"/>
          <p:cNvSpPr txBox="1"/>
          <p:nvPr/>
        </p:nvSpPr>
        <p:spPr>
          <a:xfrm>
            <a:off x="841247" y="5440680"/>
            <a:ext cx="2055799" cy="457200"/>
          </a:xfrm>
          <a:prstGeom prst="rect">
            <a:avLst/>
          </a:prstGeom>
          <a:noFill/>
        </p:spPr>
        <p:txBody>
          <a:bodyPr wrap="square" anchor="t" lIns="0" rIns="0" tIns="0" bIns="0">
            <a:spAutoFit/>
          </a:bodyPr>
          <a:lstStyle/>
          <a:p>
            <a:pPr algn="l">
              <a:lnSpc>
                <a:spcPct val="105000"/>
              </a:lnSpc>
              <a:spcBef>
                <a:spcPts val="0"/>
              </a:spcBef>
              <a:spcAft>
                <a:spcPts val="200"/>
              </a:spcAft>
            </a:pPr>
            <a:r>
              <a:rPr sz="1000" b="1" i="0">
                <a:solidFill>
                  <a:srgbClr val="FF3621"/>
                </a:solidFill>
                <a:latin typeface="Segoe UI"/>
              </a:rPr>
              <a:t>→ </a:t>
            </a:r>
            <a:r>
              <a:rPr sz="950" b="0" i="1">
                <a:solidFill>
                  <a:srgbClr val="6B777C"/>
                </a:solidFill>
                <a:latin typeface="Segoe UI"/>
              </a:rPr>
              <a:t>Explain why lakes need a reliability layer.</a:t>
            </a:r>
          </a:p>
        </p:txBody>
      </p:sp>
      <p:sp>
        <p:nvSpPr>
          <p:cNvPr id="18" name="Rounded Rectangle 17"/>
          <p:cNvSpPr/>
          <p:nvPr/>
        </p:nvSpPr>
        <p:spPr>
          <a:xfrm>
            <a:off x="3399967" y="1874519"/>
            <a:ext cx="2558719" cy="41148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3399967" y="1874519"/>
            <a:ext cx="2558719" cy="128016"/>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4244987" y="2263140"/>
            <a:ext cx="868680" cy="86868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Isosceles Triangle 20"/>
          <p:cNvSpPr/>
          <p:nvPr/>
        </p:nvSpPr>
        <p:spPr>
          <a:xfrm>
            <a:off x="4479531" y="2517663"/>
            <a:ext cx="399592" cy="359633"/>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491407" y="3246120"/>
            <a:ext cx="2375839" cy="310896"/>
          </a:xfrm>
          <a:prstGeom prst="rect">
            <a:avLst/>
          </a:prstGeom>
          <a:noFill/>
        </p:spPr>
        <p:txBody>
          <a:bodyPr wrap="square" anchor="t" lIns="0" rIns="0" tIns="0" bIns="0">
            <a:spAutoFit/>
          </a:bodyPr>
          <a:lstStyle/>
          <a:p>
            <a:pPr algn="ctr">
              <a:lnSpc>
                <a:spcPct val="100000"/>
              </a:lnSpc>
              <a:spcBef>
                <a:spcPts val="0"/>
              </a:spcBef>
              <a:spcAft>
                <a:spcPts val="200"/>
              </a:spcAft>
            </a:pPr>
            <a:r>
              <a:rPr sz="1050" b="1" i="0">
                <a:solidFill>
                  <a:srgbClr val="2272B4"/>
                </a:solidFill>
                <a:latin typeface="Segoe UI Semibold"/>
              </a:rPr>
              <a:t>PART 02</a:t>
            </a:r>
          </a:p>
        </p:txBody>
      </p:sp>
      <p:sp>
        <p:nvSpPr>
          <p:cNvPr id="23" name="TextBox 22"/>
          <p:cNvSpPr txBox="1"/>
          <p:nvPr/>
        </p:nvSpPr>
        <p:spPr>
          <a:xfrm>
            <a:off x="3491407" y="3520440"/>
            <a:ext cx="2375839" cy="457200"/>
          </a:xfrm>
          <a:prstGeom prst="rect">
            <a:avLst/>
          </a:prstGeom>
          <a:noFill/>
        </p:spPr>
        <p:txBody>
          <a:bodyPr wrap="square" anchor="t" lIns="0" rIns="0" tIns="0" bIns="0">
            <a:spAutoFit/>
          </a:bodyPr>
          <a:lstStyle/>
          <a:p>
            <a:pPr algn="ctr">
              <a:lnSpc>
                <a:spcPct val="95000"/>
              </a:lnSpc>
              <a:spcBef>
                <a:spcPts val="0"/>
              </a:spcBef>
              <a:spcAft>
                <a:spcPts val="200"/>
              </a:spcAft>
            </a:pPr>
            <a:r>
              <a:rPr sz="1500" b="1" i="0">
                <a:solidFill>
                  <a:srgbClr val="1B3139"/>
                </a:solidFill>
                <a:latin typeface="Segoe UI"/>
              </a:rPr>
              <a:t>Fundamentals</a:t>
            </a:r>
          </a:p>
        </p:txBody>
      </p:sp>
      <p:sp>
        <p:nvSpPr>
          <p:cNvPr id="24" name="Rectangle 23"/>
          <p:cNvSpPr/>
          <p:nvPr/>
        </p:nvSpPr>
        <p:spPr>
          <a:xfrm>
            <a:off x="3720007" y="4069080"/>
            <a:ext cx="19186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74287" y="4206240"/>
            <a:ext cx="2055799" cy="1097280"/>
          </a:xfrm>
          <a:prstGeom prst="rect">
            <a:avLst/>
          </a:prstGeom>
          <a:noFill/>
        </p:spPr>
        <p:txBody>
          <a:bodyPr wrap="square" anchor="t" lIns="0" rIns="0" tIns="0" bIns="0">
            <a:spAutoFit/>
          </a:bodyPr>
          <a:lstStyle/>
          <a:p>
            <a:pPr marL="274320" indent="-274320">
              <a:lnSpc>
                <a:spcPct val="105000"/>
              </a:lnSpc>
              <a:spcBef>
                <a:spcPts val="0"/>
              </a:spcBef>
              <a:spcAft>
                <a:spcPts val="700"/>
              </a:spcAft>
            </a:pPr>
            <a:r>
              <a:rPr sz="1080" b="1">
                <a:solidFill>
                  <a:srgbClr val="2272B4"/>
                </a:solidFill>
                <a:latin typeface="Segoe UI"/>
              </a:rPr>
              <a:t>▪   </a:t>
            </a:r>
            <a:r>
              <a:rPr sz="1080">
                <a:solidFill>
                  <a:srgbClr val="465257"/>
                </a:solidFill>
                <a:latin typeface="Segoe UI"/>
              </a:rPr>
              <a:t>What is Delta Lake</a:t>
            </a:r>
          </a:p>
          <a:p>
            <a:pPr marL="274320" indent="-274320">
              <a:lnSpc>
                <a:spcPct val="105000"/>
              </a:lnSpc>
              <a:spcBef>
                <a:spcPts val="0"/>
              </a:spcBef>
              <a:spcAft>
                <a:spcPts val="700"/>
              </a:spcAft>
            </a:pPr>
            <a:r>
              <a:rPr sz="1080" b="1">
                <a:solidFill>
                  <a:srgbClr val="2272B4"/>
                </a:solidFill>
                <a:latin typeface="Segoe UI"/>
              </a:rPr>
              <a:t>▪   </a:t>
            </a:r>
            <a:r>
              <a:rPr sz="1080">
                <a:solidFill>
                  <a:srgbClr val="465257"/>
                </a:solidFill>
                <a:latin typeface="Segoe UI"/>
              </a:rPr>
              <a:t>Architecture &amp; components</a:t>
            </a:r>
          </a:p>
        </p:txBody>
      </p:sp>
      <p:sp>
        <p:nvSpPr>
          <p:cNvPr id="26" name="TextBox 25"/>
          <p:cNvSpPr txBox="1"/>
          <p:nvPr/>
        </p:nvSpPr>
        <p:spPr>
          <a:xfrm>
            <a:off x="3674287" y="5440680"/>
            <a:ext cx="2055799" cy="457200"/>
          </a:xfrm>
          <a:prstGeom prst="rect">
            <a:avLst/>
          </a:prstGeom>
          <a:noFill/>
        </p:spPr>
        <p:txBody>
          <a:bodyPr wrap="square" anchor="t" lIns="0" rIns="0" tIns="0" bIns="0">
            <a:spAutoFit/>
          </a:bodyPr>
          <a:lstStyle/>
          <a:p>
            <a:pPr algn="l">
              <a:lnSpc>
                <a:spcPct val="105000"/>
              </a:lnSpc>
              <a:spcBef>
                <a:spcPts val="0"/>
              </a:spcBef>
              <a:spcAft>
                <a:spcPts val="200"/>
              </a:spcAft>
            </a:pPr>
            <a:r>
              <a:rPr sz="1000" b="1" i="0">
                <a:solidFill>
                  <a:srgbClr val="2272B4"/>
                </a:solidFill>
                <a:latin typeface="Segoe UI"/>
              </a:rPr>
              <a:t>→ </a:t>
            </a:r>
            <a:r>
              <a:rPr sz="950" b="0" i="1">
                <a:solidFill>
                  <a:srgbClr val="6B777C"/>
                </a:solidFill>
                <a:latin typeface="Segoe UI"/>
              </a:rPr>
              <a:t>Describe what Delta Lake is and how it's built.</a:t>
            </a:r>
          </a:p>
        </p:txBody>
      </p:sp>
      <p:sp>
        <p:nvSpPr>
          <p:cNvPr id="27" name="Rounded Rectangle 26"/>
          <p:cNvSpPr/>
          <p:nvPr/>
        </p:nvSpPr>
        <p:spPr>
          <a:xfrm>
            <a:off x="6233007" y="1874519"/>
            <a:ext cx="2558719" cy="41148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233007" y="1874519"/>
            <a:ext cx="2558719" cy="128016"/>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7078027" y="2263140"/>
            <a:ext cx="868680" cy="868680"/>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Circular Arrow 29"/>
          <p:cNvSpPr/>
          <p:nvPr/>
        </p:nvSpPr>
        <p:spPr>
          <a:xfrm>
            <a:off x="7312571" y="2497683"/>
            <a:ext cx="399592" cy="399592"/>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24447" y="3246120"/>
            <a:ext cx="2375839" cy="310896"/>
          </a:xfrm>
          <a:prstGeom prst="rect">
            <a:avLst/>
          </a:prstGeom>
          <a:noFill/>
        </p:spPr>
        <p:txBody>
          <a:bodyPr wrap="square" anchor="t" lIns="0" rIns="0" tIns="0" bIns="0">
            <a:spAutoFit/>
          </a:bodyPr>
          <a:lstStyle/>
          <a:p>
            <a:pPr algn="ctr">
              <a:lnSpc>
                <a:spcPct val="100000"/>
              </a:lnSpc>
              <a:spcBef>
                <a:spcPts val="0"/>
              </a:spcBef>
              <a:spcAft>
                <a:spcPts val="200"/>
              </a:spcAft>
            </a:pPr>
            <a:r>
              <a:rPr sz="1050" b="1" i="0">
                <a:solidFill>
                  <a:srgbClr val="00A972"/>
                </a:solidFill>
                <a:latin typeface="Segoe UI Semibold"/>
              </a:rPr>
              <a:t>PART 03</a:t>
            </a:r>
          </a:p>
        </p:txBody>
      </p:sp>
      <p:sp>
        <p:nvSpPr>
          <p:cNvPr id="32" name="TextBox 31"/>
          <p:cNvSpPr txBox="1"/>
          <p:nvPr/>
        </p:nvSpPr>
        <p:spPr>
          <a:xfrm>
            <a:off x="6324447" y="3520440"/>
            <a:ext cx="2375839" cy="457200"/>
          </a:xfrm>
          <a:prstGeom prst="rect">
            <a:avLst/>
          </a:prstGeom>
          <a:noFill/>
        </p:spPr>
        <p:txBody>
          <a:bodyPr wrap="square" anchor="t" lIns="0" rIns="0" tIns="0" bIns="0">
            <a:spAutoFit/>
          </a:bodyPr>
          <a:lstStyle/>
          <a:p>
            <a:pPr algn="ctr">
              <a:lnSpc>
                <a:spcPct val="95000"/>
              </a:lnSpc>
              <a:spcBef>
                <a:spcPts val="0"/>
              </a:spcBef>
              <a:spcAft>
                <a:spcPts val="200"/>
              </a:spcAft>
            </a:pPr>
            <a:r>
              <a:rPr sz="1500" b="1" i="0">
                <a:solidFill>
                  <a:srgbClr val="1B3139"/>
                </a:solidFill>
                <a:latin typeface="Segoe UI"/>
              </a:rPr>
              <a:t>How It Works</a:t>
            </a:r>
          </a:p>
        </p:txBody>
      </p:sp>
      <p:sp>
        <p:nvSpPr>
          <p:cNvPr id="33" name="Rectangle 32"/>
          <p:cNvSpPr/>
          <p:nvPr/>
        </p:nvSpPr>
        <p:spPr>
          <a:xfrm>
            <a:off x="6553047" y="4069080"/>
            <a:ext cx="19186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507327" y="4206240"/>
            <a:ext cx="2055799" cy="1097280"/>
          </a:xfrm>
          <a:prstGeom prst="rect">
            <a:avLst/>
          </a:prstGeom>
          <a:noFill/>
        </p:spPr>
        <p:txBody>
          <a:bodyPr wrap="square" anchor="t" lIns="0" rIns="0" tIns="0" bIns="0">
            <a:spAutoFit/>
          </a:bodyPr>
          <a:lstStyle/>
          <a:p>
            <a:pPr marL="274320" indent="-274320">
              <a:lnSpc>
                <a:spcPct val="105000"/>
              </a:lnSpc>
              <a:spcBef>
                <a:spcPts val="0"/>
              </a:spcBef>
              <a:spcAft>
                <a:spcPts val="700"/>
              </a:spcAft>
            </a:pPr>
            <a:r>
              <a:rPr sz="1080" b="1">
                <a:solidFill>
                  <a:srgbClr val="00A972"/>
                </a:solidFill>
                <a:latin typeface="Segoe UI"/>
              </a:rPr>
              <a:t>▪   </a:t>
            </a:r>
            <a:r>
              <a:rPr sz="1080">
                <a:solidFill>
                  <a:srgbClr val="465257"/>
                </a:solidFill>
                <a:latin typeface="Segoe UI"/>
              </a:rPr>
              <a:t>ACID &amp; the transaction log</a:t>
            </a:r>
          </a:p>
          <a:p>
            <a:pPr marL="274320" indent="-274320">
              <a:lnSpc>
                <a:spcPct val="105000"/>
              </a:lnSpc>
              <a:spcBef>
                <a:spcPts val="0"/>
              </a:spcBef>
              <a:spcAft>
                <a:spcPts val="700"/>
              </a:spcAft>
            </a:pPr>
            <a:r>
              <a:rPr sz="1080" b="1">
                <a:solidFill>
                  <a:srgbClr val="00A972"/>
                </a:solidFill>
                <a:latin typeface="Segoe UI"/>
              </a:rPr>
              <a:t>▪   </a:t>
            </a:r>
            <a:r>
              <a:rPr sz="1080">
                <a:solidFill>
                  <a:srgbClr val="465257"/>
                </a:solidFill>
                <a:latin typeface="Segoe UI"/>
              </a:rPr>
              <a:t>Time travel &amp; schema control</a:t>
            </a:r>
          </a:p>
        </p:txBody>
      </p:sp>
      <p:sp>
        <p:nvSpPr>
          <p:cNvPr id="35" name="TextBox 34"/>
          <p:cNvSpPr txBox="1"/>
          <p:nvPr/>
        </p:nvSpPr>
        <p:spPr>
          <a:xfrm>
            <a:off x="6507327" y="5440680"/>
            <a:ext cx="2055799" cy="457200"/>
          </a:xfrm>
          <a:prstGeom prst="rect">
            <a:avLst/>
          </a:prstGeom>
          <a:noFill/>
        </p:spPr>
        <p:txBody>
          <a:bodyPr wrap="square" anchor="t" lIns="0" rIns="0" tIns="0" bIns="0">
            <a:spAutoFit/>
          </a:bodyPr>
          <a:lstStyle/>
          <a:p>
            <a:pPr algn="l">
              <a:lnSpc>
                <a:spcPct val="105000"/>
              </a:lnSpc>
              <a:spcBef>
                <a:spcPts val="0"/>
              </a:spcBef>
              <a:spcAft>
                <a:spcPts val="200"/>
              </a:spcAft>
            </a:pPr>
            <a:r>
              <a:rPr sz="1000" b="1" i="0">
                <a:solidFill>
                  <a:srgbClr val="00A972"/>
                </a:solidFill>
                <a:latin typeface="Segoe UI"/>
              </a:rPr>
              <a:t>→ </a:t>
            </a:r>
            <a:r>
              <a:rPr sz="950" b="0" i="1">
                <a:solidFill>
                  <a:srgbClr val="6B777C"/>
                </a:solidFill>
                <a:latin typeface="Segoe UI"/>
              </a:rPr>
              <a:t>Explain the internals that ensure reliability.</a:t>
            </a:r>
          </a:p>
        </p:txBody>
      </p:sp>
      <p:sp>
        <p:nvSpPr>
          <p:cNvPr id="36" name="Rounded Rectangle 35"/>
          <p:cNvSpPr/>
          <p:nvPr/>
        </p:nvSpPr>
        <p:spPr>
          <a:xfrm>
            <a:off x="9066047" y="1874519"/>
            <a:ext cx="2558719" cy="41148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9066047" y="1874519"/>
            <a:ext cx="2558719" cy="128016"/>
          </a:xfrm>
          <a:prstGeom prst="rect">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9911067" y="2263140"/>
            <a:ext cx="868680" cy="868680"/>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10161594" y="2513667"/>
            <a:ext cx="367625" cy="367625"/>
          </a:xfrm>
          <a:prstGeom prst="ellipse">
            <a:avLst/>
          </a:prstGeom>
          <a:noFill/>
          <a:ln w="38849">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rot="2520000">
            <a:off x="10329423" y="2569610"/>
            <a:ext cx="31967" cy="14385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10319433" y="2671506"/>
            <a:ext cx="51947" cy="5194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157487" y="3246120"/>
            <a:ext cx="2375839" cy="310896"/>
          </a:xfrm>
          <a:prstGeom prst="rect">
            <a:avLst/>
          </a:prstGeom>
          <a:noFill/>
        </p:spPr>
        <p:txBody>
          <a:bodyPr wrap="square" anchor="t" lIns="0" rIns="0" tIns="0" bIns="0">
            <a:spAutoFit/>
          </a:bodyPr>
          <a:lstStyle/>
          <a:p>
            <a:pPr algn="ctr">
              <a:lnSpc>
                <a:spcPct val="100000"/>
              </a:lnSpc>
              <a:spcBef>
                <a:spcPts val="0"/>
              </a:spcBef>
              <a:spcAft>
                <a:spcPts val="200"/>
              </a:spcAft>
            </a:pPr>
            <a:r>
              <a:rPr sz="1050" b="1" i="0">
                <a:solidFill>
                  <a:srgbClr val="7C5CCF"/>
                </a:solidFill>
                <a:latin typeface="Segoe UI Semibold"/>
              </a:rPr>
              <a:t>PART 04</a:t>
            </a:r>
          </a:p>
        </p:txBody>
      </p:sp>
      <p:sp>
        <p:nvSpPr>
          <p:cNvPr id="43" name="TextBox 42"/>
          <p:cNvSpPr txBox="1"/>
          <p:nvPr/>
        </p:nvSpPr>
        <p:spPr>
          <a:xfrm>
            <a:off x="9157487" y="3520440"/>
            <a:ext cx="2375839" cy="457200"/>
          </a:xfrm>
          <a:prstGeom prst="rect">
            <a:avLst/>
          </a:prstGeom>
          <a:noFill/>
        </p:spPr>
        <p:txBody>
          <a:bodyPr wrap="square" anchor="t" lIns="0" rIns="0" tIns="0" bIns="0">
            <a:spAutoFit/>
          </a:bodyPr>
          <a:lstStyle/>
          <a:p>
            <a:pPr algn="ctr">
              <a:lnSpc>
                <a:spcPct val="95000"/>
              </a:lnSpc>
              <a:spcBef>
                <a:spcPts val="0"/>
              </a:spcBef>
              <a:spcAft>
                <a:spcPts val="200"/>
              </a:spcAft>
            </a:pPr>
            <a:r>
              <a:rPr sz="1500" b="1" i="0">
                <a:solidFill>
                  <a:srgbClr val="1B3139"/>
                </a:solidFill>
                <a:latin typeface="Segoe UI"/>
              </a:rPr>
              <a:t>Platform &amp; Value</a:t>
            </a:r>
          </a:p>
        </p:txBody>
      </p:sp>
      <p:sp>
        <p:nvSpPr>
          <p:cNvPr id="44" name="Rectangle 43"/>
          <p:cNvSpPr/>
          <p:nvPr/>
        </p:nvSpPr>
        <p:spPr>
          <a:xfrm>
            <a:off x="9386087" y="4069080"/>
            <a:ext cx="19186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9340367" y="4206240"/>
            <a:ext cx="2055799" cy="1097280"/>
          </a:xfrm>
          <a:prstGeom prst="rect">
            <a:avLst/>
          </a:prstGeom>
          <a:noFill/>
        </p:spPr>
        <p:txBody>
          <a:bodyPr wrap="square" anchor="t" lIns="0" rIns="0" tIns="0" bIns="0">
            <a:spAutoFit/>
          </a:bodyPr>
          <a:lstStyle/>
          <a:p>
            <a:pPr marL="274320" indent="-274320">
              <a:lnSpc>
                <a:spcPct val="105000"/>
              </a:lnSpc>
              <a:spcBef>
                <a:spcPts val="0"/>
              </a:spcBef>
              <a:spcAft>
                <a:spcPts val="700"/>
              </a:spcAft>
            </a:pPr>
            <a:r>
              <a:rPr sz="1080" b="1">
                <a:solidFill>
                  <a:srgbClr val="7C5CCF"/>
                </a:solidFill>
                <a:latin typeface="Segoe UI"/>
              </a:rPr>
              <a:t>▪   </a:t>
            </a:r>
            <a:r>
              <a:rPr sz="1080">
                <a:solidFill>
                  <a:srgbClr val="465257"/>
                </a:solidFill>
                <a:latin typeface="Segoe UI"/>
              </a:rPr>
              <a:t>Medallion, Lakehouse &amp; performance</a:t>
            </a:r>
          </a:p>
          <a:p>
            <a:pPr marL="274320" indent="-274320">
              <a:lnSpc>
                <a:spcPct val="105000"/>
              </a:lnSpc>
              <a:spcBef>
                <a:spcPts val="0"/>
              </a:spcBef>
              <a:spcAft>
                <a:spcPts val="700"/>
              </a:spcAft>
            </a:pPr>
            <a:r>
              <a:rPr sz="1080" b="1">
                <a:solidFill>
                  <a:srgbClr val="7C5CCF"/>
                </a:solidFill>
                <a:latin typeface="Segoe UI"/>
              </a:rPr>
              <a:t>▪   </a:t>
            </a:r>
            <a:r>
              <a:rPr sz="1080">
                <a:solidFill>
                  <a:srgbClr val="465257"/>
                </a:solidFill>
                <a:latin typeface="Segoe UI"/>
              </a:rPr>
              <a:t>Governance, use cases &amp; best practices</a:t>
            </a:r>
          </a:p>
        </p:txBody>
      </p:sp>
      <p:sp>
        <p:nvSpPr>
          <p:cNvPr id="46" name="TextBox 45"/>
          <p:cNvSpPr txBox="1"/>
          <p:nvPr/>
        </p:nvSpPr>
        <p:spPr>
          <a:xfrm>
            <a:off x="9340367" y="5440680"/>
            <a:ext cx="2055799" cy="457200"/>
          </a:xfrm>
          <a:prstGeom prst="rect">
            <a:avLst/>
          </a:prstGeom>
          <a:noFill/>
        </p:spPr>
        <p:txBody>
          <a:bodyPr wrap="square" anchor="t" lIns="0" rIns="0" tIns="0" bIns="0">
            <a:spAutoFit/>
          </a:bodyPr>
          <a:lstStyle/>
          <a:p>
            <a:pPr algn="l">
              <a:lnSpc>
                <a:spcPct val="105000"/>
              </a:lnSpc>
              <a:spcBef>
                <a:spcPts val="0"/>
              </a:spcBef>
              <a:spcAft>
                <a:spcPts val="200"/>
              </a:spcAft>
            </a:pPr>
            <a:r>
              <a:rPr sz="1000" b="1" i="0">
                <a:solidFill>
                  <a:srgbClr val="7C5CCF"/>
                </a:solidFill>
                <a:latin typeface="Segoe UI"/>
              </a:rPr>
              <a:t>→ </a:t>
            </a:r>
            <a:r>
              <a:rPr sz="950" b="0" i="1">
                <a:solidFill>
                  <a:srgbClr val="6B777C"/>
                </a:solidFill>
                <a:latin typeface="Segoe UI"/>
              </a:rPr>
              <a:t>Apply Delta Lake across an end-to-end platform.</a:t>
            </a:r>
          </a:p>
        </p:txBody>
      </p:sp>
      <p:sp>
        <p:nvSpPr>
          <p:cNvPr id="47" name="TextBox 46"/>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8" name="TextBox 47"/>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1463040"/>
            <a:ext cx="5486400" cy="2194560"/>
          </a:xfrm>
          <a:prstGeom prst="rect">
            <a:avLst/>
          </a:prstGeom>
          <a:noFill/>
        </p:spPr>
        <p:txBody>
          <a:bodyPr wrap="square" anchor="t" lIns="0" rIns="0" tIns="0" bIns="0">
            <a:spAutoFit/>
          </a:bodyPr>
          <a:lstStyle/>
          <a:p>
            <a:pPr algn="l">
              <a:lnSpc>
                <a:spcPct val="100000"/>
              </a:lnSpc>
              <a:spcBef>
                <a:spcPts val="0"/>
              </a:spcBef>
              <a:spcAft>
                <a:spcPts val="200"/>
              </a:spcAft>
            </a:pPr>
            <a:r>
              <a:rPr sz="20000" b="1" i="0">
                <a:solidFill>
                  <a:srgbClr val="27444F"/>
                </a:solidFill>
                <a:latin typeface="Segoe UI Light"/>
              </a:rPr>
              <a:t>01</a:t>
            </a:r>
          </a:p>
        </p:txBody>
      </p:sp>
      <p:sp>
        <p:nvSpPr>
          <p:cNvPr id="9" name="Rounded Rectangle 8"/>
          <p:cNvSpPr/>
          <p:nvPr/>
        </p:nvSpPr>
        <p:spPr>
          <a:xfrm>
            <a:off x="612648" y="3310128"/>
            <a:ext cx="777240" cy="9144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12648" y="2743200"/>
            <a:ext cx="7315200" cy="36576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FF3621"/>
                </a:solidFill>
                <a:latin typeface="Segoe UI Semibold"/>
              </a:rPr>
              <a:t>PART ONE</a:t>
            </a:r>
          </a:p>
        </p:txBody>
      </p:sp>
      <p:sp>
        <p:nvSpPr>
          <p:cNvPr id="11" name="TextBox 10"/>
          <p:cNvSpPr txBox="1"/>
          <p:nvPr/>
        </p:nvSpPr>
        <p:spPr>
          <a:xfrm>
            <a:off x="566928" y="3456432"/>
            <a:ext cx="7680960" cy="1097280"/>
          </a:xfrm>
          <a:prstGeom prst="rect">
            <a:avLst/>
          </a:prstGeom>
          <a:noFill/>
        </p:spPr>
        <p:txBody>
          <a:bodyPr wrap="square" anchor="t" lIns="0" rIns="0" tIns="0" bIns="0">
            <a:spAutoFit/>
          </a:bodyPr>
          <a:lstStyle/>
          <a:p>
            <a:pPr algn="l">
              <a:lnSpc>
                <a:spcPct val="98000"/>
              </a:lnSpc>
              <a:spcBef>
                <a:spcPts val="0"/>
              </a:spcBef>
              <a:spcAft>
                <a:spcPts val="200"/>
              </a:spcAft>
            </a:pPr>
            <a:r>
              <a:rPr sz="4000" b="1" i="0">
                <a:solidFill>
                  <a:srgbClr val="FFFFFF"/>
                </a:solidFill>
                <a:latin typeface="Segoe UI"/>
              </a:rPr>
              <a:t>The Problem</a:t>
            </a:r>
          </a:p>
        </p:txBody>
      </p:sp>
      <p:sp>
        <p:nvSpPr>
          <p:cNvPr id="12" name="TextBox 11"/>
          <p:cNvSpPr txBox="1"/>
          <p:nvPr/>
        </p:nvSpPr>
        <p:spPr>
          <a:xfrm>
            <a:off x="612648" y="4754880"/>
            <a:ext cx="6949440" cy="1463040"/>
          </a:xfrm>
          <a:prstGeom prst="rect">
            <a:avLst/>
          </a:prstGeom>
          <a:noFill/>
        </p:spPr>
        <p:txBody>
          <a:bodyPr wrap="square" anchor="t" lIns="0" rIns="0" tIns="0" bIns="0">
            <a:spAutoFit/>
          </a:bodyPr>
          <a:lstStyle/>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Why traditional data lakes fail</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The business cost of poor data quality</a:t>
            </a:r>
          </a:p>
        </p:txBody>
      </p:sp>
      <p:sp>
        <p:nvSpPr>
          <p:cNvPr id="13" name="Oval 12"/>
          <p:cNvSpPr/>
          <p:nvPr/>
        </p:nvSpPr>
        <p:spPr>
          <a:xfrm>
            <a:off x="8641080" y="2423160"/>
            <a:ext cx="2286000" cy="2286000"/>
          </a:xfrm>
          <a:prstGeom prst="ellipse">
            <a:avLst/>
          </a:prstGeom>
          <a:solidFill>
            <a:srgbClr val="FF3621"/>
          </a:solidFill>
          <a:ln w="15240">
            <a:solidFill>
              <a:srgbClr val="FF8A78"/>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Isosceles Triangle 13"/>
          <p:cNvSpPr/>
          <p:nvPr/>
        </p:nvSpPr>
        <p:spPr>
          <a:xfrm>
            <a:off x="9258300" y="3103473"/>
            <a:ext cx="1051560" cy="925372"/>
          </a:xfrm>
          <a:prstGeom prst="triangle">
            <a:avLst/>
          </a:prstGeom>
          <a:noFill/>
          <a:ln w="10223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9731502" y="3482035"/>
            <a:ext cx="105156" cy="27340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9739388" y="3815905"/>
            <a:ext cx="89382" cy="8938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7E9199"/>
                </a:solidFill>
                <a:latin typeface="Segoe UI"/>
              </a:rPr>
              <a:t>Big Data &amp; Databricks  ·  Enterprise Training Series</a:t>
            </a:r>
          </a:p>
        </p:txBody>
      </p:sp>
      <p:sp>
        <p:nvSpPr>
          <p:cNvPr id="18" name="TextBox 17"/>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7E9199"/>
                </a:solidFill>
                <a:latin typeface="Segoe UI"/>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THE PROBLEM</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Why Traditional Data Lakes Fail</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997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Problem</a:t>
            </a:r>
          </a:p>
        </p:txBody>
      </p:sp>
      <p:sp>
        <p:nvSpPr>
          <p:cNvPr id="9" name="Oval 8"/>
          <p:cNvSpPr/>
          <p:nvPr/>
        </p:nvSpPr>
        <p:spPr>
          <a:xfrm>
            <a:off x="8156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Fundamentals</a:t>
            </a:r>
          </a:p>
        </p:txBody>
      </p:sp>
      <p:sp>
        <p:nvSpPr>
          <p:cNvPr id="11" name="Oval 10"/>
          <p:cNvSpPr/>
          <p:nvPr/>
        </p:nvSpPr>
        <p:spPr>
          <a:xfrm>
            <a:off x="9299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Internals</a:t>
            </a:r>
          </a:p>
        </p:txBody>
      </p:sp>
      <p:sp>
        <p:nvSpPr>
          <p:cNvPr id="13" name="Oval 12"/>
          <p:cNvSpPr/>
          <p:nvPr/>
        </p:nvSpPr>
        <p:spPr>
          <a:xfrm>
            <a:off x="10442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Platform</a:t>
            </a:r>
          </a:p>
        </p:txBody>
      </p:sp>
      <p:sp>
        <p:nvSpPr>
          <p:cNvPr id="15" name="Rounded Rectangle 14"/>
          <p:cNvSpPr/>
          <p:nvPr/>
        </p:nvSpPr>
        <p:spPr>
          <a:xfrm>
            <a:off x="566928" y="1828800"/>
            <a:ext cx="11057839" cy="96012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Cloud 15"/>
          <p:cNvSpPr/>
          <p:nvPr/>
        </p:nvSpPr>
        <p:spPr>
          <a:xfrm>
            <a:off x="864108" y="2121408"/>
            <a:ext cx="502920" cy="365760"/>
          </a:xfrm>
          <a:prstGeom prst="cloud">
            <a:avLst/>
          </a:prstGeom>
          <a:solidFill>
            <a:srgbClr val="6B77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Isosceles Triangle 16"/>
          <p:cNvSpPr/>
          <p:nvPr/>
        </p:nvSpPr>
        <p:spPr>
          <a:xfrm>
            <a:off x="1609344" y="2135306"/>
            <a:ext cx="384048" cy="337962"/>
          </a:xfrm>
          <a:prstGeom prst="triangle">
            <a:avLst/>
          </a:prstGeom>
          <a:noFill/>
          <a:ln w="37338">
            <a:solidFill>
              <a:srgbClr val="FF36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1782165" y="2273564"/>
            <a:ext cx="38404" cy="99852"/>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785045" y="2395499"/>
            <a:ext cx="32644" cy="32644"/>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350008" y="1828800"/>
            <a:ext cx="8954719" cy="960120"/>
          </a:xfrm>
          <a:prstGeom prst="rect">
            <a:avLst/>
          </a:prstGeom>
          <a:noFill/>
        </p:spPr>
        <p:txBody>
          <a:bodyPr wrap="square" anchor="ctr" lIns="0" rIns="0" tIns="0" bIns="0">
            <a:spAutoFit/>
          </a:bodyPr>
          <a:lstStyle/>
          <a:p>
            <a:pPr algn="l">
              <a:lnSpc>
                <a:spcPct val="120000"/>
              </a:lnSpc>
              <a:spcBef>
                <a:spcPts val="0"/>
              </a:spcBef>
              <a:spcAft>
                <a:spcPts val="200"/>
              </a:spcAft>
            </a:pPr>
            <a:r>
              <a:rPr sz="1300" b="0" i="0">
                <a:solidFill>
                  <a:srgbClr val="FFFFFF"/>
                </a:solidFill>
                <a:latin typeface="Segoe UI"/>
              </a:rPr>
              <a:t>A raw data lake is just files on object storage — with no transactions, no schema control and no guarantees. </a:t>
            </a:r>
            <a:r>
              <a:rPr sz="1300" b="1" i="0">
                <a:solidFill>
                  <a:srgbClr val="FF6B57"/>
                </a:solidFill>
                <a:latin typeface="Segoe UI"/>
              </a:rPr>
              <a:t>Over time it degrades into a “data swamp.”</a:t>
            </a:r>
          </a:p>
        </p:txBody>
      </p:sp>
      <p:sp>
        <p:nvSpPr>
          <p:cNvPr id="21" name="Rounded Rectangle 20"/>
          <p:cNvSpPr/>
          <p:nvPr/>
        </p:nvSpPr>
        <p:spPr>
          <a:xfrm>
            <a:off x="566928" y="3063240"/>
            <a:ext cx="2036003" cy="28346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566928" y="3063240"/>
            <a:ext cx="91440" cy="283464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31519" y="3200400"/>
            <a:ext cx="676656" cy="676656"/>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Isosceles Triangle 23"/>
          <p:cNvSpPr/>
          <p:nvPr/>
        </p:nvSpPr>
        <p:spPr>
          <a:xfrm>
            <a:off x="914217" y="3401772"/>
            <a:ext cx="311261" cy="273910"/>
          </a:xfrm>
          <a:prstGeom prst="triangle">
            <a:avLst/>
          </a:prstGeom>
          <a:noFill/>
          <a:ln w="30261">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1054284" y="3513827"/>
            <a:ext cx="31126" cy="8092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1056619" y="3612652"/>
            <a:ext cx="26457" cy="2645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499616" y="3227832"/>
            <a:ext cx="957011"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Dirty Data</a:t>
            </a:r>
          </a:p>
        </p:txBody>
      </p:sp>
      <p:sp>
        <p:nvSpPr>
          <p:cNvPr id="28" name="TextBox 27"/>
          <p:cNvSpPr txBox="1"/>
          <p:nvPr/>
        </p:nvSpPr>
        <p:spPr>
          <a:xfrm>
            <a:off x="841247" y="3931920"/>
            <a:ext cx="1523939" cy="1874519"/>
          </a:xfrm>
          <a:prstGeom prst="rect">
            <a:avLst/>
          </a:prstGeom>
          <a:noFill/>
        </p:spPr>
        <p:txBody>
          <a:bodyPr wrap="square" anchor="t" lIns="0" rIns="0" tIns="0" bIns="0">
            <a:spAutoFit/>
          </a:bodyPr>
          <a:lstStyle/>
          <a:p>
            <a:pPr algn="l">
              <a:lnSpc>
                <a:spcPct val="108000"/>
              </a:lnSpc>
              <a:spcBef>
                <a:spcPts val="0"/>
              </a:spcBef>
              <a:spcAft>
                <a:spcPts val="200"/>
              </a:spcAft>
            </a:pPr>
            <a:r>
              <a:rPr sz="950" b="0" i="0">
                <a:solidFill>
                  <a:srgbClr val="6B777C"/>
                </a:solidFill>
                <a:latin typeface="Segoe UI"/>
              </a:rPr>
              <a:t>Bad, null &amp; malformed records land unchecked.</a:t>
            </a:r>
          </a:p>
        </p:txBody>
      </p:sp>
      <p:sp>
        <p:nvSpPr>
          <p:cNvPr id="29" name="Rounded Rectangle 28"/>
          <p:cNvSpPr/>
          <p:nvPr/>
        </p:nvSpPr>
        <p:spPr>
          <a:xfrm>
            <a:off x="2822387" y="3063240"/>
            <a:ext cx="2036003" cy="28346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2822387" y="3063240"/>
            <a:ext cx="91440" cy="2834640"/>
          </a:xfrm>
          <a:prstGeom prst="roundRect">
            <a:avLst>
              <a:gd name="adj" fmla="val 50000"/>
            </a:avLst>
          </a:prstGeom>
          <a:solidFill>
            <a:srgbClr val="C426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2986979" y="3200400"/>
            <a:ext cx="676656" cy="676656"/>
          </a:xfrm>
          <a:prstGeom prst="ellipse">
            <a:avLst/>
          </a:prstGeom>
          <a:solidFill>
            <a:srgbClr val="C426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Lightning Bolt 31"/>
          <p:cNvSpPr/>
          <p:nvPr/>
        </p:nvSpPr>
        <p:spPr>
          <a:xfrm>
            <a:off x="3216365" y="3383097"/>
            <a:ext cx="217883" cy="311261"/>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755075" y="3227832"/>
            <a:ext cx="957011"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Corruption</a:t>
            </a:r>
          </a:p>
        </p:txBody>
      </p:sp>
      <p:sp>
        <p:nvSpPr>
          <p:cNvPr id="34" name="TextBox 33"/>
          <p:cNvSpPr txBox="1"/>
          <p:nvPr/>
        </p:nvSpPr>
        <p:spPr>
          <a:xfrm>
            <a:off x="3096707" y="3931920"/>
            <a:ext cx="1523939" cy="1874519"/>
          </a:xfrm>
          <a:prstGeom prst="rect">
            <a:avLst/>
          </a:prstGeom>
          <a:noFill/>
        </p:spPr>
        <p:txBody>
          <a:bodyPr wrap="square" anchor="t" lIns="0" rIns="0" tIns="0" bIns="0">
            <a:spAutoFit/>
          </a:bodyPr>
          <a:lstStyle/>
          <a:p>
            <a:pPr algn="l">
              <a:lnSpc>
                <a:spcPct val="108000"/>
              </a:lnSpc>
              <a:spcBef>
                <a:spcPts val="0"/>
              </a:spcBef>
              <a:spcAft>
                <a:spcPts val="200"/>
              </a:spcAft>
            </a:pPr>
            <a:r>
              <a:rPr sz="950" b="0" i="0">
                <a:solidFill>
                  <a:srgbClr val="6B777C"/>
                </a:solidFill>
                <a:latin typeface="Segoe UI"/>
              </a:rPr>
              <a:t>Failed/partial writes leave broken files.</a:t>
            </a:r>
          </a:p>
        </p:txBody>
      </p:sp>
      <p:sp>
        <p:nvSpPr>
          <p:cNvPr id="35" name="Rounded Rectangle 34"/>
          <p:cNvSpPr/>
          <p:nvPr/>
        </p:nvSpPr>
        <p:spPr>
          <a:xfrm>
            <a:off x="5077846" y="3063240"/>
            <a:ext cx="2036003" cy="28346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5077846" y="3063240"/>
            <a:ext cx="91440" cy="2834640"/>
          </a:xfrm>
          <a:prstGeom prst="roundRect">
            <a:avLst>
              <a:gd name="adj" fmla="val 50000"/>
            </a:avLst>
          </a:prstGeom>
          <a:solidFill>
            <a:srgbClr val="9C2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5242438" y="3200400"/>
            <a:ext cx="676656" cy="676656"/>
          </a:xfrm>
          <a:prstGeom prst="ellipse">
            <a:avLst/>
          </a:prstGeom>
          <a:solidFill>
            <a:srgbClr val="9C2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Circular Arrow 37"/>
          <p:cNvSpPr/>
          <p:nvPr/>
        </p:nvSpPr>
        <p:spPr>
          <a:xfrm>
            <a:off x="5425135" y="3383097"/>
            <a:ext cx="311261" cy="311261"/>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010534" y="3227832"/>
            <a:ext cx="957011"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No Transactions</a:t>
            </a:r>
          </a:p>
        </p:txBody>
      </p:sp>
      <p:sp>
        <p:nvSpPr>
          <p:cNvPr id="40" name="TextBox 39"/>
          <p:cNvSpPr txBox="1"/>
          <p:nvPr/>
        </p:nvSpPr>
        <p:spPr>
          <a:xfrm>
            <a:off x="5352166" y="3931920"/>
            <a:ext cx="1523939" cy="1874519"/>
          </a:xfrm>
          <a:prstGeom prst="rect">
            <a:avLst/>
          </a:prstGeom>
          <a:noFill/>
        </p:spPr>
        <p:txBody>
          <a:bodyPr wrap="square" anchor="t" lIns="0" rIns="0" tIns="0" bIns="0">
            <a:spAutoFit/>
          </a:bodyPr>
          <a:lstStyle/>
          <a:p>
            <a:pPr algn="l">
              <a:lnSpc>
                <a:spcPct val="108000"/>
              </a:lnSpc>
              <a:spcBef>
                <a:spcPts val="0"/>
              </a:spcBef>
              <a:spcAft>
                <a:spcPts val="200"/>
              </a:spcAft>
            </a:pPr>
            <a:r>
              <a:rPr sz="950" b="0" i="0">
                <a:solidFill>
                  <a:srgbClr val="6B777C"/>
                </a:solidFill>
                <a:latin typeface="Segoe UI"/>
              </a:rPr>
              <a:t>Concurrent writes clash — no ACID safety.</a:t>
            </a:r>
          </a:p>
        </p:txBody>
      </p:sp>
      <p:sp>
        <p:nvSpPr>
          <p:cNvPr id="41" name="Rounded Rectangle 40"/>
          <p:cNvSpPr/>
          <p:nvPr/>
        </p:nvSpPr>
        <p:spPr>
          <a:xfrm>
            <a:off x="7333305" y="3063240"/>
            <a:ext cx="2036003" cy="28346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7333305" y="3063240"/>
            <a:ext cx="91440" cy="283464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7497897" y="3200400"/>
            <a:ext cx="676656" cy="67665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7722490" y="3424992"/>
            <a:ext cx="96740" cy="967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7853220" y="3424992"/>
            <a:ext cx="96740" cy="967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Diamond 45"/>
          <p:cNvSpPr/>
          <p:nvPr/>
        </p:nvSpPr>
        <p:spPr>
          <a:xfrm>
            <a:off x="7722490" y="3555722"/>
            <a:ext cx="96740" cy="96740"/>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7853220" y="3555722"/>
            <a:ext cx="96740" cy="967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265993" y="3227832"/>
            <a:ext cx="957011"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Duplicates</a:t>
            </a:r>
          </a:p>
        </p:txBody>
      </p:sp>
      <p:sp>
        <p:nvSpPr>
          <p:cNvPr id="49" name="TextBox 48"/>
          <p:cNvSpPr txBox="1"/>
          <p:nvPr/>
        </p:nvSpPr>
        <p:spPr>
          <a:xfrm>
            <a:off x="7607625" y="3931920"/>
            <a:ext cx="1523939" cy="1874519"/>
          </a:xfrm>
          <a:prstGeom prst="rect">
            <a:avLst/>
          </a:prstGeom>
          <a:noFill/>
        </p:spPr>
        <p:txBody>
          <a:bodyPr wrap="square" anchor="t" lIns="0" rIns="0" tIns="0" bIns="0">
            <a:spAutoFit/>
          </a:bodyPr>
          <a:lstStyle/>
          <a:p>
            <a:pPr algn="l">
              <a:lnSpc>
                <a:spcPct val="108000"/>
              </a:lnSpc>
              <a:spcBef>
                <a:spcPts val="0"/>
              </a:spcBef>
              <a:spcAft>
                <a:spcPts val="200"/>
              </a:spcAft>
            </a:pPr>
            <a:r>
              <a:rPr sz="950" b="0" i="0">
                <a:solidFill>
                  <a:srgbClr val="6B777C"/>
                </a:solidFill>
                <a:latin typeface="Segoe UI"/>
              </a:rPr>
              <a:t>Re-runs and retries create duplicate rows.</a:t>
            </a:r>
          </a:p>
        </p:txBody>
      </p:sp>
      <p:sp>
        <p:nvSpPr>
          <p:cNvPr id="50" name="Rounded Rectangle 49"/>
          <p:cNvSpPr/>
          <p:nvPr/>
        </p:nvSpPr>
        <p:spPr>
          <a:xfrm>
            <a:off x="9588764" y="3063240"/>
            <a:ext cx="2036003" cy="28346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ounded Rectangle 50"/>
          <p:cNvSpPr/>
          <p:nvPr/>
        </p:nvSpPr>
        <p:spPr>
          <a:xfrm>
            <a:off x="9588764" y="3063240"/>
            <a:ext cx="91440" cy="2834640"/>
          </a:xfrm>
          <a:prstGeom prst="roundRect">
            <a:avLst>
              <a:gd name="adj" fmla="val 50000"/>
            </a:avLst>
          </a:prstGeom>
          <a:solidFill>
            <a:srgbClr val="B06A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Oval 51"/>
          <p:cNvSpPr/>
          <p:nvPr/>
        </p:nvSpPr>
        <p:spPr>
          <a:xfrm>
            <a:off x="9753356" y="3200400"/>
            <a:ext cx="676656" cy="676656"/>
          </a:xfrm>
          <a:prstGeom prst="ellipse">
            <a:avLst/>
          </a:prstGeom>
          <a:solidFill>
            <a:srgbClr val="B06A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3" name="Connector 52"/>
          <p:cNvCxnSpPr/>
          <p:nvPr/>
        </p:nvCxnSpPr>
        <p:spPr>
          <a:xfrm>
            <a:off x="10016981" y="3407998"/>
            <a:ext cx="0" cy="261459"/>
          </a:xfrm>
          <a:prstGeom prst="line">
            <a:avLst/>
          </a:prstGeom>
          <a:ln w="25938">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10016981" y="3407998"/>
            <a:ext cx="155631" cy="130730"/>
          </a:xfrm>
          <a:prstGeom prst="line">
            <a:avLst/>
          </a:prstGeom>
          <a:ln w="25938">
            <a:solidFill>
              <a:srgbClr val="FFFFFF"/>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9976517" y="3367534"/>
            <a:ext cx="80928" cy="80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9976517" y="3628993"/>
            <a:ext cx="80928" cy="80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Oval 56"/>
          <p:cNvSpPr/>
          <p:nvPr/>
        </p:nvSpPr>
        <p:spPr>
          <a:xfrm>
            <a:off x="10132148" y="3367534"/>
            <a:ext cx="80928" cy="80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10521452" y="3227832"/>
            <a:ext cx="957011" cy="640080"/>
          </a:xfrm>
          <a:prstGeom prst="rect">
            <a:avLst/>
          </a:prstGeom>
          <a:noFill/>
        </p:spPr>
        <p:txBody>
          <a:bodyPr wrap="square" anchor="ctr" lIns="0" rIns="0" tIns="0" bIns="0">
            <a:spAutoFit/>
          </a:bodyPr>
          <a:lstStyle/>
          <a:p>
            <a:pPr algn="l">
              <a:lnSpc>
                <a:spcPct val="100000"/>
              </a:lnSpc>
              <a:spcBef>
                <a:spcPts val="0"/>
              </a:spcBef>
              <a:spcAft>
                <a:spcPts val="200"/>
              </a:spcAft>
            </a:pPr>
            <a:r>
              <a:rPr sz="1250" b="1" i="0">
                <a:solidFill>
                  <a:srgbClr val="1B3139"/>
                </a:solidFill>
                <a:latin typeface="Segoe UI"/>
              </a:rPr>
              <a:t>Schema Drift</a:t>
            </a:r>
          </a:p>
        </p:txBody>
      </p:sp>
      <p:sp>
        <p:nvSpPr>
          <p:cNvPr id="59" name="TextBox 58"/>
          <p:cNvSpPr txBox="1"/>
          <p:nvPr/>
        </p:nvSpPr>
        <p:spPr>
          <a:xfrm>
            <a:off x="9863084" y="3931920"/>
            <a:ext cx="1523939" cy="1874519"/>
          </a:xfrm>
          <a:prstGeom prst="rect">
            <a:avLst/>
          </a:prstGeom>
          <a:noFill/>
        </p:spPr>
        <p:txBody>
          <a:bodyPr wrap="square" anchor="t" lIns="0" rIns="0" tIns="0" bIns="0">
            <a:spAutoFit/>
          </a:bodyPr>
          <a:lstStyle/>
          <a:p>
            <a:pPr algn="l">
              <a:lnSpc>
                <a:spcPct val="108000"/>
              </a:lnSpc>
              <a:spcBef>
                <a:spcPts val="0"/>
              </a:spcBef>
              <a:spcAft>
                <a:spcPts val="200"/>
              </a:spcAft>
            </a:pPr>
            <a:r>
              <a:rPr sz="950" b="0" i="0">
                <a:solidFill>
                  <a:srgbClr val="6B777C"/>
                </a:solidFill>
                <a:latin typeface="Segoe UI"/>
              </a:rPr>
              <a:t>Inconsistent, changing schemas break reads.</a:t>
            </a:r>
          </a:p>
        </p:txBody>
      </p:sp>
      <p:sp>
        <p:nvSpPr>
          <p:cNvPr id="60" name="TextBox 59"/>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1" name="TextBox 60"/>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THE PROBLEM</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Business Cost of Bad Data</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997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Problem</a:t>
            </a:r>
          </a:p>
        </p:txBody>
      </p:sp>
      <p:sp>
        <p:nvSpPr>
          <p:cNvPr id="9" name="Oval 8"/>
          <p:cNvSpPr/>
          <p:nvPr/>
        </p:nvSpPr>
        <p:spPr>
          <a:xfrm>
            <a:off x="8156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Fundamentals</a:t>
            </a:r>
          </a:p>
        </p:txBody>
      </p:sp>
      <p:sp>
        <p:nvSpPr>
          <p:cNvPr id="11" name="Oval 10"/>
          <p:cNvSpPr/>
          <p:nvPr/>
        </p:nvSpPr>
        <p:spPr>
          <a:xfrm>
            <a:off x="9299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Internals</a:t>
            </a:r>
          </a:p>
        </p:txBody>
      </p:sp>
      <p:sp>
        <p:nvSpPr>
          <p:cNvPr id="13" name="Oval 12"/>
          <p:cNvSpPr/>
          <p:nvPr/>
        </p:nvSpPr>
        <p:spPr>
          <a:xfrm>
            <a:off x="10442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Platform</a:t>
            </a:r>
          </a:p>
        </p:txBody>
      </p:sp>
      <p:sp>
        <p:nvSpPr>
          <p:cNvPr id="15" name="Rounded Rectangle 14"/>
          <p:cNvSpPr/>
          <p:nvPr/>
        </p:nvSpPr>
        <p:spPr>
          <a:xfrm>
            <a:off x="566928" y="1828800"/>
            <a:ext cx="3291840"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66928" y="1828800"/>
            <a:ext cx="91440" cy="189738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704087" y="1938528"/>
            <a:ext cx="731520" cy="731520"/>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935248" y="2341302"/>
            <a:ext cx="269199" cy="7402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935248" y="2267273"/>
            <a:ext cx="269199" cy="7402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935248" y="2193243"/>
            <a:ext cx="269199" cy="7402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499616" y="1993392"/>
            <a:ext cx="2212848"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Revenue Loss</a:t>
            </a:r>
          </a:p>
        </p:txBody>
      </p:sp>
      <p:sp>
        <p:nvSpPr>
          <p:cNvPr id="22" name="TextBox 21"/>
          <p:cNvSpPr txBox="1"/>
          <p:nvPr/>
        </p:nvSpPr>
        <p:spPr>
          <a:xfrm>
            <a:off x="841247" y="2697480"/>
            <a:ext cx="2779776" cy="937260"/>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Poor data quality costs organizations millions in lost revenue and rework each year.</a:t>
            </a:r>
          </a:p>
        </p:txBody>
      </p:sp>
      <p:sp>
        <p:nvSpPr>
          <p:cNvPr id="23" name="Rounded Rectangle 22"/>
          <p:cNvSpPr/>
          <p:nvPr/>
        </p:nvSpPr>
        <p:spPr>
          <a:xfrm>
            <a:off x="4133087" y="1828800"/>
            <a:ext cx="3291840"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4133087" y="1828800"/>
            <a:ext cx="91440" cy="1897380"/>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4270247" y="1938528"/>
            <a:ext cx="731520" cy="731520"/>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4494678" y="2304288"/>
            <a:ext cx="67299" cy="16824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4602358" y="2210068"/>
            <a:ext cx="67299" cy="26246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4710037" y="2136038"/>
            <a:ext cx="67299" cy="33649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065775" y="1993392"/>
            <a:ext cx="2212848"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Reporting Errors</a:t>
            </a:r>
          </a:p>
        </p:txBody>
      </p:sp>
      <p:sp>
        <p:nvSpPr>
          <p:cNvPr id="30" name="TextBox 29"/>
          <p:cNvSpPr txBox="1"/>
          <p:nvPr/>
        </p:nvSpPr>
        <p:spPr>
          <a:xfrm>
            <a:off x="4407407" y="2697480"/>
            <a:ext cx="2779776" cy="937260"/>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Dashboards built on unreliable data drive wrong, costly business decisions.</a:t>
            </a:r>
          </a:p>
        </p:txBody>
      </p:sp>
      <p:sp>
        <p:nvSpPr>
          <p:cNvPr id="31" name="Rounded Rectangle 30"/>
          <p:cNvSpPr/>
          <p:nvPr/>
        </p:nvSpPr>
        <p:spPr>
          <a:xfrm>
            <a:off x="566928" y="4000500"/>
            <a:ext cx="3291840"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566928" y="4000500"/>
            <a:ext cx="91440" cy="189738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Oval 32"/>
          <p:cNvSpPr/>
          <p:nvPr/>
        </p:nvSpPr>
        <p:spPr>
          <a:xfrm>
            <a:off x="704087" y="4110227"/>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915058" y="4321198"/>
            <a:ext cx="309579" cy="309579"/>
          </a:xfrm>
          <a:prstGeom prst="ellipse">
            <a:avLst/>
          </a:prstGeom>
          <a:noFill/>
          <a:ln w="3271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1058070" y="4375038"/>
            <a:ext cx="23554" cy="11440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1063118" y="4464210"/>
            <a:ext cx="87489" cy="2355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1051340" y="4457480"/>
            <a:ext cx="37014" cy="3701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499616" y="4165091"/>
            <a:ext cx="2212848"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Delayed Analytics</a:t>
            </a:r>
          </a:p>
        </p:txBody>
      </p:sp>
      <p:sp>
        <p:nvSpPr>
          <p:cNvPr id="39" name="TextBox 38"/>
          <p:cNvSpPr txBox="1"/>
          <p:nvPr/>
        </p:nvSpPr>
        <p:spPr>
          <a:xfrm>
            <a:off x="841247" y="4869180"/>
            <a:ext cx="2779776" cy="937260"/>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Engineers spend time fire-fighting data issues instead of delivering insight.</a:t>
            </a:r>
          </a:p>
        </p:txBody>
      </p:sp>
      <p:sp>
        <p:nvSpPr>
          <p:cNvPr id="40" name="Rounded Rectangle 39"/>
          <p:cNvSpPr/>
          <p:nvPr/>
        </p:nvSpPr>
        <p:spPr>
          <a:xfrm>
            <a:off x="4133087" y="4000500"/>
            <a:ext cx="3291840"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4133087" y="4000500"/>
            <a:ext cx="91440" cy="1897380"/>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4270247" y="4110227"/>
            <a:ext cx="731520" cy="731520"/>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a:off x="4521598" y="4459163"/>
            <a:ext cx="228819" cy="168249"/>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Block Arc 43"/>
          <p:cNvSpPr/>
          <p:nvPr/>
        </p:nvSpPr>
        <p:spPr>
          <a:xfrm>
            <a:off x="4555248" y="4307738"/>
            <a:ext cx="161519" cy="168249"/>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065775" y="4165091"/>
            <a:ext cx="2212848" cy="640080"/>
          </a:xfrm>
          <a:prstGeom prst="rect">
            <a:avLst/>
          </a:prstGeom>
          <a:noFill/>
        </p:spPr>
        <p:txBody>
          <a:bodyPr wrap="square" anchor="ctr" lIns="0" rIns="0" tIns="0" bIns="0">
            <a:spAutoFit/>
          </a:bodyPr>
          <a:lstStyle/>
          <a:p>
            <a:pPr algn="l">
              <a:lnSpc>
                <a:spcPct val="100000"/>
              </a:lnSpc>
              <a:spcBef>
                <a:spcPts val="0"/>
              </a:spcBef>
              <a:spcAft>
                <a:spcPts val="200"/>
              </a:spcAft>
            </a:pPr>
            <a:r>
              <a:rPr sz="1450" b="1" i="0">
                <a:solidFill>
                  <a:srgbClr val="1B3139"/>
                </a:solidFill>
                <a:latin typeface="Segoe UI"/>
              </a:rPr>
              <a:t>Governance &amp; Risk</a:t>
            </a:r>
          </a:p>
        </p:txBody>
      </p:sp>
      <p:sp>
        <p:nvSpPr>
          <p:cNvPr id="46" name="TextBox 45"/>
          <p:cNvSpPr txBox="1"/>
          <p:nvPr/>
        </p:nvSpPr>
        <p:spPr>
          <a:xfrm>
            <a:off x="4407407" y="4869180"/>
            <a:ext cx="2779776" cy="937260"/>
          </a:xfrm>
          <a:prstGeom prst="rect">
            <a:avLst/>
          </a:prstGeom>
          <a:noFill/>
        </p:spPr>
        <p:txBody>
          <a:bodyPr wrap="square" anchor="t" lIns="0" rIns="0" tIns="0" bIns="0">
            <a:spAutoFit/>
          </a:bodyPr>
          <a:lstStyle/>
          <a:p>
            <a:pPr algn="l">
              <a:lnSpc>
                <a:spcPct val="108000"/>
              </a:lnSpc>
              <a:spcBef>
                <a:spcPts val="0"/>
              </a:spcBef>
              <a:spcAft>
                <a:spcPts val="200"/>
              </a:spcAft>
            </a:pPr>
            <a:r>
              <a:rPr sz="1100" b="0" i="0">
                <a:solidFill>
                  <a:srgbClr val="6B777C"/>
                </a:solidFill>
                <a:latin typeface="Segoe UI"/>
              </a:rPr>
              <a:t>No audit trail or lineage means compliance gaps and regulatory exposure.</a:t>
            </a:r>
          </a:p>
        </p:txBody>
      </p:sp>
      <p:sp>
        <p:nvSpPr>
          <p:cNvPr id="47" name="Rounded Rectangle 46"/>
          <p:cNvSpPr/>
          <p:nvPr/>
        </p:nvSpPr>
        <p:spPr>
          <a:xfrm>
            <a:off x="7589520" y="1828800"/>
            <a:ext cx="4035247" cy="406908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7909560" y="2057400"/>
            <a:ext cx="3657600" cy="27432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6B57"/>
                </a:solidFill>
                <a:latin typeface="Segoe UI Semibold"/>
              </a:rPr>
              <a:t>WHY IT MATTERS</a:t>
            </a:r>
          </a:p>
        </p:txBody>
      </p:sp>
      <p:sp>
        <p:nvSpPr>
          <p:cNvPr id="49" name="TextBox 48"/>
          <p:cNvSpPr txBox="1"/>
          <p:nvPr/>
        </p:nvSpPr>
        <p:spPr>
          <a:xfrm>
            <a:off x="7909560" y="2468880"/>
            <a:ext cx="3657600" cy="457200"/>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FFFFFF"/>
                </a:solidFill>
                <a:latin typeface="Segoe UI"/>
              </a:rPr>
              <a:t>~$12.9M</a:t>
            </a:r>
          </a:p>
        </p:txBody>
      </p:sp>
      <p:sp>
        <p:nvSpPr>
          <p:cNvPr id="50" name="TextBox 49"/>
          <p:cNvSpPr txBox="1"/>
          <p:nvPr/>
        </p:nvSpPr>
        <p:spPr>
          <a:xfrm>
            <a:off x="7909560" y="2926080"/>
            <a:ext cx="3657600" cy="548640"/>
          </a:xfrm>
          <a:prstGeom prst="rect">
            <a:avLst/>
          </a:prstGeom>
          <a:noFill/>
        </p:spPr>
        <p:txBody>
          <a:bodyPr wrap="square" anchor="t" lIns="0" rIns="0" tIns="0" bIns="0">
            <a:spAutoFit/>
          </a:bodyPr>
          <a:lstStyle/>
          <a:p>
            <a:pPr algn="l">
              <a:lnSpc>
                <a:spcPct val="105000"/>
              </a:lnSpc>
              <a:spcBef>
                <a:spcPts val="0"/>
              </a:spcBef>
              <a:spcAft>
                <a:spcPts val="200"/>
              </a:spcAft>
            </a:pPr>
            <a:r>
              <a:rPr sz="1050" b="0" i="0">
                <a:solidFill>
                  <a:srgbClr val="C4D0D4"/>
                </a:solidFill>
                <a:latin typeface="Segoe UI"/>
              </a:rPr>
              <a:t>average annual cost of poor data quality per organization</a:t>
            </a:r>
          </a:p>
        </p:txBody>
      </p:sp>
      <p:sp>
        <p:nvSpPr>
          <p:cNvPr id="51" name="TextBox 50"/>
          <p:cNvSpPr txBox="1"/>
          <p:nvPr/>
        </p:nvSpPr>
        <p:spPr>
          <a:xfrm>
            <a:off x="7909560" y="3547872"/>
            <a:ext cx="3657600" cy="457200"/>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FFFFFF"/>
                </a:solidFill>
                <a:latin typeface="Segoe UI"/>
              </a:rPr>
              <a:t>80%</a:t>
            </a:r>
          </a:p>
        </p:txBody>
      </p:sp>
      <p:sp>
        <p:nvSpPr>
          <p:cNvPr id="52" name="TextBox 51"/>
          <p:cNvSpPr txBox="1"/>
          <p:nvPr/>
        </p:nvSpPr>
        <p:spPr>
          <a:xfrm>
            <a:off x="7909560" y="4005072"/>
            <a:ext cx="3657600" cy="548640"/>
          </a:xfrm>
          <a:prstGeom prst="rect">
            <a:avLst/>
          </a:prstGeom>
          <a:noFill/>
        </p:spPr>
        <p:txBody>
          <a:bodyPr wrap="square" anchor="t" lIns="0" rIns="0" tIns="0" bIns="0">
            <a:spAutoFit/>
          </a:bodyPr>
          <a:lstStyle/>
          <a:p>
            <a:pPr algn="l">
              <a:lnSpc>
                <a:spcPct val="105000"/>
              </a:lnSpc>
              <a:spcBef>
                <a:spcPts val="0"/>
              </a:spcBef>
              <a:spcAft>
                <a:spcPts val="200"/>
              </a:spcAft>
            </a:pPr>
            <a:r>
              <a:rPr sz="1050" b="0" i="0">
                <a:solidFill>
                  <a:srgbClr val="C4D0D4"/>
                </a:solidFill>
                <a:latin typeface="Segoe UI"/>
              </a:rPr>
              <a:t>of an engineer's time spent finding &amp; fixing data issues</a:t>
            </a:r>
          </a:p>
        </p:txBody>
      </p:sp>
      <p:sp>
        <p:nvSpPr>
          <p:cNvPr id="53" name="TextBox 52"/>
          <p:cNvSpPr txBox="1"/>
          <p:nvPr/>
        </p:nvSpPr>
        <p:spPr>
          <a:xfrm>
            <a:off x="7909560" y="4626864"/>
            <a:ext cx="3657600" cy="457200"/>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FFFFFF"/>
                </a:solidFill>
                <a:latin typeface="Segoe UI"/>
              </a:rPr>
              <a:t>1 in 3</a:t>
            </a:r>
          </a:p>
        </p:txBody>
      </p:sp>
      <p:sp>
        <p:nvSpPr>
          <p:cNvPr id="54" name="TextBox 53"/>
          <p:cNvSpPr txBox="1"/>
          <p:nvPr/>
        </p:nvSpPr>
        <p:spPr>
          <a:xfrm>
            <a:off x="7909560" y="5084064"/>
            <a:ext cx="3657600" cy="548640"/>
          </a:xfrm>
          <a:prstGeom prst="rect">
            <a:avLst/>
          </a:prstGeom>
          <a:noFill/>
        </p:spPr>
        <p:txBody>
          <a:bodyPr wrap="square" anchor="t" lIns="0" rIns="0" tIns="0" bIns="0">
            <a:spAutoFit/>
          </a:bodyPr>
          <a:lstStyle/>
          <a:p>
            <a:pPr algn="l">
              <a:lnSpc>
                <a:spcPct val="105000"/>
              </a:lnSpc>
              <a:spcBef>
                <a:spcPts val="0"/>
              </a:spcBef>
              <a:spcAft>
                <a:spcPts val="200"/>
              </a:spcAft>
            </a:pPr>
            <a:r>
              <a:rPr sz="1050" b="0" i="0">
                <a:solidFill>
                  <a:srgbClr val="C4D0D4"/>
                </a:solidFill>
                <a:latin typeface="Segoe UI"/>
              </a:rPr>
              <a:t>leaders distrust the data they use to make decisions</a:t>
            </a:r>
          </a:p>
        </p:txBody>
      </p:sp>
      <p:sp>
        <p:nvSpPr>
          <p:cNvPr id="55" name="TextBox 5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6" name="TextBox 5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1463040"/>
            <a:ext cx="5486400" cy="2194560"/>
          </a:xfrm>
          <a:prstGeom prst="rect">
            <a:avLst/>
          </a:prstGeom>
          <a:noFill/>
        </p:spPr>
        <p:txBody>
          <a:bodyPr wrap="square" anchor="t" lIns="0" rIns="0" tIns="0" bIns="0">
            <a:spAutoFit/>
          </a:bodyPr>
          <a:lstStyle/>
          <a:p>
            <a:pPr algn="l">
              <a:lnSpc>
                <a:spcPct val="100000"/>
              </a:lnSpc>
              <a:spcBef>
                <a:spcPts val="0"/>
              </a:spcBef>
              <a:spcAft>
                <a:spcPts val="200"/>
              </a:spcAft>
            </a:pPr>
            <a:r>
              <a:rPr sz="20000" b="1" i="0">
                <a:solidFill>
                  <a:srgbClr val="27444F"/>
                </a:solidFill>
                <a:latin typeface="Segoe UI Light"/>
              </a:rPr>
              <a:t>02</a:t>
            </a:r>
          </a:p>
        </p:txBody>
      </p:sp>
      <p:sp>
        <p:nvSpPr>
          <p:cNvPr id="9" name="Rounded Rectangle 8"/>
          <p:cNvSpPr/>
          <p:nvPr/>
        </p:nvSpPr>
        <p:spPr>
          <a:xfrm>
            <a:off x="612648" y="3310128"/>
            <a:ext cx="777240" cy="9144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12648" y="2743200"/>
            <a:ext cx="7315200" cy="36576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FF3621"/>
                </a:solidFill>
                <a:latin typeface="Segoe UI Semibold"/>
              </a:rPr>
              <a:t>PART TWO</a:t>
            </a:r>
          </a:p>
        </p:txBody>
      </p:sp>
      <p:sp>
        <p:nvSpPr>
          <p:cNvPr id="11" name="TextBox 10"/>
          <p:cNvSpPr txBox="1"/>
          <p:nvPr/>
        </p:nvSpPr>
        <p:spPr>
          <a:xfrm>
            <a:off x="566928" y="3456432"/>
            <a:ext cx="7680960" cy="1097280"/>
          </a:xfrm>
          <a:prstGeom prst="rect">
            <a:avLst/>
          </a:prstGeom>
          <a:noFill/>
        </p:spPr>
        <p:txBody>
          <a:bodyPr wrap="square" anchor="t" lIns="0" rIns="0" tIns="0" bIns="0">
            <a:spAutoFit/>
          </a:bodyPr>
          <a:lstStyle/>
          <a:p>
            <a:pPr algn="l">
              <a:lnSpc>
                <a:spcPct val="98000"/>
              </a:lnSpc>
              <a:spcBef>
                <a:spcPts val="0"/>
              </a:spcBef>
              <a:spcAft>
                <a:spcPts val="200"/>
              </a:spcAft>
            </a:pPr>
            <a:r>
              <a:rPr sz="4000" b="1" i="0">
                <a:solidFill>
                  <a:srgbClr val="FFFFFF"/>
                </a:solidFill>
                <a:latin typeface="Segoe UI"/>
              </a:rPr>
              <a:t>Delta Lake Fundamentals</a:t>
            </a:r>
          </a:p>
        </p:txBody>
      </p:sp>
      <p:sp>
        <p:nvSpPr>
          <p:cNvPr id="12" name="TextBox 11"/>
          <p:cNvSpPr txBox="1"/>
          <p:nvPr/>
        </p:nvSpPr>
        <p:spPr>
          <a:xfrm>
            <a:off x="612648" y="4754880"/>
            <a:ext cx="6949440" cy="1463040"/>
          </a:xfrm>
          <a:prstGeom prst="rect">
            <a:avLst/>
          </a:prstGeom>
          <a:noFill/>
        </p:spPr>
        <p:txBody>
          <a:bodyPr wrap="square" anchor="t" lIns="0" rIns="0" tIns="0" bIns="0">
            <a:spAutoFit/>
          </a:bodyPr>
          <a:lstStyle/>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What Delta Lake is</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Architecture &amp; the five core components</a:t>
            </a:r>
          </a:p>
        </p:txBody>
      </p:sp>
      <p:sp>
        <p:nvSpPr>
          <p:cNvPr id="13" name="Oval 12"/>
          <p:cNvSpPr/>
          <p:nvPr/>
        </p:nvSpPr>
        <p:spPr>
          <a:xfrm>
            <a:off x="8641080" y="2423160"/>
            <a:ext cx="2286000" cy="2286000"/>
          </a:xfrm>
          <a:prstGeom prst="ellipse">
            <a:avLst/>
          </a:prstGeom>
          <a:solidFill>
            <a:srgbClr val="FF3621"/>
          </a:solidFill>
          <a:ln w="15240">
            <a:solidFill>
              <a:srgbClr val="FF8A78"/>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Isosceles Triangle 13"/>
          <p:cNvSpPr/>
          <p:nvPr/>
        </p:nvSpPr>
        <p:spPr>
          <a:xfrm>
            <a:off x="9258300" y="3092958"/>
            <a:ext cx="1051560" cy="946404"/>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7E9199"/>
                </a:solidFill>
                <a:latin typeface="Segoe UI"/>
              </a:rPr>
              <a:t>Big Data &amp; Databricks  ·  Enterprise Training Series</a:t>
            </a:r>
          </a:p>
        </p:txBody>
      </p:sp>
      <p:sp>
        <p:nvSpPr>
          <p:cNvPr id="16" name="TextBox 1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7E9199"/>
                </a:solidFill>
                <a:latin typeface="Segoe UI"/>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What Is Delta Lake?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40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Fundamentals</a:t>
            </a:r>
          </a:p>
        </p:txBody>
      </p:sp>
      <p:sp>
        <p:nvSpPr>
          <p:cNvPr id="11" name="Oval 10"/>
          <p:cNvSpPr/>
          <p:nvPr/>
        </p:nvSpPr>
        <p:spPr>
          <a:xfrm>
            <a:off x="9299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Internals</a:t>
            </a:r>
          </a:p>
        </p:txBody>
      </p:sp>
      <p:sp>
        <p:nvSpPr>
          <p:cNvPr id="13" name="Oval 12"/>
          <p:cNvSpPr/>
          <p:nvPr/>
        </p:nvSpPr>
        <p:spPr>
          <a:xfrm>
            <a:off x="10442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Platform</a:t>
            </a:r>
          </a:p>
        </p:txBody>
      </p:sp>
      <p:cxnSp>
        <p:nvCxnSpPr>
          <p:cNvPr id="15" name="Connector 14"/>
          <p:cNvCxnSpPr/>
          <p:nvPr/>
        </p:nvCxnSpPr>
        <p:spPr>
          <a:xfrm flipV="1">
            <a:off x="3520440" y="2148839"/>
            <a:ext cx="0" cy="1828800"/>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520440" y="3063239"/>
            <a:ext cx="1583787" cy="914400"/>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520440" y="3977639"/>
            <a:ext cx="1583787" cy="914401"/>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520440" y="3977639"/>
            <a:ext cx="0" cy="1828801"/>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936652" y="3977639"/>
            <a:ext cx="1583788" cy="914401"/>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1936652" y="3063239"/>
            <a:ext cx="1583788" cy="914400"/>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3040380" y="1668779"/>
            <a:ext cx="960120" cy="960120"/>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rot="2700000">
            <a:off x="3396776" y="2157673"/>
            <a:ext cx="132496" cy="7066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rot="18480000">
            <a:off x="3493940" y="2060508"/>
            <a:ext cx="256160" cy="7066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606040" y="1394459"/>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100" b="1" i="0">
                <a:solidFill>
                  <a:srgbClr val="1B3139"/>
                </a:solidFill>
                <a:latin typeface="Segoe UI"/>
              </a:rPr>
              <a:t>Reliability</a:t>
            </a:r>
          </a:p>
        </p:txBody>
      </p:sp>
      <p:sp>
        <p:nvSpPr>
          <p:cNvPr id="25" name="Oval 24"/>
          <p:cNvSpPr/>
          <p:nvPr/>
        </p:nvSpPr>
        <p:spPr>
          <a:xfrm>
            <a:off x="4624167" y="2583179"/>
            <a:ext cx="960120" cy="96012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Circular Arrow 25"/>
          <p:cNvSpPr/>
          <p:nvPr/>
        </p:nvSpPr>
        <p:spPr>
          <a:xfrm>
            <a:off x="4883399" y="2842412"/>
            <a:ext cx="441655" cy="441655"/>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189827" y="2308860"/>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100" b="1" i="0">
                <a:solidFill>
                  <a:srgbClr val="1B3139"/>
                </a:solidFill>
                <a:latin typeface="Segoe UI"/>
              </a:rPr>
              <a:t>ACID</a:t>
            </a:r>
          </a:p>
        </p:txBody>
      </p:sp>
      <p:sp>
        <p:nvSpPr>
          <p:cNvPr id="28" name="Oval 27"/>
          <p:cNvSpPr/>
          <p:nvPr/>
        </p:nvSpPr>
        <p:spPr>
          <a:xfrm>
            <a:off x="4624167" y="4411979"/>
            <a:ext cx="960120" cy="96012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4901065" y="4688878"/>
            <a:ext cx="406322" cy="406322"/>
          </a:xfrm>
          <a:prstGeom prst="ellipse">
            <a:avLst/>
          </a:prstGeom>
          <a:noFill/>
          <a:ln w="42938">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5088769" y="4759543"/>
            <a:ext cx="30915" cy="15016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5095394" y="4876582"/>
            <a:ext cx="114830" cy="3091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5079936" y="4867748"/>
            <a:ext cx="48582" cy="4858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189827" y="5417820"/>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100" b="1" i="0">
                <a:solidFill>
                  <a:srgbClr val="1B3139"/>
                </a:solidFill>
                <a:latin typeface="Segoe UI"/>
              </a:rPr>
              <a:t>Time Travel</a:t>
            </a:r>
          </a:p>
        </p:txBody>
      </p:sp>
      <p:sp>
        <p:nvSpPr>
          <p:cNvPr id="34" name="Oval 33"/>
          <p:cNvSpPr/>
          <p:nvPr/>
        </p:nvSpPr>
        <p:spPr>
          <a:xfrm>
            <a:off x="3040380" y="5326379"/>
            <a:ext cx="960120" cy="960120"/>
          </a:xfrm>
          <a:prstGeom prst="ellipse">
            <a:avLst/>
          </a:prstGeom>
          <a:solidFill>
            <a:srgbClr val="0E8C9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Chevron 34"/>
          <p:cNvSpPr/>
          <p:nvPr/>
        </p:nvSpPr>
        <p:spPr>
          <a:xfrm>
            <a:off x="3317278" y="5656277"/>
            <a:ext cx="132496" cy="300325"/>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Chevron 35"/>
          <p:cNvSpPr/>
          <p:nvPr/>
        </p:nvSpPr>
        <p:spPr>
          <a:xfrm>
            <a:off x="3467441" y="5656277"/>
            <a:ext cx="132496" cy="300325"/>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Chevron 36"/>
          <p:cNvSpPr/>
          <p:nvPr/>
        </p:nvSpPr>
        <p:spPr>
          <a:xfrm>
            <a:off x="3617604" y="5656277"/>
            <a:ext cx="132496" cy="300325"/>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606040" y="6332220"/>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100" b="1" i="0">
                <a:solidFill>
                  <a:srgbClr val="1B3139"/>
                </a:solidFill>
                <a:latin typeface="Segoe UI"/>
              </a:rPr>
              <a:t>Streaming</a:t>
            </a:r>
          </a:p>
        </p:txBody>
      </p:sp>
      <p:sp>
        <p:nvSpPr>
          <p:cNvPr id="39" name="Oval 38"/>
          <p:cNvSpPr/>
          <p:nvPr/>
        </p:nvSpPr>
        <p:spPr>
          <a:xfrm>
            <a:off x="1456592" y="4411979"/>
            <a:ext cx="960120" cy="960120"/>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1786489" y="4869957"/>
            <a:ext cx="300325" cy="220827"/>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Block Arc 40"/>
          <p:cNvSpPr/>
          <p:nvPr/>
        </p:nvSpPr>
        <p:spPr>
          <a:xfrm>
            <a:off x="1830655" y="4671212"/>
            <a:ext cx="211994" cy="220827"/>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022252" y="5417820"/>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100" b="1" i="0">
                <a:solidFill>
                  <a:srgbClr val="1B3139"/>
                </a:solidFill>
                <a:latin typeface="Segoe UI"/>
              </a:rPr>
              <a:t>Governance</a:t>
            </a:r>
          </a:p>
        </p:txBody>
      </p:sp>
      <p:sp>
        <p:nvSpPr>
          <p:cNvPr id="43" name="Oval 42"/>
          <p:cNvSpPr/>
          <p:nvPr/>
        </p:nvSpPr>
        <p:spPr>
          <a:xfrm>
            <a:off x="1456592" y="2583179"/>
            <a:ext cx="960120" cy="960120"/>
          </a:xfrm>
          <a:prstGeom prst="ellipse">
            <a:avLst/>
          </a:prstGeom>
          <a:solidFill>
            <a:srgbClr val="F59E0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1788256" y="2914843"/>
            <a:ext cx="120130" cy="12013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1964918" y="2914843"/>
            <a:ext cx="120130" cy="12013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1788256" y="3091505"/>
            <a:ext cx="120130" cy="12013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1964918" y="3091505"/>
            <a:ext cx="120130" cy="12013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1022252" y="2308860"/>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100" b="1" i="0">
                <a:solidFill>
                  <a:srgbClr val="1B3139"/>
                </a:solidFill>
                <a:latin typeface="Segoe UI"/>
              </a:rPr>
              <a:t>Scalability</a:t>
            </a:r>
          </a:p>
        </p:txBody>
      </p:sp>
      <p:sp>
        <p:nvSpPr>
          <p:cNvPr id="49" name="Oval 48"/>
          <p:cNvSpPr/>
          <p:nvPr/>
        </p:nvSpPr>
        <p:spPr>
          <a:xfrm>
            <a:off x="2743200" y="3200399"/>
            <a:ext cx="1554480" cy="1554480"/>
          </a:xfrm>
          <a:prstGeom prst="ellipse">
            <a:avLst/>
          </a:prstGeom>
          <a:solidFill>
            <a:srgbClr val="FF3621"/>
          </a:solidFill>
          <a:ln w="3810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Oval 49"/>
          <p:cNvSpPr/>
          <p:nvPr/>
        </p:nvSpPr>
        <p:spPr>
          <a:xfrm>
            <a:off x="2843784" y="3300983"/>
            <a:ext cx="1353312" cy="1353312"/>
          </a:xfrm>
          <a:prstGeom prst="ellipse">
            <a:avLst/>
          </a:prstGeom>
          <a:noFill/>
          <a:ln w="16510">
            <a:solidFill>
              <a:srgbClr val="FF8A7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2743200" y="3593591"/>
            <a:ext cx="1554480" cy="768096"/>
          </a:xfrm>
          <a:prstGeom prst="rect">
            <a:avLst/>
          </a:prstGeom>
          <a:noFill/>
        </p:spPr>
        <p:txBody>
          <a:bodyPr wrap="square" anchor="ctr" lIns="0" rIns="0" tIns="0" bIns="0">
            <a:spAutoFit/>
          </a:bodyPr>
          <a:lstStyle/>
          <a:p>
            <a:pPr algn="ctr">
              <a:lnSpc>
                <a:spcPct val="95000"/>
              </a:lnSpc>
              <a:spcBef>
                <a:spcPts val="0"/>
              </a:spcBef>
              <a:spcAft>
                <a:spcPts val="200"/>
              </a:spcAft>
            </a:pPr>
            <a:r>
              <a:rPr sz="1500" b="1" i="0">
                <a:solidFill>
                  <a:srgbClr val="FFFFFF"/>
                </a:solidFill>
                <a:latin typeface="Segoe UI"/>
              </a:rPr>
              <a:t>DELTA
LAKE</a:t>
            </a:r>
          </a:p>
        </p:txBody>
      </p:sp>
      <p:sp>
        <p:nvSpPr>
          <p:cNvPr id="52" name="Rounded Rectangle 51"/>
          <p:cNvSpPr/>
          <p:nvPr/>
        </p:nvSpPr>
        <p:spPr>
          <a:xfrm>
            <a:off x="7178040" y="1874519"/>
            <a:ext cx="4446727" cy="228600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7498079" y="2103120"/>
            <a:ext cx="3931920" cy="27432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6B57"/>
                </a:solidFill>
                <a:latin typeface="Segoe UI Semibold"/>
              </a:rPr>
              <a:t>DEFINITION</a:t>
            </a:r>
          </a:p>
        </p:txBody>
      </p:sp>
      <p:sp>
        <p:nvSpPr>
          <p:cNvPr id="54" name="TextBox 53"/>
          <p:cNvSpPr txBox="1"/>
          <p:nvPr/>
        </p:nvSpPr>
        <p:spPr>
          <a:xfrm>
            <a:off x="7498079" y="2414016"/>
            <a:ext cx="3931920" cy="1645920"/>
          </a:xfrm>
          <a:prstGeom prst="rect">
            <a:avLst/>
          </a:prstGeom>
          <a:noFill/>
        </p:spPr>
        <p:txBody>
          <a:bodyPr wrap="square" anchor="t" lIns="0" rIns="0" tIns="0" bIns="0">
            <a:spAutoFit/>
          </a:bodyPr>
          <a:lstStyle/>
          <a:p>
            <a:pPr algn="l">
              <a:lnSpc>
                <a:spcPct val="128000"/>
              </a:lnSpc>
              <a:spcBef>
                <a:spcPts val="0"/>
              </a:spcBef>
              <a:spcAft>
                <a:spcPts val="200"/>
              </a:spcAft>
            </a:pPr>
            <a:r>
              <a:rPr sz="1350" b="0" i="0">
                <a:solidFill>
                  <a:srgbClr val="FFFFFF"/>
                </a:solidFill>
                <a:latin typeface="Segoe UI"/>
              </a:rPr>
              <a:t>Delta Lake is an </a:t>
            </a:r>
            <a:r>
              <a:rPr sz="1350" b="1" i="0">
                <a:solidFill>
                  <a:srgbClr val="FF6B57"/>
                </a:solidFill>
                <a:latin typeface="Segoe UI"/>
              </a:rPr>
              <a:t>open-source storage layer</a:t>
            </a:r>
            <a:r>
              <a:rPr sz="1350" b="0" i="0">
                <a:solidFill>
                  <a:srgbClr val="FFFFFF"/>
                </a:solidFill>
                <a:latin typeface="Segoe UI"/>
              </a:rPr>
              <a:t> that brings </a:t>
            </a:r>
            <a:r>
              <a:rPr sz="1350" b="1" i="0">
                <a:solidFill>
                  <a:srgbClr val="FF6B57"/>
                </a:solidFill>
                <a:latin typeface="Segoe UI"/>
              </a:rPr>
              <a:t>ACID transactions and reliability</a:t>
            </a:r>
            <a:r>
              <a:rPr sz="1350" b="0" i="0">
                <a:solidFill>
                  <a:srgbClr val="FFFFFF"/>
                </a:solidFill>
                <a:latin typeface="Segoe UI"/>
              </a:rPr>
              <a:t> to data lakes — turning files on cloud storage into dependable, governed tables.</a:t>
            </a:r>
          </a:p>
        </p:txBody>
      </p:sp>
      <p:sp>
        <p:nvSpPr>
          <p:cNvPr id="55" name="TextBox 54"/>
          <p:cNvSpPr txBox="1"/>
          <p:nvPr/>
        </p:nvSpPr>
        <p:spPr>
          <a:xfrm>
            <a:off x="7223760" y="4343400"/>
            <a:ext cx="4355287" cy="1645920"/>
          </a:xfrm>
          <a:prstGeom prst="rect">
            <a:avLst/>
          </a:prstGeom>
          <a:noFill/>
        </p:spPr>
        <p:txBody>
          <a:bodyPr wrap="square" anchor="t" lIns="0" rIns="0" tIns="0" bIns="0">
            <a:spAutoFit/>
          </a:bodyPr>
          <a:lstStyle/>
          <a:p>
            <a:pPr marL="274320" indent="-274320">
              <a:lnSpc>
                <a:spcPct val="112000"/>
              </a:lnSpc>
              <a:spcBef>
                <a:spcPts val="0"/>
              </a:spcBef>
              <a:spcAft>
                <a:spcPts val="900"/>
              </a:spcAft>
            </a:pPr>
            <a:r>
              <a:rPr sz="1200" b="1">
                <a:solidFill>
                  <a:srgbClr val="FF3621"/>
                </a:solidFill>
                <a:latin typeface="Segoe UI"/>
              </a:rPr>
              <a:t>▪   </a:t>
            </a:r>
            <a:r>
              <a:rPr sz="1200">
                <a:solidFill>
                  <a:srgbClr val="465257"/>
                </a:solidFill>
                <a:latin typeface="Segoe UI"/>
              </a:rPr>
              <a:t>100% open format — built on Parquet</a:t>
            </a:r>
          </a:p>
          <a:p>
            <a:pPr marL="274320" indent="-274320">
              <a:lnSpc>
                <a:spcPct val="112000"/>
              </a:lnSpc>
              <a:spcBef>
                <a:spcPts val="0"/>
              </a:spcBef>
              <a:spcAft>
                <a:spcPts val="900"/>
              </a:spcAft>
            </a:pPr>
            <a:r>
              <a:rPr sz="1200" b="1">
                <a:solidFill>
                  <a:srgbClr val="FF3621"/>
                </a:solidFill>
                <a:latin typeface="Segoe UI"/>
              </a:rPr>
              <a:t>▪   </a:t>
            </a:r>
            <a:r>
              <a:rPr sz="1200">
                <a:solidFill>
                  <a:srgbClr val="465257"/>
                </a:solidFill>
                <a:latin typeface="Segoe UI"/>
              </a:rPr>
              <a:t>Unifies batch &amp; streaming on one table</a:t>
            </a:r>
          </a:p>
          <a:p>
            <a:pPr marL="274320" indent="-274320">
              <a:lnSpc>
                <a:spcPct val="112000"/>
              </a:lnSpc>
              <a:spcBef>
                <a:spcPts val="0"/>
              </a:spcBef>
              <a:spcAft>
                <a:spcPts val="900"/>
              </a:spcAft>
            </a:pPr>
            <a:r>
              <a:rPr sz="1200" b="1">
                <a:solidFill>
                  <a:srgbClr val="FF3621"/>
                </a:solidFill>
                <a:latin typeface="Segoe UI"/>
              </a:rPr>
              <a:t>▪   </a:t>
            </a:r>
            <a:r>
              <a:rPr sz="1200">
                <a:solidFill>
                  <a:srgbClr val="465257"/>
                </a:solidFill>
                <a:latin typeface="Segoe UI"/>
              </a:rPr>
              <a:t>The storage foundation of the Lakehouse</a:t>
            </a:r>
          </a:p>
        </p:txBody>
      </p:sp>
      <p:sp>
        <p:nvSpPr>
          <p:cNvPr id="56" name="TextBox 55"/>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7" name="TextBox 56"/>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Delta Lake Architecture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40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Fundamentals</a:t>
            </a:r>
          </a:p>
        </p:txBody>
      </p:sp>
      <p:sp>
        <p:nvSpPr>
          <p:cNvPr id="11" name="Oval 10"/>
          <p:cNvSpPr/>
          <p:nvPr/>
        </p:nvSpPr>
        <p:spPr>
          <a:xfrm>
            <a:off x="9299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Internals</a:t>
            </a:r>
          </a:p>
        </p:txBody>
      </p:sp>
      <p:sp>
        <p:nvSpPr>
          <p:cNvPr id="13" name="Oval 12"/>
          <p:cNvSpPr/>
          <p:nvPr/>
        </p:nvSpPr>
        <p:spPr>
          <a:xfrm>
            <a:off x="10442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Platform</a:t>
            </a:r>
          </a:p>
        </p:txBody>
      </p:sp>
      <p:sp>
        <p:nvSpPr>
          <p:cNvPr id="15" name="Rounded Rectangle 14"/>
          <p:cNvSpPr/>
          <p:nvPr/>
        </p:nvSpPr>
        <p:spPr>
          <a:xfrm>
            <a:off x="566928" y="1874519"/>
            <a:ext cx="5852160" cy="9144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1874519"/>
            <a:ext cx="91440" cy="914400"/>
          </a:xfrm>
          <a:prstGeom prst="rect">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859536" y="2029967"/>
            <a:ext cx="603504" cy="603504"/>
          </a:xfrm>
          <a:prstGeom prst="ellipse">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1105765" y="2215123"/>
            <a:ext cx="111044" cy="11104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1066899" y="2342824"/>
            <a:ext cx="188776" cy="1165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618488" y="1993391"/>
            <a:ext cx="4663440" cy="365760"/>
          </a:xfrm>
          <a:prstGeom prst="rect">
            <a:avLst/>
          </a:prstGeom>
          <a:noFill/>
        </p:spPr>
        <p:txBody>
          <a:bodyPr wrap="square" anchor="t" lIns="0" rIns="0" tIns="0" bIns="0">
            <a:spAutoFit/>
          </a:bodyPr>
          <a:lstStyle/>
          <a:p>
            <a:pPr algn="l">
              <a:lnSpc>
                <a:spcPct val="100000"/>
              </a:lnSpc>
              <a:spcBef>
                <a:spcPts val="0"/>
              </a:spcBef>
              <a:spcAft>
                <a:spcPts val="200"/>
              </a:spcAft>
            </a:pPr>
            <a:r>
              <a:rPr sz="1400" b="1" i="0">
                <a:solidFill>
                  <a:srgbClr val="1B3139"/>
                </a:solidFill>
                <a:latin typeface="Segoe UI"/>
              </a:rPr>
              <a:t>Users</a:t>
            </a:r>
          </a:p>
        </p:txBody>
      </p:sp>
      <p:sp>
        <p:nvSpPr>
          <p:cNvPr id="21" name="TextBox 20"/>
          <p:cNvSpPr txBox="1"/>
          <p:nvPr/>
        </p:nvSpPr>
        <p:spPr>
          <a:xfrm>
            <a:off x="1618488" y="2350008"/>
            <a:ext cx="4663440" cy="365760"/>
          </a:xfrm>
          <a:prstGeom prst="rect">
            <a:avLst/>
          </a:prstGeom>
          <a:noFill/>
        </p:spPr>
        <p:txBody>
          <a:bodyPr wrap="square" anchor="t" lIns="0" rIns="0" tIns="0" bIns="0">
            <a:spAutoFit/>
          </a:bodyPr>
          <a:lstStyle/>
          <a:p>
            <a:pPr algn="l">
              <a:lnSpc>
                <a:spcPct val="100000"/>
              </a:lnSpc>
              <a:spcBef>
                <a:spcPts val="0"/>
              </a:spcBef>
              <a:spcAft>
                <a:spcPts val="200"/>
              </a:spcAft>
            </a:pPr>
            <a:r>
              <a:rPr sz="1050" b="0" i="0">
                <a:solidFill>
                  <a:srgbClr val="6B777C"/>
                </a:solidFill>
                <a:latin typeface="Segoe UI"/>
              </a:rPr>
              <a:t>Engineers · Analysts · Scientists · BI</a:t>
            </a:r>
          </a:p>
        </p:txBody>
      </p:sp>
      <p:sp>
        <p:nvSpPr>
          <p:cNvPr id="22" name="Down Arrow 21"/>
          <p:cNvSpPr/>
          <p:nvPr/>
        </p:nvSpPr>
        <p:spPr>
          <a:xfrm>
            <a:off x="3401568" y="2788920"/>
            <a:ext cx="182880" cy="164592"/>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566928" y="2935224"/>
            <a:ext cx="5852160" cy="9144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2935224"/>
            <a:ext cx="91440" cy="91440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859536" y="3090672"/>
            <a:ext cx="603504" cy="603504"/>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Lightning Bolt 25"/>
          <p:cNvSpPr/>
          <p:nvPr/>
        </p:nvSpPr>
        <p:spPr>
          <a:xfrm>
            <a:off x="1064123" y="3253618"/>
            <a:ext cx="194328" cy="277611"/>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618488" y="3054096"/>
            <a:ext cx="4663440" cy="365760"/>
          </a:xfrm>
          <a:prstGeom prst="rect">
            <a:avLst/>
          </a:prstGeom>
          <a:noFill/>
        </p:spPr>
        <p:txBody>
          <a:bodyPr wrap="square" anchor="t" lIns="0" rIns="0" tIns="0" bIns="0">
            <a:spAutoFit/>
          </a:bodyPr>
          <a:lstStyle/>
          <a:p>
            <a:pPr algn="l">
              <a:lnSpc>
                <a:spcPct val="100000"/>
              </a:lnSpc>
              <a:spcBef>
                <a:spcPts val="0"/>
              </a:spcBef>
              <a:spcAft>
                <a:spcPts val="200"/>
              </a:spcAft>
            </a:pPr>
            <a:r>
              <a:rPr sz="1400" b="1" i="0">
                <a:solidFill>
                  <a:srgbClr val="1B3139"/>
                </a:solidFill>
                <a:latin typeface="Segoe UI"/>
              </a:rPr>
              <a:t>Databricks</a:t>
            </a:r>
          </a:p>
        </p:txBody>
      </p:sp>
      <p:sp>
        <p:nvSpPr>
          <p:cNvPr id="28" name="TextBox 27"/>
          <p:cNvSpPr txBox="1"/>
          <p:nvPr/>
        </p:nvSpPr>
        <p:spPr>
          <a:xfrm>
            <a:off x="1618488" y="3410712"/>
            <a:ext cx="4663440" cy="365760"/>
          </a:xfrm>
          <a:prstGeom prst="rect">
            <a:avLst/>
          </a:prstGeom>
          <a:noFill/>
        </p:spPr>
        <p:txBody>
          <a:bodyPr wrap="square" anchor="t" lIns="0" rIns="0" tIns="0" bIns="0">
            <a:spAutoFit/>
          </a:bodyPr>
          <a:lstStyle/>
          <a:p>
            <a:pPr algn="l">
              <a:lnSpc>
                <a:spcPct val="100000"/>
              </a:lnSpc>
              <a:spcBef>
                <a:spcPts val="0"/>
              </a:spcBef>
              <a:spcAft>
                <a:spcPts val="200"/>
              </a:spcAft>
            </a:pPr>
            <a:r>
              <a:rPr sz="1050" b="0" i="0">
                <a:solidFill>
                  <a:srgbClr val="6B777C"/>
                </a:solidFill>
                <a:latin typeface="Segoe UI"/>
              </a:rPr>
              <a:t>Spark + Photon read &amp; write Delta</a:t>
            </a:r>
          </a:p>
        </p:txBody>
      </p:sp>
      <p:sp>
        <p:nvSpPr>
          <p:cNvPr id="29" name="Down Arrow 28"/>
          <p:cNvSpPr/>
          <p:nvPr/>
        </p:nvSpPr>
        <p:spPr>
          <a:xfrm>
            <a:off x="3401568" y="3849624"/>
            <a:ext cx="182880" cy="164592"/>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566928" y="3995927"/>
            <a:ext cx="5852160" cy="9144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566928" y="3995927"/>
            <a:ext cx="91440" cy="914400"/>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859536" y="4151375"/>
            <a:ext cx="603504" cy="603504"/>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Isosceles Triangle 32"/>
          <p:cNvSpPr/>
          <p:nvPr/>
        </p:nvSpPr>
        <p:spPr>
          <a:xfrm>
            <a:off x="1022482" y="4328202"/>
            <a:ext cx="277611" cy="249850"/>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618488" y="4114799"/>
            <a:ext cx="4663440" cy="365760"/>
          </a:xfrm>
          <a:prstGeom prst="rect">
            <a:avLst/>
          </a:prstGeom>
          <a:noFill/>
        </p:spPr>
        <p:txBody>
          <a:bodyPr wrap="square" anchor="t" lIns="0" rIns="0" tIns="0" bIns="0">
            <a:spAutoFit/>
          </a:bodyPr>
          <a:lstStyle/>
          <a:p>
            <a:pPr algn="l">
              <a:lnSpc>
                <a:spcPct val="100000"/>
              </a:lnSpc>
              <a:spcBef>
                <a:spcPts val="0"/>
              </a:spcBef>
              <a:spcAft>
                <a:spcPts val="200"/>
              </a:spcAft>
            </a:pPr>
            <a:r>
              <a:rPr sz="1400" b="1" i="0">
                <a:solidFill>
                  <a:srgbClr val="1B3139"/>
                </a:solidFill>
                <a:latin typeface="Segoe UI"/>
              </a:rPr>
              <a:t>Delta Lake</a:t>
            </a:r>
          </a:p>
        </p:txBody>
      </p:sp>
      <p:sp>
        <p:nvSpPr>
          <p:cNvPr id="35" name="TextBox 34"/>
          <p:cNvSpPr txBox="1"/>
          <p:nvPr/>
        </p:nvSpPr>
        <p:spPr>
          <a:xfrm>
            <a:off x="1618488" y="4471415"/>
            <a:ext cx="4663440" cy="365760"/>
          </a:xfrm>
          <a:prstGeom prst="rect">
            <a:avLst/>
          </a:prstGeom>
          <a:noFill/>
        </p:spPr>
        <p:txBody>
          <a:bodyPr wrap="square" anchor="t" lIns="0" rIns="0" tIns="0" bIns="0">
            <a:spAutoFit/>
          </a:bodyPr>
          <a:lstStyle/>
          <a:p>
            <a:pPr algn="l">
              <a:lnSpc>
                <a:spcPct val="100000"/>
              </a:lnSpc>
              <a:spcBef>
                <a:spcPts val="0"/>
              </a:spcBef>
              <a:spcAft>
                <a:spcPts val="200"/>
              </a:spcAft>
            </a:pPr>
            <a:r>
              <a:rPr sz="1050" b="0" i="0">
                <a:solidFill>
                  <a:srgbClr val="6B777C"/>
                </a:solidFill>
                <a:latin typeface="Segoe UI"/>
              </a:rPr>
              <a:t>Open transactional table layer</a:t>
            </a:r>
          </a:p>
        </p:txBody>
      </p:sp>
      <p:sp>
        <p:nvSpPr>
          <p:cNvPr id="36" name="Down Arrow 35"/>
          <p:cNvSpPr/>
          <p:nvPr/>
        </p:nvSpPr>
        <p:spPr>
          <a:xfrm>
            <a:off x="3401568" y="4910327"/>
            <a:ext cx="182880" cy="164592"/>
          </a:xfrm>
          <a:prstGeom prst="downArrow">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566928" y="5056631"/>
            <a:ext cx="5852160" cy="9144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566928" y="5056631"/>
            <a:ext cx="91440" cy="914400"/>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859536" y="5212079"/>
            <a:ext cx="603504" cy="603504"/>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Cloud 39"/>
          <p:cNvSpPr/>
          <p:nvPr/>
        </p:nvSpPr>
        <p:spPr>
          <a:xfrm>
            <a:off x="1001661" y="5395846"/>
            <a:ext cx="319253" cy="235970"/>
          </a:xfrm>
          <a:prstGeom prst="clou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618488" y="5175503"/>
            <a:ext cx="4663440" cy="365760"/>
          </a:xfrm>
          <a:prstGeom prst="rect">
            <a:avLst/>
          </a:prstGeom>
          <a:noFill/>
        </p:spPr>
        <p:txBody>
          <a:bodyPr wrap="square" anchor="t" lIns="0" rIns="0" tIns="0" bIns="0">
            <a:spAutoFit/>
          </a:bodyPr>
          <a:lstStyle/>
          <a:p>
            <a:pPr algn="l">
              <a:lnSpc>
                <a:spcPct val="100000"/>
              </a:lnSpc>
              <a:spcBef>
                <a:spcPts val="0"/>
              </a:spcBef>
              <a:spcAft>
                <a:spcPts val="200"/>
              </a:spcAft>
            </a:pPr>
            <a:r>
              <a:rPr sz="1400" b="1" i="0">
                <a:solidFill>
                  <a:srgbClr val="1B3139"/>
                </a:solidFill>
                <a:latin typeface="Segoe UI"/>
              </a:rPr>
              <a:t>Cloud Storage</a:t>
            </a:r>
          </a:p>
        </p:txBody>
      </p:sp>
      <p:sp>
        <p:nvSpPr>
          <p:cNvPr id="42" name="TextBox 41"/>
          <p:cNvSpPr txBox="1"/>
          <p:nvPr/>
        </p:nvSpPr>
        <p:spPr>
          <a:xfrm>
            <a:off x="1618488" y="5532119"/>
            <a:ext cx="4663440" cy="365760"/>
          </a:xfrm>
          <a:prstGeom prst="rect">
            <a:avLst/>
          </a:prstGeom>
          <a:noFill/>
        </p:spPr>
        <p:txBody>
          <a:bodyPr wrap="square" anchor="t" lIns="0" rIns="0" tIns="0" bIns="0">
            <a:spAutoFit/>
          </a:bodyPr>
          <a:lstStyle/>
          <a:p>
            <a:pPr algn="l">
              <a:lnSpc>
                <a:spcPct val="100000"/>
              </a:lnSpc>
              <a:spcBef>
                <a:spcPts val="0"/>
              </a:spcBef>
              <a:spcAft>
                <a:spcPts val="200"/>
              </a:spcAft>
            </a:pPr>
            <a:r>
              <a:rPr sz="1050" b="0" i="0">
                <a:solidFill>
                  <a:srgbClr val="6B777C"/>
                </a:solidFill>
                <a:latin typeface="Segoe UI"/>
              </a:rPr>
              <a:t>S3 · ADLS · GCS — your account</a:t>
            </a:r>
          </a:p>
        </p:txBody>
      </p:sp>
      <p:sp>
        <p:nvSpPr>
          <p:cNvPr id="43" name="Rounded Rectangle 42"/>
          <p:cNvSpPr/>
          <p:nvPr/>
        </p:nvSpPr>
        <p:spPr>
          <a:xfrm>
            <a:off x="6858000" y="1874519"/>
            <a:ext cx="4766767" cy="402336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178040" y="2103120"/>
            <a:ext cx="4114800" cy="27432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6B57"/>
                </a:solidFill>
                <a:latin typeface="Segoe UI Semibold"/>
              </a:rPr>
              <a:t>INSIDE A DELTA TABLE</a:t>
            </a:r>
          </a:p>
        </p:txBody>
      </p:sp>
      <p:sp>
        <p:nvSpPr>
          <p:cNvPr id="45" name="Rounded Rectangle 44"/>
          <p:cNvSpPr/>
          <p:nvPr/>
        </p:nvSpPr>
        <p:spPr>
          <a:xfrm>
            <a:off x="7178040" y="2505456"/>
            <a:ext cx="4126687" cy="914400"/>
          </a:xfrm>
          <a:prstGeom prst="roundRect">
            <a:avLst>
              <a:gd name="adj" fmla="val 10000"/>
            </a:avLst>
          </a:prstGeom>
          <a:solidFill>
            <a:srgbClr val="27444F"/>
          </a:solidFill>
          <a:ln w="17780">
            <a:solidFill>
              <a:srgbClr val="FF36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Oval 45"/>
          <p:cNvSpPr/>
          <p:nvPr/>
        </p:nvSpPr>
        <p:spPr>
          <a:xfrm>
            <a:off x="7315200" y="2688336"/>
            <a:ext cx="548640" cy="548640"/>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Circular Arrow 46"/>
          <p:cNvSpPr/>
          <p:nvPr/>
        </p:nvSpPr>
        <p:spPr>
          <a:xfrm>
            <a:off x="7463332" y="2836468"/>
            <a:ext cx="252374" cy="252374"/>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001000" y="2615184"/>
            <a:ext cx="3200400" cy="329184"/>
          </a:xfrm>
          <a:prstGeom prst="rect">
            <a:avLst/>
          </a:prstGeom>
          <a:noFill/>
        </p:spPr>
        <p:txBody>
          <a:bodyPr wrap="square" anchor="t" lIns="0" rIns="0" tIns="0" bIns="0">
            <a:spAutoFit/>
          </a:bodyPr>
          <a:lstStyle/>
          <a:p>
            <a:pPr algn="l">
              <a:lnSpc>
                <a:spcPct val="100000"/>
              </a:lnSpc>
              <a:spcBef>
                <a:spcPts val="0"/>
              </a:spcBef>
              <a:spcAft>
                <a:spcPts val="200"/>
              </a:spcAft>
            </a:pPr>
            <a:r>
              <a:rPr sz="1250" b="1" i="0">
                <a:solidFill>
                  <a:srgbClr val="FFFFFF"/>
                </a:solidFill>
                <a:latin typeface="Segoe UI"/>
              </a:rPr>
              <a:t>Transaction Log</a:t>
            </a:r>
          </a:p>
        </p:txBody>
      </p:sp>
      <p:sp>
        <p:nvSpPr>
          <p:cNvPr id="49" name="TextBox 48"/>
          <p:cNvSpPr txBox="1"/>
          <p:nvPr/>
        </p:nvSpPr>
        <p:spPr>
          <a:xfrm>
            <a:off x="8001000" y="2926080"/>
            <a:ext cx="3291840" cy="457200"/>
          </a:xfrm>
          <a:prstGeom prst="rect">
            <a:avLst/>
          </a:prstGeom>
          <a:noFill/>
        </p:spPr>
        <p:txBody>
          <a:bodyPr wrap="square" anchor="t" lIns="0" rIns="0" tIns="0" bIns="0">
            <a:spAutoFit/>
          </a:bodyPr>
          <a:lstStyle/>
          <a:p>
            <a:pPr algn="l">
              <a:lnSpc>
                <a:spcPct val="100000"/>
              </a:lnSpc>
              <a:spcBef>
                <a:spcPts val="0"/>
              </a:spcBef>
              <a:spcAft>
                <a:spcPts val="200"/>
              </a:spcAft>
            </a:pPr>
            <a:r>
              <a:rPr sz="930" b="0" i="0">
                <a:solidFill>
                  <a:srgbClr val="C4D0D4"/>
                </a:solidFill>
                <a:latin typeface="Segoe UI"/>
              </a:rPr>
              <a:t>_delta_log/ — ordered JSON commits; the brain of the table</a:t>
            </a:r>
          </a:p>
        </p:txBody>
      </p:sp>
      <p:sp>
        <p:nvSpPr>
          <p:cNvPr id="50" name="Rounded Rectangle 49"/>
          <p:cNvSpPr/>
          <p:nvPr/>
        </p:nvSpPr>
        <p:spPr>
          <a:xfrm>
            <a:off x="7178040" y="3584448"/>
            <a:ext cx="4126687" cy="914400"/>
          </a:xfrm>
          <a:prstGeom prst="roundRect">
            <a:avLst>
              <a:gd name="adj" fmla="val 10000"/>
            </a:avLst>
          </a:prstGeom>
          <a:solidFill>
            <a:srgbClr val="27444F"/>
          </a:solidFill>
          <a:ln w="17780">
            <a:solidFill>
              <a:srgbClr val="2272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7315200" y="3767328"/>
            <a:ext cx="548640" cy="548640"/>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Folded Corner 51"/>
          <p:cNvSpPr/>
          <p:nvPr/>
        </p:nvSpPr>
        <p:spPr>
          <a:xfrm>
            <a:off x="7508760" y="3935650"/>
            <a:ext cx="161519" cy="211994"/>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8001000" y="3694176"/>
            <a:ext cx="3200400" cy="329184"/>
          </a:xfrm>
          <a:prstGeom prst="rect">
            <a:avLst/>
          </a:prstGeom>
          <a:noFill/>
        </p:spPr>
        <p:txBody>
          <a:bodyPr wrap="square" anchor="t" lIns="0" rIns="0" tIns="0" bIns="0">
            <a:spAutoFit/>
          </a:bodyPr>
          <a:lstStyle/>
          <a:p>
            <a:pPr algn="l">
              <a:lnSpc>
                <a:spcPct val="100000"/>
              </a:lnSpc>
              <a:spcBef>
                <a:spcPts val="0"/>
              </a:spcBef>
              <a:spcAft>
                <a:spcPts val="200"/>
              </a:spcAft>
            </a:pPr>
            <a:r>
              <a:rPr sz="1250" b="1" i="0">
                <a:solidFill>
                  <a:srgbClr val="FFFFFF"/>
                </a:solidFill>
                <a:latin typeface="Segoe UI"/>
              </a:rPr>
              <a:t>Metadata Layer</a:t>
            </a:r>
          </a:p>
        </p:txBody>
      </p:sp>
      <p:sp>
        <p:nvSpPr>
          <p:cNvPr id="54" name="TextBox 53"/>
          <p:cNvSpPr txBox="1"/>
          <p:nvPr/>
        </p:nvSpPr>
        <p:spPr>
          <a:xfrm>
            <a:off x="8001000" y="4005072"/>
            <a:ext cx="3291840" cy="457200"/>
          </a:xfrm>
          <a:prstGeom prst="rect">
            <a:avLst/>
          </a:prstGeom>
          <a:noFill/>
        </p:spPr>
        <p:txBody>
          <a:bodyPr wrap="square" anchor="t" lIns="0" rIns="0" tIns="0" bIns="0">
            <a:spAutoFit/>
          </a:bodyPr>
          <a:lstStyle/>
          <a:p>
            <a:pPr algn="l">
              <a:lnSpc>
                <a:spcPct val="100000"/>
              </a:lnSpc>
              <a:spcBef>
                <a:spcPts val="0"/>
              </a:spcBef>
              <a:spcAft>
                <a:spcPts val="200"/>
              </a:spcAft>
            </a:pPr>
            <a:r>
              <a:rPr sz="930" b="0" i="0">
                <a:solidFill>
                  <a:srgbClr val="C4D0D4"/>
                </a:solidFill>
                <a:latin typeface="Segoe UI"/>
              </a:rPr>
              <a:t>Schema, partitions, statistics &amp; file list</a:t>
            </a:r>
          </a:p>
        </p:txBody>
      </p:sp>
      <p:sp>
        <p:nvSpPr>
          <p:cNvPr id="55" name="Rounded Rectangle 54"/>
          <p:cNvSpPr/>
          <p:nvPr/>
        </p:nvSpPr>
        <p:spPr>
          <a:xfrm>
            <a:off x="7178040" y="4663440"/>
            <a:ext cx="4126687" cy="914400"/>
          </a:xfrm>
          <a:prstGeom prst="roundRect">
            <a:avLst>
              <a:gd name="adj" fmla="val 10000"/>
            </a:avLst>
          </a:prstGeom>
          <a:solidFill>
            <a:srgbClr val="27444F"/>
          </a:solidFill>
          <a:ln w="17780">
            <a:solidFill>
              <a:srgbClr val="00A9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7315200" y="4846320"/>
            <a:ext cx="548640" cy="548640"/>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Cube 56"/>
          <p:cNvSpPr/>
          <p:nvPr/>
        </p:nvSpPr>
        <p:spPr>
          <a:xfrm>
            <a:off x="7482260" y="5013380"/>
            <a:ext cx="214518" cy="214518"/>
          </a:xfrm>
          <a:prstGeom prst="cub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8001000" y="4773168"/>
            <a:ext cx="3200400" cy="329184"/>
          </a:xfrm>
          <a:prstGeom prst="rect">
            <a:avLst/>
          </a:prstGeom>
          <a:noFill/>
        </p:spPr>
        <p:txBody>
          <a:bodyPr wrap="square" anchor="t" lIns="0" rIns="0" tIns="0" bIns="0">
            <a:spAutoFit/>
          </a:bodyPr>
          <a:lstStyle/>
          <a:p>
            <a:pPr algn="l">
              <a:lnSpc>
                <a:spcPct val="100000"/>
              </a:lnSpc>
              <a:spcBef>
                <a:spcPts val="0"/>
              </a:spcBef>
              <a:spcAft>
                <a:spcPts val="200"/>
              </a:spcAft>
            </a:pPr>
            <a:r>
              <a:rPr sz="1250" b="1" i="0">
                <a:solidFill>
                  <a:srgbClr val="FFFFFF"/>
                </a:solidFill>
                <a:latin typeface="Segoe UI"/>
              </a:rPr>
              <a:t>Data Files</a:t>
            </a:r>
          </a:p>
        </p:txBody>
      </p:sp>
      <p:sp>
        <p:nvSpPr>
          <p:cNvPr id="59" name="TextBox 58"/>
          <p:cNvSpPr txBox="1"/>
          <p:nvPr/>
        </p:nvSpPr>
        <p:spPr>
          <a:xfrm>
            <a:off x="8001000" y="5084064"/>
            <a:ext cx="3291840" cy="457200"/>
          </a:xfrm>
          <a:prstGeom prst="rect">
            <a:avLst/>
          </a:prstGeom>
          <a:noFill/>
        </p:spPr>
        <p:txBody>
          <a:bodyPr wrap="square" anchor="t" lIns="0" rIns="0" tIns="0" bIns="0">
            <a:spAutoFit/>
          </a:bodyPr>
          <a:lstStyle/>
          <a:p>
            <a:pPr algn="l">
              <a:lnSpc>
                <a:spcPct val="100000"/>
              </a:lnSpc>
              <a:spcBef>
                <a:spcPts val="0"/>
              </a:spcBef>
              <a:spcAft>
                <a:spcPts val="200"/>
              </a:spcAft>
            </a:pPr>
            <a:r>
              <a:rPr sz="930" b="0" i="0">
                <a:solidFill>
                  <a:srgbClr val="C4D0D4"/>
                </a:solidFill>
                <a:latin typeface="Segoe UI"/>
              </a:rPr>
              <a:t>Immutable Parquet files on object storage</a:t>
            </a:r>
          </a:p>
        </p:txBody>
      </p:sp>
      <p:sp>
        <p:nvSpPr>
          <p:cNvPr id="60" name="TextBox 59"/>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1" name="TextBox 60"/>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FUNDAMENTALS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Five Core Components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40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Fundamentals</a:t>
            </a:r>
          </a:p>
        </p:txBody>
      </p:sp>
      <p:sp>
        <p:nvSpPr>
          <p:cNvPr id="11" name="Oval 10"/>
          <p:cNvSpPr/>
          <p:nvPr/>
        </p:nvSpPr>
        <p:spPr>
          <a:xfrm>
            <a:off x="9299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Internals</a:t>
            </a:r>
          </a:p>
        </p:txBody>
      </p:sp>
      <p:sp>
        <p:nvSpPr>
          <p:cNvPr id="13" name="Oval 12"/>
          <p:cNvSpPr/>
          <p:nvPr/>
        </p:nvSpPr>
        <p:spPr>
          <a:xfrm>
            <a:off x="10442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Platform</a:t>
            </a:r>
          </a:p>
        </p:txBody>
      </p:sp>
      <p:cxnSp>
        <p:nvCxnSpPr>
          <p:cNvPr id="15" name="Connector 14"/>
          <p:cNvCxnSpPr/>
          <p:nvPr/>
        </p:nvCxnSpPr>
        <p:spPr>
          <a:xfrm flipV="1">
            <a:off x="6095847" y="2103120"/>
            <a:ext cx="0" cy="1874519"/>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095847" y="3398381"/>
            <a:ext cx="1782775" cy="579258"/>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095847" y="3977639"/>
            <a:ext cx="1101815" cy="1516519"/>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4994032" y="3977639"/>
            <a:ext cx="1101815" cy="1516519"/>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4313073" y="3398381"/>
            <a:ext cx="1782774" cy="579258"/>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570067" y="1577339"/>
            <a:ext cx="1051560" cy="105156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5873337" y="1941074"/>
            <a:ext cx="125766" cy="1451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032964" y="1941074"/>
            <a:ext cx="125766" cy="1451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192591" y="1941074"/>
            <a:ext cx="125766" cy="1451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873337" y="2120050"/>
            <a:ext cx="125766" cy="1451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032964" y="2120050"/>
            <a:ext cx="125766" cy="1451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192591" y="2120050"/>
            <a:ext cx="125766" cy="1451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181447" y="1120139"/>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200" b="1" i="0">
                <a:solidFill>
                  <a:srgbClr val="1B3139"/>
                </a:solidFill>
                <a:latin typeface="Segoe UI"/>
              </a:rPr>
              <a:t>Delta Table</a:t>
            </a:r>
          </a:p>
        </p:txBody>
      </p:sp>
      <p:sp>
        <p:nvSpPr>
          <p:cNvPr id="28" name="TextBox 27"/>
          <p:cNvSpPr txBox="1"/>
          <p:nvPr/>
        </p:nvSpPr>
        <p:spPr>
          <a:xfrm>
            <a:off x="5181447" y="1367028"/>
            <a:ext cx="1828800" cy="365760"/>
          </a:xfrm>
          <a:prstGeom prst="rect">
            <a:avLst/>
          </a:prstGeom>
          <a:noFill/>
        </p:spPr>
        <p:txBody>
          <a:bodyPr wrap="square" anchor="t" lIns="0" rIns="0" tIns="0" bIns="0">
            <a:spAutoFit/>
          </a:bodyPr>
          <a:lstStyle/>
          <a:p>
            <a:pPr algn="ctr">
              <a:lnSpc>
                <a:spcPct val="92000"/>
              </a:lnSpc>
              <a:spcBef>
                <a:spcPts val="0"/>
              </a:spcBef>
              <a:spcAft>
                <a:spcPts val="200"/>
              </a:spcAft>
            </a:pPr>
            <a:r>
              <a:rPr sz="860" b="0" i="0">
                <a:solidFill>
                  <a:srgbClr val="6B777C"/>
                </a:solidFill>
                <a:latin typeface="Segoe UI"/>
              </a:rPr>
              <a:t>The reliable unit</a:t>
            </a:r>
          </a:p>
        </p:txBody>
      </p:sp>
      <p:sp>
        <p:nvSpPr>
          <p:cNvPr id="29" name="Oval 28"/>
          <p:cNvSpPr/>
          <p:nvPr/>
        </p:nvSpPr>
        <p:spPr>
          <a:xfrm>
            <a:off x="7352842" y="2872601"/>
            <a:ext cx="1051560" cy="105156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Circular Arrow 29"/>
          <p:cNvSpPr/>
          <p:nvPr/>
        </p:nvSpPr>
        <p:spPr>
          <a:xfrm>
            <a:off x="7636763" y="3156522"/>
            <a:ext cx="483717" cy="483717"/>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964222" y="2415401"/>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200" b="1" i="0">
                <a:solidFill>
                  <a:srgbClr val="1B3139"/>
                </a:solidFill>
                <a:latin typeface="Segoe UI"/>
              </a:rPr>
              <a:t>Transaction Log</a:t>
            </a:r>
          </a:p>
        </p:txBody>
      </p:sp>
      <p:sp>
        <p:nvSpPr>
          <p:cNvPr id="32" name="TextBox 31"/>
          <p:cNvSpPr txBox="1"/>
          <p:nvPr/>
        </p:nvSpPr>
        <p:spPr>
          <a:xfrm>
            <a:off x="6964222" y="2662289"/>
            <a:ext cx="1828800" cy="365760"/>
          </a:xfrm>
          <a:prstGeom prst="rect">
            <a:avLst/>
          </a:prstGeom>
          <a:noFill/>
        </p:spPr>
        <p:txBody>
          <a:bodyPr wrap="square" anchor="t" lIns="0" rIns="0" tIns="0" bIns="0">
            <a:spAutoFit/>
          </a:bodyPr>
          <a:lstStyle/>
          <a:p>
            <a:pPr algn="ctr">
              <a:lnSpc>
                <a:spcPct val="92000"/>
              </a:lnSpc>
              <a:spcBef>
                <a:spcPts val="0"/>
              </a:spcBef>
              <a:spcAft>
                <a:spcPts val="200"/>
              </a:spcAft>
            </a:pPr>
            <a:r>
              <a:rPr sz="860" b="0" i="0">
                <a:solidFill>
                  <a:srgbClr val="6B777C"/>
                </a:solidFill>
                <a:latin typeface="Segoe UI"/>
              </a:rPr>
              <a:t>Ordered commits</a:t>
            </a:r>
          </a:p>
        </p:txBody>
      </p:sp>
      <p:sp>
        <p:nvSpPr>
          <p:cNvPr id="33" name="Oval 32"/>
          <p:cNvSpPr/>
          <p:nvPr/>
        </p:nvSpPr>
        <p:spPr>
          <a:xfrm>
            <a:off x="6671882" y="4968378"/>
            <a:ext cx="1051560" cy="1051560"/>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Folded Corner 33"/>
          <p:cNvSpPr/>
          <p:nvPr/>
        </p:nvSpPr>
        <p:spPr>
          <a:xfrm>
            <a:off x="7042873" y="5290997"/>
            <a:ext cx="309579" cy="406322"/>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283262" y="6065658"/>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200" b="1" i="0">
                <a:solidFill>
                  <a:srgbClr val="1B3139"/>
                </a:solidFill>
                <a:latin typeface="Segoe UI"/>
              </a:rPr>
              <a:t>Metadata</a:t>
            </a:r>
          </a:p>
        </p:txBody>
      </p:sp>
      <p:sp>
        <p:nvSpPr>
          <p:cNvPr id="36" name="TextBox 35"/>
          <p:cNvSpPr txBox="1"/>
          <p:nvPr/>
        </p:nvSpPr>
        <p:spPr>
          <a:xfrm>
            <a:off x="6283262" y="6312546"/>
            <a:ext cx="1828800" cy="365760"/>
          </a:xfrm>
          <a:prstGeom prst="rect">
            <a:avLst/>
          </a:prstGeom>
          <a:noFill/>
        </p:spPr>
        <p:txBody>
          <a:bodyPr wrap="square" anchor="t" lIns="0" rIns="0" tIns="0" bIns="0">
            <a:spAutoFit/>
          </a:bodyPr>
          <a:lstStyle/>
          <a:p>
            <a:pPr algn="ctr">
              <a:lnSpc>
                <a:spcPct val="92000"/>
              </a:lnSpc>
              <a:spcBef>
                <a:spcPts val="0"/>
              </a:spcBef>
              <a:spcAft>
                <a:spcPts val="200"/>
              </a:spcAft>
            </a:pPr>
            <a:r>
              <a:rPr sz="860" b="0" i="0">
                <a:solidFill>
                  <a:srgbClr val="6B777C"/>
                </a:solidFill>
                <a:latin typeface="Segoe UI"/>
              </a:rPr>
              <a:t>Schema &amp; stats</a:t>
            </a:r>
          </a:p>
        </p:txBody>
      </p:sp>
      <p:sp>
        <p:nvSpPr>
          <p:cNvPr id="37" name="Oval 36"/>
          <p:cNvSpPr/>
          <p:nvPr/>
        </p:nvSpPr>
        <p:spPr>
          <a:xfrm>
            <a:off x="4468252" y="4968378"/>
            <a:ext cx="1051560" cy="1051560"/>
          </a:xfrm>
          <a:prstGeom prst="ellipse">
            <a:avLst/>
          </a:prstGeom>
          <a:solidFill>
            <a:srgbClr val="0E8C9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Cube 37"/>
          <p:cNvSpPr/>
          <p:nvPr/>
        </p:nvSpPr>
        <p:spPr>
          <a:xfrm>
            <a:off x="4788452" y="5288578"/>
            <a:ext cx="411159" cy="411159"/>
          </a:xfrm>
          <a:prstGeom prst="cub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4079632" y="6065658"/>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200" b="1" i="0">
                <a:solidFill>
                  <a:srgbClr val="1B3139"/>
                </a:solidFill>
                <a:latin typeface="Segoe UI"/>
              </a:rPr>
              <a:t>Storage Layer</a:t>
            </a:r>
          </a:p>
        </p:txBody>
      </p:sp>
      <p:sp>
        <p:nvSpPr>
          <p:cNvPr id="40" name="TextBox 39"/>
          <p:cNvSpPr txBox="1"/>
          <p:nvPr/>
        </p:nvSpPr>
        <p:spPr>
          <a:xfrm>
            <a:off x="4079632" y="6312546"/>
            <a:ext cx="1828800" cy="365760"/>
          </a:xfrm>
          <a:prstGeom prst="rect">
            <a:avLst/>
          </a:prstGeom>
          <a:noFill/>
        </p:spPr>
        <p:txBody>
          <a:bodyPr wrap="square" anchor="t" lIns="0" rIns="0" tIns="0" bIns="0">
            <a:spAutoFit/>
          </a:bodyPr>
          <a:lstStyle/>
          <a:p>
            <a:pPr algn="ctr">
              <a:lnSpc>
                <a:spcPct val="92000"/>
              </a:lnSpc>
              <a:spcBef>
                <a:spcPts val="0"/>
              </a:spcBef>
              <a:spcAft>
                <a:spcPts val="200"/>
              </a:spcAft>
            </a:pPr>
            <a:r>
              <a:rPr sz="860" b="0" i="0">
                <a:solidFill>
                  <a:srgbClr val="6B777C"/>
                </a:solidFill>
                <a:latin typeface="Segoe UI"/>
              </a:rPr>
              <a:t>Parquet files</a:t>
            </a:r>
          </a:p>
        </p:txBody>
      </p:sp>
      <p:sp>
        <p:nvSpPr>
          <p:cNvPr id="41" name="Oval 40"/>
          <p:cNvSpPr/>
          <p:nvPr/>
        </p:nvSpPr>
        <p:spPr>
          <a:xfrm>
            <a:off x="3787293" y="2872601"/>
            <a:ext cx="1051560" cy="1051560"/>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4090563" y="3175871"/>
            <a:ext cx="445020" cy="445020"/>
          </a:xfrm>
          <a:prstGeom prst="ellipse">
            <a:avLst/>
          </a:prstGeom>
          <a:noFill/>
          <a:ln w="47028">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rot="2520000">
            <a:off x="4293724" y="3243591"/>
            <a:ext cx="38697" cy="17413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4281631" y="3366939"/>
            <a:ext cx="62883" cy="6288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398673" y="2415401"/>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200" b="1" i="0">
                <a:solidFill>
                  <a:srgbClr val="1B3139"/>
                </a:solidFill>
                <a:latin typeface="Segoe UI"/>
              </a:rPr>
              <a:t>Optimization</a:t>
            </a:r>
          </a:p>
        </p:txBody>
      </p:sp>
      <p:sp>
        <p:nvSpPr>
          <p:cNvPr id="46" name="TextBox 45"/>
          <p:cNvSpPr txBox="1"/>
          <p:nvPr/>
        </p:nvSpPr>
        <p:spPr>
          <a:xfrm>
            <a:off x="3398673" y="2662289"/>
            <a:ext cx="1828800" cy="365760"/>
          </a:xfrm>
          <a:prstGeom prst="rect">
            <a:avLst/>
          </a:prstGeom>
          <a:noFill/>
        </p:spPr>
        <p:txBody>
          <a:bodyPr wrap="square" anchor="t" lIns="0" rIns="0" tIns="0" bIns="0">
            <a:spAutoFit/>
          </a:bodyPr>
          <a:lstStyle/>
          <a:p>
            <a:pPr algn="ctr">
              <a:lnSpc>
                <a:spcPct val="92000"/>
              </a:lnSpc>
              <a:spcBef>
                <a:spcPts val="0"/>
              </a:spcBef>
              <a:spcAft>
                <a:spcPts val="200"/>
              </a:spcAft>
            </a:pPr>
            <a:r>
              <a:rPr sz="860" b="0" i="0">
                <a:solidFill>
                  <a:srgbClr val="6B777C"/>
                </a:solidFill>
                <a:latin typeface="Segoe UI"/>
              </a:rPr>
              <a:t>OPTIMIZE · Z-ORDER</a:t>
            </a:r>
          </a:p>
        </p:txBody>
      </p:sp>
      <p:sp>
        <p:nvSpPr>
          <p:cNvPr id="47" name="Oval 46"/>
          <p:cNvSpPr/>
          <p:nvPr/>
        </p:nvSpPr>
        <p:spPr>
          <a:xfrm>
            <a:off x="5295747" y="3177539"/>
            <a:ext cx="1600200" cy="1600200"/>
          </a:xfrm>
          <a:prstGeom prst="ellipse">
            <a:avLst/>
          </a:prstGeom>
          <a:solidFill>
            <a:srgbClr val="1B3139"/>
          </a:solidFill>
          <a:ln w="3810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Oval 47"/>
          <p:cNvSpPr/>
          <p:nvPr/>
        </p:nvSpPr>
        <p:spPr>
          <a:xfrm>
            <a:off x="5396331" y="3278123"/>
            <a:ext cx="1399032" cy="1399032"/>
          </a:xfrm>
          <a:prstGeom prst="ellipse">
            <a:avLst/>
          </a:prstGeom>
          <a:noFill/>
          <a:ln w="1651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5295747" y="3593591"/>
            <a:ext cx="1600200" cy="768096"/>
          </a:xfrm>
          <a:prstGeom prst="rect">
            <a:avLst/>
          </a:prstGeom>
          <a:noFill/>
        </p:spPr>
        <p:txBody>
          <a:bodyPr wrap="square" anchor="ctr" lIns="0" rIns="0" tIns="0" bIns="0">
            <a:spAutoFit/>
          </a:bodyPr>
          <a:lstStyle/>
          <a:p>
            <a:pPr algn="ctr">
              <a:lnSpc>
                <a:spcPct val="95000"/>
              </a:lnSpc>
              <a:spcBef>
                <a:spcPts val="0"/>
              </a:spcBef>
              <a:spcAft>
                <a:spcPts val="200"/>
              </a:spcAft>
            </a:pPr>
            <a:r>
              <a:rPr sz="1500" b="1" i="0">
                <a:solidFill>
                  <a:srgbClr val="FFFFFF"/>
                </a:solidFill>
                <a:latin typeface="Segoe UI"/>
              </a:rPr>
              <a:t>DELTA
LAKE</a:t>
            </a:r>
          </a:p>
        </p:txBody>
      </p:sp>
      <p:sp>
        <p:nvSpPr>
          <p:cNvPr id="50" name="TextBox 49"/>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1" name="TextBox 50"/>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1463040"/>
            <a:ext cx="5486400" cy="2194560"/>
          </a:xfrm>
          <a:prstGeom prst="rect">
            <a:avLst/>
          </a:prstGeom>
          <a:noFill/>
        </p:spPr>
        <p:txBody>
          <a:bodyPr wrap="square" anchor="t" lIns="0" rIns="0" tIns="0" bIns="0">
            <a:spAutoFit/>
          </a:bodyPr>
          <a:lstStyle/>
          <a:p>
            <a:pPr algn="l">
              <a:lnSpc>
                <a:spcPct val="100000"/>
              </a:lnSpc>
              <a:spcBef>
                <a:spcPts val="0"/>
              </a:spcBef>
              <a:spcAft>
                <a:spcPts val="200"/>
              </a:spcAft>
            </a:pPr>
            <a:r>
              <a:rPr sz="20000" b="1" i="0">
                <a:solidFill>
                  <a:srgbClr val="27444F"/>
                </a:solidFill>
                <a:latin typeface="Segoe UI Light"/>
              </a:rPr>
              <a:t>03</a:t>
            </a:r>
          </a:p>
        </p:txBody>
      </p:sp>
      <p:sp>
        <p:nvSpPr>
          <p:cNvPr id="9" name="Rounded Rectangle 8"/>
          <p:cNvSpPr/>
          <p:nvPr/>
        </p:nvSpPr>
        <p:spPr>
          <a:xfrm>
            <a:off x="612648" y="3310128"/>
            <a:ext cx="777240" cy="9144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12648" y="2743200"/>
            <a:ext cx="7315200" cy="36576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FF3621"/>
                </a:solidFill>
                <a:latin typeface="Segoe UI Semibold"/>
              </a:rPr>
              <a:t>PART THREE</a:t>
            </a:r>
          </a:p>
        </p:txBody>
      </p:sp>
      <p:sp>
        <p:nvSpPr>
          <p:cNvPr id="11" name="TextBox 10"/>
          <p:cNvSpPr txBox="1"/>
          <p:nvPr/>
        </p:nvSpPr>
        <p:spPr>
          <a:xfrm>
            <a:off x="566928" y="3456432"/>
            <a:ext cx="7680960" cy="1097280"/>
          </a:xfrm>
          <a:prstGeom prst="rect">
            <a:avLst/>
          </a:prstGeom>
          <a:noFill/>
        </p:spPr>
        <p:txBody>
          <a:bodyPr wrap="square" anchor="t" lIns="0" rIns="0" tIns="0" bIns="0">
            <a:spAutoFit/>
          </a:bodyPr>
          <a:lstStyle/>
          <a:p>
            <a:pPr algn="l">
              <a:lnSpc>
                <a:spcPct val="98000"/>
              </a:lnSpc>
              <a:spcBef>
                <a:spcPts val="0"/>
              </a:spcBef>
              <a:spcAft>
                <a:spcPts val="200"/>
              </a:spcAft>
            </a:pPr>
            <a:r>
              <a:rPr sz="4000" b="1" i="0">
                <a:solidFill>
                  <a:srgbClr val="FFFFFF"/>
                </a:solidFill>
                <a:latin typeface="Segoe UI"/>
              </a:rPr>
              <a:t>How Delta Lake Works</a:t>
            </a:r>
          </a:p>
        </p:txBody>
      </p:sp>
      <p:sp>
        <p:nvSpPr>
          <p:cNvPr id="12" name="TextBox 11"/>
          <p:cNvSpPr txBox="1"/>
          <p:nvPr/>
        </p:nvSpPr>
        <p:spPr>
          <a:xfrm>
            <a:off x="612648" y="4754880"/>
            <a:ext cx="6949440" cy="1463040"/>
          </a:xfrm>
          <a:prstGeom prst="rect">
            <a:avLst/>
          </a:prstGeom>
          <a:noFill/>
        </p:spPr>
        <p:txBody>
          <a:bodyPr wrap="square" anchor="t" lIns="0" rIns="0" tIns="0" bIns="0">
            <a:spAutoFit/>
          </a:bodyPr>
          <a:lstStyle/>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ACID, the transaction log &amp; reliability</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Time travel, schema control &amp; streaming</a:t>
            </a:r>
          </a:p>
        </p:txBody>
      </p:sp>
      <p:sp>
        <p:nvSpPr>
          <p:cNvPr id="13" name="Oval 12"/>
          <p:cNvSpPr/>
          <p:nvPr/>
        </p:nvSpPr>
        <p:spPr>
          <a:xfrm>
            <a:off x="8641080" y="2423160"/>
            <a:ext cx="2286000" cy="2286000"/>
          </a:xfrm>
          <a:prstGeom prst="ellipse">
            <a:avLst/>
          </a:prstGeom>
          <a:solidFill>
            <a:srgbClr val="FF3621"/>
          </a:solidFill>
          <a:ln w="15240">
            <a:solidFill>
              <a:srgbClr val="FF8A78"/>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Circular Arrow 13"/>
          <p:cNvSpPr/>
          <p:nvPr/>
        </p:nvSpPr>
        <p:spPr>
          <a:xfrm>
            <a:off x="9258300" y="3040379"/>
            <a:ext cx="1051560" cy="1051560"/>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7E9199"/>
                </a:solidFill>
                <a:latin typeface="Segoe UI"/>
              </a:rPr>
              <a:t>Big Data &amp; Databricks  ·  Enterprise Training Series</a:t>
            </a:r>
          </a:p>
        </p:txBody>
      </p:sp>
      <p:sp>
        <p:nvSpPr>
          <p:cNvPr id="16" name="TextBox 1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7E9199"/>
                </a:solidFill>
                <a:latin typeface="Segoe UI"/>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HOW IT WORKS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ACID Transactions Explained</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56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Fundamentals</a:t>
            </a:r>
          </a:p>
        </p:txBody>
      </p:sp>
      <p:sp>
        <p:nvSpPr>
          <p:cNvPr id="11" name="Oval 10"/>
          <p:cNvSpPr/>
          <p:nvPr/>
        </p:nvSpPr>
        <p:spPr>
          <a:xfrm>
            <a:off x="9283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Internals</a:t>
            </a:r>
          </a:p>
        </p:txBody>
      </p:sp>
      <p:sp>
        <p:nvSpPr>
          <p:cNvPr id="13" name="Oval 12"/>
          <p:cNvSpPr/>
          <p:nvPr/>
        </p:nvSpPr>
        <p:spPr>
          <a:xfrm>
            <a:off x="10442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Platform</a:t>
            </a:r>
          </a:p>
        </p:txBody>
      </p:sp>
      <p:sp>
        <p:nvSpPr>
          <p:cNvPr id="15" name="Rounded Rectangle 14"/>
          <p:cNvSpPr/>
          <p:nvPr/>
        </p:nvSpPr>
        <p:spPr>
          <a:xfrm>
            <a:off x="566928" y="1920240"/>
            <a:ext cx="2558719" cy="33832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1920240"/>
            <a:ext cx="2558719" cy="109728"/>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389087" y="2240280"/>
            <a:ext cx="914400" cy="91440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389087" y="2286000"/>
            <a:ext cx="914400" cy="822960"/>
          </a:xfrm>
          <a:prstGeom prst="rect">
            <a:avLst/>
          </a:prstGeom>
          <a:noFill/>
        </p:spPr>
        <p:txBody>
          <a:bodyPr wrap="square" anchor="ctr" lIns="0" rIns="0" tIns="0" bIns="0">
            <a:spAutoFit/>
          </a:bodyPr>
          <a:lstStyle/>
          <a:p>
            <a:pPr algn="ctr">
              <a:lnSpc>
                <a:spcPct val="100000"/>
              </a:lnSpc>
              <a:spcBef>
                <a:spcPts val="0"/>
              </a:spcBef>
              <a:spcAft>
                <a:spcPts val="200"/>
              </a:spcAft>
            </a:pPr>
            <a:r>
              <a:rPr sz="4000" b="1" i="0">
                <a:solidFill>
                  <a:srgbClr val="FFFFFF"/>
                </a:solidFill>
                <a:latin typeface="Segoe UI"/>
              </a:rPr>
              <a:t>A</a:t>
            </a:r>
          </a:p>
        </p:txBody>
      </p:sp>
      <p:sp>
        <p:nvSpPr>
          <p:cNvPr id="19" name="TextBox 18"/>
          <p:cNvSpPr txBox="1"/>
          <p:nvPr/>
        </p:nvSpPr>
        <p:spPr>
          <a:xfrm>
            <a:off x="676656" y="3310128"/>
            <a:ext cx="2339263" cy="365760"/>
          </a:xfrm>
          <a:prstGeom prst="rect">
            <a:avLst/>
          </a:prstGeom>
          <a:noFill/>
        </p:spPr>
        <p:txBody>
          <a:bodyPr wrap="square" anchor="t" lIns="0" rIns="0" tIns="0" bIns="0">
            <a:spAutoFit/>
          </a:bodyPr>
          <a:lstStyle/>
          <a:p>
            <a:pPr algn="ctr">
              <a:lnSpc>
                <a:spcPct val="100000"/>
              </a:lnSpc>
              <a:spcBef>
                <a:spcPts val="0"/>
              </a:spcBef>
              <a:spcAft>
                <a:spcPts val="200"/>
              </a:spcAft>
            </a:pPr>
            <a:r>
              <a:rPr sz="1400" b="1" i="0">
                <a:solidFill>
                  <a:srgbClr val="1B3139"/>
                </a:solidFill>
                <a:latin typeface="Segoe UI"/>
              </a:rPr>
              <a:t>Atomicity</a:t>
            </a:r>
          </a:p>
        </p:txBody>
      </p:sp>
      <p:sp>
        <p:nvSpPr>
          <p:cNvPr id="20" name="TextBox 19"/>
          <p:cNvSpPr txBox="1"/>
          <p:nvPr/>
        </p:nvSpPr>
        <p:spPr>
          <a:xfrm>
            <a:off x="768096" y="3730752"/>
            <a:ext cx="2156383" cy="1463040"/>
          </a:xfrm>
          <a:prstGeom prst="rect">
            <a:avLst/>
          </a:prstGeom>
          <a:noFill/>
        </p:spPr>
        <p:txBody>
          <a:bodyPr wrap="square" anchor="t" lIns="0" rIns="0" tIns="0" bIns="0">
            <a:spAutoFit/>
          </a:bodyPr>
          <a:lstStyle/>
          <a:p>
            <a:pPr algn="ctr">
              <a:lnSpc>
                <a:spcPct val="112000"/>
              </a:lnSpc>
              <a:spcBef>
                <a:spcPts val="0"/>
              </a:spcBef>
              <a:spcAft>
                <a:spcPts val="200"/>
              </a:spcAft>
            </a:pPr>
            <a:r>
              <a:rPr sz="1050" b="0" i="0">
                <a:solidFill>
                  <a:srgbClr val="6B777C"/>
                </a:solidFill>
                <a:latin typeface="Segoe UI"/>
              </a:rPr>
              <a:t>All-or-nothing — a write fully succeeds or leaves the table untouched.</a:t>
            </a:r>
          </a:p>
        </p:txBody>
      </p:sp>
      <p:sp>
        <p:nvSpPr>
          <p:cNvPr id="21" name="Circular Arrow 20"/>
          <p:cNvSpPr/>
          <p:nvPr/>
        </p:nvSpPr>
        <p:spPr>
          <a:xfrm>
            <a:off x="1663407" y="4800600"/>
            <a:ext cx="365760" cy="365760"/>
          </a:xfrm>
          <a:prstGeom prst="circularArrow">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3399967" y="1920240"/>
            <a:ext cx="2558719" cy="33832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399967" y="1920240"/>
            <a:ext cx="2558719" cy="109728"/>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4222127" y="2240280"/>
            <a:ext cx="914400" cy="91440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222127" y="2286000"/>
            <a:ext cx="914400" cy="822960"/>
          </a:xfrm>
          <a:prstGeom prst="rect">
            <a:avLst/>
          </a:prstGeom>
          <a:noFill/>
        </p:spPr>
        <p:txBody>
          <a:bodyPr wrap="square" anchor="ctr" lIns="0" rIns="0" tIns="0" bIns="0">
            <a:spAutoFit/>
          </a:bodyPr>
          <a:lstStyle/>
          <a:p>
            <a:pPr algn="ctr">
              <a:lnSpc>
                <a:spcPct val="100000"/>
              </a:lnSpc>
              <a:spcBef>
                <a:spcPts val="0"/>
              </a:spcBef>
              <a:spcAft>
                <a:spcPts val="200"/>
              </a:spcAft>
            </a:pPr>
            <a:r>
              <a:rPr sz="4000" b="1" i="0">
                <a:solidFill>
                  <a:srgbClr val="FFFFFF"/>
                </a:solidFill>
                <a:latin typeface="Segoe UI"/>
              </a:rPr>
              <a:t>C</a:t>
            </a:r>
          </a:p>
        </p:txBody>
      </p:sp>
      <p:sp>
        <p:nvSpPr>
          <p:cNvPr id="26" name="TextBox 25"/>
          <p:cNvSpPr txBox="1"/>
          <p:nvPr/>
        </p:nvSpPr>
        <p:spPr>
          <a:xfrm>
            <a:off x="3509695" y="3310128"/>
            <a:ext cx="2339263" cy="365760"/>
          </a:xfrm>
          <a:prstGeom prst="rect">
            <a:avLst/>
          </a:prstGeom>
          <a:noFill/>
        </p:spPr>
        <p:txBody>
          <a:bodyPr wrap="square" anchor="t" lIns="0" rIns="0" tIns="0" bIns="0">
            <a:spAutoFit/>
          </a:bodyPr>
          <a:lstStyle/>
          <a:p>
            <a:pPr algn="ctr">
              <a:lnSpc>
                <a:spcPct val="100000"/>
              </a:lnSpc>
              <a:spcBef>
                <a:spcPts val="0"/>
              </a:spcBef>
              <a:spcAft>
                <a:spcPts val="200"/>
              </a:spcAft>
            </a:pPr>
            <a:r>
              <a:rPr sz="1400" b="1" i="0">
                <a:solidFill>
                  <a:srgbClr val="1B3139"/>
                </a:solidFill>
                <a:latin typeface="Segoe UI"/>
              </a:rPr>
              <a:t>Consistency</a:t>
            </a:r>
          </a:p>
        </p:txBody>
      </p:sp>
      <p:sp>
        <p:nvSpPr>
          <p:cNvPr id="27" name="TextBox 26"/>
          <p:cNvSpPr txBox="1"/>
          <p:nvPr/>
        </p:nvSpPr>
        <p:spPr>
          <a:xfrm>
            <a:off x="3601135" y="3730752"/>
            <a:ext cx="2156383" cy="1463040"/>
          </a:xfrm>
          <a:prstGeom prst="rect">
            <a:avLst/>
          </a:prstGeom>
          <a:noFill/>
        </p:spPr>
        <p:txBody>
          <a:bodyPr wrap="square" anchor="t" lIns="0" rIns="0" tIns="0" bIns="0">
            <a:spAutoFit/>
          </a:bodyPr>
          <a:lstStyle/>
          <a:p>
            <a:pPr algn="ctr">
              <a:lnSpc>
                <a:spcPct val="112000"/>
              </a:lnSpc>
              <a:spcBef>
                <a:spcPts val="0"/>
              </a:spcBef>
              <a:spcAft>
                <a:spcPts val="200"/>
              </a:spcAft>
            </a:pPr>
            <a:r>
              <a:rPr sz="1050" b="0" i="0">
                <a:solidFill>
                  <a:srgbClr val="6B777C"/>
                </a:solidFill>
                <a:latin typeface="Segoe UI"/>
              </a:rPr>
              <a:t>Every transaction moves the table from one valid state to another.</a:t>
            </a:r>
          </a:p>
        </p:txBody>
      </p:sp>
      <p:sp>
        <p:nvSpPr>
          <p:cNvPr id="28" name="Rounded Rectangle 27"/>
          <p:cNvSpPr/>
          <p:nvPr/>
        </p:nvSpPr>
        <p:spPr>
          <a:xfrm rot="2700000">
            <a:off x="4576914" y="4990795"/>
            <a:ext cx="109728" cy="58521"/>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rot="18480000">
            <a:off x="4657382" y="4910328"/>
            <a:ext cx="212140" cy="58521"/>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233007" y="1920240"/>
            <a:ext cx="2558719" cy="33832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233007" y="1920240"/>
            <a:ext cx="2558719" cy="109728"/>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055167" y="2240280"/>
            <a:ext cx="914400" cy="914400"/>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055167" y="2286000"/>
            <a:ext cx="914400" cy="822960"/>
          </a:xfrm>
          <a:prstGeom prst="rect">
            <a:avLst/>
          </a:prstGeom>
          <a:noFill/>
        </p:spPr>
        <p:txBody>
          <a:bodyPr wrap="square" anchor="ctr" lIns="0" rIns="0" tIns="0" bIns="0">
            <a:spAutoFit/>
          </a:bodyPr>
          <a:lstStyle/>
          <a:p>
            <a:pPr algn="ctr">
              <a:lnSpc>
                <a:spcPct val="100000"/>
              </a:lnSpc>
              <a:spcBef>
                <a:spcPts val="0"/>
              </a:spcBef>
              <a:spcAft>
                <a:spcPts val="200"/>
              </a:spcAft>
            </a:pPr>
            <a:r>
              <a:rPr sz="4000" b="1" i="0">
                <a:solidFill>
                  <a:srgbClr val="FFFFFF"/>
                </a:solidFill>
                <a:latin typeface="Segoe UI"/>
              </a:rPr>
              <a:t>I</a:t>
            </a:r>
          </a:p>
        </p:txBody>
      </p:sp>
      <p:sp>
        <p:nvSpPr>
          <p:cNvPr id="34" name="TextBox 33"/>
          <p:cNvSpPr txBox="1"/>
          <p:nvPr/>
        </p:nvSpPr>
        <p:spPr>
          <a:xfrm>
            <a:off x="6342735" y="3310128"/>
            <a:ext cx="2339263" cy="365760"/>
          </a:xfrm>
          <a:prstGeom prst="rect">
            <a:avLst/>
          </a:prstGeom>
          <a:noFill/>
        </p:spPr>
        <p:txBody>
          <a:bodyPr wrap="square" anchor="t" lIns="0" rIns="0" tIns="0" bIns="0">
            <a:spAutoFit/>
          </a:bodyPr>
          <a:lstStyle/>
          <a:p>
            <a:pPr algn="ctr">
              <a:lnSpc>
                <a:spcPct val="100000"/>
              </a:lnSpc>
              <a:spcBef>
                <a:spcPts val="0"/>
              </a:spcBef>
              <a:spcAft>
                <a:spcPts val="200"/>
              </a:spcAft>
            </a:pPr>
            <a:r>
              <a:rPr sz="1400" b="1" i="0">
                <a:solidFill>
                  <a:srgbClr val="1B3139"/>
                </a:solidFill>
                <a:latin typeface="Segoe UI"/>
              </a:rPr>
              <a:t>Isolation</a:t>
            </a:r>
          </a:p>
        </p:txBody>
      </p:sp>
      <p:sp>
        <p:nvSpPr>
          <p:cNvPr id="35" name="TextBox 34"/>
          <p:cNvSpPr txBox="1"/>
          <p:nvPr/>
        </p:nvSpPr>
        <p:spPr>
          <a:xfrm>
            <a:off x="6434175" y="3730752"/>
            <a:ext cx="2156383" cy="1463040"/>
          </a:xfrm>
          <a:prstGeom prst="rect">
            <a:avLst/>
          </a:prstGeom>
          <a:noFill/>
        </p:spPr>
        <p:txBody>
          <a:bodyPr wrap="square" anchor="t" lIns="0" rIns="0" tIns="0" bIns="0">
            <a:spAutoFit/>
          </a:bodyPr>
          <a:lstStyle/>
          <a:p>
            <a:pPr algn="ctr">
              <a:lnSpc>
                <a:spcPct val="112000"/>
              </a:lnSpc>
              <a:spcBef>
                <a:spcPts val="0"/>
              </a:spcBef>
              <a:spcAft>
                <a:spcPts val="200"/>
              </a:spcAft>
            </a:pPr>
            <a:r>
              <a:rPr sz="1050" b="0" i="0">
                <a:solidFill>
                  <a:srgbClr val="6B777C"/>
                </a:solidFill>
                <a:latin typeface="Segoe UI"/>
              </a:rPr>
              <a:t>Concurrent reads &amp; writes don't interfere — no dirty reads.</a:t>
            </a:r>
          </a:p>
        </p:txBody>
      </p:sp>
      <p:sp>
        <p:nvSpPr>
          <p:cNvPr id="36" name="Rounded Rectangle 35"/>
          <p:cNvSpPr/>
          <p:nvPr/>
        </p:nvSpPr>
        <p:spPr>
          <a:xfrm>
            <a:off x="7388009" y="4965192"/>
            <a:ext cx="248716" cy="182880"/>
          </a:xfrm>
          <a:prstGeom prst="roundRect">
            <a:avLst>
              <a:gd name="adj" fmla="val 18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Block Arc 36"/>
          <p:cNvSpPr/>
          <p:nvPr/>
        </p:nvSpPr>
        <p:spPr>
          <a:xfrm>
            <a:off x="7424585" y="4800600"/>
            <a:ext cx="175564" cy="182880"/>
          </a:xfrm>
          <a:prstGeom prst="blockArc">
            <a:avLst>
              <a:gd name="adj1" fmla="val 314159"/>
              <a:gd name="adj2" fmla="val 0"/>
              <a:gd name="adj3" fmla="val 25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9066047" y="1920240"/>
            <a:ext cx="2558719" cy="33832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9066047" y="1920240"/>
            <a:ext cx="2558719" cy="109728"/>
          </a:xfrm>
          <a:prstGeom prst="rect">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9888207" y="2240280"/>
            <a:ext cx="914400" cy="914400"/>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888207" y="2286000"/>
            <a:ext cx="914400" cy="822960"/>
          </a:xfrm>
          <a:prstGeom prst="rect">
            <a:avLst/>
          </a:prstGeom>
          <a:noFill/>
        </p:spPr>
        <p:txBody>
          <a:bodyPr wrap="square" anchor="ctr" lIns="0" rIns="0" tIns="0" bIns="0">
            <a:spAutoFit/>
          </a:bodyPr>
          <a:lstStyle/>
          <a:p>
            <a:pPr algn="ctr">
              <a:lnSpc>
                <a:spcPct val="100000"/>
              </a:lnSpc>
              <a:spcBef>
                <a:spcPts val="0"/>
              </a:spcBef>
              <a:spcAft>
                <a:spcPts val="200"/>
              </a:spcAft>
            </a:pPr>
            <a:r>
              <a:rPr sz="4000" b="1" i="0">
                <a:solidFill>
                  <a:srgbClr val="FFFFFF"/>
                </a:solidFill>
                <a:latin typeface="Segoe UI"/>
              </a:rPr>
              <a:t>D</a:t>
            </a:r>
          </a:p>
        </p:txBody>
      </p:sp>
      <p:sp>
        <p:nvSpPr>
          <p:cNvPr id="42" name="TextBox 41"/>
          <p:cNvSpPr txBox="1"/>
          <p:nvPr/>
        </p:nvSpPr>
        <p:spPr>
          <a:xfrm>
            <a:off x="9175775" y="3310128"/>
            <a:ext cx="2339263" cy="365760"/>
          </a:xfrm>
          <a:prstGeom prst="rect">
            <a:avLst/>
          </a:prstGeom>
          <a:noFill/>
        </p:spPr>
        <p:txBody>
          <a:bodyPr wrap="square" anchor="t" lIns="0" rIns="0" tIns="0" bIns="0">
            <a:spAutoFit/>
          </a:bodyPr>
          <a:lstStyle/>
          <a:p>
            <a:pPr algn="ctr">
              <a:lnSpc>
                <a:spcPct val="100000"/>
              </a:lnSpc>
              <a:spcBef>
                <a:spcPts val="0"/>
              </a:spcBef>
              <a:spcAft>
                <a:spcPts val="200"/>
              </a:spcAft>
            </a:pPr>
            <a:r>
              <a:rPr sz="1400" b="1" i="0">
                <a:solidFill>
                  <a:srgbClr val="1B3139"/>
                </a:solidFill>
                <a:latin typeface="Segoe UI"/>
              </a:rPr>
              <a:t>Durability</a:t>
            </a:r>
          </a:p>
        </p:txBody>
      </p:sp>
      <p:sp>
        <p:nvSpPr>
          <p:cNvPr id="43" name="TextBox 42"/>
          <p:cNvSpPr txBox="1"/>
          <p:nvPr/>
        </p:nvSpPr>
        <p:spPr>
          <a:xfrm>
            <a:off x="9267215" y="3730752"/>
            <a:ext cx="2156383" cy="1463040"/>
          </a:xfrm>
          <a:prstGeom prst="rect">
            <a:avLst/>
          </a:prstGeom>
          <a:noFill/>
        </p:spPr>
        <p:txBody>
          <a:bodyPr wrap="square" anchor="t" lIns="0" rIns="0" tIns="0" bIns="0">
            <a:spAutoFit/>
          </a:bodyPr>
          <a:lstStyle/>
          <a:p>
            <a:pPr algn="ctr">
              <a:lnSpc>
                <a:spcPct val="112000"/>
              </a:lnSpc>
              <a:spcBef>
                <a:spcPts val="0"/>
              </a:spcBef>
              <a:spcAft>
                <a:spcPts val="200"/>
              </a:spcAft>
            </a:pPr>
            <a:r>
              <a:rPr sz="1050" b="0" i="0">
                <a:solidFill>
                  <a:srgbClr val="6B777C"/>
                </a:solidFill>
                <a:latin typeface="Segoe UI"/>
              </a:rPr>
              <a:t>Once committed, data is permanent — survives any failure.</a:t>
            </a:r>
          </a:p>
        </p:txBody>
      </p:sp>
      <p:sp>
        <p:nvSpPr>
          <p:cNvPr id="44" name="Cube 43"/>
          <p:cNvSpPr/>
          <p:nvPr/>
        </p:nvSpPr>
        <p:spPr>
          <a:xfrm>
            <a:off x="10189959" y="4828032"/>
            <a:ext cx="310896" cy="310896"/>
          </a:xfrm>
          <a:prstGeom prst="cub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566928" y="5577840"/>
            <a:ext cx="11057839" cy="77724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914400" y="5577840"/>
            <a:ext cx="10362895" cy="77724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ACID is what separates a database from a pile of files.  </a:t>
            </a:r>
            <a:r>
              <a:rPr sz="1250" b="0" i="0">
                <a:solidFill>
                  <a:srgbClr val="465257"/>
                </a:solidFill>
                <a:latin typeface="Segoe UI"/>
              </a:rPr>
              <a:t>Delta Lake brings all four guarantees to cheap object storage — no warehouse required.</a:t>
            </a:r>
          </a:p>
        </p:txBody>
      </p:sp>
      <p:sp>
        <p:nvSpPr>
          <p:cNvPr id="47" name="TextBox 46"/>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8" name="TextBox 47"/>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HOW IT WORKS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Transaction Log  (_delta_log)</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56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Fundamentals</a:t>
            </a:r>
          </a:p>
        </p:txBody>
      </p:sp>
      <p:sp>
        <p:nvSpPr>
          <p:cNvPr id="11" name="Oval 10"/>
          <p:cNvSpPr/>
          <p:nvPr/>
        </p:nvSpPr>
        <p:spPr>
          <a:xfrm>
            <a:off x="9283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Internals</a:t>
            </a:r>
          </a:p>
        </p:txBody>
      </p:sp>
      <p:sp>
        <p:nvSpPr>
          <p:cNvPr id="13" name="Oval 12"/>
          <p:cNvSpPr/>
          <p:nvPr/>
        </p:nvSpPr>
        <p:spPr>
          <a:xfrm>
            <a:off x="10442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Platform</a:t>
            </a:r>
          </a:p>
        </p:txBody>
      </p:sp>
      <p:sp>
        <p:nvSpPr>
          <p:cNvPr id="15" name="Rounded Rectangle 14"/>
          <p:cNvSpPr/>
          <p:nvPr/>
        </p:nvSpPr>
        <p:spPr>
          <a:xfrm>
            <a:off x="566928" y="2103120"/>
            <a:ext cx="2490139" cy="21488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66928" y="2103120"/>
            <a:ext cx="2490139" cy="109728"/>
          </a:xfrm>
          <a:prstGeom prst="roundRect">
            <a:avLst>
              <a:gd name="adj" fmla="val 50000"/>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373085" y="2322575"/>
            <a:ext cx="877824" cy="877824"/>
          </a:xfrm>
          <a:prstGeom prst="ellipse">
            <a:avLst/>
          </a:prstGeom>
          <a:solidFill>
            <a:srgbClr val="27444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Folded Corner 17"/>
          <p:cNvSpPr/>
          <p:nvPr/>
        </p:nvSpPr>
        <p:spPr>
          <a:xfrm>
            <a:off x="1682782" y="2591892"/>
            <a:ext cx="258431" cy="339191"/>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25632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1</a:t>
            </a:r>
          </a:p>
        </p:txBody>
      </p:sp>
      <p:sp>
        <p:nvSpPr>
          <p:cNvPr id="20" name="TextBox 19"/>
          <p:cNvSpPr txBox="1"/>
          <p:nvPr/>
        </p:nvSpPr>
        <p:spPr>
          <a:xfrm>
            <a:off x="676656" y="3236976"/>
            <a:ext cx="227068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Write Request</a:t>
            </a:r>
          </a:p>
        </p:txBody>
      </p:sp>
      <p:sp>
        <p:nvSpPr>
          <p:cNvPr id="21" name="TextBox 20"/>
          <p:cNvSpPr txBox="1"/>
          <p:nvPr/>
        </p:nvSpPr>
        <p:spPr>
          <a:xfrm>
            <a:off x="713232" y="3694176"/>
            <a:ext cx="2197531" cy="521208"/>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A job proposes changes to the table.</a:t>
            </a:r>
          </a:p>
        </p:txBody>
      </p:sp>
      <p:sp>
        <p:nvSpPr>
          <p:cNvPr id="22" name="Right Arrow 21"/>
          <p:cNvSpPr/>
          <p:nvPr/>
        </p:nvSpPr>
        <p:spPr>
          <a:xfrm>
            <a:off x="3093643" y="30952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422827" y="2103120"/>
            <a:ext cx="2490139" cy="21488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3422827" y="2103120"/>
            <a:ext cx="2490139" cy="109728"/>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4228985" y="2322575"/>
            <a:ext cx="877824" cy="877824"/>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Circular Arrow 25"/>
          <p:cNvSpPr/>
          <p:nvPr/>
        </p:nvSpPr>
        <p:spPr>
          <a:xfrm>
            <a:off x="4465998" y="2559588"/>
            <a:ext cx="403799" cy="403799"/>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54191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2</a:t>
            </a:r>
          </a:p>
        </p:txBody>
      </p:sp>
      <p:sp>
        <p:nvSpPr>
          <p:cNvPr id="28" name="TextBox 27"/>
          <p:cNvSpPr txBox="1"/>
          <p:nvPr/>
        </p:nvSpPr>
        <p:spPr>
          <a:xfrm>
            <a:off x="3532555" y="3236976"/>
            <a:ext cx="227068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Log Update</a:t>
            </a:r>
          </a:p>
        </p:txBody>
      </p:sp>
      <p:sp>
        <p:nvSpPr>
          <p:cNvPr id="29" name="TextBox 28"/>
          <p:cNvSpPr txBox="1"/>
          <p:nvPr/>
        </p:nvSpPr>
        <p:spPr>
          <a:xfrm>
            <a:off x="3569131" y="3694176"/>
            <a:ext cx="2197531" cy="521208"/>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A new commit is prepared in _delta_log.</a:t>
            </a:r>
          </a:p>
        </p:txBody>
      </p:sp>
      <p:sp>
        <p:nvSpPr>
          <p:cNvPr id="30" name="Right Arrow 29"/>
          <p:cNvSpPr/>
          <p:nvPr/>
        </p:nvSpPr>
        <p:spPr>
          <a:xfrm>
            <a:off x="5949543" y="30952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6278727" y="2103120"/>
            <a:ext cx="2490139" cy="21488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6278727" y="2103120"/>
            <a:ext cx="2490139" cy="109728"/>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Oval 32"/>
          <p:cNvSpPr/>
          <p:nvPr/>
        </p:nvSpPr>
        <p:spPr>
          <a:xfrm>
            <a:off x="7084885" y="2322575"/>
            <a:ext cx="877824" cy="877824"/>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rot="2700000">
            <a:off x="7410733" y="2769563"/>
            <a:ext cx="121139" cy="6460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rot="18480000">
            <a:off x="7499569" y="2680728"/>
            <a:ext cx="234203" cy="6460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2750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3</a:t>
            </a:r>
          </a:p>
        </p:txBody>
      </p:sp>
      <p:sp>
        <p:nvSpPr>
          <p:cNvPr id="37" name="TextBox 36"/>
          <p:cNvSpPr txBox="1"/>
          <p:nvPr/>
        </p:nvSpPr>
        <p:spPr>
          <a:xfrm>
            <a:off x="6388455" y="3236976"/>
            <a:ext cx="227068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Atomic Commit</a:t>
            </a:r>
          </a:p>
        </p:txBody>
      </p:sp>
      <p:sp>
        <p:nvSpPr>
          <p:cNvPr id="38" name="TextBox 37"/>
          <p:cNvSpPr txBox="1"/>
          <p:nvPr/>
        </p:nvSpPr>
        <p:spPr>
          <a:xfrm>
            <a:off x="6425031" y="3694176"/>
            <a:ext cx="2197531" cy="521208"/>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The commit succeeds all-at-once, or not at all.</a:t>
            </a:r>
          </a:p>
        </p:txBody>
      </p:sp>
      <p:sp>
        <p:nvSpPr>
          <p:cNvPr id="39" name="Right Arrow 38"/>
          <p:cNvSpPr/>
          <p:nvPr/>
        </p:nvSpPr>
        <p:spPr>
          <a:xfrm>
            <a:off x="8805443" y="30952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134627" y="2103120"/>
            <a:ext cx="2490139" cy="214884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9134627" y="2103120"/>
            <a:ext cx="2490139" cy="109728"/>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9940785" y="2322575"/>
            <a:ext cx="877824" cy="877824"/>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10298937" y="2591892"/>
            <a:ext cx="161519" cy="16151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10242405" y="2777639"/>
            <a:ext cx="274583" cy="16959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111309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4</a:t>
            </a:r>
          </a:p>
        </p:txBody>
      </p:sp>
      <p:sp>
        <p:nvSpPr>
          <p:cNvPr id="46" name="TextBox 45"/>
          <p:cNvSpPr txBox="1"/>
          <p:nvPr/>
        </p:nvSpPr>
        <p:spPr>
          <a:xfrm>
            <a:off x="9244355" y="3236976"/>
            <a:ext cx="227068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Read Consistency</a:t>
            </a:r>
          </a:p>
        </p:txBody>
      </p:sp>
      <p:sp>
        <p:nvSpPr>
          <p:cNvPr id="47" name="TextBox 46"/>
          <p:cNvSpPr txBox="1"/>
          <p:nvPr/>
        </p:nvSpPr>
        <p:spPr>
          <a:xfrm>
            <a:off x="9280931" y="3694176"/>
            <a:ext cx="2197531" cy="521208"/>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Readers replay the log → a consistent snapshot.</a:t>
            </a:r>
          </a:p>
        </p:txBody>
      </p:sp>
      <p:sp>
        <p:nvSpPr>
          <p:cNvPr id="48" name="Rounded Rectangle 47"/>
          <p:cNvSpPr/>
          <p:nvPr/>
        </p:nvSpPr>
        <p:spPr>
          <a:xfrm>
            <a:off x="566928" y="4617720"/>
            <a:ext cx="11057839" cy="960120"/>
          </a:xfrm>
          <a:prstGeom prst="roundRect">
            <a:avLst>
              <a:gd name="adj" fmla="val 8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86968" y="4718304"/>
            <a:ext cx="4572000" cy="274320"/>
          </a:xfrm>
          <a:prstGeom prst="rect">
            <a:avLst/>
          </a:prstGeom>
          <a:noFill/>
        </p:spPr>
        <p:txBody>
          <a:bodyPr wrap="square" anchor="t" lIns="0" rIns="0" tIns="0" bIns="0">
            <a:spAutoFit/>
          </a:bodyPr>
          <a:lstStyle/>
          <a:p>
            <a:pPr algn="l">
              <a:lnSpc>
                <a:spcPct val="100000"/>
              </a:lnSpc>
              <a:spcBef>
                <a:spcPts val="0"/>
              </a:spcBef>
              <a:spcAft>
                <a:spcPts val="200"/>
              </a:spcAft>
            </a:pPr>
            <a:r>
              <a:rPr sz="1050" b="1" i="0">
                <a:solidFill>
                  <a:srgbClr val="FF6B57"/>
                </a:solidFill>
                <a:latin typeface="Segoe UI Semibold"/>
              </a:rPr>
              <a:t>_delta_log/   ordered, immutable JSON commits</a:t>
            </a:r>
          </a:p>
        </p:txBody>
      </p:sp>
      <p:sp>
        <p:nvSpPr>
          <p:cNvPr id="50" name="Rounded Rectangle 49"/>
          <p:cNvSpPr/>
          <p:nvPr/>
        </p:nvSpPr>
        <p:spPr>
          <a:xfrm>
            <a:off x="886968" y="5047488"/>
            <a:ext cx="1951878" cy="420624"/>
          </a:xfrm>
          <a:prstGeom prst="roundRect">
            <a:avLst>
              <a:gd name="adj" fmla="val 16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905256" y="5047488"/>
            <a:ext cx="1915302" cy="420624"/>
          </a:xfrm>
          <a:prstGeom prst="rect">
            <a:avLst/>
          </a:prstGeom>
          <a:noFill/>
        </p:spPr>
        <p:txBody>
          <a:bodyPr wrap="square" anchor="ctr" lIns="0" rIns="0" tIns="0" bIns="0">
            <a:spAutoFit/>
          </a:bodyPr>
          <a:lstStyle/>
          <a:p>
            <a:pPr algn="ctr">
              <a:lnSpc>
                <a:spcPct val="100000"/>
              </a:lnSpc>
              <a:spcBef>
                <a:spcPts val="0"/>
              </a:spcBef>
              <a:spcAft>
                <a:spcPts val="200"/>
              </a:spcAft>
            </a:pPr>
            <a:r>
              <a:rPr sz="950" b="0" i="0">
                <a:solidFill>
                  <a:srgbClr val="FFFFFF"/>
                </a:solidFill>
                <a:latin typeface="Segoe UI"/>
              </a:rPr>
              <a:t>00000.json</a:t>
            </a:r>
          </a:p>
        </p:txBody>
      </p:sp>
      <p:sp>
        <p:nvSpPr>
          <p:cNvPr id="52" name="Right Arrow 51"/>
          <p:cNvSpPr/>
          <p:nvPr/>
        </p:nvSpPr>
        <p:spPr>
          <a:xfrm>
            <a:off x="2838846" y="5202936"/>
            <a:ext cx="164592" cy="109728"/>
          </a:xfrm>
          <a:prstGeom prst="rightArrow">
            <a:avLst>
              <a:gd name="adj1" fmla="val 55000"/>
              <a:gd name="adj2" fmla="val 55000"/>
            </a:avLst>
          </a:prstGeom>
          <a:solidFill>
            <a:srgbClr val="7E91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ounded Rectangle 52"/>
          <p:cNvSpPr/>
          <p:nvPr/>
        </p:nvSpPr>
        <p:spPr>
          <a:xfrm>
            <a:off x="3003438" y="5047488"/>
            <a:ext cx="1951878" cy="420624"/>
          </a:xfrm>
          <a:prstGeom prst="roundRect">
            <a:avLst>
              <a:gd name="adj" fmla="val 16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3021726" y="5047488"/>
            <a:ext cx="1915302" cy="420624"/>
          </a:xfrm>
          <a:prstGeom prst="rect">
            <a:avLst/>
          </a:prstGeom>
          <a:noFill/>
        </p:spPr>
        <p:txBody>
          <a:bodyPr wrap="square" anchor="ctr" lIns="0" rIns="0" tIns="0" bIns="0">
            <a:spAutoFit/>
          </a:bodyPr>
          <a:lstStyle/>
          <a:p>
            <a:pPr algn="ctr">
              <a:lnSpc>
                <a:spcPct val="100000"/>
              </a:lnSpc>
              <a:spcBef>
                <a:spcPts val="0"/>
              </a:spcBef>
              <a:spcAft>
                <a:spcPts val="200"/>
              </a:spcAft>
            </a:pPr>
            <a:r>
              <a:rPr sz="950" b="0" i="0">
                <a:solidFill>
                  <a:srgbClr val="FFFFFF"/>
                </a:solidFill>
                <a:latin typeface="Segoe UI"/>
              </a:rPr>
              <a:t>00001.json</a:t>
            </a:r>
          </a:p>
        </p:txBody>
      </p:sp>
      <p:sp>
        <p:nvSpPr>
          <p:cNvPr id="55" name="Right Arrow 54"/>
          <p:cNvSpPr/>
          <p:nvPr/>
        </p:nvSpPr>
        <p:spPr>
          <a:xfrm>
            <a:off x="4955316" y="5202936"/>
            <a:ext cx="164592" cy="109728"/>
          </a:xfrm>
          <a:prstGeom prst="rightArrow">
            <a:avLst>
              <a:gd name="adj1" fmla="val 55000"/>
              <a:gd name="adj2" fmla="val 55000"/>
            </a:avLst>
          </a:prstGeom>
          <a:solidFill>
            <a:srgbClr val="7E91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a:off x="5119908" y="5047488"/>
            <a:ext cx="1951878" cy="420624"/>
          </a:xfrm>
          <a:prstGeom prst="roundRect">
            <a:avLst>
              <a:gd name="adj" fmla="val 16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5138196" y="5047488"/>
            <a:ext cx="1915302" cy="420624"/>
          </a:xfrm>
          <a:prstGeom prst="rect">
            <a:avLst/>
          </a:prstGeom>
          <a:noFill/>
        </p:spPr>
        <p:txBody>
          <a:bodyPr wrap="square" anchor="ctr" lIns="0" rIns="0" tIns="0" bIns="0">
            <a:spAutoFit/>
          </a:bodyPr>
          <a:lstStyle/>
          <a:p>
            <a:pPr algn="ctr">
              <a:lnSpc>
                <a:spcPct val="100000"/>
              </a:lnSpc>
              <a:spcBef>
                <a:spcPts val="0"/>
              </a:spcBef>
              <a:spcAft>
                <a:spcPts val="200"/>
              </a:spcAft>
            </a:pPr>
            <a:r>
              <a:rPr sz="950" b="0" i="0">
                <a:solidFill>
                  <a:srgbClr val="FFFFFF"/>
                </a:solidFill>
                <a:latin typeface="Segoe UI"/>
              </a:rPr>
              <a:t>00002.json</a:t>
            </a:r>
          </a:p>
        </p:txBody>
      </p:sp>
      <p:sp>
        <p:nvSpPr>
          <p:cNvPr id="58" name="Right Arrow 57"/>
          <p:cNvSpPr/>
          <p:nvPr/>
        </p:nvSpPr>
        <p:spPr>
          <a:xfrm>
            <a:off x="7071786" y="5202936"/>
            <a:ext cx="164592" cy="109728"/>
          </a:xfrm>
          <a:prstGeom prst="rightArrow">
            <a:avLst>
              <a:gd name="adj1" fmla="val 55000"/>
              <a:gd name="adj2" fmla="val 55000"/>
            </a:avLst>
          </a:prstGeom>
          <a:solidFill>
            <a:srgbClr val="7E91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ounded Rectangle 58"/>
          <p:cNvSpPr/>
          <p:nvPr/>
        </p:nvSpPr>
        <p:spPr>
          <a:xfrm>
            <a:off x="7236378" y="5047488"/>
            <a:ext cx="1951878" cy="420624"/>
          </a:xfrm>
          <a:prstGeom prst="roundRect">
            <a:avLst>
              <a:gd name="adj" fmla="val 16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7254666" y="5047488"/>
            <a:ext cx="1915302" cy="420624"/>
          </a:xfrm>
          <a:prstGeom prst="rect">
            <a:avLst/>
          </a:prstGeom>
          <a:noFill/>
        </p:spPr>
        <p:txBody>
          <a:bodyPr wrap="square" anchor="ctr" lIns="0" rIns="0" tIns="0" bIns="0">
            <a:spAutoFit/>
          </a:bodyPr>
          <a:lstStyle/>
          <a:p>
            <a:pPr algn="ctr">
              <a:lnSpc>
                <a:spcPct val="100000"/>
              </a:lnSpc>
              <a:spcBef>
                <a:spcPts val="0"/>
              </a:spcBef>
              <a:spcAft>
                <a:spcPts val="200"/>
              </a:spcAft>
            </a:pPr>
            <a:r>
              <a:rPr sz="950" b="1" i="0">
                <a:solidFill>
                  <a:srgbClr val="FFFFFF"/>
                </a:solidFill>
                <a:latin typeface="Segoe UI"/>
              </a:rPr>
              <a:t>00003.json</a:t>
            </a:r>
          </a:p>
        </p:txBody>
      </p:sp>
      <p:sp>
        <p:nvSpPr>
          <p:cNvPr id="61" name="Right Arrow 60"/>
          <p:cNvSpPr/>
          <p:nvPr/>
        </p:nvSpPr>
        <p:spPr>
          <a:xfrm>
            <a:off x="9188256" y="5202936"/>
            <a:ext cx="164592" cy="109728"/>
          </a:xfrm>
          <a:prstGeom prst="rightArrow">
            <a:avLst>
              <a:gd name="adj1" fmla="val 55000"/>
              <a:gd name="adj2" fmla="val 55000"/>
            </a:avLst>
          </a:prstGeom>
          <a:solidFill>
            <a:srgbClr val="7E91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ounded Rectangle 61"/>
          <p:cNvSpPr/>
          <p:nvPr/>
        </p:nvSpPr>
        <p:spPr>
          <a:xfrm>
            <a:off x="9352848" y="5047488"/>
            <a:ext cx="1951878" cy="420624"/>
          </a:xfrm>
          <a:prstGeom prst="roundRect">
            <a:avLst>
              <a:gd name="adj" fmla="val 16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9371136" y="5047488"/>
            <a:ext cx="1915302" cy="420624"/>
          </a:xfrm>
          <a:prstGeom prst="rect">
            <a:avLst/>
          </a:prstGeom>
          <a:noFill/>
        </p:spPr>
        <p:txBody>
          <a:bodyPr wrap="square" anchor="ctr" lIns="0" rIns="0" tIns="0" bIns="0">
            <a:spAutoFit/>
          </a:bodyPr>
          <a:lstStyle/>
          <a:p>
            <a:pPr algn="ctr">
              <a:lnSpc>
                <a:spcPct val="100000"/>
              </a:lnSpc>
              <a:spcBef>
                <a:spcPts val="0"/>
              </a:spcBef>
              <a:spcAft>
                <a:spcPts val="200"/>
              </a:spcAft>
            </a:pPr>
            <a:r>
              <a:rPr sz="950" b="0" i="0">
                <a:solidFill>
                  <a:srgbClr val="FFFFFF"/>
                </a:solidFill>
                <a:latin typeface="Segoe UI"/>
              </a:rPr>
              <a:t>…</a:t>
            </a:r>
          </a:p>
        </p:txBody>
      </p:sp>
      <p:sp>
        <p:nvSpPr>
          <p:cNvPr id="64" name="TextBox 63"/>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5" name="TextBox 64"/>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HOW IT WORKS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How Delta Ensures Reliability</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56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Fundamentals</a:t>
            </a:r>
          </a:p>
        </p:txBody>
      </p:sp>
      <p:sp>
        <p:nvSpPr>
          <p:cNvPr id="11" name="Oval 10"/>
          <p:cNvSpPr/>
          <p:nvPr/>
        </p:nvSpPr>
        <p:spPr>
          <a:xfrm>
            <a:off x="9283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Internals</a:t>
            </a:r>
          </a:p>
        </p:txBody>
      </p:sp>
      <p:sp>
        <p:nvSpPr>
          <p:cNvPr id="13" name="Oval 12"/>
          <p:cNvSpPr/>
          <p:nvPr/>
        </p:nvSpPr>
        <p:spPr>
          <a:xfrm>
            <a:off x="10442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Platform</a:t>
            </a:r>
          </a:p>
        </p:txBody>
      </p:sp>
      <p:sp>
        <p:nvSpPr>
          <p:cNvPr id="15" name="Rounded Rectangle 14"/>
          <p:cNvSpPr/>
          <p:nvPr/>
        </p:nvSpPr>
        <p:spPr>
          <a:xfrm>
            <a:off x="566928" y="214884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66928" y="2148840"/>
            <a:ext cx="1918959" cy="109728"/>
          </a:xfrm>
          <a:prstGeom prst="roundRect">
            <a:avLst>
              <a:gd name="adj" fmla="val 50000"/>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069207" y="2350008"/>
            <a:ext cx="914400" cy="914400"/>
          </a:xfrm>
          <a:prstGeom prst="ellipse">
            <a:avLst/>
          </a:prstGeom>
          <a:solidFill>
            <a:srgbClr val="27444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Folded Corner 17"/>
          <p:cNvSpPr/>
          <p:nvPr/>
        </p:nvSpPr>
        <p:spPr>
          <a:xfrm>
            <a:off x="1391808" y="2630545"/>
            <a:ext cx="269199" cy="353324"/>
          </a:xfrm>
          <a:prstGeom prst="foldedCorner">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99211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1</a:t>
            </a:r>
          </a:p>
        </p:txBody>
      </p:sp>
      <p:sp>
        <p:nvSpPr>
          <p:cNvPr id="20" name="TextBox 19"/>
          <p:cNvSpPr txBox="1"/>
          <p:nvPr/>
        </p:nvSpPr>
        <p:spPr>
          <a:xfrm>
            <a:off x="676656"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Write</a:t>
            </a:r>
          </a:p>
        </p:txBody>
      </p:sp>
      <p:sp>
        <p:nvSpPr>
          <p:cNvPr id="21" name="TextBox 20"/>
          <p:cNvSpPr txBox="1"/>
          <p:nvPr/>
        </p:nvSpPr>
        <p:spPr>
          <a:xfrm>
            <a:off x="713232" y="359359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New data files are written to storage.</a:t>
            </a:r>
          </a:p>
        </p:txBody>
      </p:sp>
      <p:sp>
        <p:nvSpPr>
          <p:cNvPr id="22" name="Right Arrow 21"/>
          <p:cNvSpPr/>
          <p:nvPr/>
        </p:nvSpPr>
        <p:spPr>
          <a:xfrm>
            <a:off x="2522463" y="32095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2851647" y="214884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2851647" y="2148840"/>
            <a:ext cx="1918959" cy="10972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3353927" y="2350008"/>
            <a:ext cx="914400" cy="914400"/>
          </a:xfrm>
          <a:prstGeom prst="ellipse">
            <a:avLst/>
          </a:prstGeom>
          <a:solidFill>
            <a:srgbClr val="F59E0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Pentagon 25"/>
          <p:cNvSpPr/>
          <p:nvPr/>
        </p:nvSpPr>
        <p:spPr>
          <a:xfrm rot="5400000">
            <a:off x="3634465" y="2605308"/>
            <a:ext cx="353324" cy="386974"/>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427683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2</a:t>
            </a:r>
          </a:p>
        </p:txBody>
      </p:sp>
      <p:sp>
        <p:nvSpPr>
          <p:cNvPr id="28" name="TextBox 27"/>
          <p:cNvSpPr txBox="1"/>
          <p:nvPr/>
        </p:nvSpPr>
        <p:spPr>
          <a:xfrm>
            <a:off x="296137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Validate</a:t>
            </a:r>
          </a:p>
        </p:txBody>
      </p:sp>
      <p:sp>
        <p:nvSpPr>
          <p:cNvPr id="29" name="TextBox 28"/>
          <p:cNvSpPr txBox="1"/>
          <p:nvPr/>
        </p:nvSpPr>
        <p:spPr>
          <a:xfrm>
            <a:off x="2997951" y="359359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Schema &amp; constraints are enforced.</a:t>
            </a:r>
          </a:p>
        </p:txBody>
      </p:sp>
      <p:sp>
        <p:nvSpPr>
          <p:cNvPr id="30" name="Right Arrow 29"/>
          <p:cNvSpPr/>
          <p:nvPr/>
        </p:nvSpPr>
        <p:spPr>
          <a:xfrm>
            <a:off x="4807183" y="32095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5136367" y="214884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5136367" y="2148840"/>
            <a:ext cx="1918959" cy="109728"/>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Oval 32"/>
          <p:cNvSpPr/>
          <p:nvPr/>
        </p:nvSpPr>
        <p:spPr>
          <a:xfrm>
            <a:off x="5638647" y="2350008"/>
            <a:ext cx="914400" cy="914400"/>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rot="2700000">
            <a:off x="5978072" y="2815620"/>
            <a:ext cx="126187" cy="6729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rot="18480000">
            <a:off x="6070610" y="2723083"/>
            <a:ext cx="243961" cy="6729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656155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3</a:t>
            </a:r>
          </a:p>
        </p:txBody>
      </p:sp>
      <p:sp>
        <p:nvSpPr>
          <p:cNvPr id="37" name="TextBox 36"/>
          <p:cNvSpPr txBox="1"/>
          <p:nvPr/>
        </p:nvSpPr>
        <p:spPr>
          <a:xfrm>
            <a:off x="524609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Commit</a:t>
            </a:r>
          </a:p>
        </p:txBody>
      </p:sp>
      <p:sp>
        <p:nvSpPr>
          <p:cNvPr id="38" name="TextBox 37"/>
          <p:cNvSpPr txBox="1"/>
          <p:nvPr/>
        </p:nvSpPr>
        <p:spPr>
          <a:xfrm>
            <a:off x="5282671" y="359359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Atomic commit recorded in the log.</a:t>
            </a:r>
          </a:p>
        </p:txBody>
      </p:sp>
      <p:sp>
        <p:nvSpPr>
          <p:cNvPr id="39" name="Right Arrow 38"/>
          <p:cNvSpPr/>
          <p:nvPr/>
        </p:nvSpPr>
        <p:spPr>
          <a:xfrm>
            <a:off x="7091903" y="32095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7421087" y="214884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7421087" y="2148840"/>
            <a:ext cx="1918959" cy="109728"/>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7923367" y="2350008"/>
            <a:ext cx="914400" cy="91440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8187080" y="2613720"/>
            <a:ext cx="386974" cy="386974"/>
          </a:xfrm>
          <a:prstGeom prst="ellipse">
            <a:avLst/>
          </a:prstGeom>
          <a:noFill/>
          <a:ln w="4089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8365845" y="2681020"/>
            <a:ext cx="29443" cy="14301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8372154" y="2792486"/>
            <a:ext cx="109362" cy="2944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Oval 45"/>
          <p:cNvSpPr/>
          <p:nvPr/>
        </p:nvSpPr>
        <p:spPr>
          <a:xfrm>
            <a:off x="8357433" y="2784073"/>
            <a:ext cx="46268" cy="462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884627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4</a:t>
            </a:r>
          </a:p>
        </p:txBody>
      </p:sp>
      <p:sp>
        <p:nvSpPr>
          <p:cNvPr id="48" name="TextBox 47"/>
          <p:cNvSpPr txBox="1"/>
          <p:nvPr/>
        </p:nvSpPr>
        <p:spPr>
          <a:xfrm>
            <a:off x="753081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Version</a:t>
            </a:r>
          </a:p>
        </p:txBody>
      </p:sp>
      <p:sp>
        <p:nvSpPr>
          <p:cNvPr id="49" name="TextBox 48"/>
          <p:cNvSpPr txBox="1"/>
          <p:nvPr/>
        </p:nvSpPr>
        <p:spPr>
          <a:xfrm>
            <a:off x="7567391" y="359359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A new table version is created.</a:t>
            </a:r>
          </a:p>
        </p:txBody>
      </p:sp>
      <p:sp>
        <p:nvSpPr>
          <p:cNvPr id="50" name="Right Arrow 49"/>
          <p:cNvSpPr/>
          <p:nvPr/>
        </p:nvSpPr>
        <p:spPr>
          <a:xfrm>
            <a:off x="9376623" y="320954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ounded Rectangle 50"/>
          <p:cNvSpPr/>
          <p:nvPr/>
        </p:nvSpPr>
        <p:spPr>
          <a:xfrm>
            <a:off x="9705807" y="2148840"/>
            <a:ext cx="1918959"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ounded Rectangle 51"/>
          <p:cNvSpPr/>
          <p:nvPr/>
        </p:nvSpPr>
        <p:spPr>
          <a:xfrm>
            <a:off x="9705807" y="2148840"/>
            <a:ext cx="1918959" cy="109728"/>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Oval 52"/>
          <p:cNvSpPr/>
          <p:nvPr/>
        </p:nvSpPr>
        <p:spPr>
          <a:xfrm>
            <a:off x="10208087" y="2350008"/>
            <a:ext cx="914400" cy="91440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Oval 53"/>
          <p:cNvSpPr/>
          <p:nvPr/>
        </p:nvSpPr>
        <p:spPr>
          <a:xfrm>
            <a:off x="10581162" y="2630545"/>
            <a:ext cx="168249" cy="16824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ounded Rectangle 54"/>
          <p:cNvSpPr/>
          <p:nvPr/>
        </p:nvSpPr>
        <p:spPr>
          <a:xfrm>
            <a:off x="10522275" y="2824032"/>
            <a:ext cx="286024" cy="17666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11130991" y="2276856"/>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5</a:t>
            </a:r>
          </a:p>
        </p:txBody>
      </p:sp>
      <p:sp>
        <p:nvSpPr>
          <p:cNvPr id="57" name="TextBox 56"/>
          <p:cNvSpPr txBox="1"/>
          <p:nvPr/>
        </p:nvSpPr>
        <p:spPr>
          <a:xfrm>
            <a:off x="9815535" y="3282696"/>
            <a:ext cx="169950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Read</a:t>
            </a:r>
          </a:p>
        </p:txBody>
      </p:sp>
      <p:sp>
        <p:nvSpPr>
          <p:cNvPr id="58" name="TextBox 57"/>
          <p:cNvSpPr txBox="1"/>
          <p:nvPr/>
        </p:nvSpPr>
        <p:spPr>
          <a:xfrm>
            <a:off x="9852111" y="3593592"/>
            <a:ext cx="1626351" cy="804671"/>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Consistent snapshot served to all.</a:t>
            </a:r>
          </a:p>
        </p:txBody>
      </p:sp>
      <p:sp>
        <p:nvSpPr>
          <p:cNvPr id="59" name="Rounded Rectangle 58"/>
          <p:cNvSpPr/>
          <p:nvPr/>
        </p:nvSpPr>
        <p:spPr>
          <a:xfrm>
            <a:off x="566928" y="4800600"/>
            <a:ext cx="11057839" cy="91440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914400" y="4800600"/>
            <a:ext cx="10362895" cy="91440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Every write follows the same safe path.  </a:t>
            </a:r>
            <a:r>
              <a:rPr sz="1250" b="0" i="0">
                <a:solidFill>
                  <a:srgbClr val="465257"/>
                </a:solidFill>
                <a:latin typeface="Segoe UI"/>
              </a:rPr>
              <a:t>Validation rejects bad data, the atomic commit prevents corruption, and versioning makes every change reversible — reliability by design, not by hope.</a:t>
            </a:r>
          </a:p>
        </p:txBody>
      </p:sp>
      <p:sp>
        <p:nvSpPr>
          <p:cNvPr id="61" name="TextBox 60"/>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2" name="TextBox 61"/>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HOW IT WORKS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Time Travel &amp; Data Versioning</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56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Fundamentals</a:t>
            </a:r>
          </a:p>
        </p:txBody>
      </p:sp>
      <p:sp>
        <p:nvSpPr>
          <p:cNvPr id="11" name="Oval 10"/>
          <p:cNvSpPr/>
          <p:nvPr/>
        </p:nvSpPr>
        <p:spPr>
          <a:xfrm>
            <a:off x="9283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Internals</a:t>
            </a:r>
          </a:p>
        </p:txBody>
      </p:sp>
      <p:sp>
        <p:nvSpPr>
          <p:cNvPr id="13" name="Oval 12"/>
          <p:cNvSpPr/>
          <p:nvPr/>
        </p:nvSpPr>
        <p:spPr>
          <a:xfrm>
            <a:off x="10442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Platform</a:t>
            </a:r>
          </a:p>
        </p:txBody>
      </p:sp>
      <p:sp>
        <p:nvSpPr>
          <p:cNvPr id="15" name="Rounded Rectangle 14"/>
          <p:cNvSpPr/>
          <p:nvPr/>
        </p:nvSpPr>
        <p:spPr>
          <a:xfrm>
            <a:off x="566928" y="2148840"/>
            <a:ext cx="2421559" cy="15544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421091" y="2340864"/>
            <a:ext cx="713232" cy="713232"/>
          </a:xfrm>
          <a:prstGeom prst="ellipse">
            <a:avLst/>
          </a:prstGeom>
          <a:solidFill>
            <a:srgbClr val="27444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320507" y="2395728"/>
            <a:ext cx="914400" cy="640080"/>
          </a:xfrm>
          <a:prstGeom prst="rect">
            <a:avLst/>
          </a:prstGeom>
          <a:noFill/>
        </p:spPr>
        <p:txBody>
          <a:bodyPr wrap="square" anchor="ctr" lIns="0" rIns="0" tIns="0" bIns="0">
            <a:spAutoFit/>
          </a:bodyPr>
          <a:lstStyle/>
          <a:p>
            <a:pPr algn="ctr">
              <a:lnSpc>
                <a:spcPct val="100000"/>
              </a:lnSpc>
              <a:spcBef>
                <a:spcPts val="0"/>
              </a:spcBef>
              <a:spcAft>
                <a:spcPts val="200"/>
              </a:spcAft>
            </a:pPr>
            <a:r>
              <a:rPr sz="2200" b="1" i="0">
                <a:solidFill>
                  <a:srgbClr val="FFFFFF"/>
                </a:solidFill>
                <a:latin typeface="Segoe UI"/>
              </a:rPr>
              <a:t>v0</a:t>
            </a:r>
          </a:p>
        </p:txBody>
      </p:sp>
      <p:sp>
        <p:nvSpPr>
          <p:cNvPr id="18" name="TextBox 17"/>
          <p:cNvSpPr txBox="1"/>
          <p:nvPr/>
        </p:nvSpPr>
        <p:spPr>
          <a:xfrm>
            <a:off x="658368" y="3246120"/>
            <a:ext cx="2238679" cy="365760"/>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Initial load</a:t>
            </a:r>
          </a:p>
        </p:txBody>
      </p:sp>
      <p:sp>
        <p:nvSpPr>
          <p:cNvPr id="19" name="Right Arrow 18"/>
          <p:cNvSpPr/>
          <p:nvPr/>
        </p:nvSpPr>
        <p:spPr>
          <a:xfrm>
            <a:off x="3043351" y="2606040"/>
            <a:ext cx="347472" cy="182880"/>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3445687" y="2148840"/>
            <a:ext cx="2421559" cy="15544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4299851" y="2340864"/>
            <a:ext cx="713232" cy="713232"/>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199267" y="2395728"/>
            <a:ext cx="914400" cy="640080"/>
          </a:xfrm>
          <a:prstGeom prst="rect">
            <a:avLst/>
          </a:prstGeom>
          <a:noFill/>
        </p:spPr>
        <p:txBody>
          <a:bodyPr wrap="square" anchor="ctr" lIns="0" rIns="0" tIns="0" bIns="0">
            <a:spAutoFit/>
          </a:bodyPr>
          <a:lstStyle/>
          <a:p>
            <a:pPr algn="ctr">
              <a:lnSpc>
                <a:spcPct val="100000"/>
              </a:lnSpc>
              <a:spcBef>
                <a:spcPts val="0"/>
              </a:spcBef>
              <a:spcAft>
                <a:spcPts val="200"/>
              </a:spcAft>
            </a:pPr>
            <a:r>
              <a:rPr sz="2200" b="1" i="0">
                <a:solidFill>
                  <a:srgbClr val="FFFFFF"/>
                </a:solidFill>
                <a:latin typeface="Segoe UI"/>
              </a:rPr>
              <a:t>v1</a:t>
            </a:r>
          </a:p>
        </p:txBody>
      </p:sp>
      <p:sp>
        <p:nvSpPr>
          <p:cNvPr id="23" name="TextBox 22"/>
          <p:cNvSpPr txBox="1"/>
          <p:nvPr/>
        </p:nvSpPr>
        <p:spPr>
          <a:xfrm>
            <a:off x="3537127" y="3246120"/>
            <a:ext cx="2238679" cy="365760"/>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 new rows</a:t>
            </a:r>
          </a:p>
        </p:txBody>
      </p:sp>
      <p:sp>
        <p:nvSpPr>
          <p:cNvPr id="24" name="Right Arrow 23"/>
          <p:cNvSpPr/>
          <p:nvPr/>
        </p:nvSpPr>
        <p:spPr>
          <a:xfrm>
            <a:off x="5922111" y="2606040"/>
            <a:ext cx="347472" cy="182880"/>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324447" y="2148840"/>
            <a:ext cx="2421559" cy="15544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7178611" y="2340864"/>
            <a:ext cx="713232" cy="713232"/>
          </a:xfrm>
          <a:prstGeom prst="ellipse">
            <a:avLst/>
          </a:prstGeom>
          <a:solidFill>
            <a:srgbClr val="C42618"/>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078027" y="2395728"/>
            <a:ext cx="914400" cy="640080"/>
          </a:xfrm>
          <a:prstGeom prst="rect">
            <a:avLst/>
          </a:prstGeom>
          <a:noFill/>
        </p:spPr>
        <p:txBody>
          <a:bodyPr wrap="square" anchor="ctr" lIns="0" rIns="0" tIns="0" bIns="0">
            <a:spAutoFit/>
          </a:bodyPr>
          <a:lstStyle/>
          <a:p>
            <a:pPr algn="ctr">
              <a:lnSpc>
                <a:spcPct val="100000"/>
              </a:lnSpc>
              <a:spcBef>
                <a:spcPts val="0"/>
              </a:spcBef>
              <a:spcAft>
                <a:spcPts val="200"/>
              </a:spcAft>
            </a:pPr>
            <a:r>
              <a:rPr sz="2200" b="1" i="0">
                <a:solidFill>
                  <a:srgbClr val="FFFFFF"/>
                </a:solidFill>
                <a:latin typeface="Segoe UI"/>
              </a:rPr>
              <a:t>v2</a:t>
            </a:r>
          </a:p>
        </p:txBody>
      </p:sp>
      <p:sp>
        <p:nvSpPr>
          <p:cNvPr id="28" name="TextBox 27"/>
          <p:cNvSpPr txBox="1"/>
          <p:nvPr/>
        </p:nvSpPr>
        <p:spPr>
          <a:xfrm>
            <a:off x="6415887" y="3246120"/>
            <a:ext cx="2238679" cy="365760"/>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Bad update</a:t>
            </a:r>
          </a:p>
        </p:txBody>
      </p:sp>
      <p:sp>
        <p:nvSpPr>
          <p:cNvPr id="29" name="Right Arrow 28"/>
          <p:cNvSpPr/>
          <p:nvPr/>
        </p:nvSpPr>
        <p:spPr>
          <a:xfrm>
            <a:off x="8800871" y="2606040"/>
            <a:ext cx="347472" cy="182880"/>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9203207" y="2148840"/>
            <a:ext cx="2421559" cy="15544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10057371" y="2340864"/>
            <a:ext cx="713232" cy="713232"/>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956787" y="2395728"/>
            <a:ext cx="914400" cy="640080"/>
          </a:xfrm>
          <a:prstGeom prst="rect">
            <a:avLst/>
          </a:prstGeom>
          <a:noFill/>
        </p:spPr>
        <p:txBody>
          <a:bodyPr wrap="square" anchor="ctr" lIns="0" rIns="0" tIns="0" bIns="0">
            <a:spAutoFit/>
          </a:bodyPr>
          <a:lstStyle/>
          <a:p>
            <a:pPr algn="ctr">
              <a:lnSpc>
                <a:spcPct val="100000"/>
              </a:lnSpc>
              <a:spcBef>
                <a:spcPts val="0"/>
              </a:spcBef>
              <a:spcAft>
                <a:spcPts val="200"/>
              </a:spcAft>
            </a:pPr>
            <a:r>
              <a:rPr sz="2200" b="1" i="0">
                <a:solidFill>
                  <a:srgbClr val="FFFFFF"/>
                </a:solidFill>
                <a:latin typeface="Segoe UI"/>
              </a:rPr>
              <a:t>v3</a:t>
            </a:r>
          </a:p>
        </p:txBody>
      </p:sp>
      <p:sp>
        <p:nvSpPr>
          <p:cNvPr id="33" name="TextBox 32"/>
          <p:cNvSpPr txBox="1"/>
          <p:nvPr/>
        </p:nvSpPr>
        <p:spPr>
          <a:xfrm>
            <a:off x="9294647" y="3246120"/>
            <a:ext cx="2238679" cy="365760"/>
          </a:xfrm>
          <a:prstGeom prst="rect">
            <a:avLst/>
          </a:prstGeom>
          <a:noFill/>
        </p:spPr>
        <p:txBody>
          <a:bodyPr wrap="square" anchor="t" lIns="0" rIns="0" tIns="0" bIns="0">
            <a:spAutoFit/>
          </a:bodyPr>
          <a:lstStyle/>
          <a:p>
            <a:pPr algn="ctr">
              <a:lnSpc>
                <a:spcPct val="100000"/>
              </a:lnSpc>
              <a:spcBef>
                <a:spcPts val="0"/>
              </a:spcBef>
              <a:spcAft>
                <a:spcPts val="200"/>
              </a:spcAft>
            </a:pPr>
            <a:r>
              <a:rPr sz="1150" b="1" i="0">
                <a:solidFill>
                  <a:srgbClr val="1B3139"/>
                </a:solidFill>
                <a:latin typeface="Segoe UI"/>
              </a:rPr>
              <a:t>Rollback to v1</a:t>
            </a:r>
          </a:p>
        </p:txBody>
      </p:sp>
      <p:sp>
        <p:nvSpPr>
          <p:cNvPr id="34" name="Rounded Rectangle 33"/>
          <p:cNvSpPr/>
          <p:nvPr/>
        </p:nvSpPr>
        <p:spPr>
          <a:xfrm>
            <a:off x="3354247" y="3977639"/>
            <a:ext cx="5483199" cy="548640"/>
          </a:xfrm>
          <a:prstGeom prst="roundRect">
            <a:avLst>
              <a:gd name="adj" fmla="val 30000"/>
            </a:avLst>
          </a:prstGeom>
          <a:noFill/>
          <a:ln w="20320">
            <a:solidFill>
              <a:srgbClr val="00A97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354247" y="3977639"/>
            <a:ext cx="5483199" cy="548640"/>
          </a:xfrm>
          <a:prstGeom prst="rect">
            <a:avLst/>
          </a:prstGeom>
          <a:noFill/>
        </p:spPr>
        <p:txBody>
          <a:bodyPr wrap="square" anchor="ctr" lIns="0" rIns="0" tIns="0" bIns="0">
            <a:spAutoFit/>
          </a:bodyPr>
          <a:lstStyle/>
          <a:p>
            <a:pPr algn="ctr">
              <a:lnSpc>
                <a:spcPct val="100000"/>
              </a:lnSpc>
              <a:spcBef>
                <a:spcPts val="0"/>
              </a:spcBef>
              <a:spcAft>
                <a:spcPts val="200"/>
              </a:spcAft>
            </a:pPr>
            <a:r>
              <a:rPr sz="1150" b="1" i="0">
                <a:solidFill>
                  <a:srgbClr val="057A55"/>
                </a:solidFill>
                <a:latin typeface="Segoe UI"/>
              </a:rPr>
              <a:t>↶  Restore any prior version in one command</a:t>
            </a:r>
          </a:p>
        </p:txBody>
      </p:sp>
      <p:sp>
        <p:nvSpPr>
          <p:cNvPr id="36" name="Rounded Rectangle 35"/>
          <p:cNvSpPr/>
          <p:nvPr/>
        </p:nvSpPr>
        <p:spPr>
          <a:xfrm>
            <a:off x="566928" y="4846320"/>
            <a:ext cx="11057839" cy="86868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14400" y="4846320"/>
            <a:ext cx="10362895" cy="86868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Every commit is a version.  </a:t>
            </a:r>
            <a:r>
              <a:rPr sz="1250" b="0" i="0">
                <a:solidFill>
                  <a:srgbClr val="465257"/>
                </a:solidFill>
                <a:latin typeface="Segoe UI"/>
              </a:rPr>
              <a:t>Query the table “AS OF” a timestamp or version for audits, reproducible ML and debugging — or instantly RESTORE after a bad write. Mistakes become undoable.</a:t>
            </a:r>
          </a:p>
        </p:txBody>
      </p:sp>
      <p:sp>
        <p:nvSpPr>
          <p:cNvPr id="38" name="TextBox 37"/>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39" name="TextBox 38"/>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HOW IT WORKS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Schema Enforcement</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56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Fundamentals</a:t>
            </a:r>
          </a:p>
        </p:txBody>
      </p:sp>
      <p:sp>
        <p:nvSpPr>
          <p:cNvPr id="11" name="Oval 10"/>
          <p:cNvSpPr/>
          <p:nvPr/>
        </p:nvSpPr>
        <p:spPr>
          <a:xfrm>
            <a:off x="9283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Internals</a:t>
            </a:r>
          </a:p>
        </p:txBody>
      </p:sp>
      <p:sp>
        <p:nvSpPr>
          <p:cNvPr id="13" name="Oval 12"/>
          <p:cNvSpPr/>
          <p:nvPr/>
        </p:nvSpPr>
        <p:spPr>
          <a:xfrm>
            <a:off x="10442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Platform</a:t>
            </a:r>
          </a:p>
        </p:txBody>
      </p:sp>
      <p:sp>
        <p:nvSpPr>
          <p:cNvPr id="15" name="Rounded Rectangle 14"/>
          <p:cNvSpPr/>
          <p:nvPr/>
        </p:nvSpPr>
        <p:spPr>
          <a:xfrm>
            <a:off x="566928" y="1874519"/>
            <a:ext cx="5208879" cy="32004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1874519"/>
            <a:ext cx="5208879" cy="566928"/>
          </a:xfrm>
          <a:prstGeom prst="rect">
            <a:avLst/>
          </a:prstGeom>
          <a:solidFill>
            <a:srgbClr val="C426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Isosceles Triangle 16"/>
          <p:cNvSpPr/>
          <p:nvPr/>
        </p:nvSpPr>
        <p:spPr>
          <a:xfrm>
            <a:off x="822960" y="2021189"/>
            <a:ext cx="310896" cy="273588"/>
          </a:xfrm>
          <a:prstGeom prst="triangle">
            <a:avLst/>
          </a:prstGeom>
          <a:noFill/>
          <a:ln w="3022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962863" y="2133112"/>
            <a:ext cx="31089" cy="8083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965194" y="2231821"/>
            <a:ext cx="26426" cy="264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316736" y="1874519"/>
            <a:ext cx="4385919" cy="566928"/>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FFFFFF"/>
                </a:solidFill>
                <a:latin typeface="Segoe UI Semibold"/>
              </a:rPr>
              <a:t>Without Delta</a:t>
            </a:r>
          </a:p>
        </p:txBody>
      </p:sp>
      <p:sp>
        <p:nvSpPr>
          <p:cNvPr id="21" name="TextBox 20"/>
          <p:cNvSpPr txBox="1"/>
          <p:nvPr/>
        </p:nvSpPr>
        <p:spPr>
          <a:xfrm>
            <a:off x="914400" y="2660903"/>
            <a:ext cx="4550511" cy="2286000"/>
          </a:xfrm>
          <a:prstGeom prst="rect">
            <a:avLst/>
          </a:prstGeom>
          <a:noFill/>
        </p:spPr>
        <p:txBody>
          <a:bodyPr wrap="square" anchor="t" lIns="0" rIns="0" tIns="0" bIns="0">
            <a:spAutoFit/>
          </a:bodyPr>
          <a:lstStyle/>
          <a:p>
            <a:pPr marL="274320" indent="-274320">
              <a:lnSpc>
                <a:spcPct val="112000"/>
              </a:lnSpc>
              <a:spcBef>
                <a:spcPts val="0"/>
              </a:spcBef>
              <a:spcAft>
                <a:spcPts val="1000"/>
              </a:spcAft>
            </a:pPr>
            <a:r>
              <a:rPr sz="1250" b="1">
                <a:solidFill>
                  <a:srgbClr val="C42618"/>
                </a:solidFill>
                <a:latin typeface="Segoe UI"/>
              </a:rPr>
              <a:t>▪   </a:t>
            </a:r>
            <a:r>
              <a:rPr sz="1250">
                <a:solidFill>
                  <a:srgbClr val="465257"/>
                </a:solidFill>
                <a:latin typeface="Segoe UI"/>
              </a:rPr>
              <a:t>Bad / mistyped data written silently</a:t>
            </a:r>
          </a:p>
          <a:p>
            <a:pPr marL="274320" indent="-274320">
              <a:lnSpc>
                <a:spcPct val="112000"/>
              </a:lnSpc>
              <a:spcBef>
                <a:spcPts val="0"/>
              </a:spcBef>
              <a:spcAft>
                <a:spcPts val="1000"/>
              </a:spcAft>
            </a:pPr>
            <a:r>
              <a:rPr sz="1250" b="1">
                <a:solidFill>
                  <a:srgbClr val="C42618"/>
                </a:solidFill>
                <a:latin typeface="Segoe UI"/>
              </a:rPr>
              <a:t>▪   </a:t>
            </a:r>
            <a:r>
              <a:rPr sz="1250">
                <a:solidFill>
                  <a:srgbClr val="465257"/>
                </a:solidFill>
                <a:latin typeface="Segoe UI"/>
              </a:rPr>
              <a:t>Schema drifts with every job</a:t>
            </a:r>
          </a:p>
          <a:p>
            <a:pPr marL="274320" indent="-274320">
              <a:lnSpc>
                <a:spcPct val="112000"/>
              </a:lnSpc>
              <a:spcBef>
                <a:spcPts val="0"/>
              </a:spcBef>
              <a:spcAft>
                <a:spcPts val="1000"/>
              </a:spcAft>
            </a:pPr>
            <a:r>
              <a:rPr sz="1250" b="1">
                <a:solidFill>
                  <a:srgbClr val="C42618"/>
                </a:solidFill>
                <a:latin typeface="Segoe UI"/>
              </a:rPr>
              <a:t>▪   </a:t>
            </a:r>
            <a:r>
              <a:rPr sz="1250">
                <a:solidFill>
                  <a:srgbClr val="465257"/>
                </a:solidFill>
                <a:latin typeface="Segoe UI"/>
              </a:rPr>
              <a:t>Downstream reads break unexpectedly</a:t>
            </a:r>
          </a:p>
          <a:p>
            <a:pPr marL="274320" indent="-274320">
              <a:lnSpc>
                <a:spcPct val="112000"/>
              </a:lnSpc>
              <a:spcBef>
                <a:spcPts val="0"/>
              </a:spcBef>
              <a:spcAft>
                <a:spcPts val="1000"/>
              </a:spcAft>
            </a:pPr>
            <a:r>
              <a:rPr sz="1250" b="1">
                <a:solidFill>
                  <a:srgbClr val="C42618"/>
                </a:solidFill>
                <a:latin typeface="Segoe UI"/>
              </a:rPr>
              <a:t>▪   </a:t>
            </a:r>
            <a:r>
              <a:rPr sz="1250">
                <a:solidFill>
                  <a:srgbClr val="465257"/>
                </a:solidFill>
                <a:latin typeface="Segoe UI"/>
              </a:rPr>
              <a:t>No guardrails — garbage in, garbage out</a:t>
            </a:r>
          </a:p>
        </p:txBody>
      </p:sp>
      <p:sp>
        <p:nvSpPr>
          <p:cNvPr id="22" name="Rounded Rectangle 21"/>
          <p:cNvSpPr/>
          <p:nvPr/>
        </p:nvSpPr>
        <p:spPr>
          <a:xfrm>
            <a:off x="6415887" y="1874519"/>
            <a:ext cx="5208879" cy="320040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415887" y="1874519"/>
            <a:ext cx="5208879" cy="566928"/>
          </a:xfrm>
          <a:prstGeom prst="rect">
            <a:avLst/>
          </a:prstGeom>
          <a:solidFill>
            <a:srgbClr val="057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rot="2700000">
            <a:off x="6740316" y="2164201"/>
            <a:ext cx="93268" cy="4974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rot="18480000">
            <a:off x="6808713" y="2095804"/>
            <a:ext cx="180319" cy="4974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165695" y="1874519"/>
            <a:ext cx="4385919" cy="566928"/>
          </a:xfrm>
          <a:prstGeom prst="rect">
            <a:avLst/>
          </a:prstGeom>
          <a:noFill/>
        </p:spPr>
        <p:txBody>
          <a:bodyPr wrap="square" anchor="ctr" lIns="0" rIns="0" tIns="0" bIns="0">
            <a:spAutoFit/>
          </a:bodyPr>
          <a:lstStyle/>
          <a:p>
            <a:pPr algn="l">
              <a:lnSpc>
                <a:spcPct val="100000"/>
              </a:lnSpc>
              <a:spcBef>
                <a:spcPts val="0"/>
              </a:spcBef>
              <a:spcAft>
                <a:spcPts val="200"/>
              </a:spcAft>
            </a:pPr>
            <a:r>
              <a:rPr sz="1300" b="1" i="0">
                <a:solidFill>
                  <a:srgbClr val="FFFFFF"/>
                </a:solidFill>
                <a:latin typeface="Segoe UI Semibold"/>
              </a:rPr>
              <a:t>With Delta</a:t>
            </a:r>
          </a:p>
        </p:txBody>
      </p:sp>
      <p:sp>
        <p:nvSpPr>
          <p:cNvPr id="27" name="TextBox 26"/>
          <p:cNvSpPr txBox="1"/>
          <p:nvPr/>
        </p:nvSpPr>
        <p:spPr>
          <a:xfrm>
            <a:off x="6763359" y="2660903"/>
            <a:ext cx="4550511" cy="2286000"/>
          </a:xfrm>
          <a:prstGeom prst="rect">
            <a:avLst/>
          </a:prstGeom>
          <a:noFill/>
        </p:spPr>
        <p:txBody>
          <a:bodyPr wrap="square" anchor="t" lIns="0" rIns="0" tIns="0" bIns="0">
            <a:spAutoFit/>
          </a:bodyPr>
          <a:lstStyle/>
          <a:p>
            <a:pPr marL="274320" indent="-274320">
              <a:lnSpc>
                <a:spcPct val="112000"/>
              </a:lnSpc>
              <a:spcBef>
                <a:spcPts val="0"/>
              </a:spcBef>
              <a:spcAft>
                <a:spcPts val="1000"/>
              </a:spcAft>
            </a:pPr>
            <a:r>
              <a:rPr sz="1250" b="1">
                <a:solidFill>
                  <a:srgbClr val="00A972"/>
                </a:solidFill>
                <a:latin typeface="Segoe UI"/>
              </a:rPr>
              <a:t>▪   </a:t>
            </a:r>
            <a:r>
              <a:rPr sz="1250">
                <a:solidFill>
                  <a:srgbClr val="D6DEE1"/>
                </a:solidFill>
                <a:latin typeface="Segoe UI"/>
              </a:rPr>
              <a:t>Writes validated against the schema</a:t>
            </a:r>
          </a:p>
          <a:p>
            <a:pPr marL="274320" indent="-274320">
              <a:lnSpc>
                <a:spcPct val="112000"/>
              </a:lnSpc>
              <a:spcBef>
                <a:spcPts val="0"/>
              </a:spcBef>
              <a:spcAft>
                <a:spcPts val="1000"/>
              </a:spcAft>
            </a:pPr>
            <a:r>
              <a:rPr sz="1250" b="1">
                <a:solidFill>
                  <a:srgbClr val="00A972"/>
                </a:solidFill>
                <a:latin typeface="Segoe UI"/>
              </a:rPr>
              <a:t>▪   </a:t>
            </a:r>
            <a:r>
              <a:rPr sz="1250">
                <a:solidFill>
                  <a:srgbClr val="D6DEE1"/>
                </a:solidFill>
                <a:latin typeface="Segoe UI"/>
              </a:rPr>
              <a:t>Mismatched data is rejected on write</a:t>
            </a:r>
          </a:p>
          <a:p>
            <a:pPr marL="274320" indent="-274320">
              <a:lnSpc>
                <a:spcPct val="112000"/>
              </a:lnSpc>
              <a:spcBef>
                <a:spcPts val="0"/>
              </a:spcBef>
              <a:spcAft>
                <a:spcPts val="1000"/>
              </a:spcAft>
            </a:pPr>
            <a:r>
              <a:rPr sz="1250" b="1">
                <a:solidFill>
                  <a:srgbClr val="00A972"/>
                </a:solidFill>
                <a:latin typeface="Segoe UI"/>
              </a:rPr>
              <a:t>▪   </a:t>
            </a:r>
            <a:r>
              <a:rPr sz="1250">
                <a:solidFill>
                  <a:srgbClr val="D6DEE1"/>
                </a:solidFill>
                <a:latin typeface="Segoe UI"/>
              </a:rPr>
              <a:t>Tables stay clean &amp; predictable</a:t>
            </a:r>
          </a:p>
          <a:p>
            <a:pPr marL="274320" indent="-274320">
              <a:lnSpc>
                <a:spcPct val="112000"/>
              </a:lnSpc>
              <a:spcBef>
                <a:spcPts val="0"/>
              </a:spcBef>
              <a:spcAft>
                <a:spcPts val="1000"/>
              </a:spcAft>
            </a:pPr>
            <a:r>
              <a:rPr sz="1250" b="1">
                <a:solidFill>
                  <a:srgbClr val="00A972"/>
                </a:solidFill>
                <a:latin typeface="Segoe UI"/>
              </a:rPr>
              <a:t>▪   </a:t>
            </a:r>
            <a:r>
              <a:rPr sz="1250">
                <a:solidFill>
                  <a:srgbClr val="D6DEE1"/>
                </a:solidFill>
                <a:latin typeface="Segoe UI"/>
              </a:rPr>
              <a:t>Quality enforced automatically</a:t>
            </a:r>
          </a:p>
        </p:txBody>
      </p:sp>
      <p:sp>
        <p:nvSpPr>
          <p:cNvPr id="28" name="Oval 27"/>
          <p:cNvSpPr/>
          <p:nvPr/>
        </p:nvSpPr>
        <p:spPr>
          <a:xfrm>
            <a:off x="5757519" y="3136391"/>
            <a:ext cx="676656" cy="676656"/>
          </a:xfrm>
          <a:prstGeom prst="ellipse">
            <a:avLst/>
          </a:prstGeom>
          <a:solidFill>
            <a:srgbClr val="FF3621"/>
          </a:solidFill>
          <a:ln w="3810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730087" y="3273551"/>
            <a:ext cx="731520" cy="402336"/>
          </a:xfrm>
          <a:prstGeom prst="rect">
            <a:avLst/>
          </a:prstGeom>
          <a:noFill/>
        </p:spPr>
        <p:txBody>
          <a:bodyPr wrap="square" anchor="ctr" lIns="0" rIns="0" tIns="0" bIns="0">
            <a:spAutoFit/>
          </a:bodyPr>
          <a:lstStyle/>
          <a:p>
            <a:pPr algn="ctr">
              <a:lnSpc>
                <a:spcPct val="100000"/>
              </a:lnSpc>
              <a:spcBef>
                <a:spcPts val="0"/>
              </a:spcBef>
              <a:spcAft>
                <a:spcPts val="200"/>
              </a:spcAft>
            </a:pPr>
            <a:r>
              <a:rPr sz="1600" b="1" i="0">
                <a:solidFill>
                  <a:srgbClr val="FFFFFF"/>
                </a:solidFill>
                <a:latin typeface="Segoe UI"/>
              </a:rPr>
              <a:t>VS</a:t>
            </a:r>
          </a:p>
        </p:txBody>
      </p:sp>
      <p:sp>
        <p:nvSpPr>
          <p:cNvPr id="30" name="Rounded Rectangle 29"/>
          <p:cNvSpPr/>
          <p:nvPr/>
        </p:nvSpPr>
        <p:spPr>
          <a:xfrm>
            <a:off x="566928" y="5349240"/>
            <a:ext cx="11057839" cy="77724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4400" y="5349240"/>
            <a:ext cx="10362895" cy="77724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Schema enforcement is the gatekeeper.  </a:t>
            </a:r>
            <a:r>
              <a:rPr sz="1250" b="0" i="0">
                <a:solidFill>
                  <a:srgbClr val="465257"/>
                </a:solidFill>
                <a:latin typeface="Segoe UI"/>
              </a:rPr>
              <a:t>Delta refuses writes that don't match the table's schema — preventing the silent corruption that turns lakes into swamps.</a:t>
            </a:r>
          </a:p>
        </p:txBody>
      </p:sp>
      <p:sp>
        <p:nvSpPr>
          <p:cNvPr id="32" name="TextBox 31"/>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33" name="TextBox 32"/>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HOW IT WORKS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Schema Evolution</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56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Fundamentals</a:t>
            </a:r>
          </a:p>
        </p:txBody>
      </p:sp>
      <p:sp>
        <p:nvSpPr>
          <p:cNvPr id="11" name="Oval 10"/>
          <p:cNvSpPr/>
          <p:nvPr/>
        </p:nvSpPr>
        <p:spPr>
          <a:xfrm>
            <a:off x="9283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Internals</a:t>
            </a:r>
          </a:p>
        </p:txBody>
      </p:sp>
      <p:sp>
        <p:nvSpPr>
          <p:cNvPr id="13" name="Oval 12"/>
          <p:cNvSpPr/>
          <p:nvPr/>
        </p:nvSpPr>
        <p:spPr>
          <a:xfrm>
            <a:off x="10442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Platform</a:t>
            </a:r>
          </a:p>
        </p:txBody>
      </p:sp>
      <p:sp>
        <p:nvSpPr>
          <p:cNvPr id="15" name="Rounded Rectangle 14"/>
          <p:cNvSpPr/>
          <p:nvPr/>
        </p:nvSpPr>
        <p:spPr>
          <a:xfrm>
            <a:off x="566928" y="2103120"/>
            <a:ext cx="2490139" cy="21945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66928" y="2103120"/>
            <a:ext cx="2490139" cy="109728"/>
          </a:xfrm>
          <a:prstGeom prst="roundRect">
            <a:avLst>
              <a:gd name="adj" fmla="val 50000"/>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373085" y="2322575"/>
            <a:ext cx="877824" cy="877824"/>
          </a:xfrm>
          <a:prstGeom prst="ellipse">
            <a:avLst/>
          </a:prstGeom>
          <a:solidFill>
            <a:srgbClr val="27444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1664449" y="2613939"/>
            <a:ext cx="125500" cy="1255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834045" y="2613939"/>
            <a:ext cx="125500" cy="1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Diamond 19"/>
          <p:cNvSpPr/>
          <p:nvPr/>
        </p:nvSpPr>
        <p:spPr>
          <a:xfrm>
            <a:off x="1664449" y="2783535"/>
            <a:ext cx="125500" cy="125500"/>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834045" y="2783535"/>
            <a:ext cx="125500" cy="125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25632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1</a:t>
            </a:r>
          </a:p>
        </p:txBody>
      </p:sp>
      <p:sp>
        <p:nvSpPr>
          <p:cNvPr id="23" name="TextBox 22"/>
          <p:cNvSpPr txBox="1"/>
          <p:nvPr/>
        </p:nvSpPr>
        <p:spPr>
          <a:xfrm>
            <a:off x="676656" y="3236976"/>
            <a:ext cx="227068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New Column</a:t>
            </a:r>
          </a:p>
        </p:txBody>
      </p:sp>
      <p:sp>
        <p:nvSpPr>
          <p:cNvPr id="24" name="TextBox 23"/>
          <p:cNvSpPr txBox="1"/>
          <p:nvPr/>
        </p:nvSpPr>
        <p:spPr>
          <a:xfrm>
            <a:off x="713232" y="3694176"/>
            <a:ext cx="2197531" cy="566927"/>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Source data arrives with a new, intended field.</a:t>
            </a:r>
          </a:p>
        </p:txBody>
      </p:sp>
      <p:sp>
        <p:nvSpPr>
          <p:cNvPr id="25" name="Right Arrow 24"/>
          <p:cNvSpPr/>
          <p:nvPr/>
        </p:nvSpPr>
        <p:spPr>
          <a:xfrm>
            <a:off x="3093643" y="311810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3422827" y="2103120"/>
            <a:ext cx="2490139" cy="21945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3422827" y="2103120"/>
            <a:ext cx="2490139" cy="10972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4228985" y="2322575"/>
            <a:ext cx="877824" cy="877824"/>
          </a:xfrm>
          <a:prstGeom prst="ellipse">
            <a:avLst/>
          </a:prstGeom>
          <a:solidFill>
            <a:srgbClr val="F59E0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Pentagon 28"/>
          <p:cNvSpPr/>
          <p:nvPr/>
        </p:nvSpPr>
        <p:spPr>
          <a:xfrm rot="5400000">
            <a:off x="4498302" y="2567664"/>
            <a:ext cx="339191" cy="371495"/>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54191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2</a:t>
            </a:r>
          </a:p>
        </p:txBody>
      </p:sp>
      <p:sp>
        <p:nvSpPr>
          <p:cNvPr id="31" name="TextBox 30"/>
          <p:cNvSpPr txBox="1"/>
          <p:nvPr/>
        </p:nvSpPr>
        <p:spPr>
          <a:xfrm>
            <a:off x="3532555" y="3236976"/>
            <a:ext cx="227068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Validation</a:t>
            </a:r>
          </a:p>
        </p:txBody>
      </p:sp>
      <p:sp>
        <p:nvSpPr>
          <p:cNvPr id="32" name="TextBox 31"/>
          <p:cNvSpPr txBox="1"/>
          <p:nvPr/>
        </p:nvSpPr>
        <p:spPr>
          <a:xfrm>
            <a:off x="3569131" y="3694176"/>
            <a:ext cx="2197531" cy="566927"/>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Delta checks the change is safe &amp; explicit.</a:t>
            </a:r>
          </a:p>
        </p:txBody>
      </p:sp>
      <p:sp>
        <p:nvSpPr>
          <p:cNvPr id="33" name="Right Arrow 32"/>
          <p:cNvSpPr/>
          <p:nvPr/>
        </p:nvSpPr>
        <p:spPr>
          <a:xfrm>
            <a:off x="5949543" y="311810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6278727" y="2103120"/>
            <a:ext cx="2490139" cy="21945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6278727" y="2103120"/>
            <a:ext cx="2490139" cy="109728"/>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7084885" y="2322575"/>
            <a:ext cx="877824" cy="877824"/>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7" name="Connector 36"/>
          <p:cNvCxnSpPr/>
          <p:nvPr/>
        </p:nvCxnSpPr>
        <p:spPr>
          <a:xfrm>
            <a:off x="7426885" y="2591892"/>
            <a:ext cx="0" cy="339191"/>
          </a:xfrm>
          <a:prstGeom prst="line">
            <a:avLst/>
          </a:prstGeom>
          <a:ln w="33649">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7426885" y="2591892"/>
            <a:ext cx="201900" cy="169595"/>
          </a:xfrm>
          <a:prstGeom prst="line">
            <a:avLst/>
          </a:prstGeom>
          <a:ln w="33649">
            <a:solidFill>
              <a:srgbClr val="FFFFFF"/>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7374391" y="2539398"/>
            <a:ext cx="104987" cy="10498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7374391" y="2878589"/>
            <a:ext cx="104987" cy="10498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7576291" y="2539398"/>
            <a:ext cx="104987" cy="10498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82750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3</a:t>
            </a:r>
          </a:p>
        </p:txBody>
      </p:sp>
      <p:sp>
        <p:nvSpPr>
          <p:cNvPr id="43" name="TextBox 42"/>
          <p:cNvSpPr txBox="1"/>
          <p:nvPr/>
        </p:nvSpPr>
        <p:spPr>
          <a:xfrm>
            <a:off x="6388455" y="3236976"/>
            <a:ext cx="227068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Evolution</a:t>
            </a:r>
          </a:p>
        </p:txBody>
      </p:sp>
      <p:sp>
        <p:nvSpPr>
          <p:cNvPr id="44" name="TextBox 43"/>
          <p:cNvSpPr txBox="1"/>
          <p:nvPr/>
        </p:nvSpPr>
        <p:spPr>
          <a:xfrm>
            <a:off x="6425031" y="3694176"/>
            <a:ext cx="2197531" cy="566927"/>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mergeSchema adds the column intentionally.</a:t>
            </a:r>
          </a:p>
        </p:txBody>
      </p:sp>
      <p:sp>
        <p:nvSpPr>
          <p:cNvPr id="45" name="Right Arrow 44"/>
          <p:cNvSpPr/>
          <p:nvPr/>
        </p:nvSpPr>
        <p:spPr>
          <a:xfrm>
            <a:off x="8805443" y="311810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9134627" y="2103120"/>
            <a:ext cx="2490139" cy="21945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a:off x="9134627" y="2103120"/>
            <a:ext cx="2490139" cy="109728"/>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Oval 47"/>
          <p:cNvSpPr/>
          <p:nvPr/>
        </p:nvSpPr>
        <p:spPr>
          <a:xfrm>
            <a:off x="9940785" y="2322575"/>
            <a:ext cx="877824" cy="877824"/>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ounded Rectangle 48"/>
          <p:cNvSpPr/>
          <p:nvPr/>
        </p:nvSpPr>
        <p:spPr>
          <a:xfrm rot="2700000">
            <a:off x="10266633" y="2769563"/>
            <a:ext cx="121139" cy="6460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rot="18480000">
            <a:off x="10355469" y="2680728"/>
            <a:ext cx="234203" cy="6460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111309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4</a:t>
            </a:r>
          </a:p>
        </p:txBody>
      </p:sp>
      <p:sp>
        <p:nvSpPr>
          <p:cNvPr id="52" name="TextBox 51"/>
          <p:cNvSpPr txBox="1"/>
          <p:nvPr/>
        </p:nvSpPr>
        <p:spPr>
          <a:xfrm>
            <a:off x="9244355" y="3236976"/>
            <a:ext cx="227068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Updated Table</a:t>
            </a:r>
          </a:p>
        </p:txBody>
      </p:sp>
      <p:sp>
        <p:nvSpPr>
          <p:cNvPr id="53" name="TextBox 52"/>
          <p:cNvSpPr txBox="1"/>
          <p:nvPr/>
        </p:nvSpPr>
        <p:spPr>
          <a:xfrm>
            <a:off x="9280931" y="3694176"/>
            <a:ext cx="2197531" cy="566927"/>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Schema evolves — no pipeline rewrite needed.</a:t>
            </a:r>
          </a:p>
        </p:txBody>
      </p:sp>
      <p:sp>
        <p:nvSpPr>
          <p:cNvPr id="54" name="Rounded Rectangle 53"/>
          <p:cNvSpPr/>
          <p:nvPr/>
        </p:nvSpPr>
        <p:spPr>
          <a:xfrm>
            <a:off x="566928" y="4663440"/>
            <a:ext cx="11057839" cy="91440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914400" y="4663440"/>
            <a:ext cx="10362895" cy="91440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Enforcement and evolution work together.  </a:t>
            </a:r>
            <a:r>
              <a:rPr sz="1250" b="0" i="0">
                <a:solidFill>
                  <a:srgbClr val="465257"/>
                </a:solidFill>
                <a:latin typeface="Segoe UI"/>
              </a:rPr>
              <a:t>Enforcement blocks </a:t>
            </a:r>
            <a:r>
              <a:rPr sz="1250" b="1" i="0">
                <a:solidFill>
                  <a:srgbClr val="FF3621"/>
                </a:solidFill>
                <a:latin typeface="Segoe UI"/>
              </a:rPr>
              <a:t>accidental</a:t>
            </a:r>
            <a:r>
              <a:rPr sz="1250" b="0" i="0">
                <a:solidFill>
                  <a:srgbClr val="465257"/>
                </a:solidFill>
                <a:latin typeface="Segoe UI"/>
              </a:rPr>
              <a:t> changes; evolution allows </a:t>
            </a:r>
            <a:r>
              <a:rPr sz="1250" b="1" i="0">
                <a:solidFill>
                  <a:srgbClr val="057A55"/>
                </a:solidFill>
                <a:latin typeface="Segoe UI"/>
              </a:rPr>
              <a:t>intentional</a:t>
            </a:r>
            <a:r>
              <a:rPr sz="1250" b="0" i="0">
                <a:solidFill>
                  <a:srgbClr val="465257"/>
                </a:solidFill>
                <a:latin typeface="Segoe UI"/>
              </a:rPr>
              <a:t> ones — so tables adapt safely as the business changes.</a:t>
            </a:r>
          </a:p>
        </p:txBody>
      </p:sp>
      <p:sp>
        <p:nvSpPr>
          <p:cNvPr id="56" name="TextBox 55"/>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7" name="TextBox 56"/>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HOW IT WORKS</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Unified Batch + Streaming</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56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Fundamentals</a:t>
            </a:r>
          </a:p>
        </p:txBody>
      </p:sp>
      <p:sp>
        <p:nvSpPr>
          <p:cNvPr id="11" name="Oval 10"/>
          <p:cNvSpPr/>
          <p:nvPr/>
        </p:nvSpPr>
        <p:spPr>
          <a:xfrm>
            <a:off x="9283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Internals</a:t>
            </a:r>
          </a:p>
        </p:txBody>
      </p:sp>
      <p:sp>
        <p:nvSpPr>
          <p:cNvPr id="13" name="Oval 12"/>
          <p:cNvSpPr/>
          <p:nvPr/>
        </p:nvSpPr>
        <p:spPr>
          <a:xfrm>
            <a:off x="10442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Platform</a:t>
            </a:r>
          </a:p>
        </p:txBody>
      </p:sp>
      <p:sp>
        <p:nvSpPr>
          <p:cNvPr id="15" name="Rounded Rectangle 14"/>
          <p:cNvSpPr/>
          <p:nvPr/>
        </p:nvSpPr>
        <p:spPr>
          <a:xfrm>
            <a:off x="566928" y="2148840"/>
            <a:ext cx="3200400" cy="1143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2148840"/>
            <a:ext cx="91440" cy="1143000"/>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813815" y="2414016"/>
            <a:ext cx="603504" cy="603504"/>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Can 17"/>
          <p:cNvSpPr/>
          <p:nvPr/>
        </p:nvSpPr>
        <p:spPr>
          <a:xfrm>
            <a:off x="1001747" y="2576962"/>
            <a:ext cx="227641" cy="277611"/>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572768" y="2331720"/>
            <a:ext cx="2103120" cy="365760"/>
          </a:xfrm>
          <a:prstGeom prst="rect">
            <a:avLst/>
          </a:prstGeom>
          <a:noFill/>
        </p:spPr>
        <p:txBody>
          <a:bodyPr wrap="square" anchor="t" lIns="0" rIns="0" tIns="0" bIns="0">
            <a:spAutoFit/>
          </a:bodyPr>
          <a:lstStyle/>
          <a:p>
            <a:pPr algn="l">
              <a:lnSpc>
                <a:spcPct val="95000"/>
              </a:lnSpc>
              <a:spcBef>
                <a:spcPts val="0"/>
              </a:spcBef>
              <a:spcAft>
                <a:spcPts val="200"/>
              </a:spcAft>
            </a:pPr>
            <a:r>
              <a:rPr sz="1250" b="1" i="0">
                <a:solidFill>
                  <a:srgbClr val="1B3139"/>
                </a:solidFill>
                <a:latin typeface="Segoe UI"/>
              </a:rPr>
              <a:t>Batch Sources</a:t>
            </a:r>
          </a:p>
        </p:txBody>
      </p:sp>
      <p:sp>
        <p:nvSpPr>
          <p:cNvPr id="20" name="TextBox 19"/>
          <p:cNvSpPr txBox="1"/>
          <p:nvPr/>
        </p:nvSpPr>
        <p:spPr>
          <a:xfrm>
            <a:off x="1572768" y="2752344"/>
            <a:ext cx="2103120" cy="457200"/>
          </a:xfrm>
          <a:prstGeom prst="rect">
            <a:avLst/>
          </a:prstGeom>
          <a:noFill/>
        </p:spPr>
        <p:txBody>
          <a:bodyPr wrap="square" anchor="t" lIns="0" rIns="0" tIns="0" bIns="0">
            <a:spAutoFit/>
          </a:bodyPr>
          <a:lstStyle/>
          <a:p>
            <a:pPr algn="l">
              <a:lnSpc>
                <a:spcPct val="100000"/>
              </a:lnSpc>
              <a:spcBef>
                <a:spcPts val="0"/>
              </a:spcBef>
              <a:spcAft>
                <a:spcPts val="200"/>
              </a:spcAft>
            </a:pPr>
            <a:r>
              <a:rPr sz="950" b="0" i="0">
                <a:solidFill>
                  <a:srgbClr val="6B777C"/>
                </a:solidFill>
                <a:latin typeface="Segoe UI"/>
              </a:rPr>
              <a:t>Files · DB loads · history</a:t>
            </a:r>
          </a:p>
        </p:txBody>
      </p:sp>
      <p:cxnSp>
        <p:nvCxnSpPr>
          <p:cNvPr id="21" name="Connector 20"/>
          <p:cNvCxnSpPr/>
          <p:nvPr/>
        </p:nvCxnSpPr>
        <p:spPr>
          <a:xfrm>
            <a:off x="3767328" y="2715768"/>
            <a:ext cx="1307592" cy="941832"/>
          </a:xfrm>
          <a:prstGeom prst="line">
            <a:avLst/>
          </a:prstGeom>
          <a:ln w="22860">
            <a:solidFill>
              <a:srgbClr val="9AA6A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66928" y="3520440"/>
            <a:ext cx="3200400" cy="1143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566928" y="3520440"/>
            <a:ext cx="91440" cy="1143000"/>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813815" y="3785615"/>
            <a:ext cx="603504" cy="603504"/>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Chevron 24"/>
          <p:cNvSpPr/>
          <p:nvPr/>
        </p:nvSpPr>
        <p:spPr>
          <a:xfrm>
            <a:off x="987866" y="3992979"/>
            <a:ext cx="83283" cy="188776"/>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Chevron 25"/>
          <p:cNvSpPr/>
          <p:nvPr/>
        </p:nvSpPr>
        <p:spPr>
          <a:xfrm>
            <a:off x="1082254" y="3992979"/>
            <a:ext cx="83283" cy="188776"/>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Chevron 26"/>
          <p:cNvSpPr/>
          <p:nvPr/>
        </p:nvSpPr>
        <p:spPr>
          <a:xfrm>
            <a:off x="1176642" y="3992979"/>
            <a:ext cx="83283" cy="188776"/>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572768" y="3703320"/>
            <a:ext cx="2103120" cy="365760"/>
          </a:xfrm>
          <a:prstGeom prst="rect">
            <a:avLst/>
          </a:prstGeom>
          <a:noFill/>
        </p:spPr>
        <p:txBody>
          <a:bodyPr wrap="square" anchor="t" lIns="0" rIns="0" tIns="0" bIns="0">
            <a:spAutoFit/>
          </a:bodyPr>
          <a:lstStyle/>
          <a:p>
            <a:pPr algn="l">
              <a:lnSpc>
                <a:spcPct val="95000"/>
              </a:lnSpc>
              <a:spcBef>
                <a:spcPts val="0"/>
              </a:spcBef>
              <a:spcAft>
                <a:spcPts val="200"/>
              </a:spcAft>
            </a:pPr>
            <a:r>
              <a:rPr sz="1250" b="1" i="0">
                <a:solidFill>
                  <a:srgbClr val="1B3139"/>
                </a:solidFill>
                <a:latin typeface="Segoe UI"/>
              </a:rPr>
              <a:t>Streaming Sources</a:t>
            </a:r>
          </a:p>
        </p:txBody>
      </p:sp>
      <p:sp>
        <p:nvSpPr>
          <p:cNvPr id="29" name="TextBox 28"/>
          <p:cNvSpPr txBox="1"/>
          <p:nvPr/>
        </p:nvSpPr>
        <p:spPr>
          <a:xfrm>
            <a:off x="1572768" y="4123944"/>
            <a:ext cx="2103120" cy="457200"/>
          </a:xfrm>
          <a:prstGeom prst="rect">
            <a:avLst/>
          </a:prstGeom>
          <a:noFill/>
        </p:spPr>
        <p:txBody>
          <a:bodyPr wrap="square" anchor="t" lIns="0" rIns="0" tIns="0" bIns="0">
            <a:spAutoFit/>
          </a:bodyPr>
          <a:lstStyle/>
          <a:p>
            <a:pPr algn="l">
              <a:lnSpc>
                <a:spcPct val="100000"/>
              </a:lnSpc>
              <a:spcBef>
                <a:spcPts val="0"/>
              </a:spcBef>
              <a:spcAft>
                <a:spcPts val="200"/>
              </a:spcAft>
            </a:pPr>
            <a:r>
              <a:rPr sz="950" b="0" i="0">
                <a:solidFill>
                  <a:srgbClr val="6B777C"/>
                </a:solidFill>
                <a:latin typeface="Segoe UI"/>
              </a:rPr>
              <a:t>Kafka · events · IoT</a:t>
            </a:r>
          </a:p>
        </p:txBody>
      </p:sp>
      <p:cxnSp>
        <p:nvCxnSpPr>
          <p:cNvPr id="30" name="Connector 29"/>
          <p:cNvCxnSpPr/>
          <p:nvPr/>
        </p:nvCxnSpPr>
        <p:spPr>
          <a:xfrm flipV="1">
            <a:off x="3767328" y="3657600"/>
            <a:ext cx="1307592" cy="429768"/>
          </a:xfrm>
          <a:prstGeom prst="line">
            <a:avLst/>
          </a:prstGeom>
          <a:ln w="22860">
            <a:solidFill>
              <a:srgbClr val="9AA6AB"/>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5074920" y="2880360"/>
            <a:ext cx="1554480" cy="1554480"/>
          </a:xfrm>
          <a:prstGeom prst="ellipse">
            <a:avLst/>
          </a:prstGeom>
          <a:solidFill>
            <a:srgbClr val="00A972"/>
          </a:solidFill>
          <a:ln w="3810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Isosceles Triangle 31"/>
          <p:cNvSpPr/>
          <p:nvPr/>
        </p:nvSpPr>
        <p:spPr>
          <a:xfrm>
            <a:off x="5600700" y="3156966"/>
            <a:ext cx="502920" cy="452628"/>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074920" y="3703320"/>
            <a:ext cx="1554480" cy="548640"/>
          </a:xfrm>
          <a:prstGeom prst="rect">
            <a:avLst/>
          </a:prstGeom>
          <a:noFill/>
        </p:spPr>
        <p:txBody>
          <a:bodyPr wrap="square" anchor="ctr" lIns="0" rIns="0" tIns="0" bIns="0">
            <a:spAutoFit/>
          </a:bodyPr>
          <a:lstStyle/>
          <a:p>
            <a:pPr algn="ctr">
              <a:lnSpc>
                <a:spcPct val="95000"/>
              </a:lnSpc>
              <a:spcBef>
                <a:spcPts val="0"/>
              </a:spcBef>
              <a:spcAft>
                <a:spcPts val="200"/>
              </a:spcAft>
            </a:pPr>
            <a:r>
              <a:rPr sz="1250" b="1" i="0">
                <a:solidFill>
                  <a:srgbClr val="FFFFFF"/>
                </a:solidFill>
                <a:latin typeface="Segoe UI"/>
              </a:rPr>
              <a:t>Delta Lake
ONE table</a:t>
            </a:r>
          </a:p>
        </p:txBody>
      </p:sp>
      <p:sp>
        <p:nvSpPr>
          <p:cNvPr id="34" name="Rounded Rectangle 33"/>
          <p:cNvSpPr/>
          <p:nvPr/>
        </p:nvSpPr>
        <p:spPr>
          <a:xfrm>
            <a:off x="8595360" y="2011680"/>
            <a:ext cx="3029407" cy="9144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778240" y="2194560"/>
            <a:ext cx="548640" cy="548640"/>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8946562" y="2468880"/>
            <a:ext cx="50474" cy="126187"/>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9027322" y="2398215"/>
            <a:ext cx="50474" cy="196852"/>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9108082" y="2342692"/>
            <a:ext cx="50474" cy="252374"/>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464040" y="2011680"/>
            <a:ext cx="2023567" cy="914400"/>
          </a:xfrm>
          <a:prstGeom prst="rect">
            <a:avLst/>
          </a:prstGeom>
          <a:noFill/>
        </p:spPr>
        <p:txBody>
          <a:bodyPr wrap="square" anchor="ctr" lIns="0" rIns="0" tIns="0" bIns="0">
            <a:spAutoFit/>
          </a:bodyPr>
          <a:lstStyle/>
          <a:p>
            <a:pPr algn="l">
              <a:lnSpc>
                <a:spcPct val="100000"/>
              </a:lnSpc>
              <a:spcBef>
                <a:spcPts val="0"/>
              </a:spcBef>
              <a:spcAft>
                <a:spcPts val="200"/>
              </a:spcAft>
            </a:pPr>
            <a:r>
              <a:rPr sz="1200" b="1" i="0">
                <a:solidFill>
                  <a:srgbClr val="1B3139"/>
                </a:solidFill>
                <a:latin typeface="Segoe UI"/>
              </a:rPr>
              <a:t>BI &amp; Reporting</a:t>
            </a:r>
          </a:p>
        </p:txBody>
      </p:sp>
      <p:cxnSp>
        <p:nvCxnSpPr>
          <p:cNvPr id="40" name="Connector 39"/>
          <p:cNvCxnSpPr/>
          <p:nvPr/>
        </p:nvCxnSpPr>
        <p:spPr>
          <a:xfrm flipV="1">
            <a:off x="6629400" y="2468880"/>
            <a:ext cx="1965960" cy="1188720"/>
          </a:xfrm>
          <a:prstGeom prst="line">
            <a:avLst/>
          </a:prstGeom>
          <a:ln w="22860">
            <a:solidFill>
              <a:srgbClr val="9AA6AB"/>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595360" y="3154680"/>
            <a:ext cx="3029407" cy="9144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8778240" y="3337560"/>
            <a:ext cx="548640" cy="548640"/>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9009656" y="3568976"/>
            <a:ext cx="85807" cy="8580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4" name="Connector 43"/>
          <p:cNvCxnSpPr/>
          <p:nvPr/>
        </p:nvCxnSpPr>
        <p:spPr>
          <a:xfrm flipH="1" flipV="1">
            <a:off x="8946562" y="3536167"/>
            <a:ext cx="105998" cy="75713"/>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8918801" y="3508406"/>
            <a:ext cx="55522" cy="5552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6" name="Connector 45"/>
          <p:cNvCxnSpPr/>
          <p:nvPr/>
        </p:nvCxnSpPr>
        <p:spPr>
          <a:xfrm flipV="1">
            <a:off x="9052560" y="3536167"/>
            <a:ext cx="105997" cy="75713"/>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9130796" y="3508406"/>
            <a:ext cx="55522" cy="5552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8" name="Connector 47"/>
          <p:cNvCxnSpPr/>
          <p:nvPr/>
        </p:nvCxnSpPr>
        <p:spPr>
          <a:xfrm>
            <a:off x="9052560" y="3611880"/>
            <a:ext cx="0" cy="111044"/>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9024798" y="3695163"/>
            <a:ext cx="55522" cy="5552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9464040" y="3154680"/>
            <a:ext cx="2023567" cy="914400"/>
          </a:xfrm>
          <a:prstGeom prst="rect">
            <a:avLst/>
          </a:prstGeom>
          <a:noFill/>
        </p:spPr>
        <p:txBody>
          <a:bodyPr wrap="square" anchor="ctr" lIns="0" rIns="0" tIns="0" bIns="0">
            <a:spAutoFit/>
          </a:bodyPr>
          <a:lstStyle/>
          <a:p>
            <a:pPr algn="l">
              <a:lnSpc>
                <a:spcPct val="100000"/>
              </a:lnSpc>
              <a:spcBef>
                <a:spcPts val="0"/>
              </a:spcBef>
              <a:spcAft>
                <a:spcPts val="200"/>
              </a:spcAft>
            </a:pPr>
            <a:r>
              <a:rPr sz="1200" b="1" i="0">
                <a:solidFill>
                  <a:srgbClr val="1B3139"/>
                </a:solidFill>
                <a:latin typeface="Segoe UI"/>
              </a:rPr>
              <a:t>Machine Learning</a:t>
            </a:r>
          </a:p>
        </p:txBody>
      </p:sp>
      <p:cxnSp>
        <p:nvCxnSpPr>
          <p:cNvPr id="51" name="Connector 50"/>
          <p:cNvCxnSpPr/>
          <p:nvPr/>
        </p:nvCxnSpPr>
        <p:spPr>
          <a:xfrm flipV="1">
            <a:off x="6629400" y="3611880"/>
            <a:ext cx="1965960" cy="45720"/>
          </a:xfrm>
          <a:prstGeom prst="line">
            <a:avLst/>
          </a:prstGeom>
          <a:ln w="22860">
            <a:solidFill>
              <a:srgbClr val="9AA6AB"/>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8595360" y="4297680"/>
            <a:ext cx="3029407" cy="9144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Oval 52"/>
          <p:cNvSpPr/>
          <p:nvPr/>
        </p:nvSpPr>
        <p:spPr>
          <a:xfrm>
            <a:off x="8778240" y="4480560"/>
            <a:ext cx="548640" cy="548640"/>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Oval 53"/>
          <p:cNvSpPr/>
          <p:nvPr/>
        </p:nvSpPr>
        <p:spPr>
          <a:xfrm>
            <a:off x="8936467" y="4638787"/>
            <a:ext cx="232184" cy="232184"/>
          </a:xfrm>
          <a:prstGeom prst="ellipse">
            <a:avLst/>
          </a:prstGeom>
          <a:noFill/>
          <a:ln w="24536">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ounded Rectangle 54"/>
          <p:cNvSpPr/>
          <p:nvPr/>
        </p:nvSpPr>
        <p:spPr>
          <a:xfrm rot="2520000">
            <a:off x="9042465" y="4674120"/>
            <a:ext cx="20189" cy="9085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9036155" y="4738475"/>
            <a:ext cx="32808" cy="3280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464040" y="4297680"/>
            <a:ext cx="2023567" cy="914400"/>
          </a:xfrm>
          <a:prstGeom prst="rect">
            <a:avLst/>
          </a:prstGeom>
          <a:noFill/>
        </p:spPr>
        <p:txBody>
          <a:bodyPr wrap="square" anchor="ctr" lIns="0" rIns="0" tIns="0" bIns="0">
            <a:spAutoFit/>
          </a:bodyPr>
          <a:lstStyle/>
          <a:p>
            <a:pPr algn="l">
              <a:lnSpc>
                <a:spcPct val="100000"/>
              </a:lnSpc>
              <a:spcBef>
                <a:spcPts val="0"/>
              </a:spcBef>
              <a:spcAft>
                <a:spcPts val="200"/>
              </a:spcAft>
            </a:pPr>
            <a:r>
              <a:rPr sz="1200" b="1" i="0">
                <a:solidFill>
                  <a:srgbClr val="1B3139"/>
                </a:solidFill>
                <a:latin typeface="Segoe UI"/>
              </a:rPr>
              <a:t>Analytics</a:t>
            </a:r>
          </a:p>
        </p:txBody>
      </p:sp>
      <p:cxnSp>
        <p:nvCxnSpPr>
          <p:cNvPr id="58" name="Connector 57"/>
          <p:cNvCxnSpPr/>
          <p:nvPr/>
        </p:nvCxnSpPr>
        <p:spPr>
          <a:xfrm>
            <a:off x="6629400" y="3657600"/>
            <a:ext cx="1965960" cy="1097280"/>
          </a:xfrm>
          <a:prstGeom prst="line">
            <a:avLst/>
          </a:prstGeom>
          <a:ln w="22860">
            <a:solidFill>
              <a:srgbClr val="9AA6AB"/>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0" name="TextBox 59"/>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1463040"/>
            <a:ext cx="5486400" cy="2194560"/>
          </a:xfrm>
          <a:prstGeom prst="rect">
            <a:avLst/>
          </a:prstGeom>
          <a:noFill/>
        </p:spPr>
        <p:txBody>
          <a:bodyPr wrap="square" anchor="t" lIns="0" rIns="0" tIns="0" bIns="0">
            <a:spAutoFit/>
          </a:bodyPr>
          <a:lstStyle/>
          <a:p>
            <a:pPr algn="l">
              <a:lnSpc>
                <a:spcPct val="100000"/>
              </a:lnSpc>
              <a:spcBef>
                <a:spcPts val="0"/>
              </a:spcBef>
              <a:spcAft>
                <a:spcPts val="200"/>
              </a:spcAft>
            </a:pPr>
            <a:r>
              <a:rPr sz="20000" b="1" i="0">
                <a:solidFill>
                  <a:srgbClr val="27444F"/>
                </a:solidFill>
                <a:latin typeface="Segoe UI Light"/>
              </a:rPr>
              <a:t>04</a:t>
            </a:r>
          </a:p>
        </p:txBody>
      </p:sp>
      <p:sp>
        <p:nvSpPr>
          <p:cNvPr id="9" name="Rounded Rectangle 8"/>
          <p:cNvSpPr/>
          <p:nvPr/>
        </p:nvSpPr>
        <p:spPr>
          <a:xfrm>
            <a:off x="612648" y="3310128"/>
            <a:ext cx="777240" cy="9144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12648" y="2743200"/>
            <a:ext cx="7315200" cy="365760"/>
          </a:xfrm>
          <a:prstGeom prst="rect">
            <a:avLst/>
          </a:prstGeom>
          <a:noFill/>
        </p:spPr>
        <p:txBody>
          <a:bodyPr wrap="square" anchor="t" lIns="0" rIns="0" tIns="0" bIns="0">
            <a:spAutoFit/>
          </a:bodyPr>
          <a:lstStyle/>
          <a:p>
            <a:pPr algn="l">
              <a:lnSpc>
                <a:spcPct val="100000"/>
              </a:lnSpc>
              <a:spcBef>
                <a:spcPts val="0"/>
              </a:spcBef>
              <a:spcAft>
                <a:spcPts val="200"/>
              </a:spcAft>
            </a:pPr>
            <a:r>
              <a:rPr sz="1350" b="1" i="0">
                <a:solidFill>
                  <a:srgbClr val="FF3621"/>
                </a:solidFill>
                <a:latin typeface="Segoe UI Semibold"/>
              </a:rPr>
              <a:t>PART FOUR</a:t>
            </a:r>
          </a:p>
        </p:txBody>
      </p:sp>
      <p:sp>
        <p:nvSpPr>
          <p:cNvPr id="11" name="TextBox 10"/>
          <p:cNvSpPr txBox="1"/>
          <p:nvPr/>
        </p:nvSpPr>
        <p:spPr>
          <a:xfrm>
            <a:off x="566928" y="3456432"/>
            <a:ext cx="7680960" cy="1097280"/>
          </a:xfrm>
          <a:prstGeom prst="rect">
            <a:avLst/>
          </a:prstGeom>
          <a:noFill/>
        </p:spPr>
        <p:txBody>
          <a:bodyPr wrap="square" anchor="t" lIns="0" rIns="0" tIns="0" bIns="0">
            <a:spAutoFit/>
          </a:bodyPr>
          <a:lstStyle/>
          <a:p>
            <a:pPr algn="l">
              <a:lnSpc>
                <a:spcPct val="98000"/>
              </a:lnSpc>
              <a:spcBef>
                <a:spcPts val="0"/>
              </a:spcBef>
              <a:spcAft>
                <a:spcPts val="200"/>
              </a:spcAft>
            </a:pPr>
            <a:r>
              <a:rPr sz="4000" b="1" i="0">
                <a:solidFill>
                  <a:srgbClr val="FFFFFF"/>
                </a:solidFill>
                <a:latin typeface="Segoe UI"/>
              </a:rPr>
              <a:t>Platform &amp; Value</a:t>
            </a:r>
          </a:p>
        </p:txBody>
      </p:sp>
      <p:sp>
        <p:nvSpPr>
          <p:cNvPr id="12" name="TextBox 11"/>
          <p:cNvSpPr txBox="1"/>
          <p:nvPr/>
        </p:nvSpPr>
        <p:spPr>
          <a:xfrm>
            <a:off x="612648" y="4754880"/>
            <a:ext cx="6949440" cy="1463040"/>
          </a:xfrm>
          <a:prstGeom prst="rect">
            <a:avLst/>
          </a:prstGeom>
          <a:noFill/>
        </p:spPr>
        <p:txBody>
          <a:bodyPr wrap="square" anchor="t" lIns="0" rIns="0" tIns="0" bIns="0">
            <a:spAutoFit/>
          </a:bodyPr>
          <a:lstStyle/>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Medallion, Lakehouse, performance &amp; governance</a:t>
            </a:r>
          </a:p>
          <a:p>
            <a:pPr marL="274320" indent="-274320">
              <a:lnSpc>
                <a:spcPct val="110000"/>
              </a:lnSpc>
              <a:spcBef>
                <a:spcPts val="0"/>
              </a:spcBef>
              <a:spcAft>
                <a:spcPts val="900"/>
              </a:spcAft>
            </a:pPr>
            <a:r>
              <a:rPr sz="1450" b="1">
                <a:solidFill>
                  <a:srgbClr val="FF3621"/>
                </a:solidFill>
                <a:latin typeface="Segoe UI"/>
              </a:rPr>
              <a:t>▪   </a:t>
            </a:r>
            <a:r>
              <a:rPr sz="1450">
                <a:solidFill>
                  <a:srgbClr val="CCD6DA"/>
                </a:solidFill>
                <a:latin typeface="Segoe UI"/>
              </a:rPr>
              <a:t>End-to-end flow, use cases &amp; best practices</a:t>
            </a:r>
          </a:p>
        </p:txBody>
      </p:sp>
      <p:sp>
        <p:nvSpPr>
          <p:cNvPr id="13" name="Oval 12"/>
          <p:cNvSpPr/>
          <p:nvPr/>
        </p:nvSpPr>
        <p:spPr>
          <a:xfrm>
            <a:off x="8641080" y="2423160"/>
            <a:ext cx="2286000" cy="2286000"/>
          </a:xfrm>
          <a:prstGeom prst="ellipse">
            <a:avLst/>
          </a:prstGeom>
          <a:solidFill>
            <a:srgbClr val="FF3621"/>
          </a:solidFill>
          <a:ln w="15240">
            <a:solidFill>
              <a:srgbClr val="FF8A78"/>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9300362" y="3082442"/>
            <a:ext cx="967435" cy="967435"/>
          </a:xfrm>
          <a:prstGeom prst="ellipse">
            <a:avLst/>
          </a:prstGeom>
          <a:noFill/>
          <a:ln w="10223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rot="2520000">
            <a:off x="9742017" y="3229660"/>
            <a:ext cx="84124" cy="378561"/>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9715728" y="3497808"/>
            <a:ext cx="136702" cy="13670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7E9199"/>
                </a:solidFill>
                <a:latin typeface="Segoe UI"/>
              </a:rPr>
              <a:t>Big Data &amp; Databricks  ·  Enterprise Training Series</a:t>
            </a:r>
          </a:p>
        </p:txBody>
      </p:sp>
      <p:sp>
        <p:nvSpPr>
          <p:cNvPr id="18" name="TextBox 17"/>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7E9199"/>
                </a:solidFill>
                <a:latin typeface="Segoe U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PLATFORM &amp; VALUE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Delta Powers the Medallion Architecture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56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Fundamentals</a:t>
            </a:r>
          </a:p>
        </p:txBody>
      </p:sp>
      <p:sp>
        <p:nvSpPr>
          <p:cNvPr id="11" name="Oval 10"/>
          <p:cNvSpPr/>
          <p:nvPr/>
        </p:nvSpPr>
        <p:spPr>
          <a:xfrm>
            <a:off x="9299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Internals</a:t>
            </a:r>
          </a:p>
        </p:txBody>
      </p:sp>
      <p:sp>
        <p:nvSpPr>
          <p:cNvPr id="13" name="Oval 12"/>
          <p:cNvSpPr/>
          <p:nvPr/>
        </p:nvSpPr>
        <p:spPr>
          <a:xfrm>
            <a:off x="10426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Platform</a:t>
            </a:r>
          </a:p>
        </p:txBody>
      </p:sp>
      <p:sp>
        <p:nvSpPr>
          <p:cNvPr id="15" name="Rounded Rectangle 14"/>
          <p:cNvSpPr/>
          <p:nvPr/>
        </p:nvSpPr>
        <p:spPr>
          <a:xfrm>
            <a:off x="566928" y="2011680"/>
            <a:ext cx="3381146" cy="26974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2011680"/>
            <a:ext cx="3381146" cy="731520"/>
          </a:xfrm>
          <a:prstGeom prst="rect">
            <a:avLst/>
          </a:prstGeom>
          <a:solidFill>
            <a:srgbClr val="B06A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Can 16"/>
          <p:cNvSpPr/>
          <p:nvPr/>
        </p:nvSpPr>
        <p:spPr>
          <a:xfrm>
            <a:off x="950610" y="2176272"/>
            <a:ext cx="329915" cy="402336"/>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527048" y="2011680"/>
            <a:ext cx="2375306" cy="731520"/>
          </a:xfrm>
          <a:prstGeom prst="rect">
            <a:avLst/>
          </a:prstGeom>
          <a:noFill/>
        </p:spPr>
        <p:txBody>
          <a:bodyPr wrap="square" anchor="ctr" lIns="0" rIns="0" tIns="0" bIns="0">
            <a:spAutoFit/>
          </a:bodyPr>
          <a:lstStyle/>
          <a:p>
            <a:pPr algn="l">
              <a:lnSpc>
                <a:spcPct val="100000"/>
              </a:lnSpc>
              <a:spcBef>
                <a:spcPts val="0"/>
              </a:spcBef>
              <a:spcAft>
                <a:spcPts val="200"/>
              </a:spcAft>
            </a:pPr>
            <a:r>
              <a:rPr sz="1800" b="1" i="0">
                <a:solidFill>
                  <a:srgbClr val="FFFFFF"/>
                </a:solidFill>
                <a:latin typeface="Segoe UI"/>
              </a:rPr>
              <a:t>Bronze</a:t>
            </a:r>
          </a:p>
        </p:txBody>
      </p:sp>
      <p:sp>
        <p:nvSpPr>
          <p:cNvPr id="19" name="TextBox 18"/>
          <p:cNvSpPr txBox="1"/>
          <p:nvPr/>
        </p:nvSpPr>
        <p:spPr>
          <a:xfrm>
            <a:off x="859536" y="2926080"/>
            <a:ext cx="2832506" cy="1645920"/>
          </a:xfrm>
          <a:prstGeom prst="rect">
            <a:avLst/>
          </a:prstGeom>
          <a:noFill/>
        </p:spPr>
        <p:txBody>
          <a:bodyPr wrap="square" anchor="t" lIns="0" rIns="0" tIns="0" bIns="0">
            <a:spAutoFit/>
          </a:bodyPr>
          <a:lstStyle/>
          <a:p>
            <a:pPr marL="274320" indent="-274320">
              <a:lnSpc>
                <a:spcPct val="112000"/>
              </a:lnSpc>
              <a:spcBef>
                <a:spcPts val="0"/>
              </a:spcBef>
              <a:spcAft>
                <a:spcPts val="900"/>
              </a:spcAft>
            </a:pPr>
            <a:r>
              <a:rPr sz="1150" b="1">
                <a:solidFill>
                  <a:srgbClr val="B06A3B"/>
                </a:solidFill>
                <a:latin typeface="Segoe UI"/>
              </a:rPr>
              <a:t>▪   </a:t>
            </a:r>
            <a:r>
              <a:rPr sz="1150">
                <a:solidFill>
                  <a:srgbClr val="465257"/>
                </a:solidFill>
                <a:latin typeface="Segoe UI"/>
              </a:rPr>
              <a:t>Raw data, as ingested</a:t>
            </a:r>
          </a:p>
          <a:p>
            <a:pPr marL="274320" indent="-274320">
              <a:lnSpc>
                <a:spcPct val="112000"/>
              </a:lnSpc>
              <a:spcBef>
                <a:spcPts val="0"/>
              </a:spcBef>
              <a:spcAft>
                <a:spcPts val="900"/>
              </a:spcAft>
            </a:pPr>
            <a:r>
              <a:rPr sz="1150" b="1">
                <a:solidFill>
                  <a:srgbClr val="B06A3B"/>
                </a:solidFill>
                <a:latin typeface="Segoe UI"/>
              </a:rPr>
              <a:t>▪   </a:t>
            </a:r>
            <a:r>
              <a:rPr sz="1150">
                <a:solidFill>
                  <a:srgbClr val="465257"/>
                </a:solidFill>
                <a:latin typeface="Segoe UI"/>
              </a:rPr>
              <a:t>Append-only history</a:t>
            </a:r>
          </a:p>
          <a:p>
            <a:pPr marL="274320" indent="-274320">
              <a:lnSpc>
                <a:spcPct val="112000"/>
              </a:lnSpc>
              <a:spcBef>
                <a:spcPts val="0"/>
              </a:spcBef>
              <a:spcAft>
                <a:spcPts val="900"/>
              </a:spcAft>
            </a:pPr>
            <a:r>
              <a:rPr sz="1150" b="1">
                <a:solidFill>
                  <a:srgbClr val="B06A3B"/>
                </a:solidFill>
                <a:latin typeface="Segoe UI"/>
              </a:rPr>
              <a:t>▪   </a:t>
            </a:r>
            <a:r>
              <a:rPr sz="1150">
                <a:solidFill>
                  <a:srgbClr val="465257"/>
                </a:solidFill>
                <a:latin typeface="Segoe UI"/>
              </a:rPr>
              <a:t>Source of truth</a:t>
            </a:r>
          </a:p>
        </p:txBody>
      </p:sp>
      <p:sp>
        <p:nvSpPr>
          <p:cNvPr id="20" name="Right Arrow 19"/>
          <p:cNvSpPr/>
          <p:nvPr/>
        </p:nvSpPr>
        <p:spPr>
          <a:xfrm>
            <a:off x="4021226" y="3172968"/>
            <a:ext cx="365760" cy="237744"/>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4405274" y="2011680"/>
            <a:ext cx="3381146" cy="26974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405274" y="2011680"/>
            <a:ext cx="3381146" cy="731520"/>
          </a:xfrm>
          <a:prstGeom prst="rect">
            <a:avLst/>
          </a:prstGeom>
          <a:solidFill>
            <a:srgbClr val="8D9A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Gear 6 22"/>
          <p:cNvSpPr/>
          <p:nvPr/>
        </p:nvSpPr>
        <p:spPr>
          <a:xfrm>
            <a:off x="4752746" y="2176272"/>
            <a:ext cx="402336" cy="402336"/>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365394" y="2011680"/>
            <a:ext cx="2375306" cy="731520"/>
          </a:xfrm>
          <a:prstGeom prst="rect">
            <a:avLst/>
          </a:prstGeom>
          <a:noFill/>
        </p:spPr>
        <p:txBody>
          <a:bodyPr wrap="square" anchor="ctr" lIns="0" rIns="0" tIns="0" bIns="0">
            <a:spAutoFit/>
          </a:bodyPr>
          <a:lstStyle/>
          <a:p>
            <a:pPr algn="l">
              <a:lnSpc>
                <a:spcPct val="100000"/>
              </a:lnSpc>
              <a:spcBef>
                <a:spcPts val="0"/>
              </a:spcBef>
              <a:spcAft>
                <a:spcPts val="200"/>
              </a:spcAft>
            </a:pPr>
            <a:r>
              <a:rPr sz="1800" b="1" i="0">
                <a:solidFill>
                  <a:srgbClr val="FFFFFF"/>
                </a:solidFill>
                <a:latin typeface="Segoe UI"/>
              </a:rPr>
              <a:t>Silver</a:t>
            </a:r>
          </a:p>
        </p:txBody>
      </p:sp>
      <p:sp>
        <p:nvSpPr>
          <p:cNvPr id="25" name="TextBox 24"/>
          <p:cNvSpPr txBox="1"/>
          <p:nvPr/>
        </p:nvSpPr>
        <p:spPr>
          <a:xfrm>
            <a:off x="4697882" y="2926080"/>
            <a:ext cx="2832506" cy="1645920"/>
          </a:xfrm>
          <a:prstGeom prst="rect">
            <a:avLst/>
          </a:prstGeom>
          <a:noFill/>
        </p:spPr>
        <p:txBody>
          <a:bodyPr wrap="square" anchor="t" lIns="0" rIns="0" tIns="0" bIns="0">
            <a:spAutoFit/>
          </a:bodyPr>
          <a:lstStyle/>
          <a:p>
            <a:pPr marL="274320" indent="-274320">
              <a:lnSpc>
                <a:spcPct val="112000"/>
              </a:lnSpc>
              <a:spcBef>
                <a:spcPts val="0"/>
              </a:spcBef>
              <a:spcAft>
                <a:spcPts val="900"/>
              </a:spcAft>
            </a:pPr>
            <a:r>
              <a:rPr sz="1150" b="1">
                <a:solidFill>
                  <a:srgbClr val="8D9AA3"/>
                </a:solidFill>
                <a:latin typeface="Segoe UI"/>
              </a:rPr>
              <a:t>▪   </a:t>
            </a:r>
            <a:r>
              <a:rPr sz="1150">
                <a:solidFill>
                  <a:srgbClr val="465257"/>
                </a:solidFill>
                <a:latin typeface="Segoe UI"/>
              </a:rPr>
              <a:t>Cleansed &amp; conformed</a:t>
            </a:r>
          </a:p>
          <a:p>
            <a:pPr marL="274320" indent="-274320">
              <a:lnSpc>
                <a:spcPct val="112000"/>
              </a:lnSpc>
              <a:spcBef>
                <a:spcPts val="0"/>
              </a:spcBef>
              <a:spcAft>
                <a:spcPts val="900"/>
              </a:spcAft>
            </a:pPr>
            <a:r>
              <a:rPr sz="1150" b="1">
                <a:solidFill>
                  <a:srgbClr val="8D9AA3"/>
                </a:solidFill>
                <a:latin typeface="Segoe UI"/>
              </a:rPr>
              <a:t>▪   </a:t>
            </a:r>
            <a:r>
              <a:rPr sz="1150">
                <a:solidFill>
                  <a:srgbClr val="465257"/>
                </a:solidFill>
                <a:latin typeface="Segoe UI"/>
              </a:rPr>
              <a:t>De-duplicated, joined</a:t>
            </a:r>
          </a:p>
          <a:p>
            <a:pPr marL="274320" indent="-274320">
              <a:lnSpc>
                <a:spcPct val="112000"/>
              </a:lnSpc>
              <a:spcBef>
                <a:spcPts val="0"/>
              </a:spcBef>
              <a:spcAft>
                <a:spcPts val="900"/>
              </a:spcAft>
            </a:pPr>
            <a:r>
              <a:rPr sz="1150" b="1">
                <a:solidFill>
                  <a:srgbClr val="8D9AA3"/>
                </a:solidFill>
                <a:latin typeface="Segoe UI"/>
              </a:rPr>
              <a:t>▪   </a:t>
            </a:r>
            <a:r>
              <a:rPr sz="1150">
                <a:solidFill>
                  <a:srgbClr val="465257"/>
                </a:solidFill>
                <a:latin typeface="Segoe UI"/>
              </a:rPr>
              <a:t>Trusted &amp; queryable</a:t>
            </a:r>
          </a:p>
        </p:txBody>
      </p:sp>
      <p:sp>
        <p:nvSpPr>
          <p:cNvPr id="26" name="Right Arrow 25"/>
          <p:cNvSpPr/>
          <p:nvPr/>
        </p:nvSpPr>
        <p:spPr>
          <a:xfrm>
            <a:off x="7859572" y="3172968"/>
            <a:ext cx="365760" cy="237744"/>
          </a:xfrm>
          <a:prstGeom prst="rightArrow">
            <a:avLst>
              <a:gd name="adj1" fmla="val 55000"/>
              <a:gd name="adj2" fmla="val 5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8243620" y="2011680"/>
            <a:ext cx="3381146" cy="26974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8243620" y="2011680"/>
            <a:ext cx="3381146" cy="731520"/>
          </a:xfrm>
          <a:prstGeom prst="rect">
            <a:avLst/>
          </a:prstGeom>
          <a:solidFill>
            <a:srgbClr val="D8A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Diamond 28"/>
          <p:cNvSpPr/>
          <p:nvPr/>
        </p:nvSpPr>
        <p:spPr>
          <a:xfrm>
            <a:off x="8607186" y="2176272"/>
            <a:ext cx="370149" cy="402336"/>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203740" y="2011680"/>
            <a:ext cx="2375306" cy="731520"/>
          </a:xfrm>
          <a:prstGeom prst="rect">
            <a:avLst/>
          </a:prstGeom>
          <a:noFill/>
        </p:spPr>
        <p:txBody>
          <a:bodyPr wrap="square" anchor="ctr" lIns="0" rIns="0" tIns="0" bIns="0">
            <a:spAutoFit/>
          </a:bodyPr>
          <a:lstStyle/>
          <a:p>
            <a:pPr algn="l">
              <a:lnSpc>
                <a:spcPct val="100000"/>
              </a:lnSpc>
              <a:spcBef>
                <a:spcPts val="0"/>
              </a:spcBef>
              <a:spcAft>
                <a:spcPts val="200"/>
              </a:spcAft>
            </a:pPr>
            <a:r>
              <a:rPr sz="1800" b="1" i="0">
                <a:solidFill>
                  <a:srgbClr val="FFFFFF"/>
                </a:solidFill>
                <a:latin typeface="Segoe UI"/>
              </a:rPr>
              <a:t>Gold</a:t>
            </a:r>
          </a:p>
        </p:txBody>
      </p:sp>
      <p:sp>
        <p:nvSpPr>
          <p:cNvPr id="31" name="TextBox 30"/>
          <p:cNvSpPr txBox="1"/>
          <p:nvPr/>
        </p:nvSpPr>
        <p:spPr>
          <a:xfrm>
            <a:off x="8536228" y="2926080"/>
            <a:ext cx="2832506" cy="1645920"/>
          </a:xfrm>
          <a:prstGeom prst="rect">
            <a:avLst/>
          </a:prstGeom>
          <a:noFill/>
        </p:spPr>
        <p:txBody>
          <a:bodyPr wrap="square" anchor="t" lIns="0" rIns="0" tIns="0" bIns="0">
            <a:spAutoFit/>
          </a:bodyPr>
          <a:lstStyle/>
          <a:p>
            <a:pPr marL="274320" indent="-274320">
              <a:lnSpc>
                <a:spcPct val="112000"/>
              </a:lnSpc>
              <a:spcBef>
                <a:spcPts val="0"/>
              </a:spcBef>
              <a:spcAft>
                <a:spcPts val="900"/>
              </a:spcAft>
            </a:pPr>
            <a:r>
              <a:rPr sz="1150" b="1">
                <a:solidFill>
                  <a:srgbClr val="D8A32B"/>
                </a:solidFill>
                <a:latin typeface="Segoe UI"/>
              </a:rPr>
              <a:t>▪   </a:t>
            </a:r>
            <a:r>
              <a:rPr sz="1150">
                <a:solidFill>
                  <a:srgbClr val="465257"/>
                </a:solidFill>
                <a:latin typeface="Segoe UI"/>
              </a:rPr>
              <a:t>Business aggregates</a:t>
            </a:r>
          </a:p>
          <a:p>
            <a:pPr marL="274320" indent="-274320">
              <a:lnSpc>
                <a:spcPct val="112000"/>
              </a:lnSpc>
              <a:spcBef>
                <a:spcPts val="0"/>
              </a:spcBef>
              <a:spcAft>
                <a:spcPts val="900"/>
              </a:spcAft>
            </a:pPr>
            <a:r>
              <a:rPr sz="1150" b="1">
                <a:solidFill>
                  <a:srgbClr val="D8A32B"/>
                </a:solidFill>
                <a:latin typeface="Segoe UI"/>
              </a:rPr>
              <a:t>▪   </a:t>
            </a:r>
            <a:r>
              <a:rPr sz="1150">
                <a:solidFill>
                  <a:srgbClr val="465257"/>
                </a:solidFill>
                <a:latin typeface="Segoe UI"/>
              </a:rPr>
              <a:t>ML features &amp; KPIs</a:t>
            </a:r>
          </a:p>
          <a:p>
            <a:pPr marL="274320" indent="-274320">
              <a:lnSpc>
                <a:spcPct val="112000"/>
              </a:lnSpc>
              <a:spcBef>
                <a:spcPts val="0"/>
              </a:spcBef>
              <a:spcAft>
                <a:spcPts val="900"/>
              </a:spcAft>
            </a:pPr>
            <a:r>
              <a:rPr sz="1150" b="1">
                <a:solidFill>
                  <a:srgbClr val="D8A32B"/>
                </a:solidFill>
                <a:latin typeface="Segoe UI"/>
              </a:rPr>
              <a:t>▪   </a:t>
            </a:r>
            <a:r>
              <a:rPr sz="1150">
                <a:solidFill>
                  <a:srgbClr val="465257"/>
                </a:solidFill>
                <a:latin typeface="Segoe UI"/>
              </a:rPr>
              <a:t>Consumption-ready</a:t>
            </a:r>
          </a:p>
        </p:txBody>
      </p:sp>
      <p:sp>
        <p:nvSpPr>
          <p:cNvPr id="32" name="Rectangle 31"/>
          <p:cNvSpPr/>
          <p:nvPr/>
        </p:nvSpPr>
        <p:spPr>
          <a:xfrm>
            <a:off x="566928" y="4983480"/>
            <a:ext cx="11057839" cy="457200"/>
          </a:xfrm>
          <a:prstGeom prst="rect">
            <a:avLst/>
          </a:prstGeom>
          <a:solidFill>
            <a:srgbClr val="EFEC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41247" y="4983480"/>
            <a:ext cx="4206240" cy="457200"/>
          </a:xfrm>
          <a:prstGeom prst="rect">
            <a:avLst/>
          </a:prstGeom>
          <a:noFill/>
        </p:spPr>
        <p:txBody>
          <a:bodyPr wrap="square" anchor="ctr" lIns="0" rIns="0" tIns="0" bIns="0">
            <a:spAutoFit/>
          </a:bodyPr>
          <a:lstStyle/>
          <a:p>
            <a:pPr algn="l">
              <a:lnSpc>
                <a:spcPct val="100000"/>
              </a:lnSpc>
              <a:spcBef>
                <a:spcPts val="0"/>
              </a:spcBef>
              <a:spcAft>
                <a:spcPts val="200"/>
              </a:spcAft>
            </a:pPr>
            <a:r>
              <a:rPr sz="1100" b="1" i="0">
                <a:solidFill>
                  <a:srgbClr val="1B3139"/>
                </a:solidFill>
                <a:latin typeface="Segoe UI"/>
              </a:rPr>
              <a:t>Every layer is a Delta table</a:t>
            </a:r>
          </a:p>
        </p:txBody>
      </p:sp>
      <p:sp>
        <p:nvSpPr>
          <p:cNvPr id="34" name="Rounded Rectangle 33"/>
          <p:cNvSpPr/>
          <p:nvPr/>
        </p:nvSpPr>
        <p:spPr>
          <a:xfrm>
            <a:off x="5047488" y="5065776"/>
            <a:ext cx="5760720" cy="256032"/>
          </a:xfrm>
          <a:prstGeom prst="roundRect">
            <a:avLst>
              <a:gd name="adj" fmla="val 50000"/>
            </a:avLst>
          </a:prstGeom>
          <a:gradFill rotWithShape="1">
            <a:gsLst>
              <a:gs pos="0">
                <a:srgbClr val="B06A3B"/>
              </a:gs>
              <a:gs pos="100000">
                <a:srgbClr val="D8A32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ight Arrow 34"/>
          <p:cNvSpPr/>
          <p:nvPr/>
        </p:nvSpPr>
        <p:spPr>
          <a:xfrm>
            <a:off x="10287000" y="5047488"/>
            <a:ext cx="603504" cy="274320"/>
          </a:xfrm>
          <a:prstGeom prst="rightArrow">
            <a:avLst/>
          </a:prstGeom>
          <a:solidFill>
            <a:srgbClr val="D8A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566928" y="5623560"/>
            <a:ext cx="11057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150" b="0" i="1">
                <a:solidFill>
                  <a:srgbClr val="6B777C"/>
                </a:solidFill>
                <a:latin typeface="Segoe UI"/>
              </a:rPr>
              <a:t>Reliability compounds layer by layer — because Bronze, Silver and Gold are all ACID Delta tables.</a:t>
            </a:r>
          </a:p>
        </p:txBody>
      </p:sp>
      <p:sp>
        <p:nvSpPr>
          <p:cNvPr id="37" name="TextBox 36"/>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38" name="TextBox 37"/>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PLATFORM &amp; VALUE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Delta Lake + the Lakehouse</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56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Fundamentals</a:t>
            </a:r>
          </a:p>
        </p:txBody>
      </p:sp>
      <p:sp>
        <p:nvSpPr>
          <p:cNvPr id="11" name="Oval 10"/>
          <p:cNvSpPr/>
          <p:nvPr/>
        </p:nvSpPr>
        <p:spPr>
          <a:xfrm>
            <a:off x="9299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Internals</a:t>
            </a:r>
          </a:p>
        </p:txBody>
      </p:sp>
      <p:sp>
        <p:nvSpPr>
          <p:cNvPr id="13" name="Oval 12"/>
          <p:cNvSpPr/>
          <p:nvPr/>
        </p:nvSpPr>
        <p:spPr>
          <a:xfrm>
            <a:off x="10426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Platform</a:t>
            </a:r>
          </a:p>
        </p:txBody>
      </p:sp>
      <p:sp>
        <p:nvSpPr>
          <p:cNvPr id="15" name="Rounded Rectangle 14"/>
          <p:cNvSpPr/>
          <p:nvPr/>
        </p:nvSpPr>
        <p:spPr>
          <a:xfrm>
            <a:off x="566928" y="2286000"/>
            <a:ext cx="2240280" cy="21945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2286000"/>
            <a:ext cx="2240280" cy="109728"/>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229868" y="2606040"/>
            <a:ext cx="914400" cy="91440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Cloud 17"/>
          <p:cNvSpPr/>
          <p:nvPr/>
        </p:nvSpPr>
        <p:spPr>
          <a:xfrm>
            <a:off x="1445209" y="2884474"/>
            <a:ext cx="483717" cy="357530"/>
          </a:xfrm>
          <a:prstGeom prst="clou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8368" y="3611880"/>
            <a:ext cx="2057400" cy="365760"/>
          </a:xfrm>
          <a:prstGeom prst="rect">
            <a:avLst/>
          </a:prstGeom>
          <a:noFill/>
        </p:spPr>
        <p:txBody>
          <a:bodyPr wrap="square" anchor="t" lIns="0" rIns="0" tIns="0" bIns="0">
            <a:spAutoFit/>
          </a:bodyPr>
          <a:lstStyle/>
          <a:p>
            <a:pPr algn="ctr">
              <a:lnSpc>
                <a:spcPct val="100000"/>
              </a:lnSpc>
              <a:spcBef>
                <a:spcPts val="0"/>
              </a:spcBef>
              <a:spcAft>
                <a:spcPts val="200"/>
              </a:spcAft>
            </a:pPr>
            <a:r>
              <a:rPr sz="1400" b="1" i="0">
                <a:solidFill>
                  <a:srgbClr val="1B3139"/>
                </a:solidFill>
                <a:latin typeface="Segoe UI"/>
              </a:rPr>
              <a:t>Cloud Storage</a:t>
            </a:r>
          </a:p>
        </p:txBody>
      </p:sp>
      <p:sp>
        <p:nvSpPr>
          <p:cNvPr id="20" name="TextBox 19"/>
          <p:cNvSpPr txBox="1"/>
          <p:nvPr/>
        </p:nvSpPr>
        <p:spPr>
          <a:xfrm>
            <a:off x="676656" y="3986784"/>
            <a:ext cx="2020824" cy="457200"/>
          </a:xfrm>
          <a:prstGeom prst="rect">
            <a:avLst/>
          </a:prstGeom>
          <a:noFill/>
        </p:spPr>
        <p:txBody>
          <a:bodyPr wrap="square" anchor="t" lIns="0" rIns="0" tIns="0" bIns="0">
            <a:spAutoFit/>
          </a:bodyPr>
          <a:lstStyle/>
          <a:p>
            <a:pPr algn="ctr">
              <a:lnSpc>
                <a:spcPct val="100000"/>
              </a:lnSpc>
              <a:spcBef>
                <a:spcPts val="0"/>
              </a:spcBef>
              <a:spcAft>
                <a:spcPts val="200"/>
              </a:spcAft>
            </a:pPr>
            <a:r>
              <a:rPr sz="1000" b="0" i="0">
                <a:solidFill>
                  <a:srgbClr val="6B777C"/>
                </a:solidFill>
                <a:latin typeface="Segoe UI"/>
              </a:rPr>
              <a:t>Cheap, scalable object storage</a:t>
            </a:r>
          </a:p>
        </p:txBody>
      </p:sp>
      <p:sp>
        <p:nvSpPr>
          <p:cNvPr id="21" name="Rounded Rectangle 20"/>
          <p:cNvSpPr/>
          <p:nvPr/>
        </p:nvSpPr>
        <p:spPr>
          <a:xfrm>
            <a:off x="3264408" y="2286000"/>
            <a:ext cx="2240280" cy="21945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64408" y="2286000"/>
            <a:ext cx="2240280" cy="109728"/>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3927348" y="2606040"/>
            <a:ext cx="914400" cy="914400"/>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Isosceles Triangle 23"/>
          <p:cNvSpPr/>
          <p:nvPr/>
        </p:nvSpPr>
        <p:spPr>
          <a:xfrm>
            <a:off x="4174235" y="2873959"/>
            <a:ext cx="420624" cy="378561"/>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355848" y="3611880"/>
            <a:ext cx="2057400" cy="365760"/>
          </a:xfrm>
          <a:prstGeom prst="rect">
            <a:avLst/>
          </a:prstGeom>
          <a:noFill/>
        </p:spPr>
        <p:txBody>
          <a:bodyPr wrap="square" anchor="t" lIns="0" rIns="0" tIns="0" bIns="0">
            <a:spAutoFit/>
          </a:bodyPr>
          <a:lstStyle/>
          <a:p>
            <a:pPr algn="ctr">
              <a:lnSpc>
                <a:spcPct val="100000"/>
              </a:lnSpc>
              <a:spcBef>
                <a:spcPts val="0"/>
              </a:spcBef>
              <a:spcAft>
                <a:spcPts val="200"/>
              </a:spcAft>
            </a:pPr>
            <a:r>
              <a:rPr sz="1400" b="1" i="0">
                <a:solidFill>
                  <a:srgbClr val="1B3139"/>
                </a:solidFill>
                <a:latin typeface="Segoe UI"/>
              </a:rPr>
              <a:t>Delta Lake</a:t>
            </a:r>
          </a:p>
        </p:txBody>
      </p:sp>
      <p:sp>
        <p:nvSpPr>
          <p:cNvPr id="26" name="TextBox 25"/>
          <p:cNvSpPr txBox="1"/>
          <p:nvPr/>
        </p:nvSpPr>
        <p:spPr>
          <a:xfrm>
            <a:off x="3374136" y="3986784"/>
            <a:ext cx="2020824" cy="457200"/>
          </a:xfrm>
          <a:prstGeom prst="rect">
            <a:avLst/>
          </a:prstGeom>
          <a:noFill/>
        </p:spPr>
        <p:txBody>
          <a:bodyPr wrap="square" anchor="t" lIns="0" rIns="0" tIns="0" bIns="0">
            <a:spAutoFit/>
          </a:bodyPr>
          <a:lstStyle/>
          <a:p>
            <a:pPr algn="ctr">
              <a:lnSpc>
                <a:spcPct val="100000"/>
              </a:lnSpc>
              <a:spcBef>
                <a:spcPts val="0"/>
              </a:spcBef>
              <a:spcAft>
                <a:spcPts val="200"/>
              </a:spcAft>
            </a:pPr>
            <a:r>
              <a:rPr sz="1000" b="0" i="0">
                <a:solidFill>
                  <a:srgbClr val="6B777C"/>
                </a:solidFill>
                <a:latin typeface="Segoe UI"/>
              </a:rPr>
              <a:t>Reliability &amp; ACID layer</a:t>
            </a:r>
          </a:p>
        </p:txBody>
      </p:sp>
      <p:sp>
        <p:nvSpPr>
          <p:cNvPr id="27" name="Rounded Rectangle 26"/>
          <p:cNvSpPr/>
          <p:nvPr/>
        </p:nvSpPr>
        <p:spPr>
          <a:xfrm>
            <a:off x="5961888" y="2286000"/>
            <a:ext cx="2240280" cy="21945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5961888" y="2286000"/>
            <a:ext cx="2240280" cy="109728"/>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624828" y="2606040"/>
            <a:ext cx="914400" cy="91440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Lightning Bolt 29"/>
          <p:cNvSpPr/>
          <p:nvPr/>
        </p:nvSpPr>
        <p:spPr>
          <a:xfrm>
            <a:off x="6934809" y="2852928"/>
            <a:ext cx="294436" cy="420624"/>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053328" y="3611880"/>
            <a:ext cx="2057400" cy="365760"/>
          </a:xfrm>
          <a:prstGeom prst="rect">
            <a:avLst/>
          </a:prstGeom>
          <a:noFill/>
        </p:spPr>
        <p:txBody>
          <a:bodyPr wrap="square" anchor="t" lIns="0" rIns="0" tIns="0" bIns="0">
            <a:spAutoFit/>
          </a:bodyPr>
          <a:lstStyle/>
          <a:p>
            <a:pPr algn="ctr">
              <a:lnSpc>
                <a:spcPct val="100000"/>
              </a:lnSpc>
              <a:spcBef>
                <a:spcPts val="0"/>
              </a:spcBef>
              <a:spcAft>
                <a:spcPts val="200"/>
              </a:spcAft>
            </a:pPr>
            <a:r>
              <a:rPr sz="1400" b="1" i="0">
                <a:solidFill>
                  <a:srgbClr val="1B3139"/>
                </a:solidFill>
                <a:latin typeface="Segoe UI"/>
              </a:rPr>
              <a:t>Databricks</a:t>
            </a:r>
          </a:p>
        </p:txBody>
      </p:sp>
      <p:sp>
        <p:nvSpPr>
          <p:cNvPr id="32" name="TextBox 31"/>
          <p:cNvSpPr txBox="1"/>
          <p:nvPr/>
        </p:nvSpPr>
        <p:spPr>
          <a:xfrm>
            <a:off x="6071616" y="3986784"/>
            <a:ext cx="2020824" cy="457200"/>
          </a:xfrm>
          <a:prstGeom prst="rect">
            <a:avLst/>
          </a:prstGeom>
          <a:noFill/>
        </p:spPr>
        <p:txBody>
          <a:bodyPr wrap="square" anchor="t" lIns="0" rIns="0" tIns="0" bIns="0">
            <a:spAutoFit/>
          </a:bodyPr>
          <a:lstStyle/>
          <a:p>
            <a:pPr algn="ctr">
              <a:lnSpc>
                <a:spcPct val="100000"/>
              </a:lnSpc>
              <a:spcBef>
                <a:spcPts val="0"/>
              </a:spcBef>
              <a:spcAft>
                <a:spcPts val="200"/>
              </a:spcAft>
            </a:pPr>
            <a:r>
              <a:rPr sz="1000" b="0" i="0">
                <a:solidFill>
                  <a:srgbClr val="6B777C"/>
                </a:solidFill>
                <a:latin typeface="Segoe UI"/>
              </a:rPr>
              <a:t>Spark, SQL, ML &amp; governance</a:t>
            </a:r>
          </a:p>
        </p:txBody>
      </p:sp>
      <p:sp>
        <p:nvSpPr>
          <p:cNvPr id="33" name="TextBox 32"/>
          <p:cNvSpPr txBox="1"/>
          <p:nvPr/>
        </p:nvSpPr>
        <p:spPr>
          <a:xfrm>
            <a:off x="2807208" y="3017520"/>
            <a:ext cx="457200" cy="731520"/>
          </a:xfrm>
          <a:prstGeom prst="rect">
            <a:avLst/>
          </a:prstGeom>
          <a:noFill/>
        </p:spPr>
        <p:txBody>
          <a:bodyPr wrap="square" anchor="ctr" lIns="0" rIns="0" tIns="0" bIns="0">
            <a:spAutoFit/>
          </a:bodyPr>
          <a:lstStyle/>
          <a:p>
            <a:pPr algn="ctr">
              <a:lnSpc>
                <a:spcPct val="100000"/>
              </a:lnSpc>
              <a:spcBef>
                <a:spcPts val="0"/>
              </a:spcBef>
              <a:spcAft>
                <a:spcPts val="200"/>
              </a:spcAft>
            </a:pPr>
            <a:r>
              <a:rPr sz="3200" b="1" i="0">
                <a:solidFill>
                  <a:srgbClr val="9AA6AB"/>
                </a:solidFill>
                <a:latin typeface="Segoe UI"/>
              </a:rPr>
              <a:t>+</a:t>
            </a:r>
          </a:p>
        </p:txBody>
      </p:sp>
      <p:sp>
        <p:nvSpPr>
          <p:cNvPr id="34" name="TextBox 33"/>
          <p:cNvSpPr txBox="1"/>
          <p:nvPr/>
        </p:nvSpPr>
        <p:spPr>
          <a:xfrm>
            <a:off x="5504688" y="3017520"/>
            <a:ext cx="457200" cy="731520"/>
          </a:xfrm>
          <a:prstGeom prst="rect">
            <a:avLst/>
          </a:prstGeom>
          <a:noFill/>
        </p:spPr>
        <p:txBody>
          <a:bodyPr wrap="square" anchor="ctr" lIns="0" rIns="0" tIns="0" bIns="0">
            <a:spAutoFit/>
          </a:bodyPr>
          <a:lstStyle/>
          <a:p>
            <a:pPr algn="ctr">
              <a:lnSpc>
                <a:spcPct val="100000"/>
              </a:lnSpc>
              <a:spcBef>
                <a:spcPts val="0"/>
              </a:spcBef>
              <a:spcAft>
                <a:spcPts val="200"/>
              </a:spcAft>
            </a:pPr>
            <a:r>
              <a:rPr sz="3200" b="1" i="0">
                <a:solidFill>
                  <a:srgbClr val="9AA6AB"/>
                </a:solidFill>
                <a:latin typeface="Segoe UI"/>
              </a:rPr>
              <a:t>+</a:t>
            </a:r>
          </a:p>
        </p:txBody>
      </p:sp>
      <p:sp>
        <p:nvSpPr>
          <p:cNvPr id="35" name="TextBox 34"/>
          <p:cNvSpPr txBox="1"/>
          <p:nvPr/>
        </p:nvSpPr>
        <p:spPr>
          <a:xfrm>
            <a:off x="8202168" y="3017520"/>
            <a:ext cx="457200" cy="731520"/>
          </a:xfrm>
          <a:prstGeom prst="rect">
            <a:avLst/>
          </a:prstGeom>
          <a:noFill/>
        </p:spPr>
        <p:txBody>
          <a:bodyPr wrap="square" anchor="ctr" lIns="0" rIns="0" tIns="0" bIns="0">
            <a:spAutoFit/>
          </a:bodyPr>
          <a:lstStyle/>
          <a:p>
            <a:pPr algn="ctr">
              <a:lnSpc>
                <a:spcPct val="100000"/>
              </a:lnSpc>
              <a:spcBef>
                <a:spcPts val="0"/>
              </a:spcBef>
              <a:spcAft>
                <a:spcPts val="200"/>
              </a:spcAft>
            </a:pPr>
            <a:r>
              <a:rPr sz="3200" b="1" i="0">
                <a:solidFill>
                  <a:srgbClr val="FF3621"/>
                </a:solidFill>
                <a:latin typeface="Segoe UI"/>
              </a:rPr>
              <a:t>=</a:t>
            </a:r>
          </a:p>
        </p:txBody>
      </p:sp>
      <p:sp>
        <p:nvSpPr>
          <p:cNvPr id="36" name="Rounded Rectangle 35"/>
          <p:cNvSpPr/>
          <p:nvPr/>
        </p:nvSpPr>
        <p:spPr>
          <a:xfrm>
            <a:off x="8659368" y="2286000"/>
            <a:ext cx="2965399" cy="2194560"/>
          </a:xfrm>
          <a:prstGeom prst="roundRect">
            <a:avLst>
              <a:gd name="adj" fmla="val 60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9662007" y="2583180"/>
            <a:ext cx="960120" cy="96012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9938906" y="2915285"/>
            <a:ext cx="114830" cy="1324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10084652" y="2915285"/>
            <a:ext cx="114830" cy="1324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10230398" y="2915285"/>
            <a:ext cx="114830" cy="1324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9938906" y="3078697"/>
            <a:ext cx="114830" cy="1324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10084652" y="3078697"/>
            <a:ext cx="114830" cy="1324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10230398" y="3078697"/>
            <a:ext cx="114830" cy="1324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8659368" y="3611880"/>
            <a:ext cx="2965399" cy="411480"/>
          </a:xfrm>
          <a:prstGeom prst="rect">
            <a:avLst/>
          </a:prstGeom>
          <a:noFill/>
        </p:spPr>
        <p:txBody>
          <a:bodyPr wrap="square" anchor="t" lIns="0" rIns="0" tIns="0" bIns="0">
            <a:spAutoFit/>
          </a:bodyPr>
          <a:lstStyle/>
          <a:p>
            <a:pPr algn="ctr">
              <a:lnSpc>
                <a:spcPct val="100000"/>
              </a:lnSpc>
              <a:spcBef>
                <a:spcPts val="0"/>
              </a:spcBef>
              <a:spcAft>
                <a:spcPts val="200"/>
              </a:spcAft>
            </a:pPr>
            <a:r>
              <a:rPr sz="1700" b="1" i="0">
                <a:solidFill>
                  <a:srgbClr val="FFFFFF"/>
                </a:solidFill>
                <a:latin typeface="Segoe UI"/>
              </a:rPr>
              <a:t>LAKEHOUSE</a:t>
            </a:r>
          </a:p>
        </p:txBody>
      </p:sp>
      <p:sp>
        <p:nvSpPr>
          <p:cNvPr id="45" name="TextBox 44"/>
          <p:cNvSpPr txBox="1"/>
          <p:nvPr/>
        </p:nvSpPr>
        <p:spPr>
          <a:xfrm>
            <a:off x="8659368" y="4041648"/>
            <a:ext cx="2965399" cy="365760"/>
          </a:xfrm>
          <a:prstGeom prst="rect">
            <a:avLst/>
          </a:prstGeom>
          <a:noFill/>
        </p:spPr>
        <p:txBody>
          <a:bodyPr wrap="square" anchor="t" lIns="0" rIns="0" tIns="0" bIns="0">
            <a:spAutoFit/>
          </a:bodyPr>
          <a:lstStyle/>
          <a:p>
            <a:pPr algn="ctr">
              <a:lnSpc>
                <a:spcPct val="100000"/>
              </a:lnSpc>
              <a:spcBef>
                <a:spcPts val="0"/>
              </a:spcBef>
              <a:spcAft>
                <a:spcPts val="200"/>
              </a:spcAft>
            </a:pPr>
            <a:r>
              <a:rPr sz="950" b="0" i="1">
                <a:solidFill>
                  <a:srgbClr val="FF6B57"/>
                </a:solidFill>
                <a:latin typeface="Segoe UI"/>
              </a:rPr>
              <a:t>lake economics + warehouse reliability</a:t>
            </a:r>
          </a:p>
        </p:txBody>
      </p:sp>
      <p:sp>
        <p:nvSpPr>
          <p:cNvPr id="46" name="Rounded Rectangle 45"/>
          <p:cNvSpPr/>
          <p:nvPr/>
        </p:nvSpPr>
        <p:spPr>
          <a:xfrm>
            <a:off x="566928" y="4892040"/>
            <a:ext cx="11057839" cy="91440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14400" y="4892040"/>
            <a:ext cx="10362895" cy="91440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Delta Lake is the keystone.  </a:t>
            </a:r>
            <a:r>
              <a:rPr sz="1250" b="0" i="0">
                <a:solidFill>
                  <a:srgbClr val="465257"/>
                </a:solidFill>
                <a:latin typeface="Segoe UI"/>
              </a:rPr>
              <a:t>It's the reliability layer that turns cheap cloud storage into a Lakehouse — without Delta, you just have a lake.</a:t>
            </a:r>
          </a:p>
        </p:txBody>
      </p:sp>
      <p:sp>
        <p:nvSpPr>
          <p:cNvPr id="48" name="TextBox 47"/>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9" name="TextBox 48"/>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PLATFORM &amp; VALUE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Performance Optimization</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56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Fundamentals</a:t>
            </a:r>
          </a:p>
        </p:txBody>
      </p:sp>
      <p:sp>
        <p:nvSpPr>
          <p:cNvPr id="11" name="Oval 10"/>
          <p:cNvSpPr/>
          <p:nvPr/>
        </p:nvSpPr>
        <p:spPr>
          <a:xfrm>
            <a:off x="9299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Internals</a:t>
            </a:r>
          </a:p>
        </p:txBody>
      </p:sp>
      <p:sp>
        <p:nvSpPr>
          <p:cNvPr id="13" name="Oval 12"/>
          <p:cNvSpPr/>
          <p:nvPr/>
        </p:nvSpPr>
        <p:spPr>
          <a:xfrm>
            <a:off x="10426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Platform</a:t>
            </a:r>
          </a:p>
        </p:txBody>
      </p:sp>
      <p:sp>
        <p:nvSpPr>
          <p:cNvPr id="15" name="Rounded Rectangle 14"/>
          <p:cNvSpPr/>
          <p:nvPr/>
        </p:nvSpPr>
        <p:spPr>
          <a:xfrm>
            <a:off x="566928" y="1828800"/>
            <a:ext cx="3291840"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66928" y="1828800"/>
            <a:ext cx="91440" cy="189738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713231" y="1947672"/>
            <a:ext cx="713232" cy="713232"/>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Cube 17"/>
          <p:cNvSpPr/>
          <p:nvPr/>
        </p:nvSpPr>
        <p:spPr>
          <a:xfrm>
            <a:off x="930411" y="2164851"/>
            <a:ext cx="278873" cy="278873"/>
          </a:xfrm>
          <a:prstGeom prst="cub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499616" y="1993392"/>
            <a:ext cx="2212848"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OPTIMIZE</a:t>
            </a:r>
          </a:p>
        </p:txBody>
      </p:sp>
      <p:sp>
        <p:nvSpPr>
          <p:cNvPr id="20" name="TextBox 19"/>
          <p:cNvSpPr txBox="1"/>
          <p:nvPr/>
        </p:nvSpPr>
        <p:spPr>
          <a:xfrm>
            <a:off x="841247" y="2697480"/>
            <a:ext cx="2779776" cy="937260"/>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Compacts many small files into fewer large ones for faster scans.</a:t>
            </a:r>
          </a:p>
        </p:txBody>
      </p:sp>
      <p:sp>
        <p:nvSpPr>
          <p:cNvPr id="21" name="Rounded Rectangle 20"/>
          <p:cNvSpPr/>
          <p:nvPr/>
        </p:nvSpPr>
        <p:spPr>
          <a:xfrm>
            <a:off x="4133087" y="1828800"/>
            <a:ext cx="3291840"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4133087" y="1828800"/>
            <a:ext cx="91440" cy="1897380"/>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79392" y="1947672"/>
            <a:ext cx="713232" cy="713232"/>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4498211" y="2192738"/>
            <a:ext cx="275592" cy="4921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498211" y="2291164"/>
            <a:ext cx="196852" cy="4921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4498211" y="2389590"/>
            <a:ext cx="118111" cy="4921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065775" y="1993392"/>
            <a:ext cx="2212848"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Z-ORDER</a:t>
            </a:r>
          </a:p>
        </p:txBody>
      </p:sp>
      <p:sp>
        <p:nvSpPr>
          <p:cNvPr id="28" name="TextBox 27"/>
          <p:cNvSpPr txBox="1"/>
          <p:nvPr/>
        </p:nvSpPr>
        <p:spPr>
          <a:xfrm>
            <a:off x="4407407" y="2697480"/>
            <a:ext cx="2779776" cy="937260"/>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Co-locates related data so queries skip irrelevant files.</a:t>
            </a:r>
          </a:p>
        </p:txBody>
      </p:sp>
      <p:sp>
        <p:nvSpPr>
          <p:cNvPr id="29" name="Rounded Rectangle 28"/>
          <p:cNvSpPr/>
          <p:nvPr/>
        </p:nvSpPr>
        <p:spPr>
          <a:xfrm>
            <a:off x="566928" y="4000500"/>
            <a:ext cx="3291840"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566928" y="4000500"/>
            <a:ext cx="91440" cy="1897380"/>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713231" y="4119372"/>
            <a:ext cx="713232" cy="713232"/>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2" name="Connector 31"/>
          <p:cNvCxnSpPr/>
          <p:nvPr/>
        </p:nvCxnSpPr>
        <p:spPr>
          <a:xfrm>
            <a:off x="938613" y="4344753"/>
            <a:ext cx="131235" cy="150920"/>
          </a:xfrm>
          <a:prstGeom prst="line">
            <a:avLst/>
          </a:prstGeom>
          <a:ln w="273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1069848" y="4344753"/>
            <a:ext cx="131234" cy="150920"/>
          </a:xfrm>
          <a:prstGeom prst="line">
            <a:avLst/>
          </a:prstGeom>
          <a:ln w="273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69848" y="4495673"/>
            <a:ext cx="0" cy="78741"/>
          </a:xfrm>
          <a:prstGeom prst="line">
            <a:avLst/>
          </a:prstGeom>
          <a:ln w="27340">
            <a:solidFill>
              <a:srgbClr val="FFFFFF"/>
            </a:solidFill>
          </a:ln>
        </p:spPr>
        <p:style>
          <a:lnRef idx="2">
            <a:schemeClr val="accent1"/>
          </a:lnRef>
          <a:fillRef idx="0">
            <a:schemeClr val="accent1"/>
          </a:fillRef>
          <a:effectRef idx="1">
            <a:schemeClr val="accent1"/>
          </a:effectRef>
          <a:fontRef idx="minor">
            <a:schemeClr val="tx1"/>
          </a:fontRef>
        </p:style>
      </p:cxnSp>
      <p:sp>
        <p:nvSpPr>
          <p:cNvPr id="35" name="Isosceles Triangle 34"/>
          <p:cNvSpPr/>
          <p:nvPr/>
        </p:nvSpPr>
        <p:spPr>
          <a:xfrm rot="10800000">
            <a:off x="1027196" y="4567852"/>
            <a:ext cx="85302" cy="59055"/>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910725" y="4316865"/>
            <a:ext cx="55774" cy="5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1173195" y="4316865"/>
            <a:ext cx="55774" cy="5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499616" y="4165091"/>
            <a:ext cx="2212848"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Compaction</a:t>
            </a:r>
          </a:p>
        </p:txBody>
      </p:sp>
      <p:sp>
        <p:nvSpPr>
          <p:cNvPr id="39" name="TextBox 38"/>
          <p:cNvSpPr txBox="1"/>
          <p:nvPr/>
        </p:nvSpPr>
        <p:spPr>
          <a:xfrm>
            <a:off x="841247" y="4869180"/>
            <a:ext cx="2779776" cy="937260"/>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Auto-compaction &amp; optimized writes tame the small-file problem.</a:t>
            </a:r>
          </a:p>
        </p:txBody>
      </p:sp>
      <p:sp>
        <p:nvSpPr>
          <p:cNvPr id="40" name="Rounded Rectangle 39"/>
          <p:cNvSpPr/>
          <p:nvPr/>
        </p:nvSpPr>
        <p:spPr>
          <a:xfrm>
            <a:off x="4133087" y="4000500"/>
            <a:ext cx="3291840" cy="189738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4133087" y="4000500"/>
            <a:ext cx="91440" cy="1897380"/>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4279392" y="4119372"/>
            <a:ext cx="713232" cy="713232"/>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Lightning Bolt 42"/>
          <p:cNvSpPr/>
          <p:nvPr/>
        </p:nvSpPr>
        <p:spPr>
          <a:xfrm>
            <a:off x="4521177" y="4311944"/>
            <a:ext cx="229660" cy="328086"/>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065775" y="4165091"/>
            <a:ext cx="2212848"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Caching</a:t>
            </a:r>
          </a:p>
        </p:txBody>
      </p:sp>
      <p:sp>
        <p:nvSpPr>
          <p:cNvPr id="45" name="TextBox 44"/>
          <p:cNvSpPr txBox="1"/>
          <p:nvPr/>
        </p:nvSpPr>
        <p:spPr>
          <a:xfrm>
            <a:off x="4407407" y="4869180"/>
            <a:ext cx="2779776" cy="937260"/>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Delta cache &amp; Photon keep hot data fast and close to compute.</a:t>
            </a:r>
          </a:p>
        </p:txBody>
      </p:sp>
      <p:sp>
        <p:nvSpPr>
          <p:cNvPr id="46" name="Rounded Rectangle 45"/>
          <p:cNvSpPr/>
          <p:nvPr/>
        </p:nvSpPr>
        <p:spPr>
          <a:xfrm>
            <a:off x="7589520" y="1828800"/>
            <a:ext cx="4035247" cy="4069080"/>
          </a:xfrm>
          <a:prstGeom prst="roundRect">
            <a:avLst>
              <a:gd name="adj" fmla="val 5500"/>
            </a:avLst>
          </a:prstGeom>
          <a:solidFill>
            <a:srgbClr val="1B3139"/>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909560" y="2057400"/>
            <a:ext cx="3657600" cy="274320"/>
          </a:xfrm>
          <a:prstGeom prst="rect">
            <a:avLst/>
          </a:prstGeom>
          <a:noFill/>
        </p:spPr>
        <p:txBody>
          <a:bodyPr wrap="square" anchor="t" lIns="0" rIns="0" tIns="0" bIns="0">
            <a:spAutoFit/>
          </a:bodyPr>
          <a:lstStyle/>
          <a:p>
            <a:pPr algn="l">
              <a:lnSpc>
                <a:spcPct val="100000"/>
              </a:lnSpc>
              <a:spcBef>
                <a:spcPts val="0"/>
              </a:spcBef>
              <a:spcAft>
                <a:spcPts val="200"/>
              </a:spcAft>
            </a:pPr>
            <a:r>
              <a:rPr sz="1100" b="1" i="0">
                <a:solidFill>
                  <a:srgbClr val="FF6B57"/>
                </a:solidFill>
                <a:latin typeface="Segoe UI Semibold"/>
              </a:rPr>
              <a:t>THE PAYOFF</a:t>
            </a:r>
          </a:p>
        </p:txBody>
      </p:sp>
      <p:sp>
        <p:nvSpPr>
          <p:cNvPr id="48" name="Oval 47"/>
          <p:cNvSpPr/>
          <p:nvPr/>
        </p:nvSpPr>
        <p:spPr>
          <a:xfrm>
            <a:off x="8921343" y="2514600"/>
            <a:ext cx="1371600" cy="137160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Oval 48"/>
          <p:cNvSpPr/>
          <p:nvPr/>
        </p:nvSpPr>
        <p:spPr>
          <a:xfrm>
            <a:off x="9316913" y="2910169"/>
            <a:ext cx="580461" cy="580461"/>
          </a:xfrm>
          <a:prstGeom prst="ellipse">
            <a:avLst/>
          </a:prstGeom>
          <a:noFill/>
          <a:ln w="61341">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rot="2520000">
            <a:off x="9581906" y="2998500"/>
            <a:ext cx="50474" cy="22713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9566132" y="3159389"/>
            <a:ext cx="82021" cy="8202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7772400" y="4069080"/>
            <a:ext cx="3669487" cy="457200"/>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FFFFFF"/>
                </a:solidFill>
                <a:latin typeface="Segoe UI"/>
              </a:rPr>
              <a:t>Faster queries · lower cost</a:t>
            </a:r>
          </a:p>
        </p:txBody>
      </p:sp>
      <p:sp>
        <p:nvSpPr>
          <p:cNvPr id="53" name="TextBox 52"/>
          <p:cNvSpPr txBox="1"/>
          <p:nvPr/>
        </p:nvSpPr>
        <p:spPr>
          <a:xfrm>
            <a:off x="7863840" y="4572000"/>
            <a:ext cx="3578047" cy="1280160"/>
          </a:xfrm>
          <a:prstGeom prst="rect">
            <a:avLst/>
          </a:prstGeom>
          <a:noFill/>
        </p:spPr>
        <p:txBody>
          <a:bodyPr wrap="square" anchor="t" lIns="0" rIns="0" tIns="0" bIns="0">
            <a:spAutoFit/>
          </a:bodyPr>
          <a:lstStyle/>
          <a:p>
            <a:pPr marL="274320" indent="-274320">
              <a:lnSpc>
                <a:spcPct val="112000"/>
              </a:lnSpc>
              <a:spcBef>
                <a:spcPts val="0"/>
              </a:spcBef>
              <a:spcAft>
                <a:spcPts val="700"/>
              </a:spcAft>
            </a:pPr>
            <a:r>
              <a:rPr sz="1030" b="1">
                <a:solidFill>
                  <a:srgbClr val="FF6B57"/>
                </a:solidFill>
                <a:latin typeface="Segoe UI"/>
              </a:rPr>
              <a:t>▪   </a:t>
            </a:r>
            <a:r>
              <a:rPr sz="1030">
                <a:solidFill>
                  <a:srgbClr val="C4D0D4"/>
                </a:solidFill>
                <a:latin typeface="Segoe UI"/>
              </a:rPr>
              <a:t>Data skipping via file statistics</a:t>
            </a:r>
          </a:p>
          <a:p>
            <a:pPr marL="274320" indent="-274320">
              <a:lnSpc>
                <a:spcPct val="112000"/>
              </a:lnSpc>
              <a:spcBef>
                <a:spcPts val="0"/>
              </a:spcBef>
              <a:spcAft>
                <a:spcPts val="700"/>
              </a:spcAft>
            </a:pPr>
            <a:r>
              <a:rPr sz="1030" b="1">
                <a:solidFill>
                  <a:srgbClr val="FF6B57"/>
                </a:solidFill>
                <a:latin typeface="Segoe UI"/>
              </a:rPr>
              <a:t>▪   </a:t>
            </a:r>
            <a:r>
              <a:rPr sz="1030">
                <a:solidFill>
                  <a:srgbClr val="C4D0D4"/>
                </a:solidFill>
                <a:latin typeface="Segoe UI"/>
              </a:rPr>
              <a:t>Fewer, bigger files = less overhead</a:t>
            </a:r>
          </a:p>
          <a:p>
            <a:pPr marL="274320" indent="-274320">
              <a:lnSpc>
                <a:spcPct val="112000"/>
              </a:lnSpc>
              <a:spcBef>
                <a:spcPts val="0"/>
              </a:spcBef>
              <a:spcAft>
                <a:spcPts val="700"/>
              </a:spcAft>
            </a:pPr>
            <a:r>
              <a:rPr sz="1030" b="1">
                <a:solidFill>
                  <a:srgbClr val="FF6B57"/>
                </a:solidFill>
                <a:latin typeface="Segoe UI"/>
              </a:rPr>
              <a:t>▪   </a:t>
            </a:r>
            <a:r>
              <a:rPr sz="1030">
                <a:solidFill>
                  <a:srgbClr val="C4D0D4"/>
                </a:solidFill>
                <a:latin typeface="Segoe UI"/>
              </a:rPr>
              <a:t>Photon-native execution</a:t>
            </a:r>
          </a:p>
        </p:txBody>
      </p:sp>
      <p:sp>
        <p:nvSpPr>
          <p:cNvPr id="54" name="TextBox 53"/>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5" name="TextBox 54"/>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PLATFORM &amp; VALUE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Governance with Unity Catalog</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56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Fundamentals</a:t>
            </a:r>
          </a:p>
        </p:txBody>
      </p:sp>
      <p:sp>
        <p:nvSpPr>
          <p:cNvPr id="11" name="Oval 10"/>
          <p:cNvSpPr/>
          <p:nvPr/>
        </p:nvSpPr>
        <p:spPr>
          <a:xfrm>
            <a:off x="9299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Internals</a:t>
            </a:r>
          </a:p>
        </p:txBody>
      </p:sp>
      <p:sp>
        <p:nvSpPr>
          <p:cNvPr id="13" name="Oval 12"/>
          <p:cNvSpPr/>
          <p:nvPr/>
        </p:nvSpPr>
        <p:spPr>
          <a:xfrm>
            <a:off x="10426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Platform</a:t>
            </a:r>
          </a:p>
        </p:txBody>
      </p:sp>
      <p:sp>
        <p:nvSpPr>
          <p:cNvPr id="15" name="Rounded Rectangle 14"/>
          <p:cNvSpPr/>
          <p:nvPr/>
        </p:nvSpPr>
        <p:spPr>
          <a:xfrm>
            <a:off x="566928" y="2103120"/>
            <a:ext cx="2490139" cy="21945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66928" y="2103120"/>
            <a:ext cx="2490139" cy="109728"/>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373085" y="2322575"/>
            <a:ext cx="877824" cy="877824"/>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1674706" y="2741298"/>
            <a:ext cx="274583" cy="201899"/>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Block Arc 18"/>
          <p:cNvSpPr/>
          <p:nvPr/>
        </p:nvSpPr>
        <p:spPr>
          <a:xfrm>
            <a:off x="1715086" y="2559588"/>
            <a:ext cx="193823" cy="201899"/>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25632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1</a:t>
            </a:r>
          </a:p>
        </p:txBody>
      </p:sp>
      <p:sp>
        <p:nvSpPr>
          <p:cNvPr id="21" name="TextBox 20"/>
          <p:cNvSpPr txBox="1"/>
          <p:nvPr/>
        </p:nvSpPr>
        <p:spPr>
          <a:xfrm>
            <a:off x="676656" y="3236976"/>
            <a:ext cx="227068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Unity Catalog</a:t>
            </a:r>
          </a:p>
        </p:txBody>
      </p:sp>
      <p:sp>
        <p:nvSpPr>
          <p:cNvPr id="22" name="TextBox 21"/>
          <p:cNvSpPr txBox="1"/>
          <p:nvPr/>
        </p:nvSpPr>
        <p:spPr>
          <a:xfrm>
            <a:off x="713232" y="3694176"/>
            <a:ext cx="2197531" cy="566927"/>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One catalog governs every Delta table &amp; AI asset.</a:t>
            </a:r>
          </a:p>
        </p:txBody>
      </p:sp>
      <p:sp>
        <p:nvSpPr>
          <p:cNvPr id="23" name="Right Arrow 22"/>
          <p:cNvSpPr/>
          <p:nvPr/>
        </p:nvSpPr>
        <p:spPr>
          <a:xfrm>
            <a:off x="3093643" y="311810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3422827" y="2103120"/>
            <a:ext cx="2490139" cy="21945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3422827" y="2103120"/>
            <a:ext cx="2490139" cy="109728"/>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4228985" y="2322575"/>
            <a:ext cx="877824" cy="877824"/>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Pentagon 26"/>
          <p:cNvSpPr/>
          <p:nvPr/>
        </p:nvSpPr>
        <p:spPr>
          <a:xfrm rot="5400000">
            <a:off x="4498302" y="2567664"/>
            <a:ext cx="339191" cy="371495"/>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54191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2</a:t>
            </a:r>
          </a:p>
        </p:txBody>
      </p:sp>
      <p:sp>
        <p:nvSpPr>
          <p:cNvPr id="29" name="TextBox 28"/>
          <p:cNvSpPr txBox="1"/>
          <p:nvPr/>
        </p:nvSpPr>
        <p:spPr>
          <a:xfrm>
            <a:off x="3532555" y="3236976"/>
            <a:ext cx="227068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Security</a:t>
            </a:r>
          </a:p>
        </p:txBody>
      </p:sp>
      <p:sp>
        <p:nvSpPr>
          <p:cNvPr id="30" name="TextBox 29"/>
          <p:cNvSpPr txBox="1"/>
          <p:nvPr/>
        </p:nvSpPr>
        <p:spPr>
          <a:xfrm>
            <a:off x="3569131" y="3694176"/>
            <a:ext cx="2197531" cy="566927"/>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Fine-grained access — row, column &amp; SQL GRANTs.</a:t>
            </a:r>
          </a:p>
        </p:txBody>
      </p:sp>
      <p:sp>
        <p:nvSpPr>
          <p:cNvPr id="31" name="Right Arrow 30"/>
          <p:cNvSpPr/>
          <p:nvPr/>
        </p:nvSpPr>
        <p:spPr>
          <a:xfrm>
            <a:off x="5949543" y="311810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6278727" y="2103120"/>
            <a:ext cx="2490139" cy="21945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6278727" y="2103120"/>
            <a:ext cx="2490139" cy="109728"/>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7084885" y="2322575"/>
            <a:ext cx="877824" cy="877824"/>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5" name="Connector 34"/>
          <p:cNvCxnSpPr/>
          <p:nvPr/>
        </p:nvCxnSpPr>
        <p:spPr>
          <a:xfrm>
            <a:off x="7426885" y="2591892"/>
            <a:ext cx="0" cy="339191"/>
          </a:xfrm>
          <a:prstGeom prst="line">
            <a:avLst/>
          </a:prstGeom>
          <a:ln w="33649">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7426885" y="2591892"/>
            <a:ext cx="201900" cy="169595"/>
          </a:xfrm>
          <a:prstGeom prst="line">
            <a:avLst/>
          </a:prstGeom>
          <a:ln w="33649">
            <a:solidFill>
              <a:srgbClr val="FFFFFF"/>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7374391" y="2539398"/>
            <a:ext cx="104987" cy="10498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7374391" y="2878589"/>
            <a:ext cx="104987" cy="10498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7576291" y="2539398"/>
            <a:ext cx="104987" cy="10498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82750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3</a:t>
            </a:r>
          </a:p>
        </p:txBody>
      </p:sp>
      <p:sp>
        <p:nvSpPr>
          <p:cNvPr id="41" name="TextBox 40"/>
          <p:cNvSpPr txBox="1"/>
          <p:nvPr/>
        </p:nvSpPr>
        <p:spPr>
          <a:xfrm>
            <a:off x="6388455" y="3236976"/>
            <a:ext cx="227068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Audit &amp; Lineage</a:t>
            </a:r>
          </a:p>
        </p:txBody>
      </p:sp>
      <p:sp>
        <p:nvSpPr>
          <p:cNvPr id="42" name="TextBox 41"/>
          <p:cNvSpPr txBox="1"/>
          <p:nvPr/>
        </p:nvSpPr>
        <p:spPr>
          <a:xfrm>
            <a:off x="6425031" y="3694176"/>
            <a:ext cx="2197531" cy="566927"/>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Automatic column-level lineage and audit logs.</a:t>
            </a:r>
          </a:p>
        </p:txBody>
      </p:sp>
      <p:sp>
        <p:nvSpPr>
          <p:cNvPr id="43" name="Right Arrow 42"/>
          <p:cNvSpPr/>
          <p:nvPr/>
        </p:nvSpPr>
        <p:spPr>
          <a:xfrm>
            <a:off x="8805443" y="3118104"/>
            <a:ext cx="292608" cy="164592"/>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9134627" y="2103120"/>
            <a:ext cx="2490139" cy="219456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9134627" y="2103120"/>
            <a:ext cx="2490139" cy="109728"/>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Oval 45"/>
          <p:cNvSpPr/>
          <p:nvPr/>
        </p:nvSpPr>
        <p:spPr>
          <a:xfrm>
            <a:off x="9940785" y="2322575"/>
            <a:ext cx="877824" cy="877824"/>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ounded Rectangle 46"/>
          <p:cNvSpPr/>
          <p:nvPr/>
        </p:nvSpPr>
        <p:spPr>
          <a:xfrm rot="2700000">
            <a:off x="10266633" y="2769563"/>
            <a:ext cx="121139" cy="6460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rot="18480000">
            <a:off x="10355469" y="2680728"/>
            <a:ext cx="234203" cy="64607"/>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Oval 48"/>
          <p:cNvSpPr/>
          <p:nvPr/>
        </p:nvSpPr>
        <p:spPr>
          <a:xfrm>
            <a:off x="11130991" y="2231135"/>
            <a:ext cx="365760" cy="365760"/>
          </a:xfrm>
          <a:prstGeom prst="ellipse">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Segoe UI Semibold"/>
              </a:rPr>
              <a:t>4</a:t>
            </a:r>
          </a:p>
        </p:txBody>
      </p:sp>
      <p:sp>
        <p:nvSpPr>
          <p:cNvPr id="50" name="TextBox 49"/>
          <p:cNvSpPr txBox="1"/>
          <p:nvPr/>
        </p:nvSpPr>
        <p:spPr>
          <a:xfrm>
            <a:off x="9244355" y="3236976"/>
            <a:ext cx="2270683" cy="310896"/>
          </a:xfrm>
          <a:prstGeom prst="rect">
            <a:avLst/>
          </a:prstGeom>
          <a:noFill/>
        </p:spPr>
        <p:txBody>
          <a:bodyPr wrap="square" anchor="t" lIns="0" rIns="0" tIns="0" bIns="0">
            <a:spAutoFit/>
          </a:bodyPr>
          <a:lstStyle/>
          <a:p>
            <a:pPr algn="ctr">
              <a:lnSpc>
                <a:spcPct val="100000"/>
              </a:lnSpc>
              <a:spcBef>
                <a:spcPts val="0"/>
              </a:spcBef>
              <a:spcAft>
                <a:spcPts val="200"/>
              </a:spcAft>
            </a:pPr>
            <a:r>
              <a:rPr sz="1450" b="1" i="0">
                <a:solidFill>
                  <a:srgbClr val="1B3139"/>
                </a:solidFill>
                <a:latin typeface="Segoe UI"/>
              </a:rPr>
              <a:t>Compliance</a:t>
            </a:r>
          </a:p>
        </p:txBody>
      </p:sp>
      <p:sp>
        <p:nvSpPr>
          <p:cNvPr id="51" name="TextBox 50"/>
          <p:cNvSpPr txBox="1"/>
          <p:nvPr/>
        </p:nvSpPr>
        <p:spPr>
          <a:xfrm>
            <a:off x="9280931" y="3694176"/>
            <a:ext cx="2197531" cy="566927"/>
          </a:xfrm>
          <a:prstGeom prst="rect">
            <a:avLst/>
          </a:prstGeom>
          <a:noFill/>
        </p:spPr>
        <p:txBody>
          <a:bodyPr wrap="square" anchor="t" lIns="0" rIns="0" tIns="0" bIns="0">
            <a:spAutoFit/>
          </a:bodyPr>
          <a:lstStyle/>
          <a:p>
            <a:pPr algn="ctr">
              <a:lnSpc>
                <a:spcPct val="105000"/>
              </a:lnSpc>
              <a:spcBef>
                <a:spcPts val="0"/>
              </a:spcBef>
              <a:spcAft>
                <a:spcPts val="200"/>
              </a:spcAft>
            </a:pPr>
            <a:r>
              <a:rPr sz="1080" b="0" i="0">
                <a:solidFill>
                  <a:srgbClr val="6B777C"/>
                </a:solidFill>
                <a:latin typeface="Segoe UI"/>
              </a:rPr>
              <a:t>GDPR · HIPAA · SOC 2 — with time-travel evidence.</a:t>
            </a:r>
          </a:p>
        </p:txBody>
      </p:sp>
      <p:sp>
        <p:nvSpPr>
          <p:cNvPr id="52" name="Rounded Rectangle 51"/>
          <p:cNvSpPr/>
          <p:nvPr/>
        </p:nvSpPr>
        <p:spPr>
          <a:xfrm>
            <a:off x="566928" y="4663440"/>
            <a:ext cx="11057839" cy="914400"/>
          </a:xfrm>
          <a:prstGeom prst="roundRect">
            <a:avLst>
              <a:gd name="adj" fmla="val 5500"/>
            </a:avLst>
          </a:prstGeom>
          <a:solidFill>
            <a:srgbClr val="EFECE6"/>
          </a:solidFill>
          <a:ln w="12700">
            <a:solidFill>
              <a:srgbClr val="DDD8C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914400" y="4663440"/>
            <a:ext cx="10362895" cy="914400"/>
          </a:xfrm>
          <a:prstGeom prst="rect">
            <a:avLst/>
          </a:prstGeom>
          <a:noFill/>
        </p:spPr>
        <p:txBody>
          <a:bodyPr wrap="square" anchor="ctr" lIns="0" rIns="0" tIns="0" bIns="0">
            <a:spAutoFit/>
          </a:bodyPr>
          <a:lstStyle/>
          <a:p>
            <a:pPr algn="l">
              <a:lnSpc>
                <a:spcPct val="125000"/>
              </a:lnSpc>
              <a:spcBef>
                <a:spcPts val="0"/>
              </a:spcBef>
              <a:spcAft>
                <a:spcPts val="200"/>
              </a:spcAft>
            </a:pPr>
            <a:r>
              <a:rPr sz="1250" b="1" i="0">
                <a:solidFill>
                  <a:srgbClr val="1B3139"/>
                </a:solidFill>
                <a:latin typeface="Segoe UI"/>
              </a:rPr>
              <a:t>Delta + Unity Catalog = governed reliability.  </a:t>
            </a:r>
            <a:r>
              <a:rPr sz="1250" b="0" i="0">
                <a:solidFill>
                  <a:srgbClr val="465257"/>
                </a:solidFill>
                <a:latin typeface="Segoe UI"/>
              </a:rPr>
              <a:t>Delta makes data trustworthy; Unity Catalog controls who can see it, tracks where it came from, and proves compliance — together across every cloud.</a:t>
            </a:r>
          </a:p>
        </p:txBody>
      </p:sp>
      <p:sp>
        <p:nvSpPr>
          <p:cNvPr id="54" name="TextBox 53"/>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5" name="TextBox 54"/>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PLATFORM &amp; VALUE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End-to-End Data Flow on Delta</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56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Fundamentals</a:t>
            </a:r>
          </a:p>
        </p:txBody>
      </p:sp>
      <p:sp>
        <p:nvSpPr>
          <p:cNvPr id="11" name="Oval 10"/>
          <p:cNvSpPr/>
          <p:nvPr/>
        </p:nvSpPr>
        <p:spPr>
          <a:xfrm>
            <a:off x="9299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Internals</a:t>
            </a:r>
          </a:p>
        </p:txBody>
      </p:sp>
      <p:sp>
        <p:nvSpPr>
          <p:cNvPr id="13" name="Oval 12"/>
          <p:cNvSpPr/>
          <p:nvPr/>
        </p:nvSpPr>
        <p:spPr>
          <a:xfrm>
            <a:off x="10426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Platform</a:t>
            </a:r>
          </a:p>
        </p:txBody>
      </p:sp>
      <p:sp>
        <p:nvSpPr>
          <p:cNvPr id="15" name="Rounded Rectangle 14"/>
          <p:cNvSpPr/>
          <p:nvPr/>
        </p:nvSpPr>
        <p:spPr>
          <a:xfrm>
            <a:off x="566928" y="2377440"/>
            <a:ext cx="1454287"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2377440"/>
            <a:ext cx="1454287" cy="91440"/>
          </a:xfrm>
          <a:prstGeom prst="rect">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928311" y="2651760"/>
            <a:ext cx="731520" cy="731520"/>
          </a:xfrm>
          <a:prstGeom prst="ellipse">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1139282" y="2862730"/>
            <a:ext cx="309579" cy="309579"/>
          </a:xfrm>
          <a:prstGeom prst="ellipse">
            <a:avLst/>
          </a:prstGeom>
          <a:noFill/>
          <a:ln w="37388">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1233502" y="2862730"/>
            <a:ext cx="121139" cy="309579"/>
          </a:xfrm>
          <a:prstGeom prst="ellipse">
            <a:avLst/>
          </a:prstGeom>
          <a:noFill/>
          <a:ln w="28041">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139282" y="3007425"/>
            <a:ext cx="309579" cy="2018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03504" y="3474720"/>
            <a:ext cx="1381135"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Sources</a:t>
            </a:r>
          </a:p>
        </p:txBody>
      </p:sp>
      <p:sp>
        <p:nvSpPr>
          <p:cNvPr id="22" name="TextBox 21"/>
          <p:cNvSpPr txBox="1"/>
          <p:nvPr/>
        </p:nvSpPr>
        <p:spPr>
          <a:xfrm>
            <a:off x="603504" y="3895344"/>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19" b="0" i="0">
                <a:solidFill>
                  <a:srgbClr val="6B777C"/>
                </a:solidFill>
                <a:latin typeface="Segoe UI"/>
              </a:rPr>
              <a:t>Apps · DBs · IoT
files · events</a:t>
            </a:r>
          </a:p>
        </p:txBody>
      </p:sp>
      <p:sp>
        <p:nvSpPr>
          <p:cNvPr id="23" name="Oval 22"/>
          <p:cNvSpPr/>
          <p:nvPr/>
        </p:nvSpPr>
        <p:spPr>
          <a:xfrm>
            <a:off x="649224" y="2459736"/>
            <a:ext cx="310896" cy="310896"/>
          </a:xfrm>
          <a:prstGeom prst="ellipse">
            <a:avLst/>
          </a:prstGeom>
          <a:solidFill>
            <a:srgbClr val="2744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1</a:t>
            </a:r>
          </a:p>
        </p:txBody>
      </p:sp>
      <p:sp>
        <p:nvSpPr>
          <p:cNvPr id="24" name="Right Arrow 23"/>
          <p:cNvSpPr/>
          <p:nvPr/>
        </p:nvSpPr>
        <p:spPr>
          <a:xfrm>
            <a:off x="2021215" y="344728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2167519" y="2377440"/>
            <a:ext cx="1454287"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167519" y="2377440"/>
            <a:ext cx="1454287" cy="91440"/>
          </a:xfrm>
          <a:prstGeom prst="rect">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2528903" y="2651760"/>
            <a:ext cx="731520" cy="731520"/>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rapezoid 27"/>
          <p:cNvSpPr/>
          <p:nvPr/>
        </p:nvSpPr>
        <p:spPr>
          <a:xfrm rot="10800000">
            <a:off x="2753334" y="2896380"/>
            <a:ext cx="282659" cy="134599"/>
          </a:xfrm>
          <a:prstGeom prst="trapezoi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874473" y="3030979"/>
            <a:ext cx="40379" cy="11440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204095" y="3474720"/>
            <a:ext cx="1381135"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Ingestion</a:t>
            </a:r>
          </a:p>
        </p:txBody>
      </p:sp>
      <p:sp>
        <p:nvSpPr>
          <p:cNvPr id="31" name="TextBox 30"/>
          <p:cNvSpPr txBox="1"/>
          <p:nvPr/>
        </p:nvSpPr>
        <p:spPr>
          <a:xfrm>
            <a:off x="2204095" y="3895344"/>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19" b="0" i="0">
                <a:solidFill>
                  <a:srgbClr val="6B777C"/>
                </a:solidFill>
                <a:latin typeface="Segoe UI"/>
              </a:rPr>
              <a:t>Auto Loader
stream + batch</a:t>
            </a:r>
          </a:p>
        </p:txBody>
      </p:sp>
      <p:sp>
        <p:nvSpPr>
          <p:cNvPr id="32" name="Oval 31"/>
          <p:cNvSpPr/>
          <p:nvPr/>
        </p:nvSpPr>
        <p:spPr>
          <a:xfrm>
            <a:off x="2249815" y="2459736"/>
            <a:ext cx="310896" cy="310896"/>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2</a:t>
            </a:r>
          </a:p>
        </p:txBody>
      </p:sp>
      <p:sp>
        <p:nvSpPr>
          <p:cNvPr id="33" name="Right Arrow 32"/>
          <p:cNvSpPr/>
          <p:nvPr/>
        </p:nvSpPr>
        <p:spPr>
          <a:xfrm>
            <a:off x="3621807" y="344728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3768111" y="2377440"/>
            <a:ext cx="1454287"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68111" y="2377440"/>
            <a:ext cx="1454287" cy="91440"/>
          </a:xfrm>
          <a:prstGeom prst="rect">
            <a:avLst/>
          </a:prstGeom>
          <a:solidFill>
            <a:srgbClr val="B06A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4129495" y="2651760"/>
            <a:ext cx="731520" cy="731520"/>
          </a:xfrm>
          <a:prstGeom prst="ellipse">
            <a:avLst/>
          </a:prstGeom>
          <a:solidFill>
            <a:srgbClr val="B06A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Can 36"/>
          <p:cNvSpPr/>
          <p:nvPr/>
        </p:nvSpPr>
        <p:spPr>
          <a:xfrm>
            <a:off x="4357291" y="2849270"/>
            <a:ext cx="275929" cy="336499"/>
          </a:xfrm>
          <a:prstGeom prst="ca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804687" y="3474720"/>
            <a:ext cx="1381135"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Bronze</a:t>
            </a:r>
          </a:p>
        </p:txBody>
      </p:sp>
      <p:sp>
        <p:nvSpPr>
          <p:cNvPr id="39" name="TextBox 38"/>
          <p:cNvSpPr txBox="1"/>
          <p:nvPr/>
        </p:nvSpPr>
        <p:spPr>
          <a:xfrm>
            <a:off x="3804687" y="3895344"/>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19" b="0" i="0">
                <a:solidFill>
                  <a:srgbClr val="6B777C"/>
                </a:solidFill>
                <a:latin typeface="Segoe UI"/>
              </a:rPr>
              <a:t>Raw Delta
append-only</a:t>
            </a:r>
          </a:p>
        </p:txBody>
      </p:sp>
      <p:sp>
        <p:nvSpPr>
          <p:cNvPr id="40" name="Oval 39"/>
          <p:cNvSpPr/>
          <p:nvPr/>
        </p:nvSpPr>
        <p:spPr>
          <a:xfrm>
            <a:off x="3850407" y="2459736"/>
            <a:ext cx="310896" cy="310896"/>
          </a:xfrm>
          <a:prstGeom prst="ellipse">
            <a:avLst/>
          </a:prstGeom>
          <a:solidFill>
            <a:srgbClr val="B06A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3</a:t>
            </a:r>
          </a:p>
        </p:txBody>
      </p:sp>
      <p:sp>
        <p:nvSpPr>
          <p:cNvPr id="41" name="Right Arrow 40"/>
          <p:cNvSpPr/>
          <p:nvPr/>
        </p:nvSpPr>
        <p:spPr>
          <a:xfrm>
            <a:off x="5222399" y="344728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5368703" y="2377440"/>
            <a:ext cx="1454287"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5368703" y="2377440"/>
            <a:ext cx="1454287" cy="91440"/>
          </a:xfrm>
          <a:prstGeom prst="rect">
            <a:avLst/>
          </a:prstGeom>
          <a:solidFill>
            <a:srgbClr val="8D9A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5730087" y="2651760"/>
            <a:ext cx="731520" cy="731520"/>
          </a:xfrm>
          <a:prstGeom prst="ellipse">
            <a:avLst/>
          </a:prstGeom>
          <a:solidFill>
            <a:srgbClr val="8D9A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Gear 6 44"/>
          <p:cNvSpPr/>
          <p:nvPr/>
        </p:nvSpPr>
        <p:spPr>
          <a:xfrm>
            <a:off x="5927597" y="2849270"/>
            <a:ext cx="336499" cy="336499"/>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5405279" y="3474720"/>
            <a:ext cx="1381135"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Silver</a:t>
            </a:r>
          </a:p>
        </p:txBody>
      </p:sp>
      <p:sp>
        <p:nvSpPr>
          <p:cNvPr id="47" name="TextBox 46"/>
          <p:cNvSpPr txBox="1"/>
          <p:nvPr/>
        </p:nvSpPr>
        <p:spPr>
          <a:xfrm>
            <a:off x="5405279" y="3895344"/>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19" b="0" i="0">
                <a:solidFill>
                  <a:srgbClr val="6B777C"/>
                </a:solidFill>
                <a:latin typeface="Segoe UI"/>
              </a:rPr>
              <a:t>Cleansed &amp;
conformed</a:t>
            </a:r>
          </a:p>
        </p:txBody>
      </p:sp>
      <p:sp>
        <p:nvSpPr>
          <p:cNvPr id="48" name="Oval 47"/>
          <p:cNvSpPr/>
          <p:nvPr/>
        </p:nvSpPr>
        <p:spPr>
          <a:xfrm>
            <a:off x="5450999" y="2459736"/>
            <a:ext cx="310896" cy="310896"/>
          </a:xfrm>
          <a:prstGeom prst="ellipse">
            <a:avLst/>
          </a:prstGeom>
          <a:solidFill>
            <a:srgbClr val="8D9A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4</a:t>
            </a:r>
          </a:p>
        </p:txBody>
      </p:sp>
      <p:sp>
        <p:nvSpPr>
          <p:cNvPr id="49" name="Right Arrow 48"/>
          <p:cNvSpPr/>
          <p:nvPr/>
        </p:nvSpPr>
        <p:spPr>
          <a:xfrm>
            <a:off x="6822991" y="344728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a:off x="6969295" y="2377440"/>
            <a:ext cx="1454287"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6969295" y="2377440"/>
            <a:ext cx="1454287" cy="91440"/>
          </a:xfrm>
          <a:prstGeom prst="rect">
            <a:avLst/>
          </a:prstGeom>
          <a:solidFill>
            <a:srgbClr val="D8A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Oval 51"/>
          <p:cNvSpPr/>
          <p:nvPr/>
        </p:nvSpPr>
        <p:spPr>
          <a:xfrm>
            <a:off x="7330679" y="2651760"/>
            <a:ext cx="731520" cy="731520"/>
          </a:xfrm>
          <a:prstGeom prst="ellipse">
            <a:avLst/>
          </a:prstGeom>
          <a:solidFill>
            <a:srgbClr val="D8A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Diamond 52"/>
          <p:cNvSpPr/>
          <p:nvPr/>
        </p:nvSpPr>
        <p:spPr>
          <a:xfrm>
            <a:off x="7541649" y="2849270"/>
            <a:ext cx="309579" cy="336499"/>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7005871" y="3474720"/>
            <a:ext cx="1381135"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Gold</a:t>
            </a:r>
          </a:p>
        </p:txBody>
      </p:sp>
      <p:sp>
        <p:nvSpPr>
          <p:cNvPr id="55" name="TextBox 54"/>
          <p:cNvSpPr txBox="1"/>
          <p:nvPr/>
        </p:nvSpPr>
        <p:spPr>
          <a:xfrm>
            <a:off x="7005871" y="3895344"/>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19" b="0" i="0">
                <a:solidFill>
                  <a:srgbClr val="6B777C"/>
                </a:solidFill>
                <a:latin typeface="Segoe UI"/>
              </a:rPr>
              <a:t>Aggregates &amp;
features</a:t>
            </a:r>
          </a:p>
        </p:txBody>
      </p:sp>
      <p:sp>
        <p:nvSpPr>
          <p:cNvPr id="56" name="Oval 55"/>
          <p:cNvSpPr/>
          <p:nvPr/>
        </p:nvSpPr>
        <p:spPr>
          <a:xfrm>
            <a:off x="7051591" y="2459736"/>
            <a:ext cx="310896" cy="310896"/>
          </a:xfrm>
          <a:prstGeom prst="ellipse">
            <a:avLst/>
          </a:prstGeom>
          <a:solidFill>
            <a:srgbClr val="D8A3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5</a:t>
            </a:r>
          </a:p>
        </p:txBody>
      </p:sp>
      <p:sp>
        <p:nvSpPr>
          <p:cNvPr id="57" name="Right Arrow 56"/>
          <p:cNvSpPr/>
          <p:nvPr/>
        </p:nvSpPr>
        <p:spPr>
          <a:xfrm>
            <a:off x="8423583" y="344728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ounded Rectangle 57"/>
          <p:cNvSpPr/>
          <p:nvPr/>
        </p:nvSpPr>
        <p:spPr>
          <a:xfrm>
            <a:off x="8569887" y="2377440"/>
            <a:ext cx="1454287"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8569887" y="2377440"/>
            <a:ext cx="1454287" cy="91440"/>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Oval 59"/>
          <p:cNvSpPr/>
          <p:nvPr/>
        </p:nvSpPr>
        <p:spPr>
          <a:xfrm>
            <a:off x="8931271" y="2651760"/>
            <a:ext cx="731520" cy="731520"/>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ounded Rectangle 60"/>
          <p:cNvSpPr/>
          <p:nvPr/>
        </p:nvSpPr>
        <p:spPr>
          <a:xfrm>
            <a:off x="9155701" y="3017520"/>
            <a:ext cx="67299" cy="16824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ounded Rectangle 61"/>
          <p:cNvSpPr/>
          <p:nvPr/>
        </p:nvSpPr>
        <p:spPr>
          <a:xfrm>
            <a:off x="9263381" y="2923300"/>
            <a:ext cx="67299" cy="26246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ounded Rectangle 62"/>
          <p:cNvSpPr/>
          <p:nvPr/>
        </p:nvSpPr>
        <p:spPr>
          <a:xfrm>
            <a:off x="9371061" y="2849270"/>
            <a:ext cx="67299" cy="33649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8606463" y="3474720"/>
            <a:ext cx="1381135"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Dashboard</a:t>
            </a:r>
          </a:p>
        </p:txBody>
      </p:sp>
      <p:sp>
        <p:nvSpPr>
          <p:cNvPr id="65" name="TextBox 64"/>
          <p:cNvSpPr txBox="1"/>
          <p:nvPr/>
        </p:nvSpPr>
        <p:spPr>
          <a:xfrm>
            <a:off x="8606463" y="3895344"/>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19" b="0" i="0">
                <a:solidFill>
                  <a:srgbClr val="6B777C"/>
                </a:solidFill>
                <a:latin typeface="Segoe UI"/>
              </a:rPr>
              <a:t>BI · Genie
SQL analytics</a:t>
            </a:r>
          </a:p>
        </p:txBody>
      </p:sp>
      <p:sp>
        <p:nvSpPr>
          <p:cNvPr id="66" name="Oval 65"/>
          <p:cNvSpPr/>
          <p:nvPr/>
        </p:nvSpPr>
        <p:spPr>
          <a:xfrm>
            <a:off x="8652183" y="2459736"/>
            <a:ext cx="310896" cy="310896"/>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6</a:t>
            </a:r>
          </a:p>
        </p:txBody>
      </p:sp>
      <p:sp>
        <p:nvSpPr>
          <p:cNvPr id="67" name="Right Arrow 66"/>
          <p:cNvSpPr/>
          <p:nvPr/>
        </p:nvSpPr>
        <p:spPr>
          <a:xfrm>
            <a:off x="10024175" y="3447288"/>
            <a:ext cx="146304" cy="146304"/>
          </a:xfrm>
          <a:prstGeom prst="rightArrow">
            <a:avLst>
              <a:gd name="adj1" fmla="val 55000"/>
              <a:gd name="adj2" fmla="val 55000"/>
            </a:avLst>
          </a:prstGeom>
          <a:solidFill>
            <a:srgbClr val="9AA6A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ounded Rectangle 67"/>
          <p:cNvSpPr/>
          <p:nvPr/>
        </p:nvSpPr>
        <p:spPr>
          <a:xfrm>
            <a:off x="10170479" y="2377440"/>
            <a:ext cx="1454287" cy="228600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ectangle 68"/>
          <p:cNvSpPr/>
          <p:nvPr/>
        </p:nvSpPr>
        <p:spPr>
          <a:xfrm>
            <a:off x="10170479" y="2377440"/>
            <a:ext cx="1454287" cy="91440"/>
          </a:xfrm>
          <a:prstGeom prst="rect">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Oval 69"/>
          <p:cNvSpPr/>
          <p:nvPr/>
        </p:nvSpPr>
        <p:spPr>
          <a:xfrm>
            <a:off x="10531863" y="2651760"/>
            <a:ext cx="731520" cy="731520"/>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Oval 70"/>
          <p:cNvSpPr/>
          <p:nvPr/>
        </p:nvSpPr>
        <p:spPr>
          <a:xfrm>
            <a:off x="10840418" y="2960315"/>
            <a:ext cx="114409" cy="11440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2" name="Connector 71"/>
          <p:cNvCxnSpPr/>
          <p:nvPr/>
        </p:nvCxnSpPr>
        <p:spPr>
          <a:xfrm flipH="1" flipV="1">
            <a:off x="10756293" y="2916570"/>
            <a:ext cx="141330" cy="10095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10719278" y="2879555"/>
            <a:ext cx="74029" cy="7402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4" name="Connector 73"/>
          <p:cNvCxnSpPr/>
          <p:nvPr/>
        </p:nvCxnSpPr>
        <p:spPr>
          <a:xfrm flipV="1">
            <a:off x="10897623" y="2916570"/>
            <a:ext cx="141329" cy="10095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11001938" y="2879555"/>
            <a:ext cx="74029" cy="7402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6" name="Connector 75"/>
          <p:cNvCxnSpPr/>
          <p:nvPr/>
        </p:nvCxnSpPr>
        <p:spPr>
          <a:xfrm>
            <a:off x="10897623" y="3017520"/>
            <a:ext cx="0" cy="148059"/>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10860608" y="3128564"/>
            <a:ext cx="74029" cy="7402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10207055" y="3474720"/>
            <a:ext cx="1381135" cy="384048"/>
          </a:xfrm>
          <a:prstGeom prst="rect">
            <a:avLst/>
          </a:prstGeom>
          <a:noFill/>
        </p:spPr>
        <p:txBody>
          <a:bodyPr wrap="square" anchor="t" lIns="0" rIns="0" tIns="0" bIns="0">
            <a:spAutoFit/>
          </a:bodyPr>
          <a:lstStyle/>
          <a:p>
            <a:pPr algn="ctr">
              <a:lnSpc>
                <a:spcPct val="90000"/>
              </a:lnSpc>
              <a:spcBef>
                <a:spcPts val="0"/>
              </a:spcBef>
              <a:spcAft>
                <a:spcPts val="200"/>
              </a:spcAft>
            </a:pPr>
            <a:r>
              <a:rPr sz="1100" b="1" i="0">
                <a:solidFill>
                  <a:srgbClr val="1B3139"/>
                </a:solidFill>
                <a:latin typeface="Segoe UI"/>
              </a:rPr>
              <a:t>AI / ML</a:t>
            </a:r>
          </a:p>
        </p:txBody>
      </p:sp>
      <p:sp>
        <p:nvSpPr>
          <p:cNvPr id="79" name="TextBox 78"/>
          <p:cNvSpPr txBox="1"/>
          <p:nvPr/>
        </p:nvSpPr>
        <p:spPr>
          <a:xfrm>
            <a:off x="10207055" y="3895344"/>
            <a:ext cx="1381135" cy="731520"/>
          </a:xfrm>
          <a:prstGeom prst="rect">
            <a:avLst/>
          </a:prstGeom>
          <a:noFill/>
        </p:spPr>
        <p:txBody>
          <a:bodyPr wrap="square" anchor="t" lIns="0" rIns="0" tIns="0" bIns="0">
            <a:spAutoFit/>
          </a:bodyPr>
          <a:lstStyle/>
          <a:p>
            <a:pPr algn="ctr">
              <a:lnSpc>
                <a:spcPct val="100000"/>
              </a:lnSpc>
              <a:spcBef>
                <a:spcPts val="0"/>
              </a:spcBef>
              <a:spcAft>
                <a:spcPts val="200"/>
              </a:spcAft>
            </a:pPr>
            <a:r>
              <a:rPr sz="819" b="0" i="0">
                <a:solidFill>
                  <a:srgbClr val="6B777C"/>
                </a:solidFill>
                <a:latin typeface="Segoe UI"/>
              </a:rPr>
              <a:t>Models &amp;
GenAI</a:t>
            </a:r>
          </a:p>
        </p:txBody>
      </p:sp>
      <p:sp>
        <p:nvSpPr>
          <p:cNvPr id="80" name="Oval 79"/>
          <p:cNvSpPr/>
          <p:nvPr/>
        </p:nvSpPr>
        <p:spPr>
          <a:xfrm>
            <a:off x="10252775" y="2459736"/>
            <a:ext cx="310896" cy="310896"/>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Segoe UI Semibold"/>
              </a:rPr>
              <a:t>7</a:t>
            </a:r>
          </a:p>
        </p:txBody>
      </p:sp>
      <p:sp>
        <p:nvSpPr>
          <p:cNvPr id="81" name="Rounded Rectangle 80"/>
          <p:cNvSpPr/>
          <p:nvPr/>
        </p:nvSpPr>
        <p:spPr>
          <a:xfrm>
            <a:off x="566928" y="4892040"/>
            <a:ext cx="11057839" cy="658368"/>
          </a:xfrm>
          <a:prstGeom prst="roundRect">
            <a:avLst>
              <a:gd name="adj" fmla="val 20000"/>
            </a:avLst>
          </a:prstGeom>
          <a:solidFill>
            <a:srgbClr val="1B31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Isosceles Triangle 81"/>
          <p:cNvSpPr/>
          <p:nvPr/>
        </p:nvSpPr>
        <p:spPr>
          <a:xfrm>
            <a:off x="850392" y="5081320"/>
            <a:ext cx="310896" cy="279806"/>
          </a:xfrm>
          <a:prstGeom prst="triangl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TextBox 82"/>
          <p:cNvSpPr txBox="1"/>
          <p:nvPr/>
        </p:nvSpPr>
        <p:spPr>
          <a:xfrm>
            <a:off x="1389888" y="4892040"/>
            <a:ext cx="10051999" cy="658368"/>
          </a:xfrm>
          <a:prstGeom prst="rect">
            <a:avLst/>
          </a:prstGeom>
          <a:noFill/>
        </p:spPr>
        <p:txBody>
          <a:bodyPr wrap="square" anchor="ctr" lIns="0" rIns="0" tIns="0" bIns="0">
            <a:spAutoFit/>
          </a:bodyPr>
          <a:lstStyle/>
          <a:p>
            <a:pPr algn="l">
              <a:lnSpc>
                <a:spcPct val="100000"/>
              </a:lnSpc>
              <a:spcBef>
                <a:spcPts val="0"/>
              </a:spcBef>
              <a:spcAft>
                <a:spcPts val="200"/>
              </a:spcAft>
            </a:pPr>
            <a:r>
              <a:rPr sz="1200" b="1" i="0">
                <a:solidFill>
                  <a:srgbClr val="00A972"/>
                </a:solidFill>
                <a:latin typeface="Segoe UI"/>
              </a:rPr>
              <a:t>Delta Lake</a:t>
            </a:r>
            <a:r>
              <a:rPr sz="1150" b="0" i="0">
                <a:solidFill>
                  <a:srgbClr val="FFFFFF"/>
                </a:solidFill>
                <a:latin typeface="Segoe UI"/>
              </a:rPr>
              <a:t>  is the reliable, governed storage under every stage — one open copy of data, end to end.</a:t>
            </a:r>
          </a:p>
        </p:txBody>
      </p:sp>
      <p:sp>
        <p:nvSpPr>
          <p:cNvPr id="84" name="TextBox 83"/>
          <p:cNvSpPr txBox="1"/>
          <p:nvPr/>
        </p:nvSpPr>
        <p:spPr>
          <a:xfrm>
            <a:off x="566928" y="5669280"/>
            <a:ext cx="11057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150" b="0" i="1">
                <a:solidFill>
                  <a:srgbClr val="6B777C"/>
                </a:solidFill>
                <a:latin typeface="Segoe UI"/>
              </a:rPr>
              <a:t>Source to insight on a single, reliable foundation — ingested, refined, served and learned from.</a:t>
            </a:r>
          </a:p>
        </p:txBody>
      </p:sp>
      <p:sp>
        <p:nvSpPr>
          <p:cNvPr id="85" name="TextBox 84"/>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86" name="TextBox 85"/>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PLATFORM &amp; VALUE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Delta Lake in the Real World</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56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Fundamentals</a:t>
            </a:r>
          </a:p>
        </p:txBody>
      </p:sp>
      <p:sp>
        <p:nvSpPr>
          <p:cNvPr id="11" name="Oval 10"/>
          <p:cNvSpPr/>
          <p:nvPr/>
        </p:nvSpPr>
        <p:spPr>
          <a:xfrm>
            <a:off x="9299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Internals</a:t>
            </a:r>
          </a:p>
        </p:txBody>
      </p:sp>
      <p:sp>
        <p:nvSpPr>
          <p:cNvPr id="13" name="Oval 12"/>
          <p:cNvSpPr/>
          <p:nvPr/>
        </p:nvSpPr>
        <p:spPr>
          <a:xfrm>
            <a:off x="10426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Platform</a:t>
            </a:r>
          </a:p>
        </p:txBody>
      </p:sp>
      <p:sp>
        <p:nvSpPr>
          <p:cNvPr id="15" name="Rounded Rectangle 14"/>
          <p:cNvSpPr/>
          <p:nvPr/>
        </p:nvSpPr>
        <p:spPr>
          <a:xfrm>
            <a:off x="56692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66928" y="1828800"/>
            <a:ext cx="91440" cy="1929384"/>
          </a:xfrm>
          <a:prstGeom prst="roundRect">
            <a:avLst>
              <a:gd name="adj" fmla="val 50000"/>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740664" y="1975104"/>
            <a:ext cx="658368" cy="658368"/>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948708" y="2337601"/>
            <a:ext cx="242279"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948708" y="2270974"/>
            <a:ext cx="242279"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948708" y="2204347"/>
            <a:ext cx="242279"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49961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Retail</a:t>
            </a:r>
          </a:p>
        </p:txBody>
      </p:sp>
      <p:sp>
        <p:nvSpPr>
          <p:cNvPr id="22" name="TextBox 21"/>
          <p:cNvSpPr txBox="1"/>
          <p:nvPr/>
        </p:nvSpPr>
        <p:spPr>
          <a:xfrm>
            <a:off x="841247"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Real-time inventory &amp; personalization on one reliable copy of data.</a:t>
            </a:r>
          </a:p>
        </p:txBody>
      </p:sp>
      <p:sp>
        <p:nvSpPr>
          <p:cNvPr id="23" name="Rounded Rectangle 22"/>
          <p:cNvSpPr/>
          <p:nvPr/>
        </p:nvSpPr>
        <p:spPr>
          <a:xfrm>
            <a:off x="433821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4338218" y="1828800"/>
            <a:ext cx="91440" cy="1929384"/>
          </a:xfrm>
          <a:prstGeom prst="roundRect">
            <a:avLst>
              <a:gd name="adj" fmla="val 50000"/>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4511954" y="1975104"/>
            <a:ext cx="658368" cy="658368"/>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4738169" y="2289145"/>
            <a:ext cx="205937" cy="151424"/>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Block Arc 26"/>
          <p:cNvSpPr/>
          <p:nvPr/>
        </p:nvSpPr>
        <p:spPr>
          <a:xfrm>
            <a:off x="4768454" y="2152863"/>
            <a:ext cx="145367" cy="151424"/>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27090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Banking</a:t>
            </a:r>
          </a:p>
        </p:txBody>
      </p:sp>
      <p:sp>
        <p:nvSpPr>
          <p:cNvPr id="29" name="TextBox 28"/>
          <p:cNvSpPr txBox="1"/>
          <p:nvPr/>
        </p:nvSpPr>
        <p:spPr>
          <a:xfrm>
            <a:off x="461253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Auditable, ACID-compliant transactions with full time-travel history.</a:t>
            </a:r>
          </a:p>
        </p:txBody>
      </p:sp>
      <p:sp>
        <p:nvSpPr>
          <p:cNvPr id="30" name="Rounded Rectangle 29"/>
          <p:cNvSpPr/>
          <p:nvPr/>
        </p:nvSpPr>
        <p:spPr>
          <a:xfrm>
            <a:off x="8109508" y="1828800"/>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8109508" y="1828800"/>
            <a:ext cx="91440" cy="1929384"/>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8283244" y="1975104"/>
            <a:ext cx="658368" cy="65836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Oval 32"/>
          <p:cNvSpPr/>
          <p:nvPr/>
        </p:nvSpPr>
        <p:spPr>
          <a:xfrm>
            <a:off x="8560944" y="2252803"/>
            <a:ext cx="102968" cy="1029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4" name="Connector 33"/>
          <p:cNvCxnSpPr/>
          <p:nvPr/>
        </p:nvCxnSpPr>
        <p:spPr>
          <a:xfrm flipH="1" flipV="1">
            <a:off x="8485232" y="2213433"/>
            <a:ext cx="127196" cy="90855"/>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8451918" y="2180119"/>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6" name="Connector 35"/>
          <p:cNvCxnSpPr/>
          <p:nvPr/>
        </p:nvCxnSpPr>
        <p:spPr>
          <a:xfrm flipV="1">
            <a:off x="8612428" y="2213433"/>
            <a:ext cx="127197" cy="90855"/>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8706312" y="2180119"/>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8" name="Connector 37"/>
          <p:cNvCxnSpPr/>
          <p:nvPr/>
        </p:nvCxnSpPr>
        <p:spPr>
          <a:xfrm>
            <a:off x="8612428" y="2304288"/>
            <a:ext cx="0" cy="133253"/>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8579115" y="2404228"/>
            <a:ext cx="66626" cy="6662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9042196" y="1993392"/>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Healthcare</a:t>
            </a:r>
          </a:p>
        </p:txBody>
      </p:sp>
      <p:sp>
        <p:nvSpPr>
          <p:cNvPr id="41" name="TextBox 40"/>
          <p:cNvSpPr txBox="1"/>
          <p:nvPr/>
        </p:nvSpPr>
        <p:spPr>
          <a:xfrm>
            <a:off x="8383828" y="2697480"/>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Reproducible patient &amp; research datasets versioned for compliance.</a:t>
            </a:r>
          </a:p>
        </p:txBody>
      </p:sp>
      <p:sp>
        <p:nvSpPr>
          <p:cNvPr id="42" name="Rounded Rectangle 41"/>
          <p:cNvSpPr/>
          <p:nvPr/>
        </p:nvSpPr>
        <p:spPr>
          <a:xfrm>
            <a:off x="56692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a:off x="566928" y="4014215"/>
            <a:ext cx="91440" cy="1929384"/>
          </a:xfrm>
          <a:prstGeom prst="roundRect">
            <a:avLst>
              <a:gd name="adj" fmla="val 50000"/>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740664" y="4160520"/>
            <a:ext cx="658368" cy="658368"/>
          </a:xfrm>
          <a:prstGeom prst="ellipse">
            <a:avLst/>
          </a:prstGeom>
          <a:solidFill>
            <a:srgbClr val="0E8C9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Gear 6 44"/>
          <p:cNvSpPr/>
          <p:nvPr/>
        </p:nvSpPr>
        <p:spPr>
          <a:xfrm>
            <a:off x="918423" y="4338279"/>
            <a:ext cx="302849" cy="302849"/>
          </a:xfrm>
          <a:prstGeom prst="gear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149961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Manufacturing</a:t>
            </a:r>
          </a:p>
        </p:txBody>
      </p:sp>
      <p:sp>
        <p:nvSpPr>
          <p:cNvPr id="47" name="TextBox 46"/>
          <p:cNvSpPr txBox="1"/>
          <p:nvPr/>
        </p:nvSpPr>
        <p:spPr>
          <a:xfrm>
            <a:off x="841247"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IoT sensor streams + batch merged into trusted Delta tables.</a:t>
            </a:r>
          </a:p>
        </p:txBody>
      </p:sp>
      <p:sp>
        <p:nvSpPr>
          <p:cNvPr id="48" name="Rounded Rectangle 47"/>
          <p:cNvSpPr/>
          <p:nvPr/>
        </p:nvSpPr>
        <p:spPr>
          <a:xfrm>
            <a:off x="433821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ounded Rectangle 48"/>
          <p:cNvSpPr/>
          <p:nvPr/>
        </p:nvSpPr>
        <p:spPr>
          <a:xfrm>
            <a:off x="4338218" y="4014215"/>
            <a:ext cx="91440" cy="1929384"/>
          </a:xfrm>
          <a:prstGeom prst="roundRect">
            <a:avLst>
              <a:gd name="adj" fmla="val 50000"/>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Oval 49"/>
          <p:cNvSpPr/>
          <p:nvPr/>
        </p:nvSpPr>
        <p:spPr>
          <a:xfrm>
            <a:off x="4511954" y="4160520"/>
            <a:ext cx="658368" cy="658368"/>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Chevron 50"/>
          <p:cNvSpPr/>
          <p:nvPr/>
        </p:nvSpPr>
        <p:spPr>
          <a:xfrm>
            <a:off x="4701827" y="4386735"/>
            <a:ext cx="90854" cy="205937"/>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Chevron 51"/>
          <p:cNvSpPr/>
          <p:nvPr/>
        </p:nvSpPr>
        <p:spPr>
          <a:xfrm>
            <a:off x="4804796" y="4386735"/>
            <a:ext cx="90854" cy="205937"/>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Chevron 52"/>
          <p:cNvSpPr/>
          <p:nvPr/>
        </p:nvSpPr>
        <p:spPr>
          <a:xfrm>
            <a:off x="4907765" y="4386735"/>
            <a:ext cx="90854" cy="205937"/>
          </a:xfrm>
          <a:prstGeom prst="chevron">
            <a:avLst>
              <a:gd name="adj" fmla="val 6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527090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Telecom</a:t>
            </a:r>
          </a:p>
        </p:txBody>
      </p:sp>
      <p:sp>
        <p:nvSpPr>
          <p:cNvPr id="55" name="TextBox 54"/>
          <p:cNvSpPr txBox="1"/>
          <p:nvPr/>
        </p:nvSpPr>
        <p:spPr>
          <a:xfrm>
            <a:off x="461253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High-volume event streams unified for real-time network analytics.</a:t>
            </a:r>
          </a:p>
        </p:txBody>
      </p:sp>
      <p:sp>
        <p:nvSpPr>
          <p:cNvPr id="56" name="Rounded Rectangle 55"/>
          <p:cNvSpPr/>
          <p:nvPr/>
        </p:nvSpPr>
        <p:spPr>
          <a:xfrm>
            <a:off x="8109508" y="4014215"/>
            <a:ext cx="3515258" cy="1929384"/>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ounded Rectangle 56"/>
          <p:cNvSpPr/>
          <p:nvPr/>
        </p:nvSpPr>
        <p:spPr>
          <a:xfrm>
            <a:off x="8109508" y="4014215"/>
            <a:ext cx="91440" cy="192938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Oval 57"/>
          <p:cNvSpPr/>
          <p:nvPr/>
        </p:nvSpPr>
        <p:spPr>
          <a:xfrm>
            <a:off x="8283244" y="4160520"/>
            <a:ext cx="658368" cy="6583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ounded Rectangle 58"/>
          <p:cNvSpPr/>
          <p:nvPr/>
        </p:nvSpPr>
        <p:spPr>
          <a:xfrm>
            <a:off x="8485232" y="4489704"/>
            <a:ext cx="60569" cy="151424"/>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ounded Rectangle 59"/>
          <p:cNvSpPr/>
          <p:nvPr/>
        </p:nvSpPr>
        <p:spPr>
          <a:xfrm>
            <a:off x="8582143" y="4404906"/>
            <a:ext cx="60569" cy="236222"/>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ounded Rectangle 60"/>
          <p:cNvSpPr/>
          <p:nvPr/>
        </p:nvSpPr>
        <p:spPr>
          <a:xfrm>
            <a:off x="8679055" y="4338279"/>
            <a:ext cx="60569" cy="302849"/>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9042196" y="4178807"/>
            <a:ext cx="2436266" cy="640080"/>
          </a:xfrm>
          <a:prstGeom prst="rect">
            <a:avLst/>
          </a:prstGeom>
          <a:noFill/>
        </p:spPr>
        <p:txBody>
          <a:bodyPr wrap="square" anchor="ctr" lIns="0" rIns="0" tIns="0" bIns="0">
            <a:spAutoFit/>
          </a:bodyPr>
          <a:lstStyle/>
          <a:p>
            <a:pPr algn="l">
              <a:lnSpc>
                <a:spcPct val="100000"/>
              </a:lnSpc>
              <a:spcBef>
                <a:spcPts val="0"/>
              </a:spcBef>
              <a:spcAft>
                <a:spcPts val="200"/>
              </a:spcAft>
            </a:pPr>
            <a:r>
              <a:rPr sz="1400" b="1" i="0">
                <a:solidFill>
                  <a:srgbClr val="1B3139"/>
                </a:solidFill>
                <a:latin typeface="Segoe UI"/>
              </a:rPr>
              <a:t>E-Commerce</a:t>
            </a:r>
          </a:p>
        </p:txBody>
      </p:sp>
      <p:sp>
        <p:nvSpPr>
          <p:cNvPr id="63" name="TextBox 62"/>
          <p:cNvSpPr txBox="1"/>
          <p:nvPr/>
        </p:nvSpPr>
        <p:spPr>
          <a:xfrm>
            <a:off x="8383828" y="4882896"/>
            <a:ext cx="3003194" cy="969263"/>
          </a:xfrm>
          <a:prstGeom prst="rect">
            <a:avLst/>
          </a:prstGeom>
          <a:noFill/>
        </p:spPr>
        <p:txBody>
          <a:bodyPr wrap="square" anchor="t" lIns="0" rIns="0" tIns="0" bIns="0">
            <a:spAutoFit/>
          </a:bodyPr>
          <a:lstStyle/>
          <a:p>
            <a:pPr algn="l">
              <a:lnSpc>
                <a:spcPct val="108000"/>
              </a:lnSpc>
              <a:spcBef>
                <a:spcPts val="0"/>
              </a:spcBef>
              <a:spcAft>
                <a:spcPts val="200"/>
              </a:spcAft>
            </a:pPr>
            <a:r>
              <a:rPr sz="1080" b="0" i="0">
                <a:solidFill>
                  <a:srgbClr val="6B777C"/>
                </a:solidFill>
                <a:latin typeface="Segoe UI"/>
              </a:rPr>
              <a:t>Clickstream + orders joined reliably for live recommendations.</a:t>
            </a:r>
          </a:p>
        </p:txBody>
      </p:sp>
      <p:sp>
        <p:nvSpPr>
          <p:cNvPr id="64" name="TextBox 63"/>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65" name="TextBox 64"/>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PLATFORM &amp; VALUE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The Delta Lake Payoff</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56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Fundamentals</a:t>
            </a:r>
          </a:p>
        </p:txBody>
      </p:sp>
      <p:sp>
        <p:nvSpPr>
          <p:cNvPr id="11" name="Oval 10"/>
          <p:cNvSpPr/>
          <p:nvPr/>
        </p:nvSpPr>
        <p:spPr>
          <a:xfrm>
            <a:off x="9299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Internals</a:t>
            </a:r>
          </a:p>
        </p:txBody>
      </p:sp>
      <p:sp>
        <p:nvSpPr>
          <p:cNvPr id="13" name="Oval 12"/>
          <p:cNvSpPr/>
          <p:nvPr/>
        </p:nvSpPr>
        <p:spPr>
          <a:xfrm>
            <a:off x="10426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Platform</a:t>
            </a:r>
          </a:p>
        </p:txBody>
      </p:sp>
      <p:cxnSp>
        <p:nvCxnSpPr>
          <p:cNvPr id="15" name="Connector 14"/>
          <p:cNvCxnSpPr/>
          <p:nvPr/>
        </p:nvCxnSpPr>
        <p:spPr>
          <a:xfrm flipV="1">
            <a:off x="6095847" y="2148840"/>
            <a:ext cx="0" cy="1874520"/>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095847" y="3086100"/>
            <a:ext cx="1623382" cy="937260"/>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095847" y="4023360"/>
            <a:ext cx="1623382" cy="937260"/>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095847" y="4023360"/>
            <a:ext cx="0" cy="1874520"/>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472465" y="4023360"/>
            <a:ext cx="1623382" cy="937260"/>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4472465" y="3086100"/>
            <a:ext cx="1623382" cy="937260"/>
          </a:xfrm>
          <a:prstGeom prst="line">
            <a:avLst/>
          </a:prstGeom>
          <a:ln w="20320">
            <a:solidFill>
              <a:srgbClr val="E4DFD6"/>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570067" y="1623060"/>
            <a:ext cx="1051560" cy="1051560"/>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rot="2700000">
            <a:off x="5960406" y="2158514"/>
            <a:ext cx="145115" cy="7739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rot="18480000">
            <a:off x="6066824" y="2052096"/>
            <a:ext cx="280556" cy="7739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81447" y="1165860"/>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200" b="1" i="0">
                <a:solidFill>
                  <a:srgbClr val="1B3139"/>
                </a:solidFill>
                <a:latin typeface="Segoe UI"/>
              </a:rPr>
              <a:t>Reliability</a:t>
            </a:r>
          </a:p>
        </p:txBody>
      </p:sp>
      <p:sp>
        <p:nvSpPr>
          <p:cNvPr id="25" name="TextBox 24"/>
          <p:cNvSpPr txBox="1"/>
          <p:nvPr/>
        </p:nvSpPr>
        <p:spPr>
          <a:xfrm>
            <a:off x="5181447" y="1412748"/>
            <a:ext cx="1828800" cy="365760"/>
          </a:xfrm>
          <a:prstGeom prst="rect">
            <a:avLst/>
          </a:prstGeom>
          <a:noFill/>
        </p:spPr>
        <p:txBody>
          <a:bodyPr wrap="square" anchor="t" lIns="0" rIns="0" tIns="0" bIns="0">
            <a:spAutoFit/>
          </a:bodyPr>
          <a:lstStyle/>
          <a:p>
            <a:pPr algn="ctr">
              <a:lnSpc>
                <a:spcPct val="92000"/>
              </a:lnSpc>
              <a:spcBef>
                <a:spcPts val="0"/>
              </a:spcBef>
              <a:spcAft>
                <a:spcPts val="200"/>
              </a:spcAft>
            </a:pPr>
            <a:r>
              <a:rPr sz="860" b="0" i="0">
                <a:solidFill>
                  <a:srgbClr val="6B777C"/>
                </a:solidFill>
                <a:latin typeface="Segoe UI"/>
              </a:rPr>
              <a:t>ACID &amp; quality</a:t>
            </a:r>
          </a:p>
        </p:txBody>
      </p:sp>
      <p:sp>
        <p:nvSpPr>
          <p:cNvPr id="26" name="Oval 25"/>
          <p:cNvSpPr/>
          <p:nvPr/>
        </p:nvSpPr>
        <p:spPr>
          <a:xfrm>
            <a:off x="7193449" y="2560320"/>
            <a:ext cx="1051560" cy="1051560"/>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7496719" y="2863589"/>
            <a:ext cx="445020" cy="445020"/>
          </a:xfrm>
          <a:prstGeom prst="ellipse">
            <a:avLst/>
          </a:prstGeom>
          <a:noFill/>
          <a:ln w="47028">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rot="2520000">
            <a:off x="7699880" y="2931310"/>
            <a:ext cx="38697" cy="17413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7687787" y="3054658"/>
            <a:ext cx="62883" cy="62883"/>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804829" y="2103120"/>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200" b="1" i="0">
                <a:solidFill>
                  <a:srgbClr val="1B3139"/>
                </a:solidFill>
                <a:latin typeface="Segoe UI"/>
              </a:rPr>
              <a:t>Faster Analytics</a:t>
            </a:r>
          </a:p>
        </p:txBody>
      </p:sp>
      <p:sp>
        <p:nvSpPr>
          <p:cNvPr id="31" name="TextBox 30"/>
          <p:cNvSpPr txBox="1"/>
          <p:nvPr/>
        </p:nvSpPr>
        <p:spPr>
          <a:xfrm>
            <a:off x="6804829" y="2350008"/>
            <a:ext cx="1828800" cy="365760"/>
          </a:xfrm>
          <a:prstGeom prst="rect">
            <a:avLst/>
          </a:prstGeom>
          <a:noFill/>
        </p:spPr>
        <p:txBody>
          <a:bodyPr wrap="square" anchor="t" lIns="0" rIns="0" tIns="0" bIns="0">
            <a:spAutoFit/>
          </a:bodyPr>
          <a:lstStyle/>
          <a:p>
            <a:pPr algn="ctr">
              <a:lnSpc>
                <a:spcPct val="92000"/>
              </a:lnSpc>
              <a:spcBef>
                <a:spcPts val="0"/>
              </a:spcBef>
              <a:spcAft>
                <a:spcPts val="200"/>
              </a:spcAft>
            </a:pPr>
            <a:r>
              <a:rPr sz="860" b="0" i="0">
                <a:solidFill>
                  <a:srgbClr val="6B777C"/>
                </a:solidFill>
                <a:latin typeface="Segoe UI"/>
              </a:rPr>
              <a:t>OPTIMIZE · Photon</a:t>
            </a:r>
          </a:p>
        </p:txBody>
      </p:sp>
      <p:sp>
        <p:nvSpPr>
          <p:cNvPr id="32" name="Oval 31"/>
          <p:cNvSpPr/>
          <p:nvPr/>
        </p:nvSpPr>
        <p:spPr>
          <a:xfrm>
            <a:off x="7193449" y="4434840"/>
            <a:ext cx="1051560" cy="1051560"/>
          </a:xfrm>
          <a:prstGeom prst="ellipse">
            <a:avLst/>
          </a:prstGeom>
          <a:solidFill>
            <a:srgbClr val="0E8C9C"/>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7556700" y="4798090"/>
            <a:ext cx="131571" cy="131571"/>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7750187" y="4798090"/>
            <a:ext cx="131571" cy="131571"/>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7556700" y="4991577"/>
            <a:ext cx="131571" cy="131571"/>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7750187" y="4991577"/>
            <a:ext cx="131571" cy="131571"/>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804829" y="5532120"/>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200" b="1" i="0">
                <a:solidFill>
                  <a:srgbClr val="1B3139"/>
                </a:solidFill>
                <a:latin typeface="Segoe UI"/>
              </a:rPr>
              <a:t>Scalability</a:t>
            </a:r>
          </a:p>
        </p:txBody>
      </p:sp>
      <p:sp>
        <p:nvSpPr>
          <p:cNvPr id="38" name="TextBox 37"/>
          <p:cNvSpPr txBox="1"/>
          <p:nvPr/>
        </p:nvSpPr>
        <p:spPr>
          <a:xfrm>
            <a:off x="6804829" y="5779008"/>
            <a:ext cx="1828800" cy="365760"/>
          </a:xfrm>
          <a:prstGeom prst="rect">
            <a:avLst/>
          </a:prstGeom>
          <a:noFill/>
        </p:spPr>
        <p:txBody>
          <a:bodyPr wrap="square" anchor="t" lIns="0" rIns="0" tIns="0" bIns="0">
            <a:spAutoFit/>
          </a:bodyPr>
          <a:lstStyle/>
          <a:p>
            <a:pPr algn="ctr">
              <a:lnSpc>
                <a:spcPct val="92000"/>
              </a:lnSpc>
              <a:spcBef>
                <a:spcPts val="0"/>
              </a:spcBef>
              <a:spcAft>
                <a:spcPts val="200"/>
              </a:spcAft>
            </a:pPr>
            <a:r>
              <a:rPr sz="860" b="0" i="0">
                <a:solidFill>
                  <a:srgbClr val="6B777C"/>
                </a:solidFill>
                <a:latin typeface="Segoe UI"/>
              </a:rPr>
              <a:t>Petabyte-scale</a:t>
            </a:r>
          </a:p>
        </p:txBody>
      </p:sp>
      <p:sp>
        <p:nvSpPr>
          <p:cNvPr id="39" name="Oval 38"/>
          <p:cNvSpPr/>
          <p:nvPr/>
        </p:nvSpPr>
        <p:spPr>
          <a:xfrm>
            <a:off x="5570067" y="5372100"/>
            <a:ext cx="1051560" cy="1051560"/>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5931383" y="5873694"/>
            <a:ext cx="328927" cy="241858"/>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Block Arc 40"/>
          <p:cNvSpPr/>
          <p:nvPr/>
        </p:nvSpPr>
        <p:spPr>
          <a:xfrm>
            <a:off x="5979755" y="5656021"/>
            <a:ext cx="232184" cy="241858"/>
          </a:xfrm>
          <a:prstGeom prst="blockArc">
            <a:avLst>
              <a:gd name="adj1" fmla="val 314159"/>
              <a:gd name="adj2" fmla="val 0"/>
              <a:gd name="adj3"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181447" y="6469380"/>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200" b="1" i="0">
                <a:solidFill>
                  <a:srgbClr val="1B3139"/>
                </a:solidFill>
                <a:latin typeface="Segoe UI"/>
              </a:rPr>
              <a:t>Governance</a:t>
            </a:r>
          </a:p>
        </p:txBody>
      </p:sp>
      <p:sp>
        <p:nvSpPr>
          <p:cNvPr id="43" name="TextBox 42"/>
          <p:cNvSpPr txBox="1"/>
          <p:nvPr/>
        </p:nvSpPr>
        <p:spPr>
          <a:xfrm>
            <a:off x="5181447" y="6716268"/>
            <a:ext cx="1828800" cy="365760"/>
          </a:xfrm>
          <a:prstGeom prst="rect">
            <a:avLst/>
          </a:prstGeom>
          <a:noFill/>
        </p:spPr>
        <p:txBody>
          <a:bodyPr wrap="square" anchor="t" lIns="0" rIns="0" tIns="0" bIns="0">
            <a:spAutoFit/>
          </a:bodyPr>
          <a:lstStyle/>
          <a:p>
            <a:pPr algn="ctr">
              <a:lnSpc>
                <a:spcPct val="92000"/>
              </a:lnSpc>
              <a:spcBef>
                <a:spcPts val="0"/>
              </a:spcBef>
              <a:spcAft>
                <a:spcPts val="200"/>
              </a:spcAft>
            </a:pPr>
            <a:r>
              <a:rPr sz="860" b="0" i="0">
                <a:solidFill>
                  <a:srgbClr val="6B777C"/>
                </a:solidFill>
                <a:latin typeface="Segoe UI"/>
              </a:rPr>
              <a:t>Unity Catalog</a:t>
            </a:r>
          </a:p>
        </p:txBody>
      </p:sp>
      <p:sp>
        <p:nvSpPr>
          <p:cNvPr id="44" name="Oval 43"/>
          <p:cNvSpPr/>
          <p:nvPr/>
        </p:nvSpPr>
        <p:spPr>
          <a:xfrm>
            <a:off x="3946685" y="4434840"/>
            <a:ext cx="1051560" cy="1051560"/>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4278978" y="5013828"/>
            <a:ext cx="386974" cy="10641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Oval 45"/>
          <p:cNvSpPr/>
          <p:nvPr/>
        </p:nvSpPr>
        <p:spPr>
          <a:xfrm>
            <a:off x="4278978" y="4907411"/>
            <a:ext cx="386974" cy="10641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4278978" y="4800993"/>
            <a:ext cx="386974" cy="10641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558065" y="5532120"/>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200" b="1" i="0">
                <a:solidFill>
                  <a:srgbClr val="1B3139"/>
                </a:solidFill>
                <a:latin typeface="Segoe UI"/>
              </a:rPr>
              <a:t>Lower Cost</a:t>
            </a:r>
          </a:p>
        </p:txBody>
      </p:sp>
      <p:sp>
        <p:nvSpPr>
          <p:cNvPr id="49" name="TextBox 48"/>
          <p:cNvSpPr txBox="1"/>
          <p:nvPr/>
        </p:nvSpPr>
        <p:spPr>
          <a:xfrm>
            <a:off x="3558065" y="5779008"/>
            <a:ext cx="1828800" cy="365760"/>
          </a:xfrm>
          <a:prstGeom prst="rect">
            <a:avLst/>
          </a:prstGeom>
          <a:noFill/>
        </p:spPr>
        <p:txBody>
          <a:bodyPr wrap="square" anchor="t" lIns="0" rIns="0" tIns="0" bIns="0">
            <a:spAutoFit/>
          </a:bodyPr>
          <a:lstStyle/>
          <a:p>
            <a:pPr algn="ctr">
              <a:lnSpc>
                <a:spcPct val="92000"/>
              </a:lnSpc>
              <a:spcBef>
                <a:spcPts val="0"/>
              </a:spcBef>
              <a:spcAft>
                <a:spcPts val="200"/>
              </a:spcAft>
            </a:pPr>
            <a:r>
              <a:rPr sz="860" b="0" i="0">
                <a:solidFill>
                  <a:srgbClr val="6B777C"/>
                </a:solidFill>
                <a:latin typeface="Segoe UI"/>
              </a:rPr>
              <a:t>One open copy</a:t>
            </a:r>
          </a:p>
        </p:txBody>
      </p:sp>
      <p:sp>
        <p:nvSpPr>
          <p:cNvPr id="50" name="Oval 49"/>
          <p:cNvSpPr/>
          <p:nvPr/>
        </p:nvSpPr>
        <p:spPr>
          <a:xfrm>
            <a:off x="3946685" y="2560320"/>
            <a:ext cx="1051560" cy="1051560"/>
          </a:xfrm>
          <a:prstGeom prst="ellipse">
            <a:avLst/>
          </a:prstGeom>
          <a:solidFill>
            <a:srgbClr val="F59E0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Pentagon 50"/>
          <p:cNvSpPr/>
          <p:nvPr/>
        </p:nvSpPr>
        <p:spPr>
          <a:xfrm rot="5400000">
            <a:off x="4269304" y="2853915"/>
            <a:ext cx="406322" cy="445020"/>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3558065" y="2103120"/>
            <a:ext cx="1828800" cy="274320"/>
          </a:xfrm>
          <a:prstGeom prst="rect">
            <a:avLst/>
          </a:prstGeom>
          <a:noFill/>
        </p:spPr>
        <p:txBody>
          <a:bodyPr wrap="square" anchor="t" lIns="0" rIns="0" tIns="0" bIns="0">
            <a:spAutoFit/>
          </a:bodyPr>
          <a:lstStyle/>
          <a:p>
            <a:pPr algn="ctr">
              <a:lnSpc>
                <a:spcPct val="92000"/>
              </a:lnSpc>
              <a:spcBef>
                <a:spcPts val="0"/>
              </a:spcBef>
              <a:spcAft>
                <a:spcPts val="200"/>
              </a:spcAft>
            </a:pPr>
            <a:r>
              <a:rPr sz="1200" b="1" i="0">
                <a:solidFill>
                  <a:srgbClr val="1B3139"/>
                </a:solidFill>
                <a:latin typeface="Segoe UI"/>
              </a:rPr>
              <a:t>Data Quality</a:t>
            </a:r>
          </a:p>
        </p:txBody>
      </p:sp>
      <p:sp>
        <p:nvSpPr>
          <p:cNvPr id="53" name="TextBox 52"/>
          <p:cNvSpPr txBox="1"/>
          <p:nvPr/>
        </p:nvSpPr>
        <p:spPr>
          <a:xfrm>
            <a:off x="3558065" y="2350008"/>
            <a:ext cx="1828800" cy="365760"/>
          </a:xfrm>
          <a:prstGeom prst="rect">
            <a:avLst/>
          </a:prstGeom>
          <a:noFill/>
        </p:spPr>
        <p:txBody>
          <a:bodyPr wrap="square" anchor="t" lIns="0" rIns="0" tIns="0" bIns="0">
            <a:spAutoFit/>
          </a:bodyPr>
          <a:lstStyle/>
          <a:p>
            <a:pPr algn="ctr">
              <a:lnSpc>
                <a:spcPct val="92000"/>
              </a:lnSpc>
              <a:spcBef>
                <a:spcPts val="0"/>
              </a:spcBef>
              <a:spcAft>
                <a:spcPts val="200"/>
              </a:spcAft>
            </a:pPr>
            <a:r>
              <a:rPr sz="860" b="0" i="0">
                <a:solidFill>
                  <a:srgbClr val="6B777C"/>
                </a:solidFill>
                <a:latin typeface="Segoe UI"/>
              </a:rPr>
              <a:t>Enforced schema</a:t>
            </a:r>
          </a:p>
        </p:txBody>
      </p:sp>
      <p:sp>
        <p:nvSpPr>
          <p:cNvPr id="54" name="Oval 53"/>
          <p:cNvSpPr/>
          <p:nvPr/>
        </p:nvSpPr>
        <p:spPr>
          <a:xfrm>
            <a:off x="5295747" y="3223260"/>
            <a:ext cx="1600200" cy="1600200"/>
          </a:xfrm>
          <a:prstGeom prst="ellipse">
            <a:avLst/>
          </a:prstGeom>
          <a:solidFill>
            <a:srgbClr val="FF3621"/>
          </a:solidFill>
          <a:ln w="38100">
            <a:solidFill>
              <a:srgbClr val="FFFFF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Oval 54"/>
          <p:cNvSpPr/>
          <p:nvPr/>
        </p:nvSpPr>
        <p:spPr>
          <a:xfrm>
            <a:off x="5396331" y="3323844"/>
            <a:ext cx="1399032" cy="1399032"/>
          </a:xfrm>
          <a:prstGeom prst="ellipse">
            <a:avLst/>
          </a:prstGeom>
          <a:noFill/>
          <a:ln w="16510">
            <a:solidFill>
              <a:srgbClr val="FF8A7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5295747" y="3639312"/>
            <a:ext cx="1600200" cy="768096"/>
          </a:xfrm>
          <a:prstGeom prst="rect">
            <a:avLst/>
          </a:prstGeom>
          <a:noFill/>
        </p:spPr>
        <p:txBody>
          <a:bodyPr wrap="square" anchor="ctr" lIns="0" rIns="0" tIns="0" bIns="0">
            <a:spAutoFit/>
          </a:bodyPr>
          <a:lstStyle/>
          <a:p>
            <a:pPr algn="ctr">
              <a:lnSpc>
                <a:spcPct val="95000"/>
              </a:lnSpc>
              <a:spcBef>
                <a:spcPts val="0"/>
              </a:spcBef>
              <a:spcAft>
                <a:spcPts val="200"/>
              </a:spcAft>
            </a:pPr>
            <a:r>
              <a:rPr sz="1500" b="1" i="0">
                <a:solidFill>
                  <a:srgbClr val="FFFFFF"/>
                </a:solidFill>
                <a:latin typeface="Segoe UI"/>
              </a:rPr>
              <a:t>DELTA
VALUE</a:t>
            </a:r>
          </a:p>
        </p:txBody>
      </p:sp>
      <p:sp>
        <p:nvSpPr>
          <p:cNvPr id="57" name="TextBox 56"/>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58" name="TextBox 57"/>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PLATFORM &amp; VALUE</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Delta Lake Best Practices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7013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04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Problem</a:t>
            </a:r>
          </a:p>
        </p:txBody>
      </p:sp>
      <p:sp>
        <p:nvSpPr>
          <p:cNvPr id="9" name="Oval 8"/>
          <p:cNvSpPr/>
          <p:nvPr/>
        </p:nvSpPr>
        <p:spPr>
          <a:xfrm>
            <a:off x="8156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47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Fundamentals</a:t>
            </a:r>
          </a:p>
        </p:txBody>
      </p:sp>
      <p:sp>
        <p:nvSpPr>
          <p:cNvPr id="11" name="Oval 10"/>
          <p:cNvSpPr/>
          <p:nvPr/>
        </p:nvSpPr>
        <p:spPr>
          <a:xfrm>
            <a:off x="9299905" y="1296162"/>
            <a:ext cx="77724" cy="77724"/>
          </a:xfrm>
          <a:prstGeom prst="ellipse">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90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0" i="0">
                <a:solidFill>
                  <a:srgbClr val="9AA6AB"/>
                </a:solidFill>
                <a:latin typeface="Segoe UI Semibold"/>
              </a:rPr>
              <a:t>Internals</a:t>
            </a:r>
          </a:p>
        </p:txBody>
      </p:sp>
      <p:sp>
        <p:nvSpPr>
          <p:cNvPr id="13" name="Oval 12"/>
          <p:cNvSpPr/>
          <p:nvPr/>
        </p:nvSpPr>
        <p:spPr>
          <a:xfrm>
            <a:off x="10426903" y="1280160"/>
            <a:ext cx="109728" cy="1097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33127" y="1417320"/>
            <a:ext cx="1097280" cy="201168"/>
          </a:xfrm>
          <a:prstGeom prst="rect">
            <a:avLst/>
          </a:prstGeom>
          <a:noFill/>
        </p:spPr>
        <p:txBody>
          <a:bodyPr wrap="square" anchor="t" lIns="0" rIns="0" tIns="0" bIns="0">
            <a:spAutoFit/>
          </a:bodyPr>
          <a:lstStyle/>
          <a:p>
            <a:pPr algn="ctr">
              <a:lnSpc>
                <a:spcPct val="100000"/>
              </a:lnSpc>
              <a:spcBef>
                <a:spcPts val="0"/>
              </a:spcBef>
              <a:spcAft>
                <a:spcPts val="200"/>
              </a:spcAft>
            </a:pPr>
            <a:r>
              <a:rPr sz="750" b="1" i="0">
                <a:solidFill>
                  <a:srgbClr val="1B3139"/>
                </a:solidFill>
                <a:latin typeface="Segoe UI Semibold"/>
              </a:rPr>
              <a:t>Platform</a:t>
            </a:r>
          </a:p>
        </p:txBody>
      </p:sp>
      <p:sp>
        <p:nvSpPr>
          <p:cNvPr id="15" name="Oval 14"/>
          <p:cNvSpPr/>
          <p:nvPr/>
        </p:nvSpPr>
        <p:spPr>
          <a:xfrm>
            <a:off x="749808" y="2203704"/>
            <a:ext cx="384048" cy="38404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rot="2700000">
            <a:off x="875161" y="2400490"/>
            <a:ext cx="71432"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rot="18480000">
            <a:off x="927545" y="2348106"/>
            <a:ext cx="138103"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298448" y="2011680"/>
            <a:ext cx="4555083" cy="841248"/>
          </a:xfrm>
          <a:prstGeom prst="rect">
            <a:avLst/>
          </a:prstGeom>
          <a:noFill/>
        </p:spPr>
        <p:txBody>
          <a:bodyPr wrap="square" anchor="ctr" lIns="0" rIns="0" tIns="0" bIns="0">
            <a:spAutoFit/>
          </a:bodyPr>
          <a:lstStyle/>
          <a:p>
            <a:pPr algn="l">
              <a:lnSpc>
                <a:spcPct val="102000"/>
              </a:lnSpc>
              <a:spcBef>
                <a:spcPts val="0"/>
              </a:spcBef>
              <a:spcAft>
                <a:spcPts val="200"/>
              </a:spcAft>
            </a:pPr>
            <a:r>
              <a:rPr sz="1250" b="0" i="0">
                <a:solidFill>
                  <a:srgbClr val="465257"/>
                </a:solidFill>
                <a:latin typeface="Segoe UI"/>
              </a:rPr>
              <a:t>Use Delta as the default format for every table</a:t>
            </a:r>
          </a:p>
        </p:txBody>
      </p:sp>
      <p:sp>
        <p:nvSpPr>
          <p:cNvPr id="19" name="Oval 18"/>
          <p:cNvSpPr/>
          <p:nvPr/>
        </p:nvSpPr>
        <p:spPr>
          <a:xfrm>
            <a:off x="749808" y="3044952"/>
            <a:ext cx="384048" cy="38404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rot="2700000">
            <a:off x="875161" y="3241738"/>
            <a:ext cx="71432"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rot="18480000">
            <a:off x="927545" y="3189354"/>
            <a:ext cx="138103"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298448" y="2852928"/>
            <a:ext cx="4555083" cy="841248"/>
          </a:xfrm>
          <a:prstGeom prst="rect">
            <a:avLst/>
          </a:prstGeom>
          <a:noFill/>
        </p:spPr>
        <p:txBody>
          <a:bodyPr wrap="square" anchor="ctr" lIns="0" rIns="0" tIns="0" bIns="0">
            <a:spAutoFit/>
          </a:bodyPr>
          <a:lstStyle/>
          <a:p>
            <a:pPr algn="l">
              <a:lnSpc>
                <a:spcPct val="102000"/>
              </a:lnSpc>
              <a:spcBef>
                <a:spcPts val="0"/>
              </a:spcBef>
              <a:spcAft>
                <a:spcPts val="200"/>
              </a:spcAft>
            </a:pPr>
            <a:r>
              <a:rPr sz="1250" b="0" i="0">
                <a:solidFill>
                  <a:srgbClr val="465257"/>
                </a:solidFill>
                <a:latin typeface="Segoe UI"/>
              </a:rPr>
              <a:t>Follow the Bronze → Silver → Gold medallion pattern</a:t>
            </a:r>
          </a:p>
        </p:txBody>
      </p:sp>
      <p:sp>
        <p:nvSpPr>
          <p:cNvPr id="23" name="Oval 22"/>
          <p:cNvSpPr/>
          <p:nvPr/>
        </p:nvSpPr>
        <p:spPr>
          <a:xfrm>
            <a:off x="749808" y="3886200"/>
            <a:ext cx="384048" cy="38404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rot="2700000">
            <a:off x="875161" y="4082986"/>
            <a:ext cx="71432"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rot="18480000">
            <a:off x="927545" y="4030602"/>
            <a:ext cx="138103"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298448" y="3694176"/>
            <a:ext cx="4555083" cy="841248"/>
          </a:xfrm>
          <a:prstGeom prst="rect">
            <a:avLst/>
          </a:prstGeom>
          <a:noFill/>
        </p:spPr>
        <p:txBody>
          <a:bodyPr wrap="square" anchor="ctr" lIns="0" rIns="0" tIns="0" bIns="0">
            <a:spAutoFit/>
          </a:bodyPr>
          <a:lstStyle/>
          <a:p>
            <a:pPr algn="l">
              <a:lnSpc>
                <a:spcPct val="102000"/>
              </a:lnSpc>
              <a:spcBef>
                <a:spcPts val="0"/>
              </a:spcBef>
              <a:spcAft>
                <a:spcPts val="200"/>
              </a:spcAft>
            </a:pPr>
            <a:r>
              <a:rPr sz="1250" b="0" i="0">
                <a:solidFill>
                  <a:srgbClr val="465257"/>
                </a:solidFill>
                <a:latin typeface="Segoe UI"/>
              </a:rPr>
              <a:t>Run OPTIMIZE and Z-ORDER on large, frequently-queried tables</a:t>
            </a:r>
          </a:p>
        </p:txBody>
      </p:sp>
      <p:sp>
        <p:nvSpPr>
          <p:cNvPr id="27" name="Oval 26"/>
          <p:cNvSpPr/>
          <p:nvPr/>
        </p:nvSpPr>
        <p:spPr>
          <a:xfrm>
            <a:off x="749808" y="4727448"/>
            <a:ext cx="384048" cy="38404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rot="2700000">
            <a:off x="875161" y="4924234"/>
            <a:ext cx="71432"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rot="18480000">
            <a:off x="927545" y="4871850"/>
            <a:ext cx="138103"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298448" y="4535424"/>
            <a:ext cx="4555083" cy="841248"/>
          </a:xfrm>
          <a:prstGeom prst="rect">
            <a:avLst/>
          </a:prstGeom>
          <a:noFill/>
        </p:spPr>
        <p:txBody>
          <a:bodyPr wrap="square" anchor="ctr" lIns="0" rIns="0" tIns="0" bIns="0">
            <a:spAutoFit/>
          </a:bodyPr>
          <a:lstStyle/>
          <a:p>
            <a:pPr algn="l">
              <a:lnSpc>
                <a:spcPct val="102000"/>
              </a:lnSpc>
              <a:spcBef>
                <a:spcPts val="0"/>
              </a:spcBef>
              <a:spcAft>
                <a:spcPts val="200"/>
              </a:spcAft>
            </a:pPr>
            <a:r>
              <a:rPr sz="1250" b="0" i="0">
                <a:solidFill>
                  <a:srgbClr val="465257"/>
                </a:solidFill>
                <a:latin typeface="Segoe UI"/>
              </a:rPr>
              <a:t>Enable schema enforcement; evolve schemas intentionally</a:t>
            </a:r>
          </a:p>
        </p:txBody>
      </p:sp>
      <p:sp>
        <p:nvSpPr>
          <p:cNvPr id="31" name="Oval 30"/>
          <p:cNvSpPr/>
          <p:nvPr/>
        </p:nvSpPr>
        <p:spPr>
          <a:xfrm>
            <a:off x="6301587" y="2203704"/>
            <a:ext cx="384048" cy="38404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rot="2700000">
            <a:off x="6426940" y="2400490"/>
            <a:ext cx="71432"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rot="18480000">
            <a:off x="6479325" y="2348106"/>
            <a:ext cx="138103"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850227" y="2011680"/>
            <a:ext cx="4555083" cy="841248"/>
          </a:xfrm>
          <a:prstGeom prst="rect">
            <a:avLst/>
          </a:prstGeom>
          <a:noFill/>
        </p:spPr>
        <p:txBody>
          <a:bodyPr wrap="square" anchor="ctr" lIns="0" rIns="0" tIns="0" bIns="0">
            <a:spAutoFit/>
          </a:bodyPr>
          <a:lstStyle/>
          <a:p>
            <a:pPr algn="l">
              <a:lnSpc>
                <a:spcPct val="102000"/>
              </a:lnSpc>
              <a:spcBef>
                <a:spcPts val="0"/>
              </a:spcBef>
              <a:spcAft>
                <a:spcPts val="200"/>
              </a:spcAft>
            </a:pPr>
            <a:r>
              <a:rPr sz="1250" b="0" i="0">
                <a:solidFill>
                  <a:srgbClr val="465257"/>
                </a:solidFill>
                <a:latin typeface="Segoe UI"/>
              </a:rPr>
              <a:t>Use MERGE for upserts and change-data-capture</a:t>
            </a:r>
          </a:p>
        </p:txBody>
      </p:sp>
      <p:sp>
        <p:nvSpPr>
          <p:cNvPr id="35" name="Oval 34"/>
          <p:cNvSpPr/>
          <p:nvPr/>
        </p:nvSpPr>
        <p:spPr>
          <a:xfrm>
            <a:off x="6301587" y="3044952"/>
            <a:ext cx="384048" cy="38404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rot="2700000">
            <a:off x="6426940" y="3241738"/>
            <a:ext cx="71432"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rot="18480000">
            <a:off x="6479325" y="3189354"/>
            <a:ext cx="138103"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850227" y="2852928"/>
            <a:ext cx="4555083" cy="841248"/>
          </a:xfrm>
          <a:prstGeom prst="rect">
            <a:avLst/>
          </a:prstGeom>
          <a:noFill/>
        </p:spPr>
        <p:txBody>
          <a:bodyPr wrap="square" anchor="ctr" lIns="0" rIns="0" tIns="0" bIns="0">
            <a:spAutoFit/>
          </a:bodyPr>
          <a:lstStyle/>
          <a:p>
            <a:pPr algn="l">
              <a:lnSpc>
                <a:spcPct val="102000"/>
              </a:lnSpc>
              <a:spcBef>
                <a:spcPts val="0"/>
              </a:spcBef>
              <a:spcAft>
                <a:spcPts val="200"/>
              </a:spcAft>
            </a:pPr>
            <a:r>
              <a:rPr sz="1250" b="0" i="0">
                <a:solidFill>
                  <a:srgbClr val="465257"/>
                </a:solidFill>
                <a:latin typeface="Segoe UI"/>
              </a:rPr>
              <a:t>Partition thoughtfully — avoid too many tiny partitions</a:t>
            </a:r>
          </a:p>
        </p:txBody>
      </p:sp>
      <p:sp>
        <p:nvSpPr>
          <p:cNvPr id="39" name="Oval 38"/>
          <p:cNvSpPr/>
          <p:nvPr/>
        </p:nvSpPr>
        <p:spPr>
          <a:xfrm>
            <a:off x="6301587" y="3886200"/>
            <a:ext cx="384048" cy="38404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rot="2700000">
            <a:off x="6426940" y="4082986"/>
            <a:ext cx="71432"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rot="18480000">
            <a:off x="6479325" y="4030602"/>
            <a:ext cx="138103"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850227" y="3694176"/>
            <a:ext cx="4555083" cy="841248"/>
          </a:xfrm>
          <a:prstGeom prst="rect">
            <a:avLst/>
          </a:prstGeom>
          <a:noFill/>
        </p:spPr>
        <p:txBody>
          <a:bodyPr wrap="square" anchor="ctr" lIns="0" rIns="0" tIns="0" bIns="0">
            <a:spAutoFit/>
          </a:bodyPr>
          <a:lstStyle/>
          <a:p>
            <a:pPr algn="l">
              <a:lnSpc>
                <a:spcPct val="102000"/>
              </a:lnSpc>
              <a:spcBef>
                <a:spcPts val="0"/>
              </a:spcBef>
              <a:spcAft>
                <a:spcPts val="200"/>
              </a:spcAft>
            </a:pPr>
            <a:r>
              <a:rPr sz="1250" b="0" i="0">
                <a:solidFill>
                  <a:srgbClr val="465257"/>
                </a:solidFill>
                <a:latin typeface="Segoe UI"/>
              </a:rPr>
              <a:t>Govern every table with Unity Catalog from day one</a:t>
            </a:r>
          </a:p>
        </p:txBody>
      </p:sp>
      <p:sp>
        <p:nvSpPr>
          <p:cNvPr id="43" name="Oval 42"/>
          <p:cNvSpPr/>
          <p:nvPr/>
        </p:nvSpPr>
        <p:spPr>
          <a:xfrm>
            <a:off x="6301587" y="4727448"/>
            <a:ext cx="384048" cy="384048"/>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rot="2700000">
            <a:off x="6426940" y="4924234"/>
            <a:ext cx="71432"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rot="18480000">
            <a:off x="6479325" y="4871850"/>
            <a:ext cx="138103" cy="4224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850227" y="4535424"/>
            <a:ext cx="4555083" cy="841248"/>
          </a:xfrm>
          <a:prstGeom prst="rect">
            <a:avLst/>
          </a:prstGeom>
          <a:noFill/>
        </p:spPr>
        <p:txBody>
          <a:bodyPr wrap="square" anchor="ctr" lIns="0" rIns="0" tIns="0" bIns="0">
            <a:spAutoFit/>
          </a:bodyPr>
          <a:lstStyle/>
          <a:p>
            <a:pPr algn="l">
              <a:lnSpc>
                <a:spcPct val="102000"/>
              </a:lnSpc>
              <a:spcBef>
                <a:spcPts val="0"/>
              </a:spcBef>
              <a:spcAft>
                <a:spcPts val="200"/>
              </a:spcAft>
            </a:pPr>
            <a:r>
              <a:rPr sz="1250" b="0" i="0">
                <a:solidFill>
                  <a:srgbClr val="465257"/>
                </a:solidFill>
                <a:latin typeface="Segoe UI"/>
              </a:rPr>
              <a:t>Use time travel for audits, recovery and reproducible ML</a:t>
            </a:r>
          </a:p>
        </p:txBody>
      </p:sp>
      <p:sp>
        <p:nvSpPr>
          <p:cNvPr id="47" name="TextBox 46"/>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8" name="TextBox 47"/>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ounded Rectangle 2"/>
          <p:cNvSpPr/>
          <p:nvPr/>
        </p:nvSpPr>
        <p:spPr>
          <a:xfrm>
            <a:off x="566928" y="548640"/>
            <a:ext cx="77724" cy="676656"/>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86384" y="457200"/>
            <a:ext cx="10838383"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3621"/>
                </a:solidFill>
                <a:latin typeface="Segoe UI Semibold"/>
              </a:rPr>
              <a:t>WRAP-UP</a:t>
            </a:r>
          </a:p>
        </p:txBody>
      </p:sp>
      <p:sp>
        <p:nvSpPr>
          <p:cNvPr id="5" name="TextBox 4"/>
          <p:cNvSpPr txBox="1"/>
          <p:nvPr/>
        </p:nvSpPr>
        <p:spPr>
          <a:xfrm>
            <a:off x="777240" y="694944"/>
            <a:ext cx="10838383" cy="566928"/>
          </a:xfrm>
          <a:prstGeom prst="rect">
            <a:avLst/>
          </a:prstGeom>
          <a:noFill/>
        </p:spPr>
        <p:txBody>
          <a:bodyPr wrap="square" anchor="t" lIns="0" rIns="0" tIns="0" bIns="0">
            <a:spAutoFit/>
          </a:bodyPr>
          <a:lstStyle/>
          <a:p>
            <a:pPr algn="l">
              <a:lnSpc>
                <a:spcPct val="100000"/>
              </a:lnSpc>
              <a:spcBef>
                <a:spcPts val="0"/>
              </a:spcBef>
              <a:spcAft>
                <a:spcPts val="200"/>
              </a:spcAft>
            </a:pPr>
            <a:r>
              <a:rPr sz="2700" b="1" i="0">
                <a:solidFill>
                  <a:srgbClr val="1B3139"/>
                </a:solidFill>
                <a:latin typeface="Segoe UI"/>
              </a:rPr>
              <a:t>Key Takeaways</a:t>
            </a:r>
          </a:p>
        </p:txBody>
      </p:sp>
      <p:sp>
        <p:nvSpPr>
          <p:cNvPr id="6" name="Rectangle 5"/>
          <p:cNvSpPr/>
          <p:nvPr/>
        </p:nvSpPr>
        <p:spPr>
          <a:xfrm>
            <a:off x="566928" y="1481328"/>
            <a:ext cx="11057839" cy="12801"/>
          </a:xfrm>
          <a:prstGeom prst="rect">
            <a:avLst/>
          </a:prstGeom>
          <a:solidFill>
            <a:srgbClr val="E4D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6928" y="1828800"/>
            <a:ext cx="2558719"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828800"/>
            <a:ext cx="2558719" cy="109728"/>
          </a:xfrm>
          <a:prstGeom prst="rect">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1562823" y="2112264"/>
            <a:ext cx="566928" cy="566928"/>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700" b="1">
                <a:solidFill>
                  <a:srgbClr val="FFFFFF"/>
                </a:solidFill>
                <a:latin typeface="Segoe UI Semibold"/>
              </a:rPr>
              <a:t>1</a:t>
            </a:r>
          </a:p>
        </p:txBody>
      </p:sp>
      <p:sp>
        <p:nvSpPr>
          <p:cNvPr id="10" name="TextBox 9"/>
          <p:cNvSpPr txBox="1"/>
          <p:nvPr/>
        </p:nvSpPr>
        <p:spPr>
          <a:xfrm>
            <a:off x="658368" y="2788920"/>
            <a:ext cx="2375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The Problem</a:t>
            </a:r>
          </a:p>
        </p:txBody>
      </p:sp>
      <p:sp>
        <p:nvSpPr>
          <p:cNvPr id="11" name="TextBox 10"/>
          <p:cNvSpPr txBox="1"/>
          <p:nvPr/>
        </p:nvSpPr>
        <p:spPr>
          <a:xfrm>
            <a:off x="804672" y="3200400"/>
            <a:ext cx="2101519" cy="914400"/>
          </a:xfrm>
          <a:prstGeom prst="rect">
            <a:avLst/>
          </a:prstGeom>
          <a:noFill/>
        </p:spPr>
        <p:txBody>
          <a:bodyPr wrap="square" anchor="t" lIns="0" rIns="0" tIns="0" bIns="0">
            <a:spAutoFit/>
          </a:bodyPr>
          <a:lstStyle/>
          <a:p>
            <a:pPr marL="274320" indent="-274320">
              <a:lnSpc>
                <a:spcPct val="112000"/>
              </a:lnSpc>
              <a:spcBef>
                <a:spcPts val="0"/>
              </a:spcBef>
              <a:spcAft>
                <a:spcPts val="700"/>
              </a:spcAft>
            </a:pPr>
            <a:r>
              <a:rPr sz="1030" b="1">
                <a:solidFill>
                  <a:srgbClr val="FF3621"/>
                </a:solidFill>
                <a:latin typeface="Segoe UI"/>
              </a:rPr>
              <a:t>▪   </a:t>
            </a:r>
            <a:r>
              <a:rPr sz="1030">
                <a:solidFill>
                  <a:srgbClr val="465257"/>
                </a:solidFill>
                <a:latin typeface="Segoe UI"/>
              </a:rPr>
              <a:t>Raw lakes have no reliability</a:t>
            </a:r>
          </a:p>
          <a:p>
            <a:pPr marL="274320" indent="-274320">
              <a:lnSpc>
                <a:spcPct val="112000"/>
              </a:lnSpc>
              <a:spcBef>
                <a:spcPts val="0"/>
              </a:spcBef>
              <a:spcAft>
                <a:spcPts val="700"/>
              </a:spcAft>
            </a:pPr>
            <a:r>
              <a:rPr sz="1030" b="1">
                <a:solidFill>
                  <a:srgbClr val="FF3621"/>
                </a:solidFill>
                <a:latin typeface="Segoe UI"/>
              </a:rPr>
              <a:t>▪   </a:t>
            </a:r>
            <a:r>
              <a:rPr sz="1030">
                <a:solidFill>
                  <a:srgbClr val="465257"/>
                </a:solidFill>
                <a:latin typeface="Segoe UI"/>
              </a:rPr>
              <a:t>Bad data is costly &amp; risky</a:t>
            </a:r>
          </a:p>
        </p:txBody>
      </p:sp>
      <p:sp>
        <p:nvSpPr>
          <p:cNvPr id="12" name="Rounded Rectangle 11"/>
          <p:cNvSpPr/>
          <p:nvPr/>
        </p:nvSpPr>
        <p:spPr>
          <a:xfrm>
            <a:off x="3399967" y="1828800"/>
            <a:ext cx="2558719"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399967" y="1828800"/>
            <a:ext cx="2558719" cy="109728"/>
          </a:xfrm>
          <a:prstGeom prst="rect">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4395863" y="2112264"/>
            <a:ext cx="566928" cy="566928"/>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700" b="1">
                <a:solidFill>
                  <a:srgbClr val="FFFFFF"/>
                </a:solidFill>
                <a:latin typeface="Segoe UI Semibold"/>
              </a:rPr>
              <a:t>2</a:t>
            </a:r>
          </a:p>
        </p:txBody>
      </p:sp>
      <p:sp>
        <p:nvSpPr>
          <p:cNvPr id="15" name="TextBox 14"/>
          <p:cNvSpPr txBox="1"/>
          <p:nvPr/>
        </p:nvSpPr>
        <p:spPr>
          <a:xfrm>
            <a:off x="3491407" y="2788920"/>
            <a:ext cx="2375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Delta Lake</a:t>
            </a:r>
          </a:p>
        </p:txBody>
      </p:sp>
      <p:sp>
        <p:nvSpPr>
          <p:cNvPr id="16" name="TextBox 15"/>
          <p:cNvSpPr txBox="1"/>
          <p:nvPr/>
        </p:nvSpPr>
        <p:spPr>
          <a:xfrm>
            <a:off x="3637711" y="3200400"/>
            <a:ext cx="2101519" cy="914400"/>
          </a:xfrm>
          <a:prstGeom prst="rect">
            <a:avLst/>
          </a:prstGeom>
          <a:noFill/>
        </p:spPr>
        <p:txBody>
          <a:bodyPr wrap="square" anchor="t" lIns="0" rIns="0" tIns="0" bIns="0">
            <a:spAutoFit/>
          </a:bodyPr>
          <a:lstStyle/>
          <a:p>
            <a:pPr marL="274320" indent="-274320">
              <a:lnSpc>
                <a:spcPct val="112000"/>
              </a:lnSpc>
              <a:spcBef>
                <a:spcPts val="0"/>
              </a:spcBef>
              <a:spcAft>
                <a:spcPts val="700"/>
              </a:spcAft>
            </a:pPr>
            <a:r>
              <a:rPr sz="1030" b="1">
                <a:solidFill>
                  <a:srgbClr val="2272B4"/>
                </a:solidFill>
                <a:latin typeface="Segoe UI"/>
              </a:rPr>
              <a:t>▪   </a:t>
            </a:r>
            <a:r>
              <a:rPr sz="1030">
                <a:solidFill>
                  <a:srgbClr val="465257"/>
                </a:solidFill>
                <a:latin typeface="Segoe UI"/>
              </a:rPr>
              <a:t>Open layer: Parquet + a log</a:t>
            </a:r>
          </a:p>
          <a:p>
            <a:pPr marL="274320" indent="-274320">
              <a:lnSpc>
                <a:spcPct val="112000"/>
              </a:lnSpc>
              <a:spcBef>
                <a:spcPts val="0"/>
              </a:spcBef>
              <a:spcAft>
                <a:spcPts val="700"/>
              </a:spcAft>
            </a:pPr>
            <a:r>
              <a:rPr sz="1030" b="1">
                <a:solidFill>
                  <a:srgbClr val="2272B4"/>
                </a:solidFill>
                <a:latin typeface="Segoe UI"/>
              </a:rPr>
              <a:t>▪   </a:t>
            </a:r>
            <a:r>
              <a:rPr sz="1030">
                <a:solidFill>
                  <a:srgbClr val="465257"/>
                </a:solidFill>
                <a:latin typeface="Segoe UI"/>
              </a:rPr>
              <a:t>ACID reliability on storage</a:t>
            </a:r>
          </a:p>
        </p:txBody>
      </p:sp>
      <p:sp>
        <p:nvSpPr>
          <p:cNvPr id="17" name="Rounded Rectangle 16"/>
          <p:cNvSpPr/>
          <p:nvPr/>
        </p:nvSpPr>
        <p:spPr>
          <a:xfrm>
            <a:off x="6233007" y="1828800"/>
            <a:ext cx="2558719"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33007" y="1828800"/>
            <a:ext cx="2558719" cy="109728"/>
          </a:xfrm>
          <a:prstGeom prst="rect">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7228903" y="2112264"/>
            <a:ext cx="566928" cy="566928"/>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700" b="1">
                <a:solidFill>
                  <a:srgbClr val="FFFFFF"/>
                </a:solidFill>
                <a:latin typeface="Segoe UI Semibold"/>
              </a:rPr>
              <a:t>3</a:t>
            </a:r>
          </a:p>
        </p:txBody>
      </p:sp>
      <p:sp>
        <p:nvSpPr>
          <p:cNvPr id="20" name="TextBox 19"/>
          <p:cNvSpPr txBox="1"/>
          <p:nvPr/>
        </p:nvSpPr>
        <p:spPr>
          <a:xfrm>
            <a:off x="6324447" y="2788920"/>
            <a:ext cx="2375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How It Works</a:t>
            </a:r>
          </a:p>
        </p:txBody>
      </p:sp>
      <p:sp>
        <p:nvSpPr>
          <p:cNvPr id="21" name="TextBox 20"/>
          <p:cNvSpPr txBox="1"/>
          <p:nvPr/>
        </p:nvSpPr>
        <p:spPr>
          <a:xfrm>
            <a:off x="6470751" y="3200400"/>
            <a:ext cx="2101519" cy="914400"/>
          </a:xfrm>
          <a:prstGeom prst="rect">
            <a:avLst/>
          </a:prstGeom>
          <a:noFill/>
        </p:spPr>
        <p:txBody>
          <a:bodyPr wrap="square" anchor="t" lIns="0" rIns="0" tIns="0" bIns="0">
            <a:spAutoFit/>
          </a:bodyPr>
          <a:lstStyle/>
          <a:p>
            <a:pPr marL="274320" indent="-274320">
              <a:lnSpc>
                <a:spcPct val="112000"/>
              </a:lnSpc>
              <a:spcBef>
                <a:spcPts val="0"/>
              </a:spcBef>
              <a:spcAft>
                <a:spcPts val="700"/>
              </a:spcAft>
            </a:pPr>
            <a:r>
              <a:rPr sz="1030" b="1">
                <a:solidFill>
                  <a:srgbClr val="00A972"/>
                </a:solidFill>
                <a:latin typeface="Segoe UI"/>
              </a:rPr>
              <a:t>▪   </a:t>
            </a:r>
            <a:r>
              <a:rPr sz="1030">
                <a:solidFill>
                  <a:srgbClr val="465257"/>
                </a:solidFill>
                <a:latin typeface="Segoe UI"/>
              </a:rPr>
              <a:t>Transaction log = the brain</a:t>
            </a:r>
          </a:p>
          <a:p>
            <a:pPr marL="274320" indent="-274320">
              <a:lnSpc>
                <a:spcPct val="112000"/>
              </a:lnSpc>
              <a:spcBef>
                <a:spcPts val="0"/>
              </a:spcBef>
              <a:spcAft>
                <a:spcPts val="700"/>
              </a:spcAft>
            </a:pPr>
            <a:r>
              <a:rPr sz="1030" b="1">
                <a:solidFill>
                  <a:srgbClr val="00A972"/>
                </a:solidFill>
                <a:latin typeface="Segoe UI"/>
              </a:rPr>
              <a:t>▪   </a:t>
            </a:r>
            <a:r>
              <a:rPr sz="1030">
                <a:solidFill>
                  <a:srgbClr val="465257"/>
                </a:solidFill>
                <a:latin typeface="Segoe UI"/>
              </a:rPr>
              <a:t>Time travel &amp; schema control</a:t>
            </a:r>
          </a:p>
        </p:txBody>
      </p:sp>
      <p:sp>
        <p:nvSpPr>
          <p:cNvPr id="22" name="Rounded Rectangle 21"/>
          <p:cNvSpPr/>
          <p:nvPr/>
        </p:nvSpPr>
        <p:spPr>
          <a:xfrm>
            <a:off x="9066047" y="1828800"/>
            <a:ext cx="2558719" cy="2331720"/>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9066047" y="1828800"/>
            <a:ext cx="2558719" cy="109728"/>
          </a:xfrm>
          <a:prstGeom prst="rect">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10061943" y="2112264"/>
            <a:ext cx="566928" cy="566928"/>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700" b="1">
                <a:solidFill>
                  <a:srgbClr val="FFFFFF"/>
                </a:solidFill>
                <a:latin typeface="Segoe UI Semibold"/>
              </a:rPr>
              <a:t>4</a:t>
            </a:r>
          </a:p>
        </p:txBody>
      </p:sp>
      <p:sp>
        <p:nvSpPr>
          <p:cNvPr id="25" name="TextBox 24"/>
          <p:cNvSpPr txBox="1"/>
          <p:nvPr/>
        </p:nvSpPr>
        <p:spPr>
          <a:xfrm>
            <a:off x="9157487" y="2788920"/>
            <a:ext cx="2375839" cy="365760"/>
          </a:xfrm>
          <a:prstGeom prst="rect">
            <a:avLst/>
          </a:prstGeom>
          <a:noFill/>
        </p:spPr>
        <p:txBody>
          <a:bodyPr wrap="square" anchor="t" lIns="0" rIns="0" tIns="0" bIns="0">
            <a:spAutoFit/>
          </a:bodyPr>
          <a:lstStyle/>
          <a:p>
            <a:pPr algn="ctr">
              <a:lnSpc>
                <a:spcPct val="100000"/>
              </a:lnSpc>
              <a:spcBef>
                <a:spcPts val="0"/>
              </a:spcBef>
              <a:spcAft>
                <a:spcPts val="200"/>
              </a:spcAft>
            </a:pPr>
            <a:r>
              <a:rPr sz="1250" b="1" i="0">
                <a:solidFill>
                  <a:srgbClr val="1B3139"/>
                </a:solidFill>
                <a:latin typeface="Segoe UI"/>
              </a:rPr>
              <a:t>The Value</a:t>
            </a:r>
          </a:p>
        </p:txBody>
      </p:sp>
      <p:sp>
        <p:nvSpPr>
          <p:cNvPr id="26" name="TextBox 25"/>
          <p:cNvSpPr txBox="1"/>
          <p:nvPr/>
        </p:nvSpPr>
        <p:spPr>
          <a:xfrm>
            <a:off x="9303791" y="3200400"/>
            <a:ext cx="2101519" cy="914400"/>
          </a:xfrm>
          <a:prstGeom prst="rect">
            <a:avLst/>
          </a:prstGeom>
          <a:noFill/>
        </p:spPr>
        <p:txBody>
          <a:bodyPr wrap="square" anchor="t" lIns="0" rIns="0" tIns="0" bIns="0">
            <a:spAutoFit/>
          </a:bodyPr>
          <a:lstStyle/>
          <a:p>
            <a:pPr marL="274320" indent="-274320">
              <a:lnSpc>
                <a:spcPct val="112000"/>
              </a:lnSpc>
              <a:spcBef>
                <a:spcPts val="0"/>
              </a:spcBef>
              <a:spcAft>
                <a:spcPts val="700"/>
              </a:spcAft>
            </a:pPr>
            <a:r>
              <a:rPr sz="1030" b="1">
                <a:solidFill>
                  <a:srgbClr val="7C5CCF"/>
                </a:solidFill>
                <a:latin typeface="Segoe UI"/>
              </a:rPr>
              <a:t>▪   </a:t>
            </a:r>
            <a:r>
              <a:rPr sz="1030">
                <a:solidFill>
                  <a:srgbClr val="465257"/>
                </a:solidFill>
                <a:latin typeface="Segoe UI"/>
              </a:rPr>
              <a:t>Foundation of the Lakehouse</a:t>
            </a:r>
          </a:p>
          <a:p>
            <a:pPr marL="274320" indent="-274320">
              <a:lnSpc>
                <a:spcPct val="112000"/>
              </a:lnSpc>
              <a:spcBef>
                <a:spcPts val="0"/>
              </a:spcBef>
              <a:spcAft>
                <a:spcPts val="700"/>
              </a:spcAft>
            </a:pPr>
            <a:r>
              <a:rPr sz="1030" b="1">
                <a:solidFill>
                  <a:srgbClr val="7C5CCF"/>
                </a:solidFill>
                <a:latin typeface="Segoe UI"/>
              </a:rPr>
              <a:t>▪   </a:t>
            </a:r>
            <a:r>
              <a:rPr sz="1030">
                <a:solidFill>
                  <a:srgbClr val="465257"/>
                </a:solidFill>
                <a:latin typeface="Segoe UI"/>
              </a:rPr>
              <a:t>Fast, governed, trusted data</a:t>
            </a:r>
          </a:p>
        </p:txBody>
      </p:sp>
      <p:sp>
        <p:nvSpPr>
          <p:cNvPr id="27" name="Rounded Rectangle 26"/>
          <p:cNvSpPr/>
          <p:nvPr/>
        </p:nvSpPr>
        <p:spPr>
          <a:xfrm>
            <a:off x="566928" y="4526280"/>
            <a:ext cx="5391759" cy="74980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58952" y="4636008"/>
            <a:ext cx="530352" cy="530352"/>
          </a:xfrm>
          <a:prstGeom prst="ellipse">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Isosceles Triangle 28"/>
          <p:cNvSpPr/>
          <p:nvPr/>
        </p:nvSpPr>
        <p:spPr>
          <a:xfrm>
            <a:off x="902147" y="4791401"/>
            <a:ext cx="243961" cy="219565"/>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435607" y="4526280"/>
            <a:ext cx="4385919" cy="749808"/>
          </a:xfrm>
          <a:prstGeom prst="rect">
            <a:avLst/>
          </a:prstGeom>
          <a:noFill/>
        </p:spPr>
        <p:txBody>
          <a:bodyPr wrap="square" anchor="ctr" lIns="0" rIns="0" tIns="0" bIns="0">
            <a:spAutoFit/>
          </a:bodyPr>
          <a:lstStyle/>
          <a:p>
            <a:pPr algn="l">
              <a:lnSpc>
                <a:spcPct val="105000"/>
              </a:lnSpc>
              <a:spcBef>
                <a:spcPts val="0"/>
              </a:spcBef>
              <a:spcAft>
                <a:spcPts val="200"/>
              </a:spcAft>
            </a:pPr>
            <a:r>
              <a:rPr sz="1150" b="0" i="0">
                <a:solidFill>
                  <a:srgbClr val="465257"/>
                </a:solidFill>
                <a:latin typeface="Segoe UI"/>
              </a:rPr>
              <a:t>Delta Lake turns a folder of files into a reliable, governed database.</a:t>
            </a:r>
          </a:p>
        </p:txBody>
      </p:sp>
      <p:sp>
        <p:nvSpPr>
          <p:cNvPr id="31" name="Rounded Rectangle 30"/>
          <p:cNvSpPr/>
          <p:nvPr/>
        </p:nvSpPr>
        <p:spPr>
          <a:xfrm>
            <a:off x="6233007" y="4526280"/>
            <a:ext cx="5391759" cy="74980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6425031" y="4636008"/>
            <a:ext cx="530352" cy="530352"/>
          </a:xfrm>
          <a:prstGeom prst="ellipse">
            <a:avLst/>
          </a:prstGeom>
          <a:solidFill>
            <a:srgbClr val="2272B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Circular Arrow 32"/>
          <p:cNvSpPr/>
          <p:nvPr/>
        </p:nvSpPr>
        <p:spPr>
          <a:xfrm>
            <a:off x="6568226" y="4779203"/>
            <a:ext cx="243961" cy="243961"/>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101687" y="4526280"/>
            <a:ext cx="4385919" cy="749808"/>
          </a:xfrm>
          <a:prstGeom prst="rect">
            <a:avLst/>
          </a:prstGeom>
          <a:noFill/>
        </p:spPr>
        <p:txBody>
          <a:bodyPr wrap="square" anchor="ctr" lIns="0" rIns="0" tIns="0" bIns="0">
            <a:spAutoFit/>
          </a:bodyPr>
          <a:lstStyle/>
          <a:p>
            <a:pPr algn="l">
              <a:lnSpc>
                <a:spcPct val="105000"/>
              </a:lnSpc>
              <a:spcBef>
                <a:spcPts val="0"/>
              </a:spcBef>
              <a:spcAft>
                <a:spcPts val="200"/>
              </a:spcAft>
            </a:pPr>
            <a:r>
              <a:rPr sz="1150" b="0" i="0">
                <a:solidFill>
                  <a:srgbClr val="465257"/>
                </a:solidFill>
                <a:latin typeface="Segoe UI"/>
              </a:rPr>
              <a:t>The transaction log delivers ACID, time travel and audit — all at once.</a:t>
            </a:r>
          </a:p>
        </p:txBody>
      </p:sp>
      <p:sp>
        <p:nvSpPr>
          <p:cNvPr id="35" name="Rounded Rectangle 34"/>
          <p:cNvSpPr/>
          <p:nvPr/>
        </p:nvSpPr>
        <p:spPr>
          <a:xfrm>
            <a:off x="566928" y="5349240"/>
            <a:ext cx="5391759" cy="74980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758952" y="5458968"/>
            <a:ext cx="530352" cy="530352"/>
          </a:xfrm>
          <a:prstGeom prst="ellipse">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Pentagon 36"/>
          <p:cNvSpPr/>
          <p:nvPr/>
        </p:nvSpPr>
        <p:spPr>
          <a:xfrm rot="5400000">
            <a:off x="921663" y="5607042"/>
            <a:ext cx="204928" cy="224444"/>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435607" y="5349240"/>
            <a:ext cx="4385919" cy="749808"/>
          </a:xfrm>
          <a:prstGeom prst="rect">
            <a:avLst/>
          </a:prstGeom>
          <a:noFill/>
        </p:spPr>
        <p:txBody>
          <a:bodyPr wrap="square" anchor="ctr" lIns="0" rIns="0" tIns="0" bIns="0">
            <a:spAutoFit/>
          </a:bodyPr>
          <a:lstStyle/>
          <a:p>
            <a:pPr algn="l">
              <a:lnSpc>
                <a:spcPct val="105000"/>
              </a:lnSpc>
              <a:spcBef>
                <a:spcPts val="0"/>
              </a:spcBef>
              <a:spcAft>
                <a:spcPts val="200"/>
              </a:spcAft>
            </a:pPr>
            <a:r>
              <a:rPr sz="1150" b="0" i="0">
                <a:solidFill>
                  <a:srgbClr val="465257"/>
                </a:solidFill>
                <a:latin typeface="Segoe UI"/>
              </a:rPr>
              <a:t>Schema enforcement + evolution keep tables clean yet adaptable.</a:t>
            </a:r>
          </a:p>
        </p:txBody>
      </p:sp>
      <p:sp>
        <p:nvSpPr>
          <p:cNvPr id="39" name="Rounded Rectangle 38"/>
          <p:cNvSpPr/>
          <p:nvPr/>
        </p:nvSpPr>
        <p:spPr>
          <a:xfrm>
            <a:off x="6233007" y="5349240"/>
            <a:ext cx="5391759" cy="749808"/>
          </a:xfrm>
          <a:prstGeom prst="roundRect">
            <a:avLst>
              <a:gd name="adj" fmla="val 5500"/>
            </a:avLst>
          </a:prstGeom>
          <a:solidFill>
            <a:srgbClr val="FFFFFF"/>
          </a:solidFill>
          <a:ln w="12700">
            <a:solidFill>
              <a:srgbClr val="DDD8CF"/>
            </a:solid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6425031" y="5458968"/>
            <a:ext cx="530352" cy="530352"/>
          </a:xfrm>
          <a:prstGeom prst="ellipse">
            <a:avLst/>
          </a:prstGeom>
          <a:solidFill>
            <a:srgbClr val="7C5C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5-Point Star 40"/>
          <p:cNvSpPr/>
          <p:nvPr/>
        </p:nvSpPr>
        <p:spPr>
          <a:xfrm>
            <a:off x="6568226" y="5602163"/>
            <a:ext cx="243961" cy="243961"/>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101687" y="5349240"/>
            <a:ext cx="4385919" cy="749808"/>
          </a:xfrm>
          <a:prstGeom prst="rect">
            <a:avLst/>
          </a:prstGeom>
          <a:noFill/>
        </p:spPr>
        <p:txBody>
          <a:bodyPr wrap="square" anchor="ctr" lIns="0" rIns="0" tIns="0" bIns="0">
            <a:spAutoFit/>
          </a:bodyPr>
          <a:lstStyle/>
          <a:p>
            <a:pPr algn="l">
              <a:lnSpc>
                <a:spcPct val="105000"/>
              </a:lnSpc>
              <a:spcBef>
                <a:spcPts val="0"/>
              </a:spcBef>
              <a:spcAft>
                <a:spcPts val="200"/>
              </a:spcAft>
            </a:pPr>
            <a:r>
              <a:rPr sz="1150" b="0" i="0">
                <a:solidFill>
                  <a:srgbClr val="465257"/>
                </a:solidFill>
                <a:latin typeface="Segoe UI"/>
              </a:rPr>
              <a:t>Delta is the open foundation of the Lakehouse — fast, governed and trusted.</a:t>
            </a:r>
          </a:p>
        </p:txBody>
      </p:sp>
      <p:sp>
        <p:nvSpPr>
          <p:cNvPr id="43" name="TextBox 42"/>
          <p:cNvSpPr txBox="1"/>
          <p:nvPr/>
        </p:nvSpPr>
        <p:spPr>
          <a:xfrm>
            <a:off x="566928" y="6455664"/>
            <a:ext cx="6400800" cy="237744"/>
          </a:xfrm>
          <a:prstGeom prst="rect">
            <a:avLst/>
          </a:prstGeom>
          <a:noFill/>
        </p:spPr>
        <p:txBody>
          <a:bodyPr wrap="square" anchor="t" lIns="0" rIns="0" tIns="0" bIns="0">
            <a:spAutoFit/>
          </a:bodyPr>
          <a:lstStyle/>
          <a:p>
            <a:pPr algn="l">
              <a:lnSpc>
                <a:spcPct val="100000"/>
              </a:lnSpc>
              <a:spcBef>
                <a:spcPts val="0"/>
              </a:spcBef>
              <a:spcAft>
                <a:spcPts val="200"/>
              </a:spcAft>
            </a:pPr>
            <a:r>
              <a:rPr sz="850" b="0" i="0">
                <a:solidFill>
                  <a:srgbClr val="9AA6AB"/>
                </a:solidFill>
                <a:latin typeface="Segoe UI"/>
              </a:rPr>
              <a:t>Big Data &amp; Databricks  ·  Enterprise Training Series</a:t>
            </a:r>
          </a:p>
        </p:txBody>
      </p:sp>
      <p:sp>
        <p:nvSpPr>
          <p:cNvPr id="44" name="TextBox 43"/>
          <p:cNvSpPr txBox="1"/>
          <p:nvPr/>
        </p:nvSpPr>
        <p:spPr>
          <a:xfrm>
            <a:off x="10161727" y="6455664"/>
            <a:ext cx="1463040" cy="237744"/>
          </a:xfrm>
          <a:prstGeom prst="rect">
            <a:avLst/>
          </a:prstGeom>
          <a:noFill/>
        </p:spPr>
        <p:txBody>
          <a:bodyPr wrap="square" anchor="t" lIns="0" rIns="0" tIns="0" bIns="0">
            <a:spAutoFit/>
          </a:bodyPr>
          <a:lstStyle/>
          <a:p>
            <a:pPr algn="r">
              <a:lnSpc>
                <a:spcPct val="100000"/>
              </a:lnSpc>
              <a:spcBef>
                <a:spcPts val="0"/>
              </a:spcBef>
              <a:spcAft>
                <a:spcPts val="200"/>
              </a:spcAft>
            </a:pPr>
            <a:r>
              <a:rPr sz="850" b="1" i="0">
                <a:solidFill>
                  <a:srgbClr val="9AA6AB"/>
                </a:solidFill>
                <a:latin typeface="Segoe UI"/>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B3139"/>
              </a:gs>
              <a:gs pos="100000">
                <a:srgbClr val="0E1C21"/>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869680" y="-1463040"/>
            <a:ext cx="4937760" cy="4937760"/>
          </a:xfrm>
          <a:prstGeom prst="ellipse">
            <a:avLst/>
          </a:prstGeom>
          <a:noFill/>
          <a:ln w="1524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966960" y="182880"/>
            <a:ext cx="2926080" cy="2926080"/>
          </a:xfrm>
          <a:prstGeom prst="ellipse">
            <a:avLst/>
          </a:prstGeom>
          <a:noFill/>
          <a:ln w="12700">
            <a:solidFill>
              <a:srgbClr val="3559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Hexagon 4"/>
          <p:cNvSpPr/>
          <p:nvPr/>
        </p:nvSpPr>
        <p:spPr>
          <a:xfrm rot="720000">
            <a:off x="9646920" y="4297680"/>
            <a:ext cx="1828800" cy="1645920"/>
          </a:xfrm>
          <a:prstGeom prst="hexagon">
            <a:avLst/>
          </a:prstGeom>
          <a:no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rot="1080000">
            <a:off x="11475720" y="2468880"/>
            <a:ext cx="457200" cy="457200"/>
          </a:xfrm>
          <a:prstGeom prst="roundRect">
            <a:avLst>
              <a:gd name="adj" fmla="val 25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Diamond 6"/>
          <p:cNvSpPr/>
          <p:nvPr/>
        </p:nvSpPr>
        <p:spPr>
          <a:xfrm>
            <a:off x="8686800" y="5394960"/>
            <a:ext cx="310896" cy="310896"/>
          </a:xfrm>
          <a:prstGeom prst="diamond">
            <a:avLst/>
          </a:prstGeom>
          <a:solidFill>
            <a:srgbClr val="00A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66928" y="2011680"/>
            <a:ext cx="82296" cy="1371600"/>
          </a:xfrm>
          <a:prstGeom prst="roundRect">
            <a:avLst>
              <a:gd name="adj" fmla="val 50000"/>
            </a:avLst>
          </a:prstGeom>
          <a:solidFill>
            <a:srgbClr val="FF36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1247" y="1874519"/>
            <a:ext cx="9144000" cy="1005840"/>
          </a:xfrm>
          <a:prstGeom prst="rect">
            <a:avLst/>
          </a:prstGeom>
          <a:noFill/>
        </p:spPr>
        <p:txBody>
          <a:bodyPr wrap="square" anchor="t" lIns="0" rIns="0" tIns="0" bIns="0">
            <a:spAutoFit/>
          </a:bodyPr>
          <a:lstStyle/>
          <a:p>
            <a:pPr algn="l">
              <a:lnSpc>
                <a:spcPct val="100000"/>
              </a:lnSpc>
              <a:spcBef>
                <a:spcPts val="0"/>
              </a:spcBef>
              <a:spcAft>
                <a:spcPts val="200"/>
              </a:spcAft>
            </a:pPr>
            <a:r>
              <a:rPr sz="5200" b="1" i="0">
                <a:solidFill>
                  <a:srgbClr val="FFFFFF"/>
                </a:solidFill>
                <a:latin typeface="Segoe UI"/>
              </a:rPr>
              <a:t>Questions?</a:t>
            </a:r>
          </a:p>
        </p:txBody>
      </p:sp>
      <p:sp>
        <p:nvSpPr>
          <p:cNvPr id="10" name="TextBox 9"/>
          <p:cNvSpPr txBox="1"/>
          <p:nvPr/>
        </p:nvSpPr>
        <p:spPr>
          <a:xfrm>
            <a:off x="859536" y="2971800"/>
            <a:ext cx="9692640" cy="548640"/>
          </a:xfrm>
          <a:prstGeom prst="rect">
            <a:avLst/>
          </a:prstGeom>
          <a:noFill/>
        </p:spPr>
        <p:txBody>
          <a:bodyPr wrap="square" anchor="t" lIns="0" rIns="0" tIns="0" bIns="0">
            <a:spAutoFit/>
          </a:bodyPr>
          <a:lstStyle/>
          <a:p>
            <a:pPr algn="l">
              <a:lnSpc>
                <a:spcPct val="120000"/>
              </a:lnSpc>
              <a:spcBef>
                <a:spcPts val="0"/>
              </a:spcBef>
              <a:spcAft>
                <a:spcPts val="200"/>
              </a:spcAft>
            </a:pPr>
            <a:r>
              <a:rPr sz="1500" b="0" i="0">
                <a:solidFill>
                  <a:srgbClr val="C4D0D4"/>
                </a:solidFill>
                <a:latin typeface="Segoe UI"/>
              </a:rPr>
              <a:t>You now understand Delta Lake from the transaction log up — and why it's the foundation of every reliable Lakehouse.</a:t>
            </a:r>
          </a:p>
        </p:txBody>
      </p:sp>
      <p:sp>
        <p:nvSpPr>
          <p:cNvPr id="11" name="TextBox 10"/>
          <p:cNvSpPr txBox="1"/>
          <p:nvPr/>
        </p:nvSpPr>
        <p:spPr>
          <a:xfrm>
            <a:off x="859536" y="3886200"/>
            <a:ext cx="7315200" cy="274320"/>
          </a:xfrm>
          <a:prstGeom prst="rect">
            <a:avLst/>
          </a:prstGeom>
          <a:noFill/>
        </p:spPr>
        <p:txBody>
          <a:bodyPr wrap="square" anchor="t" lIns="0" rIns="0" tIns="0" bIns="0">
            <a:spAutoFit/>
          </a:bodyPr>
          <a:lstStyle/>
          <a:p>
            <a:pPr algn="l">
              <a:lnSpc>
                <a:spcPct val="100000"/>
              </a:lnSpc>
              <a:spcBef>
                <a:spcPts val="0"/>
              </a:spcBef>
              <a:spcAft>
                <a:spcPts val="200"/>
              </a:spcAft>
            </a:pPr>
            <a:r>
              <a:rPr sz="1150" b="1" i="0">
                <a:solidFill>
                  <a:srgbClr val="FF6B57"/>
                </a:solidFill>
                <a:latin typeface="Segoe UI Semibold"/>
              </a:rPr>
              <a:t>GO DEEPER</a:t>
            </a:r>
          </a:p>
        </p:txBody>
      </p:sp>
      <p:sp>
        <p:nvSpPr>
          <p:cNvPr id="12" name="Rounded Rectangle 11"/>
          <p:cNvSpPr/>
          <p:nvPr/>
        </p:nvSpPr>
        <p:spPr>
          <a:xfrm>
            <a:off x="859536" y="4224528"/>
            <a:ext cx="1540764"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Segoe UI Semibold"/>
              </a:rPr>
              <a:t>docs.delta.io</a:t>
            </a:r>
          </a:p>
        </p:txBody>
      </p:sp>
      <p:sp>
        <p:nvSpPr>
          <p:cNvPr id="13" name="Rounded Rectangle 12"/>
          <p:cNvSpPr/>
          <p:nvPr/>
        </p:nvSpPr>
        <p:spPr>
          <a:xfrm>
            <a:off x="2601468" y="4224528"/>
            <a:ext cx="2020824"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Segoe UI Semibold"/>
              </a:rPr>
              <a:t>Databricks Academy</a:t>
            </a:r>
          </a:p>
        </p:txBody>
      </p:sp>
      <p:sp>
        <p:nvSpPr>
          <p:cNvPr id="14" name="Rounded Rectangle 13"/>
          <p:cNvSpPr/>
          <p:nvPr/>
        </p:nvSpPr>
        <p:spPr>
          <a:xfrm>
            <a:off x="4823460" y="4224528"/>
            <a:ext cx="2500884"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Segoe UI Semibold"/>
              </a:rPr>
              <a:t>Free Edition — hands-on</a:t>
            </a:r>
          </a:p>
        </p:txBody>
      </p:sp>
      <p:sp>
        <p:nvSpPr>
          <p:cNvPr id="15" name="Rounded Rectangle 14"/>
          <p:cNvSpPr/>
          <p:nvPr/>
        </p:nvSpPr>
        <p:spPr>
          <a:xfrm>
            <a:off x="7525512" y="4224528"/>
            <a:ext cx="2212848" cy="475488"/>
          </a:xfrm>
          <a:prstGeom prst="roundRect">
            <a:avLst>
              <a:gd name="adj" fmla="val 50000"/>
            </a:avLst>
          </a:prstGeom>
          <a:solidFill>
            <a:srgbClr val="27444F"/>
          </a:solidFill>
          <a:ln w="12700">
            <a:solidFill>
              <a:srgbClr val="3A53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FFFFFF"/>
                </a:solidFill>
                <a:latin typeface="Segoe UI Semibold"/>
              </a:rPr>
              <a:t>delta.io open source</a:t>
            </a:r>
          </a:p>
        </p:txBody>
      </p:sp>
      <p:sp>
        <p:nvSpPr>
          <p:cNvPr id="16" name="Oval 15"/>
          <p:cNvSpPr/>
          <p:nvPr/>
        </p:nvSpPr>
        <p:spPr>
          <a:xfrm>
            <a:off x="868679" y="4992624"/>
            <a:ext cx="713232" cy="713232"/>
          </a:xfrm>
          <a:prstGeom prst="ellipse">
            <a:avLst/>
          </a:prstGeom>
          <a:solidFill>
            <a:srgbClr val="00A972"/>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rot="2700000">
            <a:off x="1133431" y="5355801"/>
            <a:ext cx="98426" cy="5249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rot="18480000">
            <a:off x="1205610" y="5283622"/>
            <a:ext cx="190290" cy="52493"/>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68096"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Reliability</a:t>
            </a:r>
          </a:p>
        </p:txBody>
      </p:sp>
      <p:sp>
        <p:nvSpPr>
          <p:cNvPr id="20" name="Oval 19"/>
          <p:cNvSpPr/>
          <p:nvPr/>
        </p:nvSpPr>
        <p:spPr>
          <a:xfrm>
            <a:off x="1920239" y="4992624"/>
            <a:ext cx="713232" cy="713232"/>
          </a:xfrm>
          <a:prstGeom prst="ellipse">
            <a:avLst/>
          </a:prstGeom>
          <a:solidFill>
            <a:srgbClr val="FF3621"/>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Circular Arrow 20"/>
          <p:cNvSpPr/>
          <p:nvPr/>
        </p:nvSpPr>
        <p:spPr>
          <a:xfrm>
            <a:off x="2112812" y="5185196"/>
            <a:ext cx="328086" cy="328086"/>
          </a:xfrm>
          <a:prstGeom prst="circular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819655"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ACID</a:t>
            </a:r>
          </a:p>
        </p:txBody>
      </p:sp>
      <p:sp>
        <p:nvSpPr>
          <p:cNvPr id="23" name="Oval 22"/>
          <p:cNvSpPr/>
          <p:nvPr/>
        </p:nvSpPr>
        <p:spPr>
          <a:xfrm>
            <a:off x="2971799" y="4992624"/>
            <a:ext cx="713232" cy="713232"/>
          </a:xfrm>
          <a:prstGeom prst="ellipse">
            <a:avLst/>
          </a:prstGeom>
          <a:solidFill>
            <a:srgbClr val="2272B4"/>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3177496" y="5198320"/>
            <a:ext cx="301839" cy="301839"/>
          </a:xfrm>
          <a:prstGeom prst="ellipse">
            <a:avLst/>
          </a:prstGeom>
          <a:noFill/>
          <a:ln w="31897">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3316932" y="5250813"/>
            <a:ext cx="22966" cy="111549"/>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3321854" y="5337756"/>
            <a:ext cx="85302" cy="2296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3310371" y="5331195"/>
            <a:ext cx="36089" cy="3608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871215"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Time Travel</a:t>
            </a:r>
          </a:p>
        </p:txBody>
      </p:sp>
      <p:sp>
        <p:nvSpPr>
          <p:cNvPr id="29" name="Oval 28"/>
          <p:cNvSpPr/>
          <p:nvPr/>
        </p:nvSpPr>
        <p:spPr>
          <a:xfrm>
            <a:off x="4023360" y="4992624"/>
            <a:ext cx="713232" cy="713232"/>
          </a:xfrm>
          <a:prstGeom prst="ellipse">
            <a:avLst/>
          </a:prstGeom>
          <a:solidFill>
            <a:srgbClr val="F59E0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Pentagon 29"/>
          <p:cNvSpPr/>
          <p:nvPr/>
        </p:nvSpPr>
        <p:spPr>
          <a:xfrm rot="5400000">
            <a:off x="4242179" y="5191758"/>
            <a:ext cx="275592" cy="301839"/>
          </a:xfrm>
          <a:prstGeom prst="homePlat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922776"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Schema</a:t>
            </a:r>
          </a:p>
        </p:txBody>
      </p:sp>
      <p:sp>
        <p:nvSpPr>
          <p:cNvPr id="32" name="Oval 31"/>
          <p:cNvSpPr/>
          <p:nvPr/>
        </p:nvSpPr>
        <p:spPr>
          <a:xfrm>
            <a:off x="5074920" y="4992624"/>
            <a:ext cx="713232" cy="713232"/>
          </a:xfrm>
          <a:prstGeom prst="ellipse">
            <a:avLst/>
          </a:prstGeom>
          <a:solidFill>
            <a:srgbClr val="D8A32B"/>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Diamond 32"/>
          <p:cNvSpPr/>
          <p:nvPr/>
        </p:nvSpPr>
        <p:spPr>
          <a:xfrm>
            <a:off x="5280616" y="5185196"/>
            <a:ext cx="301839" cy="328086"/>
          </a:xfrm>
          <a:prstGeom prst="diamond">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974336"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Medallion</a:t>
            </a:r>
          </a:p>
        </p:txBody>
      </p:sp>
      <p:sp>
        <p:nvSpPr>
          <p:cNvPr id="35" name="Oval 34"/>
          <p:cNvSpPr/>
          <p:nvPr/>
        </p:nvSpPr>
        <p:spPr>
          <a:xfrm>
            <a:off x="6126480" y="4992624"/>
            <a:ext cx="713232" cy="713232"/>
          </a:xfrm>
          <a:prstGeom prst="ellipse">
            <a:avLst/>
          </a:prstGeom>
          <a:solidFill>
            <a:srgbClr val="7C5CCF"/>
          </a:solidFill>
          <a:ln>
            <a:noFill/>
          </a:ln>
          <a:effectLst>
            <a:outerShdw blurRad="91440" dist="41148" dir="5400000" rotWithShape="0">
              <a:srgbClr val="1B3139">
                <a:alpha val="24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332176" y="5239330"/>
            <a:ext cx="85302" cy="984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6440444" y="5239330"/>
            <a:ext cx="85302" cy="984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548713" y="5239330"/>
            <a:ext cx="85302" cy="984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6332176" y="5360723"/>
            <a:ext cx="85302" cy="984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6440444" y="5360723"/>
            <a:ext cx="85302" cy="984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6548713" y="5360723"/>
            <a:ext cx="85302" cy="984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025896" y="5797296"/>
            <a:ext cx="914400" cy="365760"/>
          </a:xfrm>
          <a:prstGeom prst="rect">
            <a:avLst/>
          </a:prstGeom>
          <a:noFill/>
        </p:spPr>
        <p:txBody>
          <a:bodyPr wrap="square" anchor="t" lIns="0" rIns="0" tIns="0" bIns="0">
            <a:spAutoFit/>
          </a:bodyPr>
          <a:lstStyle/>
          <a:p>
            <a:pPr algn="ctr">
              <a:lnSpc>
                <a:spcPct val="90000"/>
              </a:lnSpc>
              <a:spcBef>
                <a:spcPts val="0"/>
              </a:spcBef>
              <a:spcAft>
                <a:spcPts val="200"/>
              </a:spcAft>
            </a:pPr>
            <a:r>
              <a:rPr sz="950" b="0" i="0">
                <a:solidFill>
                  <a:srgbClr val="C4D0D4"/>
                </a:solidFill>
                <a:latin typeface="Segoe UI"/>
              </a:rPr>
              <a:t>Lakehouse</a:t>
            </a:r>
          </a:p>
        </p:txBody>
      </p:sp>
      <p:sp>
        <p:nvSpPr>
          <p:cNvPr id="43" name="TextBox 42"/>
          <p:cNvSpPr txBox="1"/>
          <p:nvPr/>
        </p:nvSpPr>
        <p:spPr>
          <a:xfrm>
            <a:off x="7955279" y="5989320"/>
            <a:ext cx="3669487" cy="274320"/>
          </a:xfrm>
          <a:prstGeom prst="rect">
            <a:avLst/>
          </a:prstGeom>
          <a:noFill/>
        </p:spPr>
        <p:txBody>
          <a:bodyPr wrap="square" anchor="t" lIns="0" rIns="0" tIns="0" bIns="0">
            <a:spAutoFit/>
          </a:bodyPr>
          <a:lstStyle/>
          <a:p>
            <a:pPr algn="r">
              <a:lnSpc>
                <a:spcPct val="100000"/>
              </a:lnSpc>
              <a:spcBef>
                <a:spcPts val="0"/>
              </a:spcBef>
              <a:spcAft>
                <a:spcPts val="200"/>
              </a:spcAft>
            </a:pPr>
            <a:r>
              <a:rPr sz="1200" b="0" i="1">
                <a:solidFill>
                  <a:srgbClr val="9AA6AB"/>
                </a:solidFill>
                <a:latin typeface="Segoe UI"/>
              </a:rPr>
              <a:t>Next: hands-on Delta Lake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Databricks Day 3 — Delta Lake</dc:title>
  <dc:subject>Delta Lake: reliability for the data lake</dc:subject>
  <dc:creator>Enterprise Data Platform Training Series</dc:creator>
  <cp:keywords>Databricks, Lakehouse, Delta Lake, Apache Spark, Big Data, Unity Catalog</cp:keywords>
  <dc:description>generated using python-pptx</dc:description>
  <cp:lastModifiedBy>Steve Canny</cp:lastModifiedBy>
  <cp:revision>1</cp:revision>
  <dcterms:created xsi:type="dcterms:W3CDTF">2013-01-27T09:14:16Z</dcterms:created>
  <dcterms:modified xsi:type="dcterms:W3CDTF">2013-01-27T09:15:58Z</dcterms:modified>
  <cp:category>Technical Training</cp:category>
</cp:coreProperties>
</file>