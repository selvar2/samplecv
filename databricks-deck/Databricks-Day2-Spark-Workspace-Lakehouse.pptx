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for Day 2. Day 1 covered the 'what and why' — Big Data, the Lakehouse concept and a high-level platform tour. Day 2 is the 'how': we go deep on the three pillars an engineer touches every day. Part 1 opens up Apache Spark — the distributed engine under everything. Part 2 is a working tour of the Databricks Workspace — notebooks, clusters, jobs, repos and governance. Part 3 assembles it all into the Lakehouse architecture, from Delta Lake to the medallion pattern to an end-to-end pipeline. By the end, attendees can read an architecture diagram and explain how a query becomes a governed dashboard.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map for the day. Three parts, each answering a practical question: Part 1 — how does the engine actually run my code? Part 2 — where and how do I do my work? Part 3 — how does it all fit together into a production architecture? Tell learners each part ends with best practices and a summary, and that the day culminates in a single end-to-end pipeline diagram that uses everything we covered. No deep prior Spark knowledge required.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01: Apache Spark Fundamentals. Transition slide — pause, then preview the four ideas listed. Use it to re-anchor the narrative and tell the audience what they'll be able to do by the end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Spark precisely: a unified, distributed, in-memory engine. The two words that matter most are 'unified' (one engine for batch, streaming, SQL, ML and graph — versus the old world of a different tool per workload) and 'in-memory' (it keeps working data in RAM across the cluster rather than writing to disk between steps, which is why it's up to 100x faster than Hadoop MapReduce for iterative work). Spark came out of UC Berkeley's AMPLab in 2009 — the same team that founded Databricks. Emphasise that everything in Databricks ultimately runs on Spark.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these as the reasons Spark displaced Hadoop MapReduce as the default big-data engine. Speed and the unified model are the headline wins, but ease of use was just as important — DataFrames and SQL let analysts and engineers be productive without writing low-level Java. Fault tolerance comes 'for free' from lineage: because Spark knows the DAG that produced each dataset, it can recompute just the lost pieces if a node fails. Tie the last card forward: this ecosystem and engine are exactly what Databricks productized and made effortless to run.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four-part chain left to right. The DRIVER is the brain — it hosts the SparkSession, translates your code into a logical plan, optimizes it into a DAG of stages, and schedules tasks. The CLUSTER MANAGER is the resource broker (Standalone, YARN, Kubernetes, or Databricks' own). EXECUTORS are JVM worker processes that actually run computation and cache data in memory. TASKS are the atoms of work — each one processes a single partition, and they run simultaneously across executors, which is where the parallelism (and the speed) comes from. Analogy: the driver is the head chef writing the plan; executors are line cooks; tasks are individual dishes cooked at once. Reassure them Databricks provisions and tunes all of this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Spark is not five separate products — it's one core engine with specialized libraries on top, all sharing the same execution model. SPARK SQL brings ANSI SQL and the Catalyst query optimizer. DATAFRAMES are the high-level, optimized API most people use daily (think distributed tables). STRUCTURED STREAMING lets you write streaming pipelines with the exact same DataFrame code as batch — a huge simplification. MLLIB provides distributed machine learning. GRAPHX handles graph analytics. The key teaching point: because they share a core, you can combine them in one job — e.g., stream data in, transform with SQL, score with an ML model — and on Databricks the Photon engine accelerates it all.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explains the single most misunderstood part of Spark: lazy evaluation. When you write transformations (filter, join, select) Spark does NOT execute them — it just records them, building a logical plan. The Catalyst optimizer turns that into an optimized DAG. The DAG is divided into STAGES at shuffle boundaries (points where data must move across the network). Each stage becomes a set of TASKS, one per partition, run in parallel by executors. Only when you call an ACTION (count, show, write, collect) does the whole thing actually run. Why this matters: laziness lets Spark see the entire computation and optimize it globally — reordering filters, pruning columns, minimizing shuffles — before doing any work.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to make Spark's advantages concrete. The crux is the Processing row: MapReduce writes intermediate results to disk between every map and reduce step, while Spark keeps them in memory — that's the source of the dramatic speedup, especially for iterative algorithms like ML training that loop over the same data. Spark is also far easier to program (DataFrames/SQL vs hand-written Java) and handles many workloads in one engine, including streaming, which MapReduce can't do. Be fair: Hadoop's HDFS is still a valid storage layer, and Spark can run on it — Spark replaced the MapReduce compute model, not the whole ecosystem. On Databricks you rarely manage either directly.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Spark tangible by tying each workload to outcomes the audience recognizes. ETL is the bread and butter — most Spark jobs in production are pipelines turning raw data into clean tables. Streaming powers real-time use cases like fraud detection. ML and SQL/BI show the unified-engine payoff: the same platform trains models and serves analysts. Land the last card — when we get to the Lakehouse, remember that Delta Lake and the medallion pipelines you'll see are all executed by Spark under the hood.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Part 1 with practical guidance and a recap. Best practices, briefly: prefer the DataFrame/SQL APIs so Catalyst and Photon can optimize for you; size partitions sensibly and watch for skew (one giant partition stalls the whole stage); minimize shuffles because moving data across the network is the main cost — filter early and broadcast small lookup tables; and cache datasets you reuse. Then recap the five takeaways aloud and check understanding before moving to the Workspace. Reassure them Databricks automates most tuning, but understanding these concepts helps them write efficient code and debug slow jobs.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02: Databricks Workspace Components. Transition slide — pause, then preview the four ideas listed. Use it to re-anchor the narrative and tell the audience what they'll be able to do by the end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Workspace as the 'home base' of Databricks — the web UI where all work happens. The key value is consolidation and collaboration: instead of one tool for notebooks, another for scheduling, another for Git, another for governance, it's all one environment in the browser, on any cloud. Stress that the same place spans the full lifecycle — interactive exploration through to production jobs — and that everything is governed by Unity Catalog. Over the next slides we'll tour each component.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mental model of how the Workspace is layered. At the top, every PERSONA uses the same environment. They interact through the WORKSPACE UI — notebooks, the SQL editor, Jobs/Workflows, Repos for Git, and dashboards/Genie. That UI drives COMPUTE: all-purpose clusters for interactive work, job clusters for production, SQL warehouses for BI, and serverless options. Everything is governed by UNITY CATALOG, and all data ultimately lives as Delta tables in the customer's own OPEN CLOUD STORAGE. Read it top-to-bottom: people → tools → compute → governance → storage. This mirrors the two-plane model from Day 1, viewed from the user's side.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tour of the seven components you'll use constantly. WORKSPACE is the container — folders, assets and permissions. NOTEBOOKS are where you write and run code in multiple languages with inline visualizations. CLUSTERS are the Spark compute that notebooks attach to. JOBS/WORKFLOWS turn notebooks into scheduled, orchestrated production pipelines. REPOS give native Git for version control and CI/CD. UNITY CATALOG governs all data and AI assets. DASHBOARDS (and Genie) deliver analytics and natural-language Q&amp;A to business users. We'll zoom into the most important ones — notebook lifecycle, cluster types, Repos/Git and Unity Catalog — next.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natural arc of a notebook from idea to production. You CREATE it and ATTACH it to compute. You DEVELOP interactively, mixing languages in the same notebook with magic commands like %sql or %python, and you RUN cells with inline visualizations to iterate quickly. When it's solid you VERSION it with Repos (Git) for review and collaboration, then OPERATIONALIZE it — schedule it as a Job or surface its output as a dashboard. The big idea: there's no painful 'productionization' rewrite — the artifact you explore in is the artifact you ship, which collapses the usual gap between data science and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compute decision: all-purpose vs job clusters. ALL-PURPOSE clusters are long-running and shared — perfect for interactive development, exploration and collaboration, but they cost money whenever they're on (always set auto-termination). JOB clusters are created automatically for a scheduled job and torn down when it finishes — cheaper and isolated, ideal for production pipelines. The rule of thumb: develop on all-purpose, run production on job clusters. Then mention the two specialized options — SQL Warehouses (Photon-tuned for BI/SQL) and Serverless (instant startup, no infrastructure to manage). Cluster policies let admins standardize and control cost across all of these.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Repos brings real software-engineering practices to data work. Picture two synced sides: your DATABRICKS REPO (notebooks and code versioned inside the Workspace) and a REMOTE GIT PROVIDER (GitHub, GitLab, Azure DevOps, Bitbucket). You commit and push changes out, and pull or clone changes in. The workflow strip is the everyday loop: clone the repo, create a feature branch, edit notebooks, commit and push, open a pull request for review, merge, and let CI/CD deploy to production. The takeaway: pipelines get the same rigor as application code — version history, peer review, automated testing and controlled releases — which is essential for reliable production data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Unity Catalog is the single governance layer for the whole Workspace — and uniquely, it governs BOTH data and AI assets (tables, files/volumes, ML models, and functions) in one model. The three-level namespace catalog.schema.object gives every asset one consistent, governable name across all clouds and workspaces, replacing the old two-level hive metastore. Highlight the four pillars: fine-grained access control via standard SQL GRANTs tied to corporate SSO; automatic column-level lineage and audit; discovery plus open Delta Sharing; and unified governance of data and AI together. This is what lets large teams collaborate safely in a shared Workspace.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Part 2 with operating discipline and a recap. Best practices: version everything in Repos; run production on job clusters (and set auto-termination on interactive ones); parametrize notebooks with widgets so they're reusable and testable; and centralize permissions in Unity Catalog with least-privilege grants. Recap the five takeaways aloud. Bridge to Part 3: now that we know the engine (Spark) and the environment (Workspace), let's see how they assemble into the Lakehouse architecture that ties data, analytics and AI together.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03: Databricks Lakehouse Architecture. Transition slide — pause, then preview the four ideas listed. Use it to re-anchor the narrative and tell the audience what they'll be able to do by the end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40-year story as a sequence of trade-offs. The DATA WAREHOUSE (1980s onward) gave reliable, fast SQL and BI on structured data, but it's rigid, expensive to scale, and can't do ML or unstructured data. The DATA LAKE (2010s) flipped that — cheap, scalable storage for any data and great for ML — but with no transactions or governance it often degraded into a 'data swamp'. The LAKEHOUSE (2020s) resolves the dilemma: add a transactional, governed metadata layer (Delta Lake) on top of cheap open storage, so you get warehouse reliability AND lake flexibility in one place. That's why you no longer need to run and sync two separate systems.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Lakehouse crisply for anyone who joined fresh on Day 2. The mechanism is the key idea: a transactional metadata layer — Delta Lake — sits directly on cheap cloud object storage, turning a folder of files into a reliable, governed table. That single move gives you warehouse-grade reliability and performance with lake-grade cost, openness and ML support. The four attribute tiles summarize the value: open (no lock-in), reliable (ACID), unified (all workloads, one copy of data), and governed (Unity Catalog). Everything else in Part 3 — medallion, Delta features, end-to-end flow — is just this definition made concrete.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reference architecture for the whole platform — and the diagram to memorize. Data flows left to right: SOURCES (apps, databases, IoT, files) are ingested by tools like Auto Loader and Lakeflow into the medallion layers — BRONZE (raw), SILVER (cleansed and conformed), GOLD (curated business aggregates and ML features) — and finally consumed by BI, AI and ML. The two foundations underneath are what make it a Lakehouse: every layer is a Delta Lake table in open storage, and Unity Catalog governs the entire pipeline end to end. Note this is the same six-stage ecosystem from Day 1, now realized as one platform. We'll zoom into the medallion next.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detailed view of the medallion pattern, layer by layer. BRONZE is raw data exactly as ingested — appended with metadata, your replayable source of truth, owned by data engineers. SILVER is where the real work happens: deduplicate, validate, conform and join into trusted, queryable tables used by engineers and analysts. GOLD applies business logic and aggregation to produce consumption-ready tables and ML features for BI, ML and business users. Each hop raises data quality and business value, shown by the bronze-to-gold gradient. Because every layer is a Delta table, the whole pipeline is reliable and can run incrementally, even with streaming. This is the pattern that operationalizes the Lakehouse.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Lake is the open-storage layer that makes the Lakehouse possible — these four features are why. ACID TRANSACTIONS bring database reliability to the lake: concurrent writers can't corrupt the table. TIME TRAVEL lets you query or restore any previous version — invaluable for audits, debugging and reproducible ML. SCHEMA ENFORCEMENT rejects malformed data on write while still allowing controlled evolution. DATA VERSIONING means every change is a numbered version with full history. The mechanism (from Day 1) is worth repeating: a Delta table is Parquet files plus a JSON transaction log — that log is the magic that delivers all of this on top of cheap object storage, plus operations like MERGE (upserts), OPTIMIZE (compaction) and Z-ORDER (data skipping).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shows HOW Delta guarantees reliability — the transaction mechanism. WRITE PATH: a write request first validates against the table schema, then writes new Parquet data files, and finally makes an ATOMIC commit to the _delta_log. That commit is all-or-nothing — if it doesn't complete, the table is untouched, so there's never a half-written state. The _DELTA_LOG is an ordered series of JSON commits; each one is a new VERSION of the table (v0, v1, v2…), which is exactly what powers time travel. READ PATH: readers consult the log and always get a consistent snapshot of the latest committed version — or any historical version on request — even while writers are active. Delta uses optimistic concurrency control to manage simultaneous writers. This log-based design is the entire basis of ACID on object storage.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is what turns a data lake into a trustworthy Lakehouse, and Unity Catalog provides it across the whole estate. Centralized access control uses standard SQL GRANTs down to rows and columns, tied to corporate identity. Lineage and audit are automatic and column-level — critical for compliance and impact analysis. Delta Sharing is a standout: an OPEN protocol to share live data with other organizations or tools without copying it, readable by any client (not just Databricks). Add discovery/tagging, enterprise compliance controls, and the unique ability to govern data and AI assets together. The theme for architects: one consistent governance model spanning every cloud, workspace and asset type.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major payoff of the Lakehouse: ML and AI run on the SAME governed data as analytics — no separate ML data silo. Walk the lifecycle: start from GOLD data (governed features from the medallion), do FEATURE ENGINEERING in a shared Feature Store, TRAIN and track experiments with MLflow and AutoML, REGISTER versioned models in the Unity Catalog model registry, then SERVE them in real time with built-in monitoring for quality and drift. Databricks calls this Mosaic AI, and it now spans generative AI too — Vector Search for RAG, and LLM fine-tuning and serving — all governed by Unity Catalog. The key message: because models are built on governed Lakehouse data, you get lineage and security across the entire AI lifecycle, not just the data.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 everything from all three parts in one picture. Trace it left to right: raw SOURCES are INGESTED (Auto Loader, Lakeflow Connect) into BRONZE, refined to SILVER, curated to GOLD, and CONSUMED by BI, Genie, ML and GenAI apps. Underneath, the four pillars we learned: SPARK + PHOTON execute every stage (Part 1), the WORKSPACE Workflows orchestrate the pipeline (Part 2), DELTA LAKE stores each layer reliably, and UNITY CATALOG governs the whole thing (Part 3). This single diagram is how a real production data platform is built on Databricks — walk it slowly and connect each box back to what we covered today.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why the Lakehouse matters in six leadership-friendly words. Unified eliminates tool sprawl; Open avoids lock-in and keeps data in your own account; Reliable brings ACID guarantees to cheap storage; Performant means you don't sacrifice speed for openness (Photon + Delta); Governed gives one consistent security and lineage model for data AND AI; and Cost-Effective comes from keeping a single copy of data with elastic compute instead of running and syncing separate warehouse and lake systems. If asked for the one-line ROI: consolidation plus faster, governed delivery of analytics and AI.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the architecture in a believable scenario — an omni-channel retailer (representative of many real Databricks customers). The PIPELINE: point-of-sale, web, mobile and inventory feeds stream in via Auto Loader, flow through Bronze→Silver→Gold Delta tables, and surface as Genie BI, a personalization model, and GenAI assistants — all on one platform. The OUTCOMES are the kinds of results these projects report: roughly an order-of-magnitude faster pipelines than a stitched warehouse-plus-lake setup, genuine real-time personalization and inventory visibility, a single governed copy of data serving BI/ML/GenAI, and substantially lower total cost of ownership. Present the figures as representative outcomes, and invite the audience to map their own use case onto this shape.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the whole day together. Three pillars: the ENGINE (Spark — unified, in-memory, driver/executor model, lazy DAG), the ENVIRONMENT (Workspace — collaborative hub, notebooks from exploration to production, Repos and Unity Catalog), and the ARCHITECTURE (Lakehouse — Delta + medallion, ACID and time travel on open storage, governed analytics and AI end to end). Quiz the room on the four takeaways. If they can explain how a query runs on Spark, navigate the Workspace, and sketch a medallion pipeline, Day 2 succeeded. Move to Q&amp;A and the close.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Congratulate the group on completing Day 2 and recap the six icons — Spark, Workspace, Clusters, Delta, Medallion and Unity Catalog. Point to hands-on resources: the docs, Databricks Academy (free role-based learning and certifications) and the free edition for practice. Preview the next session — a hands-on lab building a medallion pipeline, plus Delta Live Tables / Lakeflow Declarative Pipelines and Workflows orchestration. Open the floor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66928" y="1325880"/>
            <a:ext cx="82296" cy="182880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41247" y="1280160"/>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50" b="1" i="0">
                <a:solidFill>
                  <a:srgbClr val="FF6B57"/>
                </a:solidFill>
                <a:latin typeface="Segoe UI Semibold"/>
              </a:rPr>
              <a:t>DATABRICKS PLATFORM ENABLEMENT  ·  DAY 2</a:t>
            </a:r>
          </a:p>
        </p:txBody>
      </p:sp>
      <p:sp>
        <p:nvSpPr>
          <p:cNvPr id="10" name="TextBox 9"/>
          <p:cNvSpPr txBox="1"/>
          <p:nvPr/>
        </p:nvSpPr>
        <p:spPr>
          <a:xfrm>
            <a:off x="813816" y="1664208"/>
            <a:ext cx="10607040" cy="1097280"/>
          </a:xfrm>
          <a:prstGeom prst="rect">
            <a:avLst/>
          </a:prstGeom>
          <a:noFill/>
        </p:spPr>
        <p:txBody>
          <a:bodyPr wrap="square" anchor="t" lIns="0" rIns="0" tIns="0" bIns="0">
            <a:spAutoFit/>
          </a:bodyPr>
          <a:lstStyle/>
          <a:p>
            <a:pPr algn="l">
              <a:lnSpc>
                <a:spcPct val="100000"/>
              </a:lnSpc>
              <a:spcBef>
                <a:spcPts val="0"/>
              </a:spcBef>
              <a:spcAft>
                <a:spcPts val="200"/>
              </a:spcAft>
            </a:pPr>
            <a:r>
              <a:rPr sz="4900" b="1" i="0">
                <a:solidFill>
                  <a:srgbClr val="FFFFFF"/>
                </a:solidFill>
                <a:latin typeface="Segoe UI"/>
              </a:rPr>
              <a:t>Spark, Workspace </a:t>
            </a:r>
            <a:r>
              <a:rPr sz="4900" b="1" i="0">
                <a:solidFill>
                  <a:srgbClr val="FFFFFF"/>
                </a:solidFill>
                <a:latin typeface="Segoe UI"/>
              </a:rPr>
              <a:t>&amp; Lakehouse</a:t>
            </a:r>
          </a:p>
        </p:txBody>
      </p:sp>
      <p:sp>
        <p:nvSpPr>
          <p:cNvPr id="11" name="TextBox 10"/>
          <p:cNvSpPr txBox="1"/>
          <p:nvPr/>
        </p:nvSpPr>
        <p:spPr>
          <a:xfrm>
            <a:off x="832103" y="2578608"/>
            <a:ext cx="10424160" cy="731520"/>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FF3621"/>
                </a:solidFill>
                <a:latin typeface="Segoe UI Light"/>
              </a:rPr>
              <a:t>The engine, the environment, and the architecture</a:t>
            </a:r>
          </a:p>
        </p:txBody>
      </p:sp>
      <p:sp>
        <p:nvSpPr>
          <p:cNvPr id="12" name="TextBox 11"/>
          <p:cNvSpPr txBox="1"/>
          <p:nvPr/>
        </p:nvSpPr>
        <p:spPr>
          <a:xfrm>
            <a:off x="841247" y="3419856"/>
            <a:ext cx="8869680" cy="640080"/>
          </a:xfrm>
          <a:prstGeom prst="rect">
            <a:avLst/>
          </a:prstGeom>
          <a:noFill/>
        </p:spPr>
        <p:txBody>
          <a:bodyPr wrap="square" anchor="t" lIns="0" rIns="0" tIns="0" bIns="0">
            <a:spAutoFit/>
          </a:bodyPr>
          <a:lstStyle/>
          <a:p>
            <a:pPr algn="l">
              <a:lnSpc>
                <a:spcPct val="125000"/>
              </a:lnSpc>
              <a:spcBef>
                <a:spcPts val="0"/>
              </a:spcBef>
              <a:spcAft>
                <a:spcPts val="200"/>
              </a:spcAft>
            </a:pPr>
            <a:r>
              <a:rPr sz="1400" b="0" i="0">
                <a:solidFill>
                  <a:srgbClr val="C4D0D4"/>
                </a:solidFill>
                <a:latin typeface="Segoe UI"/>
              </a:rPr>
              <a:t>Go under the hood of Apache Spark, master the Databricks Workspace, and see how the Lakehouse unifies engineering, analytics and AI on one governed platform.</a:t>
            </a:r>
          </a:p>
        </p:txBody>
      </p:sp>
      <p:sp>
        <p:nvSpPr>
          <p:cNvPr id="13" name="Rounded Rectangle 12"/>
          <p:cNvSpPr/>
          <p:nvPr/>
        </p:nvSpPr>
        <p:spPr>
          <a:xfrm>
            <a:off x="841247" y="4434840"/>
            <a:ext cx="3310128" cy="566928"/>
          </a:xfrm>
          <a:prstGeom prst="roundRect">
            <a:avLst>
              <a:gd name="adj" fmla="val 50000"/>
            </a:avLst>
          </a:prstGeom>
          <a:noFill/>
          <a:ln w="1651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115568" y="4434840"/>
            <a:ext cx="2898648" cy="566928"/>
          </a:xfrm>
          <a:prstGeom prst="rect">
            <a:avLst/>
          </a:prstGeom>
          <a:noFill/>
        </p:spPr>
        <p:txBody>
          <a:bodyPr wrap="square" anchor="ctr" lIns="0" rIns="0" tIns="0" bIns="0">
            <a:spAutoFit/>
          </a:bodyPr>
          <a:lstStyle/>
          <a:p>
            <a:pPr algn="l">
              <a:lnSpc>
                <a:spcPct val="100000"/>
              </a:lnSpc>
              <a:spcBef>
                <a:spcPts val="0"/>
              </a:spcBef>
              <a:spcAft>
                <a:spcPts val="200"/>
              </a:spcAft>
            </a:pPr>
            <a:r>
              <a:rPr sz="1300" b="1" i="0">
                <a:solidFill>
                  <a:srgbClr val="FF3621"/>
                </a:solidFill>
                <a:latin typeface="Segoe UI"/>
              </a:rPr>
              <a:t>01    </a:t>
            </a:r>
            <a:r>
              <a:rPr sz="1200" b="1" i="0">
                <a:solidFill>
                  <a:srgbClr val="FFFFFF"/>
                </a:solidFill>
                <a:latin typeface="Segoe UI"/>
              </a:rPr>
              <a:t>Apache Spark Fundamentals</a:t>
            </a:r>
          </a:p>
        </p:txBody>
      </p:sp>
      <p:sp>
        <p:nvSpPr>
          <p:cNvPr id="15" name="Rounded Rectangle 14"/>
          <p:cNvSpPr/>
          <p:nvPr/>
        </p:nvSpPr>
        <p:spPr>
          <a:xfrm>
            <a:off x="4389120" y="4434840"/>
            <a:ext cx="3310128" cy="566928"/>
          </a:xfrm>
          <a:prstGeom prst="roundRect">
            <a:avLst>
              <a:gd name="adj" fmla="val 50000"/>
            </a:avLst>
          </a:prstGeom>
          <a:noFill/>
          <a:ln w="1651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63440" y="4434840"/>
            <a:ext cx="2898648" cy="566928"/>
          </a:xfrm>
          <a:prstGeom prst="rect">
            <a:avLst/>
          </a:prstGeom>
          <a:noFill/>
        </p:spPr>
        <p:txBody>
          <a:bodyPr wrap="square" anchor="ctr" lIns="0" rIns="0" tIns="0" bIns="0">
            <a:spAutoFit/>
          </a:bodyPr>
          <a:lstStyle/>
          <a:p>
            <a:pPr algn="l">
              <a:lnSpc>
                <a:spcPct val="100000"/>
              </a:lnSpc>
              <a:spcBef>
                <a:spcPts val="0"/>
              </a:spcBef>
              <a:spcAft>
                <a:spcPts val="200"/>
              </a:spcAft>
            </a:pPr>
            <a:r>
              <a:rPr sz="1300" b="1" i="0">
                <a:solidFill>
                  <a:srgbClr val="FF3621"/>
                </a:solidFill>
                <a:latin typeface="Segoe UI"/>
              </a:rPr>
              <a:t>02    </a:t>
            </a:r>
            <a:r>
              <a:rPr sz="1200" b="1" i="0">
                <a:solidFill>
                  <a:srgbClr val="FFFFFF"/>
                </a:solidFill>
                <a:latin typeface="Segoe UI"/>
              </a:rPr>
              <a:t>Workspace Components</a:t>
            </a:r>
          </a:p>
        </p:txBody>
      </p:sp>
      <p:sp>
        <p:nvSpPr>
          <p:cNvPr id="17" name="Rounded Rectangle 16"/>
          <p:cNvSpPr/>
          <p:nvPr/>
        </p:nvSpPr>
        <p:spPr>
          <a:xfrm>
            <a:off x="7936992" y="4434840"/>
            <a:ext cx="3310128" cy="566928"/>
          </a:xfrm>
          <a:prstGeom prst="roundRect">
            <a:avLst>
              <a:gd name="adj" fmla="val 50000"/>
            </a:avLst>
          </a:prstGeom>
          <a:noFill/>
          <a:ln w="1651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211312" y="4434840"/>
            <a:ext cx="2898648" cy="566928"/>
          </a:xfrm>
          <a:prstGeom prst="rect">
            <a:avLst/>
          </a:prstGeom>
          <a:noFill/>
        </p:spPr>
        <p:txBody>
          <a:bodyPr wrap="square" anchor="ctr" lIns="0" rIns="0" tIns="0" bIns="0">
            <a:spAutoFit/>
          </a:bodyPr>
          <a:lstStyle/>
          <a:p>
            <a:pPr algn="l">
              <a:lnSpc>
                <a:spcPct val="100000"/>
              </a:lnSpc>
              <a:spcBef>
                <a:spcPts val="0"/>
              </a:spcBef>
              <a:spcAft>
                <a:spcPts val="200"/>
              </a:spcAft>
            </a:pPr>
            <a:r>
              <a:rPr sz="1300" b="1" i="0">
                <a:solidFill>
                  <a:srgbClr val="FF3621"/>
                </a:solidFill>
                <a:latin typeface="Segoe UI"/>
              </a:rPr>
              <a:t>03    </a:t>
            </a:r>
            <a:r>
              <a:rPr sz="1200" b="1" i="0">
                <a:solidFill>
                  <a:srgbClr val="FFFFFF"/>
                </a:solidFill>
                <a:latin typeface="Segoe UI"/>
              </a:rPr>
              <a:t>Lakehouse Architecture</a:t>
            </a:r>
          </a:p>
        </p:txBody>
      </p:sp>
      <p:sp>
        <p:nvSpPr>
          <p:cNvPr id="19" name="Rectangle 18"/>
          <p:cNvSpPr/>
          <p:nvPr/>
        </p:nvSpPr>
        <p:spPr>
          <a:xfrm>
            <a:off x="841247" y="5532120"/>
            <a:ext cx="5943600" cy="18288"/>
          </a:xfrm>
          <a:prstGeom prst="rect">
            <a:avLst/>
          </a:prstGeom>
          <a:solidFill>
            <a:srgbClr val="3A53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41247" y="5687568"/>
            <a:ext cx="10058400" cy="365760"/>
          </a:xfrm>
          <a:prstGeom prst="rect">
            <a:avLst/>
          </a:prstGeom>
          <a:noFill/>
        </p:spPr>
        <p:txBody>
          <a:bodyPr wrap="square" anchor="t" lIns="0" rIns="0" tIns="0" bIns="0">
            <a:spAutoFit/>
          </a:bodyPr>
          <a:lstStyle/>
          <a:p>
            <a:pPr algn="l">
              <a:lnSpc>
                <a:spcPct val="100000"/>
              </a:lnSpc>
              <a:spcBef>
                <a:spcPts val="0"/>
              </a:spcBef>
              <a:spcAft>
                <a:spcPts val="200"/>
              </a:spcAft>
            </a:pPr>
            <a:r>
              <a:rPr sz="1150" b="0" i="0">
                <a:solidFill>
                  <a:srgbClr val="9AA6AB"/>
                </a:solidFill>
                <a:latin typeface="Segoe UI"/>
              </a:rPr>
              <a:t>Audience:  Data Engineers · Analysts · Data Scientists · Platform &amp; Cloud Architects</a:t>
            </a:r>
          </a:p>
        </p:txBody>
      </p:sp>
      <p:sp>
        <p:nvSpPr>
          <p:cNvPr id="21" name="TextBox 20"/>
          <p:cNvSpPr txBox="1"/>
          <p:nvPr/>
        </p:nvSpPr>
        <p:spPr>
          <a:xfrm>
            <a:off x="841247" y="6053328"/>
            <a:ext cx="10058400" cy="365760"/>
          </a:xfrm>
          <a:prstGeom prst="rect">
            <a:avLst/>
          </a:prstGeom>
          <a:noFill/>
        </p:spPr>
        <p:txBody>
          <a:bodyPr wrap="square" anchor="t" lIns="0" rIns="0" tIns="0" bIns="0">
            <a:spAutoFit/>
          </a:bodyPr>
          <a:lstStyle/>
          <a:p>
            <a:pPr algn="l">
              <a:lnSpc>
                <a:spcPct val="100000"/>
              </a:lnSpc>
              <a:spcBef>
                <a:spcPts val="0"/>
              </a:spcBef>
              <a:spcAft>
                <a:spcPts val="200"/>
              </a:spcAft>
            </a:pPr>
            <a:r>
              <a:rPr sz="1150" b="0" i="1">
                <a:solidFill>
                  <a:srgbClr val="9AA6AB"/>
                </a:solidFill>
                <a:latin typeface="Segoe UI"/>
              </a:rPr>
              <a:t>Builds on Day 1 — Big Data fundamentals &amp; the Lakehouse foundations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DAY 2 ROADMAP</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What We'll Build Today</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74519"/>
            <a:ext cx="3442106" cy="41148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874519"/>
            <a:ext cx="3442106" cy="128016"/>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822959" y="2240280"/>
            <a:ext cx="914400" cy="914400"/>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Lightning Bolt 9"/>
          <p:cNvSpPr/>
          <p:nvPr/>
        </p:nvSpPr>
        <p:spPr>
          <a:xfrm>
            <a:off x="1132941" y="2487168"/>
            <a:ext cx="294436" cy="420624"/>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938528" y="2395728"/>
            <a:ext cx="1979066" cy="36576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2272B4"/>
                </a:solidFill>
                <a:latin typeface="Segoe UI Semibold"/>
              </a:rPr>
              <a:t>PART 01</a:t>
            </a:r>
          </a:p>
        </p:txBody>
      </p:sp>
      <p:sp>
        <p:nvSpPr>
          <p:cNvPr id="12" name="TextBox 11"/>
          <p:cNvSpPr txBox="1"/>
          <p:nvPr/>
        </p:nvSpPr>
        <p:spPr>
          <a:xfrm>
            <a:off x="1938528" y="2670048"/>
            <a:ext cx="1979066" cy="640080"/>
          </a:xfrm>
          <a:prstGeom prst="rect">
            <a:avLst/>
          </a:prstGeom>
          <a:noFill/>
        </p:spPr>
        <p:txBody>
          <a:bodyPr wrap="square" anchor="t" lIns="0" rIns="0" tIns="0" bIns="0">
            <a:spAutoFit/>
          </a:bodyPr>
          <a:lstStyle/>
          <a:p>
            <a:pPr algn="l">
              <a:lnSpc>
                <a:spcPct val="98000"/>
              </a:lnSpc>
              <a:spcBef>
                <a:spcPts val="0"/>
              </a:spcBef>
              <a:spcAft>
                <a:spcPts val="200"/>
              </a:spcAft>
            </a:pPr>
            <a:r>
              <a:rPr sz="1550" b="1" i="0">
                <a:solidFill>
                  <a:srgbClr val="1B3139"/>
                </a:solidFill>
                <a:latin typeface="Segoe UI"/>
              </a:rPr>
              <a:t>Apache Spark Fundamentals</a:t>
            </a:r>
          </a:p>
        </p:txBody>
      </p:sp>
      <p:sp>
        <p:nvSpPr>
          <p:cNvPr id="13" name="Rectangle 12"/>
          <p:cNvSpPr/>
          <p:nvPr/>
        </p:nvSpPr>
        <p:spPr>
          <a:xfrm>
            <a:off x="950976" y="3346704"/>
            <a:ext cx="2674010"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87552" y="3511296"/>
            <a:ext cx="2710586" cy="1828800"/>
          </a:xfrm>
          <a:prstGeom prst="rect">
            <a:avLst/>
          </a:prstGeom>
          <a:noFill/>
        </p:spPr>
        <p:txBody>
          <a:bodyPr wrap="square" anchor="t" lIns="0" rIns="0" tIns="0" bIns="0">
            <a:spAutoFit/>
          </a:bodyPr>
          <a:lstStyle/>
          <a:p>
            <a:pPr marL="274320" indent="-274320">
              <a:lnSpc>
                <a:spcPct val="105000"/>
              </a:lnSpc>
              <a:spcBef>
                <a:spcPts val="0"/>
              </a:spcBef>
              <a:spcAft>
                <a:spcPts val="1200"/>
              </a:spcAft>
            </a:pPr>
            <a:r>
              <a:rPr sz="1250" b="1">
                <a:solidFill>
                  <a:srgbClr val="2272B4"/>
                </a:solidFill>
                <a:latin typeface="Segoe UI"/>
              </a:rPr>
              <a:t>▪   </a:t>
            </a:r>
            <a:r>
              <a:rPr sz="1250">
                <a:solidFill>
                  <a:srgbClr val="465257"/>
                </a:solidFill>
                <a:latin typeface="Segoe UI"/>
              </a:rPr>
              <a:t>What &amp; why Spark</a:t>
            </a:r>
          </a:p>
          <a:p>
            <a:pPr marL="274320" indent="-274320">
              <a:lnSpc>
                <a:spcPct val="105000"/>
              </a:lnSpc>
              <a:spcBef>
                <a:spcPts val="0"/>
              </a:spcBef>
              <a:spcAft>
                <a:spcPts val="1200"/>
              </a:spcAft>
            </a:pPr>
            <a:r>
              <a:rPr sz="1250" b="1">
                <a:solidFill>
                  <a:srgbClr val="2272B4"/>
                </a:solidFill>
                <a:latin typeface="Segoe UI"/>
              </a:rPr>
              <a:t>▪   </a:t>
            </a:r>
            <a:r>
              <a:rPr sz="1250">
                <a:solidFill>
                  <a:srgbClr val="465257"/>
                </a:solidFill>
                <a:latin typeface="Segoe UI"/>
              </a:rPr>
              <a:t>Architecture &amp; components</a:t>
            </a:r>
          </a:p>
          <a:p>
            <a:pPr marL="274320" indent="-274320">
              <a:lnSpc>
                <a:spcPct val="105000"/>
              </a:lnSpc>
              <a:spcBef>
                <a:spcPts val="0"/>
              </a:spcBef>
              <a:spcAft>
                <a:spcPts val="1200"/>
              </a:spcAft>
            </a:pPr>
            <a:r>
              <a:rPr sz="1250" b="1">
                <a:solidFill>
                  <a:srgbClr val="2272B4"/>
                </a:solidFill>
                <a:latin typeface="Segoe UI"/>
              </a:rPr>
              <a:t>▪   </a:t>
            </a:r>
            <a:r>
              <a:rPr sz="1250">
                <a:solidFill>
                  <a:srgbClr val="465257"/>
                </a:solidFill>
                <a:latin typeface="Segoe UI"/>
              </a:rPr>
              <a:t>Execution flow &amp; Spark vs Hadoop</a:t>
            </a:r>
          </a:p>
          <a:p>
            <a:pPr marL="274320" indent="-274320">
              <a:lnSpc>
                <a:spcPct val="105000"/>
              </a:lnSpc>
              <a:spcBef>
                <a:spcPts val="0"/>
              </a:spcBef>
              <a:spcAft>
                <a:spcPts val="1200"/>
              </a:spcAft>
            </a:pPr>
            <a:r>
              <a:rPr sz="1250" b="1">
                <a:solidFill>
                  <a:srgbClr val="2272B4"/>
                </a:solidFill>
                <a:latin typeface="Segoe UI"/>
              </a:rPr>
              <a:t>▪   </a:t>
            </a:r>
            <a:r>
              <a:rPr sz="1250">
                <a:solidFill>
                  <a:srgbClr val="465257"/>
                </a:solidFill>
                <a:latin typeface="Segoe UI"/>
              </a:rPr>
              <a:t>Use cases &amp; best practices</a:t>
            </a:r>
          </a:p>
        </p:txBody>
      </p:sp>
      <p:sp>
        <p:nvSpPr>
          <p:cNvPr id="15" name="Rectangle 14"/>
          <p:cNvSpPr/>
          <p:nvPr/>
        </p:nvSpPr>
        <p:spPr>
          <a:xfrm>
            <a:off x="950976" y="5230368"/>
            <a:ext cx="2674010"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87552" y="5358384"/>
            <a:ext cx="2655722" cy="548640"/>
          </a:xfrm>
          <a:prstGeom prst="rect">
            <a:avLst/>
          </a:prstGeom>
          <a:noFill/>
        </p:spPr>
        <p:txBody>
          <a:bodyPr wrap="square" anchor="t" lIns="0" rIns="0" tIns="0" bIns="0">
            <a:spAutoFit/>
          </a:bodyPr>
          <a:lstStyle/>
          <a:p>
            <a:pPr algn="l">
              <a:lnSpc>
                <a:spcPct val="112000"/>
              </a:lnSpc>
              <a:spcBef>
                <a:spcPts val="0"/>
              </a:spcBef>
              <a:spcAft>
                <a:spcPts val="200"/>
              </a:spcAft>
            </a:pPr>
            <a:r>
              <a:rPr sz="950" b="1" i="0">
                <a:solidFill>
                  <a:srgbClr val="2272B4"/>
                </a:solidFill>
                <a:latin typeface="Segoe UI Semibold"/>
              </a:rPr>
              <a:t>OUTCOME   </a:t>
            </a:r>
            <a:r>
              <a:rPr sz="1050" b="0" i="1">
                <a:solidFill>
                  <a:srgbClr val="6B777C"/>
                </a:solidFill>
                <a:latin typeface="Segoe UI"/>
              </a:rPr>
              <a:t>Explain how Spark runs a job in parallel.</a:t>
            </a:r>
          </a:p>
        </p:txBody>
      </p:sp>
      <p:sp>
        <p:nvSpPr>
          <p:cNvPr id="17" name="Rounded Rectangle 16"/>
          <p:cNvSpPr/>
          <p:nvPr/>
        </p:nvSpPr>
        <p:spPr>
          <a:xfrm>
            <a:off x="4374794" y="1874519"/>
            <a:ext cx="3442106" cy="41148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374794" y="1874519"/>
            <a:ext cx="3442106" cy="128016"/>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630826" y="2240280"/>
            <a:ext cx="914400" cy="91440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Folded Corner 19"/>
          <p:cNvSpPr/>
          <p:nvPr/>
        </p:nvSpPr>
        <p:spPr>
          <a:xfrm>
            <a:off x="4953426" y="2520817"/>
            <a:ext cx="269199" cy="353324"/>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746394" y="2395728"/>
            <a:ext cx="1979066" cy="36576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FF3621"/>
                </a:solidFill>
                <a:latin typeface="Segoe UI Semibold"/>
              </a:rPr>
              <a:t>PART 02</a:t>
            </a:r>
          </a:p>
        </p:txBody>
      </p:sp>
      <p:sp>
        <p:nvSpPr>
          <p:cNvPr id="22" name="TextBox 21"/>
          <p:cNvSpPr txBox="1"/>
          <p:nvPr/>
        </p:nvSpPr>
        <p:spPr>
          <a:xfrm>
            <a:off x="5746394" y="2670048"/>
            <a:ext cx="1979066" cy="640080"/>
          </a:xfrm>
          <a:prstGeom prst="rect">
            <a:avLst/>
          </a:prstGeom>
          <a:noFill/>
        </p:spPr>
        <p:txBody>
          <a:bodyPr wrap="square" anchor="t" lIns="0" rIns="0" tIns="0" bIns="0">
            <a:spAutoFit/>
          </a:bodyPr>
          <a:lstStyle/>
          <a:p>
            <a:pPr algn="l">
              <a:lnSpc>
                <a:spcPct val="98000"/>
              </a:lnSpc>
              <a:spcBef>
                <a:spcPts val="0"/>
              </a:spcBef>
              <a:spcAft>
                <a:spcPts val="200"/>
              </a:spcAft>
            </a:pPr>
            <a:r>
              <a:rPr sz="1550" b="1" i="0">
                <a:solidFill>
                  <a:srgbClr val="1B3139"/>
                </a:solidFill>
                <a:latin typeface="Segoe UI"/>
              </a:rPr>
              <a:t>Workspace Components</a:t>
            </a:r>
          </a:p>
        </p:txBody>
      </p:sp>
      <p:sp>
        <p:nvSpPr>
          <p:cNvPr id="23" name="Rectangle 22"/>
          <p:cNvSpPr/>
          <p:nvPr/>
        </p:nvSpPr>
        <p:spPr>
          <a:xfrm>
            <a:off x="4758842" y="3346704"/>
            <a:ext cx="2674010"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795418" y="3511296"/>
            <a:ext cx="2710586" cy="1828800"/>
          </a:xfrm>
          <a:prstGeom prst="rect">
            <a:avLst/>
          </a:prstGeom>
          <a:noFill/>
        </p:spPr>
        <p:txBody>
          <a:bodyPr wrap="square" anchor="t" lIns="0" rIns="0" tIns="0" bIns="0">
            <a:spAutoFit/>
          </a:bodyPr>
          <a:lstStyle/>
          <a:p>
            <a:pPr marL="274320" indent="-274320">
              <a:lnSpc>
                <a:spcPct val="105000"/>
              </a:lnSpc>
              <a:spcBef>
                <a:spcPts val="0"/>
              </a:spcBef>
              <a:spcAft>
                <a:spcPts val="1200"/>
              </a:spcAft>
            </a:pPr>
            <a:r>
              <a:rPr sz="1250" b="1">
                <a:solidFill>
                  <a:srgbClr val="FF3621"/>
                </a:solidFill>
                <a:latin typeface="Segoe UI"/>
              </a:rPr>
              <a:t>▪   </a:t>
            </a:r>
            <a:r>
              <a:rPr sz="1250">
                <a:solidFill>
                  <a:srgbClr val="465257"/>
                </a:solidFill>
                <a:latin typeface="Segoe UI"/>
              </a:rPr>
              <a:t>Workspace &amp; notebooks</a:t>
            </a:r>
          </a:p>
          <a:p>
            <a:pPr marL="274320" indent="-274320">
              <a:lnSpc>
                <a:spcPct val="105000"/>
              </a:lnSpc>
              <a:spcBef>
                <a:spcPts val="0"/>
              </a:spcBef>
              <a:spcAft>
                <a:spcPts val="1200"/>
              </a:spcAft>
            </a:pPr>
            <a:r>
              <a:rPr sz="1250" b="1">
                <a:solidFill>
                  <a:srgbClr val="FF3621"/>
                </a:solidFill>
                <a:latin typeface="Segoe UI"/>
              </a:rPr>
              <a:t>▪   </a:t>
            </a:r>
            <a:r>
              <a:rPr sz="1250">
                <a:solidFill>
                  <a:srgbClr val="465257"/>
                </a:solidFill>
                <a:latin typeface="Segoe UI"/>
              </a:rPr>
              <a:t>Clusters, jobs &amp; lifecycle</a:t>
            </a:r>
          </a:p>
          <a:p>
            <a:pPr marL="274320" indent="-274320">
              <a:lnSpc>
                <a:spcPct val="105000"/>
              </a:lnSpc>
              <a:spcBef>
                <a:spcPts val="0"/>
              </a:spcBef>
              <a:spcAft>
                <a:spcPts val="1200"/>
              </a:spcAft>
            </a:pPr>
            <a:r>
              <a:rPr sz="1250" b="1">
                <a:solidFill>
                  <a:srgbClr val="FF3621"/>
                </a:solidFill>
                <a:latin typeface="Segoe UI"/>
              </a:rPr>
              <a:t>▪   </a:t>
            </a:r>
            <a:r>
              <a:rPr sz="1250">
                <a:solidFill>
                  <a:srgbClr val="465257"/>
                </a:solidFill>
                <a:latin typeface="Segoe UI"/>
              </a:rPr>
              <a:t>Repos &amp; Git integration</a:t>
            </a:r>
          </a:p>
          <a:p>
            <a:pPr marL="274320" indent="-274320">
              <a:lnSpc>
                <a:spcPct val="105000"/>
              </a:lnSpc>
              <a:spcBef>
                <a:spcPts val="0"/>
              </a:spcBef>
              <a:spcAft>
                <a:spcPts val="1200"/>
              </a:spcAft>
            </a:pPr>
            <a:r>
              <a:rPr sz="1250" b="1">
                <a:solidFill>
                  <a:srgbClr val="FF3621"/>
                </a:solidFill>
                <a:latin typeface="Segoe UI"/>
              </a:rPr>
              <a:t>▪   </a:t>
            </a:r>
            <a:r>
              <a:rPr sz="1250">
                <a:solidFill>
                  <a:srgbClr val="465257"/>
                </a:solidFill>
                <a:latin typeface="Segoe UI"/>
              </a:rPr>
              <a:t>Unity Catalog &amp; best practices</a:t>
            </a:r>
          </a:p>
        </p:txBody>
      </p:sp>
      <p:sp>
        <p:nvSpPr>
          <p:cNvPr id="25" name="Rectangle 24"/>
          <p:cNvSpPr/>
          <p:nvPr/>
        </p:nvSpPr>
        <p:spPr>
          <a:xfrm>
            <a:off x="4758842" y="5230368"/>
            <a:ext cx="2674010"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795418" y="5358384"/>
            <a:ext cx="2655722" cy="548640"/>
          </a:xfrm>
          <a:prstGeom prst="rect">
            <a:avLst/>
          </a:prstGeom>
          <a:noFill/>
        </p:spPr>
        <p:txBody>
          <a:bodyPr wrap="square" anchor="t" lIns="0" rIns="0" tIns="0" bIns="0">
            <a:spAutoFit/>
          </a:bodyPr>
          <a:lstStyle/>
          <a:p>
            <a:pPr algn="l">
              <a:lnSpc>
                <a:spcPct val="112000"/>
              </a:lnSpc>
              <a:spcBef>
                <a:spcPts val="0"/>
              </a:spcBef>
              <a:spcAft>
                <a:spcPts val="200"/>
              </a:spcAft>
            </a:pPr>
            <a:r>
              <a:rPr sz="950" b="1" i="0">
                <a:solidFill>
                  <a:srgbClr val="FF3621"/>
                </a:solidFill>
                <a:latin typeface="Segoe UI Semibold"/>
              </a:rPr>
              <a:t>OUTCOME   </a:t>
            </a:r>
            <a:r>
              <a:rPr sz="1050" b="0" i="1">
                <a:solidFill>
                  <a:srgbClr val="6B777C"/>
                </a:solidFill>
                <a:latin typeface="Segoe UI"/>
              </a:rPr>
              <a:t>Navigate and operate the Databricks Workspace.</a:t>
            </a:r>
          </a:p>
        </p:txBody>
      </p:sp>
      <p:sp>
        <p:nvSpPr>
          <p:cNvPr id="27" name="Rounded Rectangle 26"/>
          <p:cNvSpPr/>
          <p:nvPr/>
        </p:nvSpPr>
        <p:spPr>
          <a:xfrm>
            <a:off x="8182660" y="1874519"/>
            <a:ext cx="3442106" cy="41148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8182660" y="1874519"/>
            <a:ext cx="3442106" cy="128016"/>
          </a:xfrm>
          <a:prstGeom prst="rect">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8438692" y="2240280"/>
            <a:ext cx="914400" cy="914400"/>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Isosceles Triangle 29"/>
          <p:cNvSpPr/>
          <p:nvPr/>
        </p:nvSpPr>
        <p:spPr>
          <a:xfrm>
            <a:off x="8685580" y="2508199"/>
            <a:ext cx="420624" cy="378561"/>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554260" y="2395728"/>
            <a:ext cx="1979066" cy="36576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00A972"/>
                </a:solidFill>
                <a:latin typeface="Segoe UI Semibold"/>
              </a:rPr>
              <a:t>PART 03</a:t>
            </a:r>
          </a:p>
        </p:txBody>
      </p:sp>
      <p:sp>
        <p:nvSpPr>
          <p:cNvPr id="32" name="TextBox 31"/>
          <p:cNvSpPr txBox="1"/>
          <p:nvPr/>
        </p:nvSpPr>
        <p:spPr>
          <a:xfrm>
            <a:off x="9554260" y="2670048"/>
            <a:ext cx="1979066" cy="640080"/>
          </a:xfrm>
          <a:prstGeom prst="rect">
            <a:avLst/>
          </a:prstGeom>
          <a:noFill/>
        </p:spPr>
        <p:txBody>
          <a:bodyPr wrap="square" anchor="t" lIns="0" rIns="0" tIns="0" bIns="0">
            <a:spAutoFit/>
          </a:bodyPr>
          <a:lstStyle/>
          <a:p>
            <a:pPr algn="l">
              <a:lnSpc>
                <a:spcPct val="98000"/>
              </a:lnSpc>
              <a:spcBef>
                <a:spcPts val="0"/>
              </a:spcBef>
              <a:spcAft>
                <a:spcPts val="200"/>
              </a:spcAft>
            </a:pPr>
            <a:r>
              <a:rPr sz="1550" b="1" i="0">
                <a:solidFill>
                  <a:srgbClr val="1B3139"/>
                </a:solidFill>
                <a:latin typeface="Segoe UI"/>
              </a:rPr>
              <a:t>Lakehouse Architecture</a:t>
            </a:r>
          </a:p>
        </p:txBody>
      </p:sp>
      <p:sp>
        <p:nvSpPr>
          <p:cNvPr id="33" name="Rectangle 32"/>
          <p:cNvSpPr/>
          <p:nvPr/>
        </p:nvSpPr>
        <p:spPr>
          <a:xfrm>
            <a:off x="8566708" y="3346704"/>
            <a:ext cx="2674010"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603284" y="3511296"/>
            <a:ext cx="2710586" cy="1828800"/>
          </a:xfrm>
          <a:prstGeom prst="rect">
            <a:avLst/>
          </a:prstGeom>
          <a:noFill/>
        </p:spPr>
        <p:txBody>
          <a:bodyPr wrap="square" anchor="t" lIns="0" rIns="0" tIns="0" bIns="0">
            <a:spAutoFit/>
          </a:bodyPr>
          <a:lstStyle/>
          <a:p>
            <a:pPr marL="274320" indent="-274320">
              <a:lnSpc>
                <a:spcPct val="105000"/>
              </a:lnSpc>
              <a:spcBef>
                <a:spcPts val="0"/>
              </a:spcBef>
              <a:spcAft>
                <a:spcPts val="1200"/>
              </a:spcAft>
            </a:pPr>
            <a:r>
              <a:rPr sz="1250" b="1">
                <a:solidFill>
                  <a:srgbClr val="00A972"/>
                </a:solidFill>
                <a:latin typeface="Segoe UI"/>
              </a:rPr>
              <a:t>▪   </a:t>
            </a:r>
            <a:r>
              <a:rPr sz="1250">
                <a:solidFill>
                  <a:srgbClr val="465257"/>
                </a:solidFill>
                <a:latin typeface="Segoe UI"/>
              </a:rPr>
              <a:t>Evolution &amp; Delta Lake</a:t>
            </a:r>
          </a:p>
          <a:p>
            <a:pPr marL="274320" indent="-274320">
              <a:lnSpc>
                <a:spcPct val="105000"/>
              </a:lnSpc>
              <a:spcBef>
                <a:spcPts val="0"/>
              </a:spcBef>
              <a:spcAft>
                <a:spcPts val="1200"/>
              </a:spcAft>
            </a:pPr>
            <a:r>
              <a:rPr sz="1250" b="1">
                <a:solidFill>
                  <a:srgbClr val="00A972"/>
                </a:solidFill>
                <a:latin typeface="Segoe UI"/>
              </a:rPr>
              <a:t>▪   </a:t>
            </a:r>
            <a:r>
              <a:rPr sz="1250">
                <a:solidFill>
                  <a:srgbClr val="465257"/>
                </a:solidFill>
                <a:latin typeface="Segoe UI"/>
              </a:rPr>
              <a:t>Medallion &amp; governance</a:t>
            </a:r>
          </a:p>
          <a:p>
            <a:pPr marL="274320" indent="-274320">
              <a:lnSpc>
                <a:spcPct val="105000"/>
              </a:lnSpc>
              <a:spcBef>
                <a:spcPts val="0"/>
              </a:spcBef>
              <a:spcAft>
                <a:spcPts val="1200"/>
              </a:spcAft>
            </a:pPr>
            <a:r>
              <a:rPr sz="1250" b="1">
                <a:solidFill>
                  <a:srgbClr val="00A972"/>
                </a:solidFill>
                <a:latin typeface="Segoe UI"/>
              </a:rPr>
              <a:t>▪   </a:t>
            </a:r>
            <a:r>
              <a:rPr sz="1250">
                <a:solidFill>
                  <a:srgbClr val="465257"/>
                </a:solidFill>
                <a:latin typeface="Segoe UI"/>
              </a:rPr>
              <a:t>AI / ML integration</a:t>
            </a:r>
          </a:p>
          <a:p>
            <a:pPr marL="274320" indent="-274320">
              <a:lnSpc>
                <a:spcPct val="105000"/>
              </a:lnSpc>
              <a:spcBef>
                <a:spcPts val="0"/>
              </a:spcBef>
              <a:spcAft>
                <a:spcPts val="1200"/>
              </a:spcAft>
            </a:pPr>
            <a:r>
              <a:rPr sz="1250" b="1">
                <a:solidFill>
                  <a:srgbClr val="00A972"/>
                </a:solidFill>
                <a:latin typeface="Segoe UI"/>
              </a:rPr>
              <a:t>▪   </a:t>
            </a:r>
            <a:r>
              <a:rPr sz="1250">
                <a:solidFill>
                  <a:srgbClr val="465257"/>
                </a:solidFill>
                <a:latin typeface="Segoe UI"/>
              </a:rPr>
              <a:t>End-to-end data flow</a:t>
            </a:r>
          </a:p>
        </p:txBody>
      </p:sp>
      <p:sp>
        <p:nvSpPr>
          <p:cNvPr id="35" name="Rectangle 34"/>
          <p:cNvSpPr/>
          <p:nvPr/>
        </p:nvSpPr>
        <p:spPr>
          <a:xfrm>
            <a:off x="8566708" y="5230368"/>
            <a:ext cx="2674010"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603284" y="5358384"/>
            <a:ext cx="2655722" cy="548640"/>
          </a:xfrm>
          <a:prstGeom prst="rect">
            <a:avLst/>
          </a:prstGeom>
          <a:noFill/>
        </p:spPr>
        <p:txBody>
          <a:bodyPr wrap="square" anchor="t" lIns="0" rIns="0" tIns="0" bIns="0">
            <a:spAutoFit/>
          </a:bodyPr>
          <a:lstStyle/>
          <a:p>
            <a:pPr algn="l">
              <a:lnSpc>
                <a:spcPct val="112000"/>
              </a:lnSpc>
              <a:spcBef>
                <a:spcPts val="0"/>
              </a:spcBef>
              <a:spcAft>
                <a:spcPts val="200"/>
              </a:spcAft>
            </a:pPr>
            <a:r>
              <a:rPr sz="950" b="1" i="0">
                <a:solidFill>
                  <a:srgbClr val="00A972"/>
                </a:solidFill>
                <a:latin typeface="Segoe UI Semibold"/>
              </a:rPr>
              <a:t>OUTCOME   </a:t>
            </a:r>
            <a:r>
              <a:rPr sz="1050" b="0" i="1">
                <a:solidFill>
                  <a:srgbClr val="6B777C"/>
                </a:solidFill>
                <a:latin typeface="Segoe UI"/>
              </a:rPr>
              <a:t>Design a governed, end-to-end Lakehouse pipeline.</a:t>
            </a:r>
          </a:p>
        </p:txBody>
      </p:sp>
      <p:sp>
        <p:nvSpPr>
          <p:cNvPr id="37" name="TextBox 36"/>
          <p:cNvSpPr txBox="1"/>
          <p:nvPr/>
        </p:nvSpPr>
        <p:spPr>
          <a:xfrm>
            <a:off x="566928" y="6163056"/>
            <a:ext cx="11057839" cy="274320"/>
          </a:xfrm>
          <a:prstGeom prst="rect">
            <a:avLst/>
          </a:prstGeom>
          <a:noFill/>
        </p:spPr>
        <p:txBody>
          <a:bodyPr wrap="square" anchor="t" lIns="0" rIns="0" tIns="0" bIns="0">
            <a:spAutoFit/>
          </a:bodyPr>
          <a:lstStyle/>
          <a:p>
            <a:pPr algn="ctr">
              <a:lnSpc>
                <a:spcPct val="100000"/>
              </a:lnSpc>
              <a:spcBef>
                <a:spcPts val="0"/>
              </a:spcBef>
              <a:spcAft>
                <a:spcPts val="200"/>
              </a:spcAft>
            </a:pPr>
            <a:r>
              <a:rPr sz="1150" b="0" i="1">
                <a:solidFill>
                  <a:srgbClr val="6B777C"/>
                </a:solidFill>
                <a:latin typeface="Segoe UI"/>
              </a:rPr>
              <a:t>From the engine, to the environment, to the architecture — one continuous build.</a:t>
            </a:r>
          </a:p>
        </p:txBody>
      </p:sp>
      <p:sp>
        <p:nvSpPr>
          <p:cNvPr id="38" name="TextBox 37"/>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39" name="TextBox 38"/>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1463040"/>
            <a:ext cx="5486400" cy="2194560"/>
          </a:xfrm>
          <a:prstGeom prst="rect">
            <a:avLst/>
          </a:prstGeom>
          <a:noFill/>
        </p:spPr>
        <p:txBody>
          <a:bodyPr wrap="square" anchor="t" lIns="0" rIns="0" tIns="0" bIns="0">
            <a:spAutoFit/>
          </a:bodyPr>
          <a:lstStyle/>
          <a:p>
            <a:pPr algn="l">
              <a:lnSpc>
                <a:spcPct val="100000"/>
              </a:lnSpc>
              <a:spcBef>
                <a:spcPts val="0"/>
              </a:spcBef>
              <a:spcAft>
                <a:spcPts val="200"/>
              </a:spcAft>
            </a:pPr>
            <a:r>
              <a:rPr sz="20000" b="1" i="0">
                <a:solidFill>
                  <a:srgbClr val="27444F"/>
                </a:solidFill>
                <a:latin typeface="Segoe UI Light"/>
              </a:rPr>
              <a:t>01</a:t>
            </a:r>
          </a:p>
        </p:txBody>
      </p:sp>
      <p:sp>
        <p:nvSpPr>
          <p:cNvPr id="9" name="Rounded Rectangle 8"/>
          <p:cNvSpPr/>
          <p:nvPr/>
        </p:nvSpPr>
        <p:spPr>
          <a:xfrm>
            <a:off x="612648" y="3310128"/>
            <a:ext cx="777240" cy="9144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12648" y="2743200"/>
            <a:ext cx="7315200" cy="36576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FF3621"/>
                </a:solidFill>
                <a:latin typeface="Segoe UI Semibold"/>
              </a:rPr>
              <a:t>PART ONE</a:t>
            </a:r>
          </a:p>
        </p:txBody>
      </p:sp>
      <p:sp>
        <p:nvSpPr>
          <p:cNvPr id="11" name="TextBox 10"/>
          <p:cNvSpPr txBox="1"/>
          <p:nvPr/>
        </p:nvSpPr>
        <p:spPr>
          <a:xfrm>
            <a:off x="566928" y="3456432"/>
            <a:ext cx="7680960" cy="1097280"/>
          </a:xfrm>
          <a:prstGeom prst="rect">
            <a:avLst/>
          </a:prstGeom>
          <a:noFill/>
        </p:spPr>
        <p:txBody>
          <a:bodyPr wrap="square" anchor="t" lIns="0" rIns="0" tIns="0" bIns="0">
            <a:spAutoFit/>
          </a:bodyPr>
          <a:lstStyle/>
          <a:p>
            <a:pPr algn="l">
              <a:lnSpc>
                <a:spcPct val="98000"/>
              </a:lnSpc>
              <a:spcBef>
                <a:spcPts val="0"/>
              </a:spcBef>
              <a:spcAft>
                <a:spcPts val="200"/>
              </a:spcAft>
            </a:pPr>
            <a:r>
              <a:rPr sz="4000" b="1" i="0">
                <a:solidFill>
                  <a:srgbClr val="FFFFFF"/>
                </a:solidFill>
                <a:latin typeface="Segoe UI"/>
              </a:rPr>
              <a:t>Apache Spark Fundamentals</a:t>
            </a:r>
          </a:p>
        </p:txBody>
      </p:sp>
      <p:sp>
        <p:nvSpPr>
          <p:cNvPr id="12" name="TextBox 11"/>
          <p:cNvSpPr txBox="1"/>
          <p:nvPr/>
        </p:nvSpPr>
        <p:spPr>
          <a:xfrm>
            <a:off x="612648" y="4754880"/>
            <a:ext cx="6949440" cy="1463040"/>
          </a:xfrm>
          <a:prstGeom prst="rect">
            <a:avLst/>
          </a:prstGeom>
          <a:noFill/>
        </p:spPr>
        <p:txBody>
          <a:bodyPr wrap="square" anchor="t" lIns="0" rIns="0" tIns="0" bIns="0">
            <a:spAutoFit/>
          </a:bodyPr>
          <a:lstStyle/>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What &amp; why Spark · architecture &amp; components</a:t>
            </a:r>
          </a:p>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Execution flow · Spark vs Hadoop</a:t>
            </a:r>
          </a:p>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Use cases &amp; best practices</a:t>
            </a:r>
          </a:p>
        </p:txBody>
      </p:sp>
      <p:sp>
        <p:nvSpPr>
          <p:cNvPr id="13" name="Oval 12"/>
          <p:cNvSpPr/>
          <p:nvPr/>
        </p:nvSpPr>
        <p:spPr>
          <a:xfrm>
            <a:off x="8641080" y="2423160"/>
            <a:ext cx="2286000" cy="2286000"/>
          </a:xfrm>
          <a:prstGeom prst="ellipse">
            <a:avLst/>
          </a:prstGeom>
          <a:solidFill>
            <a:srgbClr val="FF3621"/>
          </a:solidFill>
          <a:ln w="15240">
            <a:solidFill>
              <a:srgbClr val="FF8A78"/>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Lightning Bolt 13"/>
          <p:cNvSpPr/>
          <p:nvPr/>
        </p:nvSpPr>
        <p:spPr>
          <a:xfrm>
            <a:off x="9416034" y="3040379"/>
            <a:ext cx="736092" cy="1051560"/>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7E9199"/>
                </a:solidFill>
                <a:latin typeface="Segoe UI"/>
              </a:rPr>
              <a:t>Big Data &amp; Databricks  ·  Enterprise Training Series</a:t>
            </a:r>
          </a:p>
        </p:txBody>
      </p:sp>
      <p:sp>
        <p:nvSpPr>
          <p:cNvPr id="16" name="TextBox 15"/>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7E9199"/>
                </a:solidFill>
                <a:latin typeface="Segoe UI"/>
              </a:rP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APACHE SPARK FUNDAMENTALS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What Is Apache Spark?</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695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Spark</a:t>
            </a:r>
          </a:p>
        </p:txBody>
      </p:sp>
      <p:sp>
        <p:nvSpPr>
          <p:cNvPr id="9" name="Oval 8"/>
          <p:cNvSpPr/>
          <p:nvPr/>
        </p:nvSpPr>
        <p:spPr>
          <a:xfrm>
            <a:off x="94644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Workspace</a:t>
            </a:r>
          </a:p>
        </p:txBody>
      </p:sp>
      <p:sp>
        <p:nvSpPr>
          <p:cNvPr id="11" name="Oval 10"/>
          <p:cNvSpPr/>
          <p:nvPr/>
        </p:nvSpPr>
        <p:spPr>
          <a:xfrm>
            <a:off x="105434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Lakehouse</a:t>
            </a:r>
          </a:p>
        </p:txBody>
      </p:sp>
      <p:sp>
        <p:nvSpPr>
          <p:cNvPr id="13" name="Rounded Rectangle 12"/>
          <p:cNvSpPr/>
          <p:nvPr/>
        </p:nvSpPr>
        <p:spPr>
          <a:xfrm>
            <a:off x="566928" y="1828800"/>
            <a:ext cx="5989320" cy="233172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32688" y="2084831"/>
            <a:ext cx="5303520" cy="27432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FF6B57"/>
                </a:solidFill>
                <a:latin typeface="Segoe UI Semibold"/>
              </a:rPr>
              <a:t>DEFINITION</a:t>
            </a:r>
          </a:p>
        </p:txBody>
      </p:sp>
      <p:sp>
        <p:nvSpPr>
          <p:cNvPr id="15" name="TextBox 14"/>
          <p:cNvSpPr txBox="1"/>
          <p:nvPr/>
        </p:nvSpPr>
        <p:spPr>
          <a:xfrm>
            <a:off x="932688" y="2395728"/>
            <a:ext cx="5349240" cy="1691640"/>
          </a:xfrm>
          <a:prstGeom prst="rect">
            <a:avLst/>
          </a:prstGeom>
          <a:noFill/>
        </p:spPr>
        <p:txBody>
          <a:bodyPr wrap="square" anchor="t" lIns="0" rIns="0" tIns="0" bIns="0">
            <a:spAutoFit/>
          </a:bodyPr>
          <a:lstStyle/>
          <a:p>
            <a:pPr algn="l">
              <a:lnSpc>
                <a:spcPct val="130000"/>
              </a:lnSpc>
              <a:spcBef>
                <a:spcPts val="0"/>
              </a:spcBef>
              <a:spcAft>
                <a:spcPts val="200"/>
              </a:spcAft>
            </a:pPr>
            <a:r>
              <a:rPr sz="1450" b="0" i="0">
                <a:solidFill>
                  <a:srgbClr val="FFFFFF"/>
                </a:solidFill>
                <a:latin typeface="Segoe UI"/>
              </a:rPr>
              <a:t>Apache Spark is a </a:t>
            </a:r>
            <a:r>
              <a:rPr sz="1450" b="1" i="0">
                <a:solidFill>
                  <a:srgbClr val="FF6B57"/>
                </a:solidFill>
                <a:latin typeface="Segoe UI"/>
              </a:rPr>
              <a:t>unified, open-source, distributed engine</a:t>
            </a:r>
            <a:r>
              <a:rPr sz="1450" b="0" i="0">
                <a:solidFill>
                  <a:srgbClr val="FFFFFF"/>
                </a:solidFill>
                <a:latin typeface="Segoe UI"/>
              </a:rPr>
              <a:t> for large-scale data processing — running computations </a:t>
            </a:r>
            <a:r>
              <a:rPr sz="1450" b="1" i="0">
                <a:solidFill>
                  <a:srgbClr val="FF6B57"/>
                </a:solidFill>
                <a:latin typeface="Segoe UI"/>
              </a:rPr>
              <a:t>in memory</a:t>
            </a:r>
            <a:r>
              <a:rPr sz="1450" b="0" i="0">
                <a:solidFill>
                  <a:srgbClr val="FFFFFF"/>
                </a:solidFill>
                <a:latin typeface="Segoe UI"/>
              </a:rPr>
              <a:t> across a cluster to power batch, streaming, SQL, machine learning and graph workloads.</a:t>
            </a:r>
          </a:p>
        </p:txBody>
      </p:sp>
      <p:sp>
        <p:nvSpPr>
          <p:cNvPr id="16" name="TextBox 15"/>
          <p:cNvSpPr txBox="1"/>
          <p:nvPr/>
        </p:nvSpPr>
        <p:spPr>
          <a:xfrm>
            <a:off x="612648" y="4434840"/>
            <a:ext cx="5943600" cy="1645920"/>
          </a:xfrm>
          <a:prstGeom prst="rect">
            <a:avLst/>
          </a:prstGeom>
          <a:noFill/>
        </p:spPr>
        <p:txBody>
          <a:bodyPr wrap="square" anchor="t" lIns="0" rIns="0" tIns="0" bIns="0">
            <a:spAutoFit/>
          </a:bodyPr>
          <a:lstStyle/>
          <a:p>
            <a:pPr marL="274320" indent="-274320">
              <a:lnSpc>
                <a:spcPct val="112000"/>
              </a:lnSpc>
              <a:spcBef>
                <a:spcPts val="0"/>
              </a:spcBef>
              <a:spcAft>
                <a:spcPts val="1000"/>
              </a:spcAft>
            </a:pPr>
            <a:r>
              <a:rPr sz="1280" b="1">
                <a:solidFill>
                  <a:srgbClr val="FF3621"/>
                </a:solidFill>
                <a:latin typeface="Segoe UI"/>
              </a:rPr>
              <a:t>▪   </a:t>
            </a:r>
            <a:r>
              <a:rPr sz="1280">
                <a:solidFill>
                  <a:srgbClr val="465257"/>
                </a:solidFill>
                <a:latin typeface="Segoe UI"/>
              </a:rPr>
              <a:t>One engine, many workloads — no separate tools to stitch</a:t>
            </a:r>
          </a:p>
          <a:p>
            <a:pPr marL="274320" indent="-274320">
              <a:lnSpc>
                <a:spcPct val="112000"/>
              </a:lnSpc>
              <a:spcBef>
                <a:spcPts val="0"/>
              </a:spcBef>
              <a:spcAft>
                <a:spcPts val="1000"/>
              </a:spcAft>
            </a:pPr>
            <a:r>
              <a:rPr sz="1280" b="1">
                <a:solidFill>
                  <a:srgbClr val="FF3621"/>
                </a:solidFill>
                <a:latin typeface="Segoe UI"/>
              </a:rPr>
              <a:t>▪   </a:t>
            </a:r>
            <a:r>
              <a:rPr sz="1280">
                <a:solidFill>
                  <a:srgbClr val="465257"/>
                </a:solidFill>
                <a:latin typeface="Segoe UI"/>
              </a:rPr>
              <a:t>Lazy evaluation + a DAG optimizer plan work efficiently</a:t>
            </a:r>
          </a:p>
          <a:p>
            <a:pPr marL="274320" indent="-274320">
              <a:lnSpc>
                <a:spcPct val="112000"/>
              </a:lnSpc>
              <a:spcBef>
                <a:spcPts val="0"/>
              </a:spcBef>
              <a:spcAft>
                <a:spcPts val="1000"/>
              </a:spcAft>
            </a:pPr>
            <a:r>
              <a:rPr sz="1280" b="1">
                <a:solidFill>
                  <a:srgbClr val="FF3621"/>
                </a:solidFill>
                <a:latin typeface="Segoe UI"/>
              </a:rPr>
              <a:t>▪   </a:t>
            </a:r>
            <a:r>
              <a:rPr sz="1280">
                <a:solidFill>
                  <a:srgbClr val="465257"/>
                </a:solidFill>
                <a:latin typeface="Segoe UI"/>
              </a:rPr>
              <a:t>The compute foundation beneath Databricks &amp; the Lakehouse</a:t>
            </a:r>
          </a:p>
        </p:txBody>
      </p:sp>
      <p:sp>
        <p:nvSpPr>
          <p:cNvPr id="17" name="Rounded Rectangle 16"/>
          <p:cNvSpPr/>
          <p:nvPr/>
        </p:nvSpPr>
        <p:spPr>
          <a:xfrm>
            <a:off x="6903720" y="1828800"/>
            <a:ext cx="1943100" cy="19431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903720" y="1828800"/>
            <a:ext cx="91440" cy="1943100"/>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159752" y="1993392"/>
            <a:ext cx="1577340" cy="548640"/>
          </a:xfrm>
          <a:prstGeom prst="rect">
            <a:avLst/>
          </a:prstGeom>
          <a:noFill/>
        </p:spPr>
        <p:txBody>
          <a:bodyPr wrap="square" anchor="t" lIns="0" rIns="0" tIns="0" bIns="0">
            <a:spAutoFit/>
          </a:bodyPr>
          <a:lstStyle/>
          <a:p>
            <a:pPr algn="l">
              <a:lnSpc>
                <a:spcPct val="100000"/>
              </a:lnSpc>
              <a:spcBef>
                <a:spcPts val="0"/>
              </a:spcBef>
              <a:spcAft>
                <a:spcPts val="200"/>
              </a:spcAft>
            </a:pPr>
            <a:r>
              <a:rPr sz="2500" b="1" i="0">
                <a:solidFill>
                  <a:srgbClr val="2272B4"/>
                </a:solidFill>
                <a:latin typeface="Segoe UI"/>
              </a:rPr>
              <a:t>100x</a:t>
            </a:r>
          </a:p>
        </p:txBody>
      </p:sp>
      <p:sp>
        <p:nvSpPr>
          <p:cNvPr id="20" name="TextBox 19"/>
          <p:cNvSpPr txBox="1"/>
          <p:nvPr/>
        </p:nvSpPr>
        <p:spPr>
          <a:xfrm>
            <a:off x="7178040" y="2542032"/>
            <a:ext cx="1531620" cy="822960"/>
          </a:xfrm>
          <a:prstGeom prst="rect">
            <a:avLst/>
          </a:prstGeom>
          <a:noFill/>
        </p:spPr>
        <p:txBody>
          <a:bodyPr wrap="square" anchor="t" lIns="0" rIns="0" tIns="0" bIns="0">
            <a:spAutoFit/>
          </a:bodyPr>
          <a:lstStyle/>
          <a:p>
            <a:pPr algn="l">
              <a:lnSpc>
                <a:spcPct val="105000"/>
              </a:lnSpc>
              <a:spcBef>
                <a:spcPts val="0"/>
              </a:spcBef>
              <a:spcAft>
                <a:spcPts val="200"/>
              </a:spcAft>
            </a:pPr>
            <a:r>
              <a:rPr sz="1050" b="0" i="0">
                <a:solidFill>
                  <a:srgbClr val="465257"/>
                </a:solidFill>
                <a:latin typeface="Segoe UI"/>
              </a:rPr>
              <a:t>faster than disk-based MapReduce (in-memory)</a:t>
            </a:r>
          </a:p>
        </p:txBody>
      </p:sp>
      <p:sp>
        <p:nvSpPr>
          <p:cNvPr id="21" name="Rounded Rectangle 20"/>
          <p:cNvSpPr/>
          <p:nvPr/>
        </p:nvSpPr>
        <p:spPr>
          <a:xfrm>
            <a:off x="9121140" y="1828800"/>
            <a:ext cx="1943100" cy="19431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9121140" y="1828800"/>
            <a:ext cx="91440" cy="194310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377172" y="1993392"/>
            <a:ext cx="1577340" cy="548640"/>
          </a:xfrm>
          <a:prstGeom prst="rect">
            <a:avLst/>
          </a:prstGeom>
          <a:noFill/>
        </p:spPr>
        <p:txBody>
          <a:bodyPr wrap="square" anchor="t" lIns="0" rIns="0" tIns="0" bIns="0">
            <a:spAutoFit/>
          </a:bodyPr>
          <a:lstStyle/>
          <a:p>
            <a:pPr algn="l">
              <a:lnSpc>
                <a:spcPct val="100000"/>
              </a:lnSpc>
              <a:spcBef>
                <a:spcPts val="0"/>
              </a:spcBef>
              <a:spcAft>
                <a:spcPts val="200"/>
              </a:spcAft>
            </a:pPr>
            <a:r>
              <a:rPr sz="2500" b="1" i="0">
                <a:solidFill>
                  <a:srgbClr val="FF3621"/>
                </a:solidFill>
                <a:latin typeface="Segoe UI"/>
              </a:rPr>
              <a:t>4 langs</a:t>
            </a:r>
          </a:p>
        </p:txBody>
      </p:sp>
      <p:sp>
        <p:nvSpPr>
          <p:cNvPr id="24" name="TextBox 23"/>
          <p:cNvSpPr txBox="1"/>
          <p:nvPr/>
        </p:nvSpPr>
        <p:spPr>
          <a:xfrm>
            <a:off x="9395460" y="2542032"/>
            <a:ext cx="1531620" cy="822960"/>
          </a:xfrm>
          <a:prstGeom prst="rect">
            <a:avLst/>
          </a:prstGeom>
          <a:noFill/>
        </p:spPr>
        <p:txBody>
          <a:bodyPr wrap="square" anchor="t" lIns="0" rIns="0" tIns="0" bIns="0">
            <a:spAutoFit/>
          </a:bodyPr>
          <a:lstStyle/>
          <a:p>
            <a:pPr algn="l">
              <a:lnSpc>
                <a:spcPct val="105000"/>
              </a:lnSpc>
              <a:spcBef>
                <a:spcPts val="0"/>
              </a:spcBef>
              <a:spcAft>
                <a:spcPts val="200"/>
              </a:spcAft>
            </a:pPr>
            <a:r>
              <a:rPr sz="1050" b="0" i="0">
                <a:solidFill>
                  <a:srgbClr val="465257"/>
                </a:solidFill>
                <a:latin typeface="Segoe UI"/>
              </a:rPr>
              <a:t>Python · SQL · Scala · R (+ Java) — one API</a:t>
            </a:r>
          </a:p>
        </p:txBody>
      </p:sp>
      <p:sp>
        <p:nvSpPr>
          <p:cNvPr id="25" name="Rounded Rectangle 24"/>
          <p:cNvSpPr/>
          <p:nvPr/>
        </p:nvSpPr>
        <p:spPr>
          <a:xfrm>
            <a:off x="6903720" y="4046220"/>
            <a:ext cx="1943100" cy="19431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903720" y="4046220"/>
            <a:ext cx="91440" cy="1943100"/>
          </a:xfrm>
          <a:prstGeom prst="rect">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159752" y="4210812"/>
            <a:ext cx="1577340" cy="548640"/>
          </a:xfrm>
          <a:prstGeom prst="rect">
            <a:avLst/>
          </a:prstGeom>
          <a:noFill/>
        </p:spPr>
        <p:txBody>
          <a:bodyPr wrap="square" anchor="t" lIns="0" rIns="0" tIns="0" bIns="0">
            <a:spAutoFit/>
          </a:bodyPr>
          <a:lstStyle/>
          <a:p>
            <a:pPr algn="l">
              <a:lnSpc>
                <a:spcPct val="100000"/>
              </a:lnSpc>
              <a:spcBef>
                <a:spcPts val="0"/>
              </a:spcBef>
              <a:spcAft>
                <a:spcPts val="200"/>
              </a:spcAft>
            </a:pPr>
            <a:r>
              <a:rPr sz="2500" b="1" i="0">
                <a:solidFill>
                  <a:srgbClr val="00A972"/>
                </a:solidFill>
                <a:latin typeface="Segoe UI"/>
              </a:rPr>
              <a:t>2009</a:t>
            </a:r>
          </a:p>
        </p:txBody>
      </p:sp>
      <p:sp>
        <p:nvSpPr>
          <p:cNvPr id="28" name="TextBox 27"/>
          <p:cNvSpPr txBox="1"/>
          <p:nvPr/>
        </p:nvSpPr>
        <p:spPr>
          <a:xfrm>
            <a:off x="7178040" y="4759452"/>
            <a:ext cx="1531620" cy="822960"/>
          </a:xfrm>
          <a:prstGeom prst="rect">
            <a:avLst/>
          </a:prstGeom>
          <a:noFill/>
        </p:spPr>
        <p:txBody>
          <a:bodyPr wrap="square" anchor="t" lIns="0" rIns="0" tIns="0" bIns="0">
            <a:spAutoFit/>
          </a:bodyPr>
          <a:lstStyle/>
          <a:p>
            <a:pPr algn="l">
              <a:lnSpc>
                <a:spcPct val="105000"/>
              </a:lnSpc>
              <a:spcBef>
                <a:spcPts val="0"/>
              </a:spcBef>
              <a:spcAft>
                <a:spcPts val="200"/>
              </a:spcAft>
            </a:pPr>
            <a:r>
              <a:rPr sz="1050" b="0" i="0">
                <a:solidFill>
                  <a:srgbClr val="465257"/>
                </a:solidFill>
                <a:latin typeface="Segoe UI"/>
              </a:rPr>
              <a:t>born at UC Berkeley AMPLab; open-sourced</a:t>
            </a:r>
          </a:p>
        </p:txBody>
      </p:sp>
      <p:sp>
        <p:nvSpPr>
          <p:cNvPr id="29" name="Rounded Rectangle 28"/>
          <p:cNvSpPr/>
          <p:nvPr/>
        </p:nvSpPr>
        <p:spPr>
          <a:xfrm>
            <a:off x="9121140" y="4046220"/>
            <a:ext cx="1943100" cy="19431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9121140" y="4046220"/>
            <a:ext cx="91440" cy="1943100"/>
          </a:xfrm>
          <a:prstGeom prst="rect">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377172" y="4210812"/>
            <a:ext cx="1577340" cy="548640"/>
          </a:xfrm>
          <a:prstGeom prst="rect">
            <a:avLst/>
          </a:prstGeom>
          <a:noFill/>
        </p:spPr>
        <p:txBody>
          <a:bodyPr wrap="square" anchor="t" lIns="0" rIns="0" tIns="0" bIns="0">
            <a:spAutoFit/>
          </a:bodyPr>
          <a:lstStyle/>
          <a:p>
            <a:pPr algn="l">
              <a:lnSpc>
                <a:spcPct val="100000"/>
              </a:lnSpc>
              <a:spcBef>
                <a:spcPts val="0"/>
              </a:spcBef>
              <a:spcAft>
                <a:spcPts val="200"/>
              </a:spcAft>
            </a:pPr>
            <a:r>
              <a:rPr sz="2500" b="1" i="0">
                <a:solidFill>
                  <a:srgbClr val="7C5CCF"/>
                </a:solidFill>
                <a:latin typeface="Segoe UI"/>
              </a:rPr>
              <a:t>1000s</a:t>
            </a:r>
          </a:p>
        </p:txBody>
      </p:sp>
      <p:sp>
        <p:nvSpPr>
          <p:cNvPr id="32" name="TextBox 31"/>
          <p:cNvSpPr txBox="1"/>
          <p:nvPr/>
        </p:nvSpPr>
        <p:spPr>
          <a:xfrm>
            <a:off x="9395460" y="4759452"/>
            <a:ext cx="1531620" cy="822960"/>
          </a:xfrm>
          <a:prstGeom prst="rect">
            <a:avLst/>
          </a:prstGeom>
          <a:noFill/>
        </p:spPr>
        <p:txBody>
          <a:bodyPr wrap="square" anchor="t" lIns="0" rIns="0" tIns="0" bIns="0">
            <a:spAutoFit/>
          </a:bodyPr>
          <a:lstStyle/>
          <a:p>
            <a:pPr algn="l">
              <a:lnSpc>
                <a:spcPct val="105000"/>
              </a:lnSpc>
              <a:spcBef>
                <a:spcPts val="0"/>
              </a:spcBef>
              <a:spcAft>
                <a:spcPts val="200"/>
              </a:spcAft>
            </a:pPr>
            <a:r>
              <a:rPr sz="1050" b="0" i="0">
                <a:solidFill>
                  <a:srgbClr val="465257"/>
                </a:solidFill>
                <a:latin typeface="Segoe UI"/>
              </a:rPr>
              <a:t>of nodes — scales from laptop to data center</a:t>
            </a:r>
          </a:p>
        </p:txBody>
      </p:sp>
      <p:sp>
        <p:nvSpPr>
          <p:cNvPr id="33" name="TextBox 32"/>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34" name="TextBox 33"/>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APACHE SPARK FUNDAMENTALS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Why Spark Won</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695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Spark</a:t>
            </a:r>
          </a:p>
        </p:txBody>
      </p:sp>
      <p:sp>
        <p:nvSpPr>
          <p:cNvPr id="9" name="Oval 8"/>
          <p:cNvSpPr/>
          <p:nvPr/>
        </p:nvSpPr>
        <p:spPr>
          <a:xfrm>
            <a:off x="94644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Workspace</a:t>
            </a:r>
          </a:p>
        </p:txBody>
      </p:sp>
      <p:sp>
        <p:nvSpPr>
          <p:cNvPr id="11" name="Oval 10"/>
          <p:cNvSpPr/>
          <p:nvPr/>
        </p:nvSpPr>
        <p:spPr>
          <a:xfrm>
            <a:off x="105434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Lakehouse</a:t>
            </a:r>
          </a:p>
        </p:txBody>
      </p:sp>
      <p:sp>
        <p:nvSpPr>
          <p:cNvPr id="13" name="Rounded Rectangle 12"/>
          <p:cNvSpPr/>
          <p:nvPr/>
        </p:nvSpPr>
        <p:spPr>
          <a:xfrm>
            <a:off x="56692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66928" y="1828800"/>
            <a:ext cx="91440" cy="1929384"/>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40664" y="1975104"/>
            <a:ext cx="658368" cy="65836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Lightning Bolt 15"/>
          <p:cNvSpPr/>
          <p:nvPr/>
        </p:nvSpPr>
        <p:spPr>
          <a:xfrm>
            <a:off x="963850" y="2152863"/>
            <a:ext cx="211994" cy="302849"/>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49961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In-Memory Speed</a:t>
            </a:r>
          </a:p>
        </p:txBody>
      </p:sp>
      <p:sp>
        <p:nvSpPr>
          <p:cNvPr id="18" name="TextBox 17"/>
          <p:cNvSpPr txBox="1"/>
          <p:nvPr/>
        </p:nvSpPr>
        <p:spPr>
          <a:xfrm>
            <a:off x="841247"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Keeps data in RAM and optimizes a DAG of work — up to 100x faster than MapReduce.</a:t>
            </a:r>
          </a:p>
        </p:txBody>
      </p:sp>
      <p:sp>
        <p:nvSpPr>
          <p:cNvPr id="19" name="Rounded Rectangle 18"/>
          <p:cNvSpPr/>
          <p:nvPr/>
        </p:nvSpPr>
        <p:spPr>
          <a:xfrm>
            <a:off x="433821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4338218" y="1828800"/>
            <a:ext cx="91440" cy="1929384"/>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4511954" y="1975104"/>
            <a:ext cx="658368" cy="658368"/>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Hexagon 21"/>
          <p:cNvSpPr/>
          <p:nvPr/>
        </p:nvSpPr>
        <p:spPr>
          <a:xfrm>
            <a:off x="4689713" y="2168005"/>
            <a:ext cx="302849" cy="272564"/>
          </a:xfrm>
          <a:prstGeom prst="hexago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27090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Unified Engine</a:t>
            </a:r>
          </a:p>
        </p:txBody>
      </p:sp>
      <p:sp>
        <p:nvSpPr>
          <p:cNvPr id="24" name="TextBox 23"/>
          <p:cNvSpPr txBox="1"/>
          <p:nvPr/>
        </p:nvSpPr>
        <p:spPr>
          <a:xfrm>
            <a:off x="461253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Batch, streaming, SQL, ML and graph share one runtime and one set of APIs.</a:t>
            </a:r>
          </a:p>
        </p:txBody>
      </p:sp>
      <p:sp>
        <p:nvSpPr>
          <p:cNvPr id="25" name="Rounded Rectangle 24"/>
          <p:cNvSpPr/>
          <p:nvPr/>
        </p:nvSpPr>
        <p:spPr>
          <a:xfrm>
            <a:off x="810950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8109508" y="1828800"/>
            <a:ext cx="91440" cy="1929384"/>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8283244" y="1975104"/>
            <a:ext cx="658368" cy="658368"/>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Folded Corner 27"/>
          <p:cNvSpPr/>
          <p:nvPr/>
        </p:nvSpPr>
        <p:spPr>
          <a:xfrm>
            <a:off x="8515517" y="2177091"/>
            <a:ext cx="193823" cy="254393"/>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04219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Easy, High-Level APIs</a:t>
            </a:r>
          </a:p>
        </p:txBody>
      </p:sp>
      <p:sp>
        <p:nvSpPr>
          <p:cNvPr id="30" name="TextBox 29"/>
          <p:cNvSpPr txBox="1"/>
          <p:nvPr/>
        </p:nvSpPr>
        <p:spPr>
          <a:xfrm>
            <a:off x="838382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DataFrames &amp; SQL replace verbose MapReduce code in Python, SQL, Scala or R.</a:t>
            </a:r>
          </a:p>
        </p:txBody>
      </p:sp>
      <p:sp>
        <p:nvSpPr>
          <p:cNvPr id="31" name="Rounded Rectangle 30"/>
          <p:cNvSpPr/>
          <p:nvPr/>
        </p:nvSpPr>
        <p:spPr>
          <a:xfrm>
            <a:off x="56692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566928" y="4014215"/>
            <a:ext cx="91440" cy="1929384"/>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Oval 32"/>
          <p:cNvSpPr/>
          <p:nvPr/>
        </p:nvSpPr>
        <p:spPr>
          <a:xfrm>
            <a:off x="740664" y="4160520"/>
            <a:ext cx="658368" cy="658368"/>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968090" y="4387946"/>
            <a:ext cx="82375" cy="82375"/>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1089230" y="4387946"/>
            <a:ext cx="82375" cy="82375"/>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968090" y="4509086"/>
            <a:ext cx="82375" cy="82375"/>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1089230" y="4509086"/>
            <a:ext cx="82375" cy="82375"/>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49961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Massive Scalability</a:t>
            </a:r>
          </a:p>
        </p:txBody>
      </p:sp>
      <p:sp>
        <p:nvSpPr>
          <p:cNvPr id="39" name="TextBox 38"/>
          <p:cNvSpPr txBox="1"/>
          <p:nvPr/>
        </p:nvSpPr>
        <p:spPr>
          <a:xfrm>
            <a:off x="841247"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Scales out linearly from a single laptop to thousands of cluster nodes.</a:t>
            </a:r>
          </a:p>
        </p:txBody>
      </p:sp>
      <p:sp>
        <p:nvSpPr>
          <p:cNvPr id="40" name="Rounded Rectangle 39"/>
          <p:cNvSpPr/>
          <p:nvPr/>
        </p:nvSpPr>
        <p:spPr>
          <a:xfrm>
            <a:off x="433821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4338218" y="4014215"/>
            <a:ext cx="91440" cy="192938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4511954" y="4160520"/>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Pentagon 42"/>
          <p:cNvSpPr/>
          <p:nvPr/>
        </p:nvSpPr>
        <p:spPr>
          <a:xfrm rot="5400000">
            <a:off x="4713941" y="4344336"/>
            <a:ext cx="254393" cy="278621"/>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27090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Fault Tolerance</a:t>
            </a:r>
          </a:p>
        </p:txBody>
      </p:sp>
      <p:sp>
        <p:nvSpPr>
          <p:cNvPr id="45" name="TextBox 44"/>
          <p:cNvSpPr txBox="1"/>
          <p:nvPr/>
        </p:nvSpPr>
        <p:spPr>
          <a:xfrm>
            <a:off x="461253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Lineage (the DAG) lets Spark recompute lost partitions automatically.</a:t>
            </a:r>
          </a:p>
        </p:txBody>
      </p:sp>
      <p:sp>
        <p:nvSpPr>
          <p:cNvPr id="46" name="Rounded Rectangle 45"/>
          <p:cNvSpPr/>
          <p:nvPr/>
        </p:nvSpPr>
        <p:spPr>
          <a:xfrm>
            <a:off x="810950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8109508" y="4014215"/>
            <a:ext cx="91440" cy="1929384"/>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Oval 47"/>
          <p:cNvSpPr/>
          <p:nvPr/>
        </p:nvSpPr>
        <p:spPr>
          <a:xfrm>
            <a:off x="8283244" y="4160520"/>
            <a:ext cx="658368" cy="658368"/>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Oval 48"/>
          <p:cNvSpPr/>
          <p:nvPr/>
        </p:nvSpPr>
        <p:spPr>
          <a:xfrm>
            <a:off x="8473118" y="4350393"/>
            <a:ext cx="278621" cy="278621"/>
          </a:xfrm>
          <a:prstGeom prst="ellipse">
            <a:avLst/>
          </a:prstGeom>
          <a:noFill/>
          <a:ln w="33649">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Oval 49"/>
          <p:cNvSpPr/>
          <p:nvPr/>
        </p:nvSpPr>
        <p:spPr>
          <a:xfrm>
            <a:off x="8557915" y="4350393"/>
            <a:ext cx="109025" cy="278621"/>
          </a:xfrm>
          <a:prstGeom prst="ellipse">
            <a:avLst/>
          </a:prstGeom>
          <a:noFill/>
          <a:ln w="25237">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8473118" y="4480618"/>
            <a:ext cx="278621" cy="181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904219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Open Ecosystem</a:t>
            </a:r>
          </a:p>
        </p:txBody>
      </p:sp>
      <p:sp>
        <p:nvSpPr>
          <p:cNvPr id="53" name="TextBox 52"/>
          <p:cNvSpPr txBox="1"/>
          <p:nvPr/>
        </p:nvSpPr>
        <p:spPr>
          <a:xfrm>
            <a:off x="838382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Huge community, rich libraries, and the foundation of the Databricks platform.</a:t>
            </a:r>
          </a:p>
        </p:txBody>
      </p:sp>
      <p:sp>
        <p:nvSpPr>
          <p:cNvPr id="54" name="TextBox 53"/>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5" name="TextBox 54"/>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APACHE SPARK FUNDAMENTALS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Spark Architecture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695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Spark</a:t>
            </a:r>
          </a:p>
        </p:txBody>
      </p:sp>
      <p:sp>
        <p:nvSpPr>
          <p:cNvPr id="9" name="Oval 8"/>
          <p:cNvSpPr/>
          <p:nvPr/>
        </p:nvSpPr>
        <p:spPr>
          <a:xfrm>
            <a:off x="94644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Workspace</a:t>
            </a:r>
          </a:p>
        </p:txBody>
      </p:sp>
      <p:sp>
        <p:nvSpPr>
          <p:cNvPr id="11" name="Oval 10"/>
          <p:cNvSpPr/>
          <p:nvPr/>
        </p:nvSpPr>
        <p:spPr>
          <a:xfrm>
            <a:off x="105434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Lakehouse</a:t>
            </a:r>
          </a:p>
        </p:txBody>
      </p:sp>
      <p:sp>
        <p:nvSpPr>
          <p:cNvPr id="13" name="Rounded Rectangle 12"/>
          <p:cNvSpPr/>
          <p:nvPr/>
        </p:nvSpPr>
        <p:spPr>
          <a:xfrm>
            <a:off x="566928" y="2103120"/>
            <a:ext cx="2490139" cy="21488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66928" y="2103120"/>
            <a:ext cx="2490139" cy="109728"/>
          </a:xfrm>
          <a:prstGeom prst="roundRect">
            <a:avLst>
              <a:gd name="adj" fmla="val 50000"/>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1354797" y="2304287"/>
            <a:ext cx="914400" cy="914400"/>
          </a:xfrm>
          <a:prstGeom prst="ellipse">
            <a:avLst/>
          </a:prstGeom>
          <a:solidFill>
            <a:srgbClr val="27444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Gear 6 15"/>
          <p:cNvSpPr/>
          <p:nvPr/>
        </p:nvSpPr>
        <p:spPr>
          <a:xfrm>
            <a:off x="1601685" y="2551175"/>
            <a:ext cx="420624" cy="420624"/>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256329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1</a:t>
            </a:r>
          </a:p>
        </p:txBody>
      </p:sp>
      <p:sp>
        <p:nvSpPr>
          <p:cNvPr id="18" name="TextBox 17"/>
          <p:cNvSpPr txBox="1"/>
          <p:nvPr/>
        </p:nvSpPr>
        <p:spPr>
          <a:xfrm>
            <a:off x="676656" y="3236976"/>
            <a:ext cx="227068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Driver</a:t>
            </a:r>
          </a:p>
        </p:txBody>
      </p:sp>
      <p:sp>
        <p:nvSpPr>
          <p:cNvPr id="19" name="TextBox 18"/>
          <p:cNvSpPr txBox="1"/>
          <p:nvPr/>
        </p:nvSpPr>
        <p:spPr>
          <a:xfrm>
            <a:off x="713232" y="3547872"/>
            <a:ext cx="2197531" cy="667512"/>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Runs your program &amp; SparkSession; builds the DAG and schedules work.</a:t>
            </a:r>
          </a:p>
        </p:txBody>
      </p:sp>
      <p:sp>
        <p:nvSpPr>
          <p:cNvPr id="20" name="Right Arrow 19"/>
          <p:cNvSpPr/>
          <p:nvPr/>
        </p:nvSpPr>
        <p:spPr>
          <a:xfrm>
            <a:off x="3093643" y="309524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3422827" y="2103120"/>
            <a:ext cx="2490139" cy="21488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3422827" y="2103120"/>
            <a:ext cx="2490139" cy="109728"/>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210697" y="2304287"/>
            <a:ext cx="914400" cy="914400"/>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4526568" y="2620158"/>
            <a:ext cx="114409" cy="114409"/>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694817" y="2620158"/>
            <a:ext cx="114409" cy="114409"/>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4526568" y="2788407"/>
            <a:ext cx="114409" cy="114409"/>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4694817" y="2788407"/>
            <a:ext cx="114409" cy="114409"/>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541919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2</a:t>
            </a:r>
          </a:p>
        </p:txBody>
      </p:sp>
      <p:sp>
        <p:nvSpPr>
          <p:cNvPr id="29" name="TextBox 28"/>
          <p:cNvSpPr txBox="1"/>
          <p:nvPr/>
        </p:nvSpPr>
        <p:spPr>
          <a:xfrm>
            <a:off x="3532555" y="3236976"/>
            <a:ext cx="227068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Cluster Manager</a:t>
            </a:r>
          </a:p>
        </p:txBody>
      </p:sp>
      <p:sp>
        <p:nvSpPr>
          <p:cNvPr id="30" name="TextBox 29"/>
          <p:cNvSpPr txBox="1"/>
          <p:nvPr/>
        </p:nvSpPr>
        <p:spPr>
          <a:xfrm>
            <a:off x="3569131" y="3547872"/>
            <a:ext cx="2197531" cy="667512"/>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Allocates resources — Standalone, YARN, Kubernetes or Databricks.</a:t>
            </a:r>
          </a:p>
        </p:txBody>
      </p:sp>
      <p:sp>
        <p:nvSpPr>
          <p:cNvPr id="31" name="Right Arrow 30"/>
          <p:cNvSpPr/>
          <p:nvPr/>
        </p:nvSpPr>
        <p:spPr>
          <a:xfrm>
            <a:off x="5949543" y="309524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6278727" y="2103120"/>
            <a:ext cx="2490139" cy="21488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6278727" y="2103120"/>
            <a:ext cx="2490139" cy="109728"/>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7066597" y="2304287"/>
            <a:ext cx="914400" cy="914400"/>
          </a:xfrm>
          <a:prstGeom prst="ellipse">
            <a:avLst/>
          </a:prstGeom>
          <a:solidFill>
            <a:srgbClr val="0E8C9C"/>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Cube 34"/>
          <p:cNvSpPr/>
          <p:nvPr/>
        </p:nvSpPr>
        <p:spPr>
          <a:xfrm>
            <a:off x="7345032" y="2582722"/>
            <a:ext cx="357530" cy="357530"/>
          </a:xfrm>
          <a:prstGeom prst="cub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827509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3</a:t>
            </a:r>
          </a:p>
        </p:txBody>
      </p:sp>
      <p:sp>
        <p:nvSpPr>
          <p:cNvPr id="37" name="TextBox 36"/>
          <p:cNvSpPr txBox="1"/>
          <p:nvPr/>
        </p:nvSpPr>
        <p:spPr>
          <a:xfrm>
            <a:off x="6388455" y="3236976"/>
            <a:ext cx="227068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Executors</a:t>
            </a:r>
          </a:p>
        </p:txBody>
      </p:sp>
      <p:sp>
        <p:nvSpPr>
          <p:cNvPr id="38" name="TextBox 37"/>
          <p:cNvSpPr txBox="1"/>
          <p:nvPr/>
        </p:nvSpPr>
        <p:spPr>
          <a:xfrm>
            <a:off x="6425031" y="3547872"/>
            <a:ext cx="2197531" cy="667512"/>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JVM processes on worker nodes that run tasks and cache data in memory.</a:t>
            </a:r>
          </a:p>
        </p:txBody>
      </p:sp>
      <p:sp>
        <p:nvSpPr>
          <p:cNvPr id="39" name="Right Arrow 38"/>
          <p:cNvSpPr/>
          <p:nvPr/>
        </p:nvSpPr>
        <p:spPr>
          <a:xfrm>
            <a:off x="8805443" y="309524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134627" y="2103120"/>
            <a:ext cx="2490139" cy="21488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9134627" y="2103120"/>
            <a:ext cx="2490139" cy="109728"/>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9922497" y="2304287"/>
            <a:ext cx="914400" cy="91440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Lightning Bolt 42"/>
          <p:cNvSpPr/>
          <p:nvPr/>
        </p:nvSpPr>
        <p:spPr>
          <a:xfrm>
            <a:off x="10232478" y="2551175"/>
            <a:ext cx="294436" cy="420624"/>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1113099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4</a:t>
            </a:r>
          </a:p>
        </p:txBody>
      </p:sp>
      <p:sp>
        <p:nvSpPr>
          <p:cNvPr id="45" name="TextBox 44"/>
          <p:cNvSpPr txBox="1"/>
          <p:nvPr/>
        </p:nvSpPr>
        <p:spPr>
          <a:xfrm>
            <a:off x="9244355" y="3236976"/>
            <a:ext cx="227068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Tasks</a:t>
            </a:r>
          </a:p>
        </p:txBody>
      </p:sp>
      <p:sp>
        <p:nvSpPr>
          <p:cNvPr id="46" name="TextBox 45"/>
          <p:cNvSpPr txBox="1"/>
          <p:nvPr/>
        </p:nvSpPr>
        <p:spPr>
          <a:xfrm>
            <a:off x="9280931" y="3547872"/>
            <a:ext cx="2197531" cy="667512"/>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The unit of work — one task processes one partition, in parallel.</a:t>
            </a:r>
          </a:p>
        </p:txBody>
      </p:sp>
      <p:sp>
        <p:nvSpPr>
          <p:cNvPr id="47" name="Rounded Rectangle 46"/>
          <p:cNvSpPr/>
          <p:nvPr/>
        </p:nvSpPr>
        <p:spPr>
          <a:xfrm>
            <a:off x="566928" y="4617720"/>
            <a:ext cx="11057839" cy="91440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14400" y="4617720"/>
            <a:ext cx="10362895" cy="91440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How it runs:  </a:t>
            </a:r>
            <a:r>
              <a:rPr sz="1250" b="0" i="0">
                <a:solidFill>
                  <a:srgbClr val="465257"/>
                </a:solidFill>
                <a:latin typeface="Segoe UI"/>
              </a:rPr>
              <a:t>the Driver turns your code into a DAG, the Cluster Manager grants Executors, and each Executor runs Tasks in parallel — one per data partition. </a:t>
            </a:r>
            <a:r>
              <a:rPr sz="1250" b="1" i="0">
                <a:solidFill>
                  <a:srgbClr val="FF3621"/>
                </a:solidFill>
                <a:latin typeface="Segoe UI"/>
              </a:rPr>
              <a:t>On Databricks, all of this is fully managed.</a:t>
            </a:r>
          </a:p>
        </p:txBody>
      </p:sp>
      <p:sp>
        <p:nvSpPr>
          <p:cNvPr id="49" name="TextBox 48"/>
          <p:cNvSpPr txBox="1"/>
          <p:nvPr/>
        </p:nvSpPr>
        <p:spPr>
          <a:xfrm>
            <a:off x="566928" y="5715000"/>
            <a:ext cx="11057839" cy="365760"/>
          </a:xfrm>
          <a:prstGeom prst="rect">
            <a:avLst/>
          </a:prstGeom>
          <a:noFill/>
        </p:spPr>
        <p:txBody>
          <a:bodyPr wrap="square" anchor="t" lIns="0" rIns="0" tIns="0" bIns="0">
            <a:spAutoFit/>
          </a:bodyPr>
          <a:lstStyle/>
          <a:p>
            <a:pPr algn="ctr">
              <a:lnSpc>
                <a:spcPct val="100000"/>
              </a:lnSpc>
              <a:spcBef>
                <a:spcPts val="0"/>
              </a:spcBef>
              <a:spcAft>
                <a:spcPts val="200"/>
              </a:spcAft>
            </a:pPr>
            <a:r>
              <a:rPr sz="1200" b="0" i="1">
                <a:solidFill>
                  <a:srgbClr val="6B777C"/>
                </a:solidFill>
                <a:latin typeface="Segoe UI"/>
              </a:rPr>
              <a:t>Master / worker model:  one Driver coordinates, many Executors do the work in parallel.</a:t>
            </a:r>
          </a:p>
        </p:txBody>
      </p:sp>
      <p:sp>
        <p:nvSpPr>
          <p:cNvPr id="50" name="TextBox 49"/>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1" name="TextBox 50"/>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APACHE SPARK FUNDAMENTALS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Spark's Unified Component Stack</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695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Spark</a:t>
            </a:r>
          </a:p>
        </p:txBody>
      </p:sp>
      <p:sp>
        <p:nvSpPr>
          <p:cNvPr id="9" name="Oval 8"/>
          <p:cNvSpPr/>
          <p:nvPr/>
        </p:nvSpPr>
        <p:spPr>
          <a:xfrm>
            <a:off x="94644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Workspace</a:t>
            </a:r>
          </a:p>
        </p:txBody>
      </p:sp>
      <p:sp>
        <p:nvSpPr>
          <p:cNvPr id="11" name="Oval 10"/>
          <p:cNvSpPr/>
          <p:nvPr/>
        </p:nvSpPr>
        <p:spPr>
          <a:xfrm>
            <a:off x="105434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Lakehouse</a:t>
            </a:r>
          </a:p>
        </p:txBody>
      </p:sp>
      <p:sp>
        <p:nvSpPr>
          <p:cNvPr id="13" name="Rounded Rectangle 12"/>
          <p:cNvSpPr/>
          <p:nvPr/>
        </p:nvSpPr>
        <p:spPr>
          <a:xfrm>
            <a:off x="566928" y="2103120"/>
            <a:ext cx="2211567" cy="24231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66928" y="2103120"/>
            <a:ext cx="2211567" cy="109728"/>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1215511" y="2304287"/>
            <a:ext cx="914400" cy="914400"/>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Can 15"/>
          <p:cNvSpPr/>
          <p:nvPr/>
        </p:nvSpPr>
        <p:spPr>
          <a:xfrm>
            <a:off x="1500256" y="2551175"/>
            <a:ext cx="344911" cy="420624"/>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2284719"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1</a:t>
            </a:r>
          </a:p>
        </p:txBody>
      </p:sp>
      <p:sp>
        <p:nvSpPr>
          <p:cNvPr id="18" name="TextBox 17"/>
          <p:cNvSpPr txBox="1"/>
          <p:nvPr/>
        </p:nvSpPr>
        <p:spPr>
          <a:xfrm>
            <a:off x="676656" y="3236976"/>
            <a:ext cx="1992111"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Spark SQL</a:t>
            </a:r>
          </a:p>
        </p:txBody>
      </p:sp>
      <p:sp>
        <p:nvSpPr>
          <p:cNvPr id="19" name="TextBox 18"/>
          <p:cNvSpPr txBox="1"/>
          <p:nvPr/>
        </p:nvSpPr>
        <p:spPr>
          <a:xfrm>
            <a:off x="713232" y="3730752"/>
            <a:ext cx="1918959" cy="758951"/>
          </a:xfrm>
          <a:prstGeom prst="rect">
            <a:avLst/>
          </a:prstGeom>
          <a:noFill/>
        </p:spPr>
        <p:txBody>
          <a:bodyPr wrap="square" anchor="t" lIns="0" rIns="0" tIns="0" bIns="0">
            <a:spAutoFit/>
          </a:bodyPr>
          <a:lstStyle/>
          <a:p>
            <a:pPr algn="ctr">
              <a:lnSpc>
                <a:spcPct val="105000"/>
              </a:lnSpc>
              <a:spcBef>
                <a:spcPts val="0"/>
              </a:spcBef>
              <a:spcAft>
                <a:spcPts val="200"/>
              </a:spcAft>
            </a:pPr>
            <a:r>
              <a:rPr sz="980" b="0" i="0">
                <a:solidFill>
                  <a:srgbClr val="6B777C"/>
                </a:solidFill>
                <a:latin typeface="Segoe UI"/>
              </a:rPr>
              <a:t>ANSI SQL + the Catalyst query optimizer.</a:t>
            </a:r>
          </a:p>
        </p:txBody>
      </p:sp>
      <p:sp>
        <p:nvSpPr>
          <p:cNvPr id="20" name="Rounded Rectangle 19"/>
          <p:cNvSpPr/>
          <p:nvPr/>
        </p:nvSpPr>
        <p:spPr>
          <a:xfrm>
            <a:off x="2778495" y="2103120"/>
            <a:ext cx="2211567" cy="24231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2778495" y="2103120"/>
            <a:ext cx="2211567" cy="109728"/>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3427079" y="2304287"/>
            <a:ext cx="914400" cy="914400"/>
          </a:xfrm>
          <a:prstGeom prst="ellipse">
            <a:avLst/>
          </a:prstGeom>
          <a:solidFill>
            <a:srgbClr val="0E8C9C"/>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3730583" y="2607791"/>
            <a:ext cx="130729" cy="13072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907245" y="2607791"/>
            <a:ext cx="130729" cy="13072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Diamond 24"/>
          <p:cNvSpPr/>
          <p:nvPr/>
        </p:nvSpPr>
        <p:spPr>
          <a:xfrm>
            <a:off x="3730583" y="2784454"/>
            <a:ext cx="130729" cy="130729"/>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3907245" y="2784454"/>
            <a:ext cx="130729" cy="13072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4496287"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2</a:t>
            </a:r>
          </a:p>
        </p:txBody>
      </p:sp>
      <p:sp>
        <p:nvSpPr>
          <p:cNvPr id="28" name="TextBox 27"/>
          <p:cNvSpPr txBox="1"/>
          <p:nvPr/>
        </p:nvSpPr>
        <p:spPr>
          <a:xfrm>
            <a:off x="2888223" y="3236976"/>
            <a:ext cx="1992111"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DataFrames</a:t>
            </a:r>
          </a:p>
        </p:txBody>
      </p:sp>
      <p:sp>
        <p:nvSpPr>
          <p:cNvPr id="29" name="TextBox 28"/>
          <p:cNvSpPr txBox="1"/>
          <p:nvPr/>
        </p:nvSpPr>
        <p:spPr>
          <a:xfrm>
            <a:off x="2924799" y="3730752"/>
            <a:ext cx="1918959" cy="758951"/>
          </a:xfrm>
          <a:prstGeom prst="rect">
            <a:avLst/>
          </a:prstGeom>
          <a:noFill/>
        </p:spPr>
        <p:txBody>
          <a:bodyPr wrap="square" anchor="t" lIns="0" rIns="0" tIns="0" bIns="0">
            <a:spAutoFit/>
          </a:bodyPr>
          <a:lstStyle/>
          <a:p>
            <a:pPr algn="ctr">
              <a:lnSpc>
                <a:spcPct val="105000"/>
              </a:lnSpc>
              <a:spcBef>
                <a:spcPts val="0"/>
              </a:spcBef>
              <a:spcAft>
                <a:spcPts val="200"/>
              </a:spcAft>
            </a:pPr>
            <a:r>
              <a:rPr sz="980" b="0" i="0">
                <a:solidFill>
                  <a:srgbClr val="6B777C"/>
                </a:solidFill>
                <a:latin typeface="Segoe UI"/>
              </a:rPr>
              <a:t>Typed distributed tables — the core API.</a:t>
            </a:r>
          </a:p>
        </p:txBody>
      </p:sp>
      <p:sp>
        <p:nvSpPr>
          <p:cNvPr id="30" name="Rounded Rectangle 29"/>
          <p:cNvSpPr/>
          <p:nvPr/>
        </p:nvSpPr>
        <p:spPr>
          <a:xfrm>
            <a:off x="4990063" y="2103120"/>
            <a:ext cx="2211567" cy="24231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4990063" y="2103120"/>
            <a:ext cx="2211567" cy="109728"/>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5638647" y="2304287"/>
            <a:ext cx="914400" cy="91440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Lightning Bolt 32"/>
          <p:cNvSpPr/>
          <p:nvPr/>
        </p:nvSpPr>
        <p:spPr>
          <a:xfrm>
            <a:off x="5948629" y="2551175"/>
            <a:ext cx="294436" cy="420624"/>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6707855"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3</a:t>
            </a:r>
          </a:p>
        </p:txBody>
      </p:sp>
      <p:sp>
        <p:nvSpPr>
          <p:cNvPr id="35" name="TextBox 34"/>
          <p:cNvSpPr txBox="1"/>
          <p:nvPr/>
        </p:nvSpPr>
        <p:spPr>
          <a:xfrm>
            <a:off x="5099791" y="3236976"/>
            <a:ext cx="1992111"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Structured
Streaming</a:t>
            </a:r>
          </a:p>
        </p:txBody>
      </p:sp>
      <p:sp>
        <p:nvSpPr>
          <p:cNvPr id="36" name="TextBox 35"/>
          <p:cNvSpPr txBox="1"/>
          <p:nvPr/>
        </p:nvSpPr>
        <p:spPr>
          <a:xfrm>
            <a:off x="5136367" y="3730752"/>
            <a:ext cx="1918959" cy="758951"/>
          </a:xfrm>
          <a:prstGeom prst="rect">
            <a:avLst/>
          </a:prstGeom>
          <a:noFill/>
        </p:spPr>
        <p:txBody>
          <a:bodyPr wrap="square" anchor="t" lIns="0" rIns="0" tIns="0" bIns="0">
            <a:spAutoFit/>
          </a:bodyPr>
          <a:lstStyle/>
          <a:p>
            <a:pPr algn="ctr">
              <a:lnSpc>
                <a:spcPct val="105000"/>
              </a:lnSpc>
              <a:spcBef>
                <a:spcPts val="0"/>
              </a:spcBef>
              <a:spcAft>
                <a:spcPts val="200"/>
              </a:spcAft>
            </a:pPr>
            <a:r>
              <a:rPr sz="980" b="0" i="0">
                <a:solidFill>
                  <a:srgbClr val="6B777C"/>
                </a:solidFill>
                <a:latin typeface="Segoe UI"/>
              </a:rPr>
              <a:t>Real-time pipelines, same DataFrame code.</a:t>
            </a:r>
          </a:p>
        </p:txBody>
      </p:sp>
      <p:sp>
        <p:nvSpPr>
          <p:cNvPr id="37" name="Rounded Rectangle 36"/>
          <p:cNvSpPr/>
          <p:nvPr/>
        </p:nvSpPr>
        <p:spPr>
          <a:xfrm>
            <a:off x="7201631" y="2103120"/>
            <a:ext cx="2211567" cy="24231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7201631" y="2103120"/>
            <a:ext cx="2211567" cy="109728"/>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7850215" y="2304287"/>
            <a:ext cx="914400" cy="914400"/>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8235909" y="2689981"/>
            <a:ext cx="143012" cy="14301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1" name="Connector 40"/>
          <p:cNvCxnSpPr/>
          <p:nvPr/>
        </p:nvCxnSpPr>
        <p:spPr>
          <a:xfrm flipH="1" flipV="1">
            <a:off x="8130753" y="2635300"/>
            <a:ext cx="176662" cy="126187"/>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8084484" y="2589032"/>
            <a:ext cx="92537" cy="9253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3" name="Connector 42"/>
          <p:cNvCxnSpPr/>
          <p:nvPr/>
        </p:nvCxnSpPr>
        <p:spPr>
          <a:xfrm flipV="1">
            <a:off x="8307415" y="2635300"/>
            <a:ext cx="176662" cy="126187"/>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8437808" y="2589032"/>
            <a:ext cx="92537" cy="9253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5" name="Connector 44"/>
          <p:cNvCxnSpPr/>
          <p:nvPr/>
        </p:nvCxnSpPr>
        <p:spPr>
          <a:xfrm>
            <a:off x="8307415" y="2761487"/>
            <a:ext cx="0" cy="185075"/>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8261146" y="2900293"/>
            <a:ext cx="92537" cy="9253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Oval 46"/>
          <p:cNvSpPr/>
          <p:nvPr/>
        </p:nvSpPr>
        <p:spPr>
          <a:xfrm>
            <a:off x="8919423"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4</a:t>
            </a:r>
          </a:p>
        </p:txBody>
      </p:sp>
      <p:sp>
        <p:nvSpPr>
          <p:cNvPr id="48" name="TextBox 47"/>
          <p:cNvSpPr txBox="1"/>
          <p:nvPr/>
        </p:nvSpPr>
        <p:spPr>
          <a:xfrm>
            <a:off x="7311359" y="3236976"/>
            <a:ext cx="1992111"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MLlib</a:t>
            </a:r>
          </a:p>
        </p:txBody>
      </p:sp>
      <p:sp>
        <p:nvSpPr>
          <p:cNvPr id="49" name="TextBox 48"/>
          <p:cNvSpPr txBox="1"/>
          <p:nvPr/>
        </p:nvSpPr>
        <p:spPr>
          <a:xfrm>
            <a:off x="7347935" y="3730752"/>
            <a:ext cx="1918959" cy="758951"/>
          </a:xfrm>
          <a:prstGeom prst="rect">
            <a:avLst/>
          </a:prstGeom>
          <a:noFill/>
        </p:spPr>
        <p:txBody>
          <a:bodyPr wrap="square" anchor="t" lIns="0" rIns="0" tIns="0" bIns="0">
            <a:spAutoFit/>
          </a:bodyPr>
          <a:lstStyle/>
          <a:p>
            <a:pPr algn="ctr">
              <a:lnSpc>
                <a:spcPct val="105000"/>
              </a:lnSpc>
              <a:spcBef>
                <a:spcPts val="0"/>
              </a:spcBef>
              <a:spcAft>
                <a:spcPts val="200"/>
              </a:spcAft>
            </a:pPr>
            <a:r>
              <a:rPr sz="980" b="0" i="0">
                <a:solidFill>
                  <a:srgbClr val="6B777C"/>
                </a:solidFill>
                <a:latin typeface="Segoe UI"/>
              </a:rPr>
              <a:t>Scalable ML algorithms &amp; pipelines.</a:t>
            </a:r>
          </a:p>
        </p:txBody>
      </p:sp>
      <p:sp>
        <p:nvSpPr>
          <p:cNvPr id="50" name="Rounded Rectangle 49"/>
          <p:cNvSpPr/>
          <p:nvPr/>
        </p:nvSpPr>
        <p:spPr>
          <a:xfrm>
            <a:off x="9413199" y="2103120"/>
            <a:ext cx="2211567" cy="24231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ounded Rectangle 50"/>
          <p:cNvSpPr/>
          <p:nvPr/>
        </p:nvSpPr>
        <p:spPr>
          <a:xfrm>
            <a:off x="9413199" y="2103120"/>
            <a:ext cx="2211567" cy="109728"/>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Oval 51"/>
          <p:cNvSpPr/>
          <p:nvPr/>
        </p:nvSpPr>
        <p:spPr>
          <a:xfrm>
            <a:off x="10061783" y="2304287"/>
            <a:ext cx="914400" cy="914400"/>
          </a:xfrm>
          <a:prstGeom prst="ellipse">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ounded Rectangle 52"/>
          <p:cNvSpPr/>
          <p:nvPr/>
        </p:nvSpPr>
        <p:spPr>
          <a:xfrm>
            <a:off x="10350733" y="2685775"/>
            <a:ext cx="185074" cy="151424"/>
          </a:xfrm>
          <a:prstGeom prst="roundRect">
            <a:avLst>
              <a:gd name="adj" fmla="val 50000"/>
            </a:avLst>
          </a:prstGeom>
          <a:noFill/>
          <a:ln w="52578">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ounded Rectangle 53"/>
          <p:cNvSpPr/>
          <p:nvPr/>
        </p:nvSpPr>
        <p:spPr>
          <a:xfrm>
            <a:off x="10502158" y="2685775"/>
            <a:ext cx="185074" cy="151424"/>
          </a:xfrm>
          <a:prstGeom prst="roundRect">
            <a:avLst>
              <a:gd name="adj" fmla="val 50000"/>
            </a:avLst>
          </a:prstGeom>
          <a:noFill/>
          <a:ln w="52578">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Oval 54"/>
          <p:cNvSpPr/>
          <p:nvPr/>
        </p:nvSpPr>
        <p:spPr>
          <a:xfrm>
            <a:off x="1113099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5</a:t>
            </a:r>
          </a:p>
        </p:txBody>
      </p:sp>
      <p:sp>
        <p:nvSpPr>
          <p:cNvPr id="56" name="TextBox 55"/>
          <p:cNvSpPr txBox="1"/>
          <p:nvPr/>
        </p:nvSpPr>
        <p:spPr>
          <a:xfrm>
            <a:off x="9522927" y="3236976"/>
            <a:ext cx="1992111"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GraphX</a:t>
            </a:r>
          </a:p>
        </p:txBody>
      </p:sp>
      <p:sp>
        <p:nvSpPr>
          <p:cNvPr id="57" name="TextBox 56"/>
          <p:cNvSpPr txBox="1"/>
          <p:nvPr/>
        </p:nvSpPr>
        <p:spPr>
          <a:xfrm>
            <a:off x="9559503" y="3730752"/>
            <a:ext cx="1918959" cy="758951"/>
          </a:xfrm>
          <a:prstGeom prst="rect">
            <a:avLst/>
          </a:prstGeom>
          <a:noFill/>
        </p:spPr>
        <p:txBody>
          <a:bodyPr wrap="square" anchor="t" lIns="0" rIns="0" tIns="0" bIns="0">
            <a:spAutoFit/>
          </a:bodyPr>
          <a:lstStyle/>
          <a:p>
            <a:pPr algn="ctr">
              <a:lnSpc>
                <a:spcPct val="105000"/>
              </a:lnSpc>
              <a:spcBef>
                <a:spcPts val="0"/>
              </a:spcBef>
              <a:spcAft>
                <a:spcPts val="200"/>
              </a:spcAft>
            </a:pPr>
            <a:r>
              <a:rPr sz="980" b="0" i="0">
                <a:solidFill>
                  <a:srgbClr val="6B777C"/>
                </a:solidFill>
                <a:latin typeface="Segoe UI"/>
              </a:rPr>
              <a:t>Graph processing on connected data.</a:t>
            </a:r>
          </a:p>
        </p:txBody>
      </p:sp>
      <p:sp>
        <p:nvSpPr>
          <p:cNvPr id="58" name="Rounded Rectangle 57"/>
          <p:cNvSpPr/>
          <p:nvPr/>
        </p:nvSpPr>
        <p:spPr>
          <a:xfrm>
            <a:off x="566928" y="4754880"/>
            <a:ext cx="11057839" cy="96012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914400" y="4754880"/>
            <a:ext cx="10362895" cy="96012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One engine, one core.  </a:t>
            </a:r>
            <a:r>
              <a:rPr sz="1250" b="0" i="0">
                <a:solidFill>
                  <a:srgbClr val="465257"/>
                </a:solidFill>
                <a:latin typeface="Segoe UI"/>
              </a:rPr>
              <a:t>Every library sits on the same Spark Core (RDDs, scheduler, memory manager), so you can mix SQL, streaming and ML in a single pipeline — and Photon accelerates them on Databricks.</a:t>
            </a:r>
          </a:p>
        </p:txBody>
      </p:sp>
      <p:sp>
        <p:nvSpPr>
          <p:cNvPr id="60" name="TextBox 59"/>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61" name="TextBox 60"/>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APACHE SPARK FUNDAMENTALS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Spark Execution Flow</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695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Spark</a:t>
            </a:r>
          </a:p>
        </p:txBody>
      </p:sp>
      <p:sp>
        <p:nvSpPr>
          <p:cNvPr id="9" name="Oval 8"/>
          <p:cNvSpPr/>
          <p:nvPr/>
        </p:nvSpPr>
        <p:spPr>
          <a:xfrm>
            <a:off x="94644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Workspace</a:t>
            </a:r>
          </a:p>
        </p:txBody>
      </p:sp>
      <p:sp>
        <p:nvSpPr>
          <p:cNvPr id="11" name="Oval 10"/>
          <p:cNvSpPr/>
          <p:nvPr/>
        </p:nvSpPr>
        <p:spPr>
          <a:xfrm>
            <a:off x="105434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Lakehouse</a:t>
            </a:r>
          </a:p>
        </p:txBody>
      </p:sp>
      <p:sp>
        <p:nvSpPr>
          <p:cNvPr id="13" name="Rounded Rectangle 12"/>
          <p:cNvSpPr/>
          <p:nvPr/>
        </p:nvSpPr>
        <p:spPr>
          <a:xfrm>
            <a:off x="566928" y="2148840"/>
            <a:ext cx="1918959" cy="22402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66928" y="2148840"/>
            <a:ext cx="1918959" cy="109728"/>
          </a:xfrm>
          <a:prstGeom prst="roundRect">
            <a:avLst>
              <a:gd name="adj" fmla="val 50000"/>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1069207" y="2350008"/>
            <a:ext cx="914400" cy="914400"/>
          </a:xfrm>
          <a:prstGeom prst="ellipse">
            <a:avLst/>
          </a:prstGeom>
          <a:solidFill>
            <a:srgbClr val="27444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Folded Corner 15"/>
          <p:cNvSpPr/>
          <p:nvPr/>
        </p:nvSpPr>
        <p:spPr>
          <a:xfrm>
            <a:off x="1391808" y="2630545"/>
            <a:ext cx="269199" cy="353324"/>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99211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1</a:t>
            </a:r>
          </a:p>
        </p:txBody>
      </p:sp>
      <p:sp>
        <p:nvSpPr>
          <p:cNvPr id="18" name="TextBox 17"/>
          <p:cNvSpPr txBox="1"/>
          <p:nvPr/>
        </p:nvSpPr>
        <p:spPr>
          <a:xfrm>
            <a:off x="676656"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Code / Query</a:t>
            </a:r>
          </a:p>
        </p:txBody>
      </p:sp>
      <p:sp>
        <p:nvSpPr>
          <p:cNvPr id="19" name="TextBox 18"/>
          <p:cNvSpPr txBox="1"/>
          <p:nvPr/>
        </p:nvSpPr>
        <p:spPr>
          <a:xfrm>
            <a:off x="713232" y="3593592"/>
            <a:ext cx="1626351" cy="758952"/>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DataFrame, SQL or RDD operations — lazily recorded, not yet run.</a:t>
            </a:r>
          </a:p>
        </p:txBody>
      </p:sp>
      <p:sp>
        <p:nvSpPr>
          <p:cNvPr id="20" name="Right Arrow 19"/>
          <p:cNvSpPr/>
          <p:nvPr/>
        </p:nvSpPr>
        <p:spPr>
          <a:xfrm>
            <a:off x="2522463" y="318668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2851647" y="2148840"/>
            <a:ext cx="1918959" cy="22402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2851647" y="2148840"/>
            <a:ext cx="1918959" cy="109728"/>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3353927" y="2350008"/>
            <a:ext cx="914400" cy="914400"/>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3642878" y="2731495"/>
            <a:ext cx="185074" cy="151424"/>
          </a:xfrm>
          <a:prstGeom prst="roundRect">
            <a:avLst>
              <a:gd name="adj" fmla="val 50000"/>
            </a:avLst>
          </a:prstGeom>
          <a:noFill/>
          <a:ln w="52578">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3794302" y="2731495"/>
            <a:ext cx="185074" cy="151424"/>
          </a:xfrm>
          <a:prstGeom prst="roundRect">
            <a:avLst>
              <a:gd name="adj" fmla="val 50000"/>
            </a:avLst>
          </a:prstGeom>
          <a:noFill/>
          <a:ln w="52578">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427683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2</a:t>
            </a:r>
          </a:p>
        </p:txBody>
      </p:sp>
      <p:sp>
        <p:nvSpPr>
          <p:cNvPr id="27" name="TextBox 26"/>
          <p:cNvSpPr txBox="1"/>
          <p:nvPr/>
        </p:nvSpPr>
        <p:spPr>
          <a:xfrm>
            <a:off x="2961375"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DAG</a:t>
            </a:r>
          </a:p>
        </p:txBody>
      </p:sp>
      <p:sp>
        <p:nvSpPr>
          <p:cNvPr id="28" name="TextBox 27"/>
          <p:cNvSpPr txBox="1"/>
          <p:nvPr/>
        </p:nvSpPr>
        <p:spPr>
          <a:xfrm>
            <a:off x="2997951" y="3593592"/>
            <a:ext cx="1626351" cy="758952"/>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Catalyst builds &amp; optimizes a Directed Acyclic Graph of the work.</a:t>
            </a:r>
          </a:p>
        </p:txBody>
      </p:sp>
      <p:sp>
        <p:nvSpPr>
          <p:cNvPr id="29" name="Right Arrow 28"/>
          <p:cNvSpPr/>
          <p:nvPr/>
        </p:nvSpPr>
        <p:spPr>
          <a:xfrm>
            <a:off x="4807183" y="318668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5136367" y="2148840"/>
            <a:ext cx="1918959" cy="22402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5136367" y="2148840"/>
            <a:ext cx="1918959" cy="109728"/>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5638647" y="2350008"/>
            <a:ext cx="914400" cy="914400"/>
          </a:xfrm>
          <a:prstGeom prst="ellipse">
            <a:avLst/>
          </a:prstGeom>
          <a:solidFill>
            <a:srgbClr val="0E8C9C"/>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Cube 32"/>
          <p:cNvSpPr/>
          <p:nvPr/>
        </p:nvSpPr>
        <p:spPr>
          <a:xfrm>
            <a:off x="5917082" y="2628442"/>
            <a:ext cx="357530" cy="357530"/>
          </a:xfrm>
          <a:prstGeom prst="cub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656155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3</a:t>
            </a:r>
          </a:p>
        </p:txBody>
      </p:sp>
      <p:sp>
        <p:nvSpPr>
          <p:cNvPr id="35" name="TextBox 34"/>
          <p:cNvSpPr txBox="1"/>
          <p:nvPr/>
        </p:nvSpPr>
        <p:spPr>
          <a:xfrm>
            <a:off x="5246095"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Stages</a:t>
            </a:r>
          </a:p>
        </p:txBody>
      </p:sp>
      <p:sp>
        <p:nvSpPr>
          <p:cNvPr id="36" name="TextBox 35"/>
          <p:cNvSpPr txBox="1"/>
          <p:nvPr/>
        </p:nvSpPr>
        <p:spPr>
          <a:xfrm>
            <a:off x="5282671" y="3593592"/>
            <a:ext cx="1626351" cy="758952"/>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The DAG is split at shuffle boundaries into stages.</a:t>
            </a:r>
          </a:p>
        </p:txBody>
      </p:sp>
      <p:sp>
        <p:nvSpPr>
          <p:cNvPr id="37" name="Right Arrow 36"/>
          <p:cNvSpPr/>
          <p:nvPr/>
        </p:nvSpPr>
        <p:spPr>
          <a:xfrm>
            <a:off x="7091903" y="318668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7421087" y="2148840"/>
            <a:ext cx="1918959" cy="22402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7421087" y="2148840"/>
            <a:ext cx="1918959" cy="109728"/>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7923367" y="2350008"/>
            <a:ext cx="914400" cy="91440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Lightning Bolt 40"/>
          <p:cNvSpPr/>
          <p:nvPr/>
        </p:nvSpPr>
        <p:spPr>
          <a:xfrm>
            <a:off x="8233349" y="2596896"/>
            <a:ext cx="294436" cy="420624"/>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884627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4</a:t>
            </a:r>
          </a:p>
        </p:txBody>
      </p:sp>
      <p:sp>
        <p:nvSpPr>
          <p:cNvPr id="43" name="TextBox 42"/>
          <p:cNvSpPr txBox="1"/>
          <p:nvPr/>
        </p:nvSpPr>
        <p:spPr>
          <a:xfrm>
            <a:off x="7530815"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Tasks</a:t>
            </a:r>
          </a:p>
        </p:txBody>
      </p:sp>
      <p:sp>
        <p:nvSpPr>
          <p:cNvPr id="44" name="TextBox 43"/>
          <p:cNvSpPr txBox="1"/>
          <p:nvPr/>
        </p:nvSpPr>
        <p:spPr>
          <a:xfrm>
            <a:off x="7567391" y="3593592"/>
            <a:ext cx="1626351" cy="758952"/>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Each stage fans out into parallel tasks — one per partition.</a:t>
            </a:r>
          </a:p>
        </p:txBody>
      </p:sp>
      <p:sp>
        <p:nvSpPr>
          <p:cNvPr id="45" name="Right Arrow 44"/>
          <p:cNvSpPr/>
          <p:nvPr/>
        </p:nvSpPr>
        <p:spPr>
          <a:xfrm>
            <a:off x="9376623" y="318668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9705807" y="2148840"/>
            <a:ext cx="1918959" cy="22402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9705807" y="2148840"/>
            <a:ext cx="1918959" cy="109728"/>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Oval 47"/>
          <p:cNvSpPr/>
          <p:nvPr/>
        </p:nvSpPr>
        <p:spPr>
          <a:xfrm>
            <a:off x="10208087" y="2350008"/>
            <a:ext cx="914400" cy="914400"/>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ounded Rectangle 48"/>
          <p:cNvSpPr/>
          <p:nvPr/>
        </p:nvSpPr>
        <p:spPr>
          <a:xfrm>
            <a:off x="10488625" y="2807208"/>
            <a:ext cx="84124" cy="210312"/>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ounded Rectangle 49"/>
          <p:cNvSpPr/>
          <p:nvPr/>
        </p:nvSpPr>
        <p:spPr>
          <a:xfrm>
            <a:off x="10623224" y="2689433"/>
            <a:ext cx="84124" cy="328086"/>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ounded Rectangle 50"/>
          <p:cNvSpPr/>
          <p:nvPr/>
        </p:nvSpPr>
        <p:spPr>
          <a:xfrm>
            <a:off x="10757824" y="2596896"/>
            <a:ext cx="84124" cy="420624"/>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Oval 51"/>
          <p:cNvSpPr/>
          <p:nvPr/>
        </p:nvSpPr>
        <p:spPr>
          <a:xfrm>
            <a:off x="1113099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5</a:t>
            </a:r>
          </a:p>
        </p:txBody>
      </p:sp>
      <p:sp>
        <p:nvSpPr>
          <p:cNvPr id="53" name="TextBox 52"/>
          <p:cNvSpPr txBox="1"/>
          <p:nvPr/>
        </p:nvSpPr>
        <p:spPr>
          <a:xfrm>
            <a:off x="9815535"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Results</a:t>
            </a:r>
          </a:p>
        </p:txBody>
      </p:sp>
      <p:sp>
        <p:nvSpPr>
          <p:cNvPr id="54" name="TextBox 53"/>
          <p:cNvSpPr txBox="1"/>
          <p:nvPr/>
        </p:nvSpPr>
        <p:spPr>
          <a:xfrm>
            <a:off x="9852111" y="3593592"/>
            <a:ext cx="1626351" cy="758952"/>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An action triggers execution; results return or are written out.</a:t>
            </a:r>
          </a:p>
        </p:txBody>
      </p:sp>
      <p:sp>
        <p:nvSpPr>
          <p:cNvPr id="55" name="Rounded Rectangle 54"/>
          <p:cNvSpPr/>
          <p:nvPr/>
        </p:nvSpPr>
        <p:spPr>
          <a:xfrm>
            <a:off x="566928" y="4800600"/>
            <a:ext cx="11057839" cy="91440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914400" y="4800600"/>
            <a:ext cx="10362895" cy="91440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Lazy by design.  </a:t>
            </a:r>
            <a:r>
              <a:rPr sz="1250" b="0" i="0">
                <a:solidFill>
                  <a:srgbClr val="465257"/>
                </a:solidFill>
                <a:latin typeface="Segoe UI"/>
              </a:rPr>
              <a:t>Transformations just build the plan; nothing runs until an </a:t>
            </a:r>
            <a:r>
              <a:rPr sz="1250" b="1" i="0">
                <a:solidFill>
                  <a:srgbClr val="FF3621"/>
                </a:solidFill>
                <a:latin typeface="Segoe UI"/>
              </a:rPr>
              <a:t>action</a:t>
            </a:r>
            <a:r>
              <a:rPr sz="1250" b="0" i="0">
                <a:solidFill>
                  <a:srgbClr val="465257"/>
                </a:solidFill>
                <a:latin typeface="Segoe UI"/>
              </a:rPr>
              <a:t> (e.g. count, write, collect) fires — letting Catalyst optimize the whole DAG first.</a:t>
            </a:r>
          </a:p>
        </p:txBody>
      </p:sp>
      <p:sp>
        <p:nvSpPr>
          <p:cNvPr id="57" name="TextBox 56"/>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8" name="TextBox 57"/>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APACHE SPARK FUNDAMENTALS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Spark vs. Hadoop MapReduce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695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Spark</a:t>
            </a:r>
          </a:p>
        </p:txBody>
      </p:sp>
      <p:sp>
        <p:nvSpPr>
          <p:cNvPr id="9" name="Oval 8"/>
          <p:cNvSpPr/>
          <p:nvPr/>
        </p:nvSpPr>
        <p:spPr>
          <a:xfrm>
            <a:off x="94644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Workspace</a:t>
            </a:r>
          </a:p>
        </p:txBody>
      </p:sp>
      <p:sp>
        <p:nvSpPr>
          <p:cNvPr id="11" name="Oval 10"/>
          <p:cNvSpPr/>
          <p:nvPr/>
        </p:nvSpPr>
        <p:spPr>
          <a:xfrm>
            <a:off x="105434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Lakehouse</a:t>
            </a:r>
          </a:p>
        </p:txBody>
      </p:sp>
      <p:sp>
        <p:nvSpPr>
          <p:cNvPr id="13" name="Rounded Rectangle 12"/>
          <p:cNvSpPr/>
          <p:nvPr/>
        </p:nvSpPr>
        <p:spPr>
          <a:xfrm>
            <a:off x="566928" y="1828800"/>
            <a:ext cx="2562441" cy="512064"/>
          </a:xfrm>
          <a:prstGeom prst="roundRect">
            <a:avLst>
              <a:gd name="adj" fmla="val 16000"/>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50" b="1">
                <a:solidFill>
                  <a:srgbClr val="FFFFFF"/>
                </a:solidFill>
                <a:latin typeface="Segoe UI Semibold"/>
              </a:rPr>
              <a:t>Aspect</a:t>
            </a:r>
          </a:p>
        </p:txBody>
      </p:sp>
      <p:sp>
        <p:nvSpPr>
          <p:cNvPr id="14" name="Rounded Rectangle 13"/>
          <p:cNvSpPr/>
          <p:nvPr/>
        </p:nvSpPr>
        <p:spPr>
          <a:xfrm>
            <a:off x="3220809" y="1828800"/>
            <a:ext cx="4110538" cy="512064"/>
          </a:xfrm>
          <a:prstGeom prst="roundRect">
            <a:avLst>
              <a:gd name="adj" fmla="val 16000"/>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50" b="1">
                <a:solidFill>
                  <a:srgbClr val="FFFFFF"/>
                </a:solidFill>
                <a:latin typeface="Segoe UI Semibold"/>
              </a:rPr>
              <a:t>Hadoop MapReduce</a:t>
            </a:r>
          </a:p>
        </p:txBody>
      </p:sp>
      <p:sp>
        <p:nvSpPr>
          <p:cNvPr id="15" name="Rounded Rectangle 14"/>
          <p:cNvSpPr/>
          <p:nvPr/>
        </p:nvSpPr>
        <p:spPr>
          <a:xfrm>
            <a:off x="7422788" y="1828800"/>
            <a:ext cx="4110538" cy="512064"/>
          </a:xfrm>
          <a:prstGeom prst="roundRect">
            <a:avLst>
              <a:gd name="adj" fmla="val 16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50" b="1">
                <a:solidFill>
                  <a:srgbClr val="FFFFFF"/>
                </a:solidFill>
                <a:latin typeface="Segoe UI Semibold"/>
              </a:rPr>
              <a:t>Apache Spark</a:t>
            </a:r>
          </a:p>
        </p:txBody>
      </p:sp>
      <p:sp>
        <p:nvSpPr>
          <p:cNvPr id="16" name="Rectangle 15"/>
          <p:cNvSpPr/>
          <p:nvPr/>
        </p:nvSpPr>
        <p:spPr>
          <a:xfrm>
            <a:off x="566928" y="2432304"/>
            <a:ext cx="11057839" cy="551252"/>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76656" y="2432304"/>
            <a:ext cx="2434425" cy="551252"/>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Processing</a:t>
            </a:r>
          </a:p>
        </p:txBody>
      </p:sp>
      <p:sp>
        <p:nvSpPr>
          <p:cNvPr id="18" name="TextBox 17"/>
          <p:cNvSpPr txBox="1"/>
          <p:nvPr/>
        </p:nvSpPr>
        <p:spPr>
          <a:xfrm>
            <a:off x="3348825" y="2432304"/>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Disk-based, step-by-step</a:t>
            </a:r>
          </a:p>
        </p:txBody>
      </p:sp>
      <p:sp>
        <p:nvSpPr>
          <p:cNvPr id="19" name="TextBox 18"/>
          <p:cNvSpPr txBox="1"/>
          <p:nvPr/>
        </p:nvSpPr>
        <p:spPr>
          <a:xfrm>
            <a:off x="7550804" y="2432304"/>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In-memory, DAG-optimized</a:t>
            </a:r>
          </a:p>
        </p:txBody>
      </p:sp>
      <p:sp>
        <p:nvSpPr>
          <p:cNvPr id="20" name="TextBox 19"/>
          <p:cNvSpPr txBox="1"/>
          <p:nvPr/>
        </p:nvSpPr>
        <p:spPr>
          <a:xfrm>
            <a:off x="676656" y="2983556"/>
            <a:ext cx="2434425" cy="551252"/>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Speed</a:t>
            </a:r>
          </a:p>
        </p:txBody>
      </p:sp>
      <p:sp>
        <p:nvSpPr>
          <p:cNvPr id="21" name="TextBox 20"/>
          <p:cNvSpPr txBox="1"/>
          <p:nvPr/>
        </p:nvSpPr>
        <p:spPr>
          <a:xfrm>
            <a:off x="3348825" y="2983556"/>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Baseline</a:t>
            </a:r>
          </a:p>
        </p:txBody>
      </p:sp>
      <p:sp>
        <p:nvSpPr>
          <p:cNvPr id="22" name="TextBox 21"/>
          <p:cNvSpPr txBox="1"/>
          <p:nvPr/>
        </p:nvSpPr>
        <p:spPr>
          <a:xfrm>
            <a:off x="7550804" y="2983556"/>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Up to 100x faster (iterative)</a:t>
            </a:r>
          </a:p>
        </p:txBody>
      </p:sp>
      <p:sp>
        <p:nvSpPr>
          <p:cNvPr id="23" name="Rectangle 22"/>
          <p:cNvSpPr/>
          <p:nvPr/>
        </p:nvSpPr>
        <p:spPr>
          <a:xfrm>
            <a:off x="566928" y="3534809"/>
            <a:ext cx="11057839" cy="551252"/>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76656" y="3534809"/>
            <a:ext cx="2434425" cy="551252"/>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Programming</a:t>
            </a:r>
          </a:p>
        </p:txBody>
      </p:sp>
      <p:sp>
        <p:nvSpPr>
          <p:cNvPr id="25" name="TextBox 24"/>
          <p:cNvSpPr txBox="1"/>
          <p:nvPr/>
        </p:nvSpPr>
        <p:spPr>
          <a:xfrm>
            <a:off x="3348825" y="3534809"/>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Verbose low-level Java</a:t>
            </a:r>
          </a:p>
        </p:txBody>
      </p:sp>
      <p:sp>
        <p:nvSpPr>
          <p:cNvPr id="26" name="TextBox 25"/>
          <p:cNvSpPr txBox="1"/>
          <p:nvPr/>
        </p:nvSpPr>
        <p:spPr>
          <a:xfrm>
            <a:off x="7550804" y="3534809"/>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Concise DataFrame / SQL APIs</a:t>
            </a:r>
          </a:p>
        </p:txBody>
      </p:sp>
      <p:sp>
        <p:nvSpPr>
          <p:cNvPr id="27" name="TextBox 26"/>
          <p:cNvSpPr txBox="1"/>
          <p:nvPr/>
        </p:nvSpPr>
        <p:spPr>
          <a:xfrm>
            <a:off x="676656" y="4086061"/>
            <a:ext cx="2434425" cy="551252"/>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Workloads</a:t>
            </a:r>
          </a:p>
        </p:txBody>
      </p:sp>
      <p:sp>
        <p:nvSpPr>
          <p:cNvPr id="28" name="TextBox 27"/>
          <p:cNvSpPr txBox="1"/>
          <p:nvPr/>
        </p:nvSpPr>
        <p:spPr>
          <a:xfrm>
            <a:off x="3348825" y="4086061"/>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Batch only</a:t>
            </a:r>
          </a:p>
        </p:txBody>
      </p:sp>
      <p:sp>
        <p:nvSpPr>
          <p:cNvPr id="29" name="TextBox 28"/>
          <p:cNvSpPr txBox="1"/>
          <p:nvPr/>
        </p:nvSpPr>
        <p:spPr>
          <a:xfrm>
            <a:off x="7550804" y="4086061"/>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Batch + streaming + SQL + ML</a:t>
            </a:r>
          </a:p>
        </p:txBody>
      </p:sp>
      <p:sp>
        <p:nvSpPr>
          <p:cNvPr id="30" name="Rectangle 29"/>
          <p:cNvSpPr/>
          <p:nvPr/>
        </p:nvSpPr>
        <p:spPr>
          <a:xfrm>
            <a:off x="566928" y="4637314"/>
            <a:ext cx="11057839" cy="551252"/>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76656" y="4637314"/>
            <a:ext cx="2434425" cy="551252"/>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Real-Time</a:t>
            </a:r>
          </a:p>
        </p:txBody>
      </p:sp>
      <p:sp>
        <p:nvSpPr>
          <p:cNvPr id="32" name="TextBox 31"/>
          <p:cNvSpPr txBox="1"/>
          <p:nvPr/>
        </p:nvSpPr>
        <p:spPr>
          <a:xfrm>
            <a:off x="3348825" y="4637314"/>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Not supported</a:t>
            </a:r>
          </a:p>
        </p:txBody>
      </p:sp>
      <p:sp>
        <p:nvSpPr>
          <p:cNvPr id="33" name="TextBox 32"/>
          <p:cNvSpPr txBox="1"/>
          <p:nvPr/>
        </p:nvSpPr>
        <p:spPr>
          <a:xfrm>
            <a:off x="7550804" y="4637314"/>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Structured Streaming, near real-time</a:t>
            </a:r>
          </a:p>
        </p:txBody>
      </p:sp>
      <p:sp>
        <p:nvSpPr>
          <p:cNvPr id="34" name="TextBox 33"/>
          <p:cNvSpPr txBox="1"/>
          <p:nvPr/>
        </p:nvSpPr>
        <p:spPr>
          <a:xfrm>
            <a:off x="676656" y="5188566"/>
            <a:ext cx="2434425" cy="551252"/>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Iterative / ML</a:t>
            </a:r>
          </a:p>
        </p:txBody>
      </p:sp>
      <p:sp>
        <p:nvSpPr>
          <p:cNvPr id="35" name="TextBox 34"/>
          <p:cNvSpPr txBox="1"/>
          <p:nvPr/>
        </p:nvSpPr>
        <p:spPr>
          <a:xfrm>
            <a:off x="3348825" y="5188566"/>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Slow — re-reads from disk</a:t>
            </a:r>
          </a:p>
        </p:txBody>
      </p:sp>
      <p:sp>
        <p:nvSpPr>
          <p:cNvPr id="36" name="TextBox 35"/>
          <p:cNvSpPr txBox="1"/>
          <p:nvPr/>
        </p:nvSpPr>
        <p:spPr>
          <a:xfrm>
            <a:off x="7550804" y="5188566"/>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Excellent — caches in memory</a:t>
            </a:r>
          </a:p>
        </p:txBody>
      </p:sp>
      <p:sp>
        <p:nvSpPr>
          <p:cNvPr id="37" name="Rectangle 36"/>
          <p:cNvSpPr/>
          <p:nvPr/>
        </p:nvSpPr>
        <p:spPr>
          <a:xfrm>
            <a:off x="566928" y="5739819"/>
            <a:ext cx="11057839" cy="551252"/>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76656" y="5739819"/>
            <a:ext cx="2434425" cy="551252"/>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Fault Tolerance</a:t>
            </a:r>
          </a:p>
        </p:txBody>
      </p:sp>
      <p:sp>
        <p:nvSpPr>
          <p:cNvPr id="39" name="TextBox 38"/>
          <p:cNvSpPr txBox="1"/>
          <p:nvPr/>
        </p:nvSpPr>
        <p:spPr>
          <a:xfrm>
            <a:off x="3348825" y="5739819"/>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Data replication</a:t>
            </a:r>
          </a:p>
        </p:txBody>
      </p:sp>
      <p:sp>
        <p:nvSpPr>
          <p:cNvPr id="40" name="TextBox 39"/>
          <p:cNvSpPr txBox="1"/>
          <p:nvPr/>
        </p:nvSpPr>
        <p:spPr>
          <a:xfrm>
            <a:off x="7550804" y="5739819"/>
            <a:ext cx="3945946" cy="551252"/>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Lineage (recompute partitions)</a:t>
            </a:r>
          </a:p>
        </p:txBody>
      </p:sp>
      <p:sp>
        <p:nvSpPr>
          <p:cNvPr id="41" name="TextBox 40"/>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2" name="TextBox 41"/>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APACHE SPARK FUNDAMENTALS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What Teams Build with Spark</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695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Spark</a:t>
            </a:r>
          </a:p>
        </p:txBody>
      </p:sp>
      <p:sp>
        <p:nvSpPr>
          <p:cNvPr id="9" name="Oval 8"/>
          <p:cNvSpPr/>
          <p:nvPr/>
        </p:nvSpPr>
        <p:spPr>
          <a:xfrm>
            <a:off x="94644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Workspace</a:t>
            </a:r>
          </a:p>
        </p:txBody>
      </p:sp>
      <p:sp>
        <p:nvSpPr>
          <p:cNvPr id="11" name="Oval 10"/>
          <p:cNvSpPr/>
          <p:nvPr/>
        </p:nvSpPr>
        <p:spPr>
          <a:xfrm>
            <a:off x="105434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Lakehouse</a:t>
            </a:r>
          </a:p>
        </p:txBody>
      </p:sp>
      <p:sp>
        <p:nvSpPr>
          <p:cNvPr id="13" name="Rounded Rectangle 12"/>
          <p:cNvSpPr/>
          <p:nvPr/>
        </p:nvSpPr>
        <p:spPr>
          <a:xfrm>
            <a:off x="56692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66928" y="1828800"/>
            <a:ext cx="91440" cy="1929384"/>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40664" y="1975104"/>
            <a:ext cx="658368" cy="658368"/>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Gear 6 15"/>
          <p:cNvSpPr/>
          <p:nvPr/>
        </p:nvSpPr>
        <p:spPr>
          <a:xfrm>
            <a:off x="918423" y="2152863"/>
            <a:ext cx="302849" cy="302849"/>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49961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Large-Scale ETL</a:t>
            </a:r>
          </a:p>
        </p:txBody>
      </p:sp>
      <p:sp>
        <p:nvSpPr>
          <p:cNvPr id="18" name="TextBox 17"/>
          <p:cNvSpPr txBox="1"/>
          <p:nvPr/>
        </p:nvSpPr>
        <p:spPr>
          <a:xfrm>
            <a:off x="841247"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Cleaning, joining and transforming terabytes of data into analytics-ready tables.</a:t>
            </a:r>
          </a:p>
        </p:txBody>
      </p:sp>
      <p:sp>
        <p:nvSpPr>
          <p:cNvPr id="19" name="Rounded Rectangle 18"/>
          <p:cNvSpPr/>
          <p:nvPr/>
        </p:nvSpPr>
        <p:spPr>
          <a:xfrm>
            <a:off x="433821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4338218" y="1828800"/>
            <a:ext cx="91440" cy="1929384"/>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4511954" y="1975104"/>
            <a:ext cx="658368" cy="65836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Lightning Bolt 21"/>
          <p:cNvSpPr/>
          <p:nvPr/>
        </p:nvSpPr>
        <p:spPr>
          <a:xfrm>
            <a:off x="4735141" y="2152863"/>
            <a:ext cx="211994" cy="302849"/>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27090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Streaming Analytics</a:t>
            </a:r>
          </a:p>
        </p:txBody>
      </p:sp>
      <p:sp>
        <p:nvSpPr>
          <p:cNvPr id="24" name="TextBox 23"/>
          <p:cNvSpPr txBox="1"/>
          <p:nvPr/>
        </p:nvSpPr>
        <p:spPr>
          <a:xfrm>
            <a:off x="461253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Real-time pipelines for fraud, IoT, clickstream and operational dashboards.</a:t>
            </a:r>
          </a:p>
        </p:txBody>
      </p:sp>
      <p:sp>
        <p:nvSpPr>
          <p:cNvPr id="25" name="Rounded Rectangle 24"/>
          <p:cNvSpPr/>
          <p:nvPr/>
        </p:nvSpPr>
        <p:spPr>
          <a:xfrm>
            <a:off x="810950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8109508" y="1828800"/>
            <a:ext cx="91440" cy="1929384"/>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8283244" y="1975104"/>
            <a:ext cx="658368" cy="658368"/>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8560944" y="2252803"/>
            <a:ext cx="102968" cy="1029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9" name="Connector 28"/>
          <p:cNvCxnSpPr/>
          <p:nvPr/>
        </p:nvCxnSpPr>
        <p:spPr>
          <a:xfrm flipH="1" flipV="1">
            <a:off x="8485232" y="2213433"/>
            <a:ext cx="127196" cy="90855"/>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8451918" y="2180119"/>
            <a:ext cx="66626" cy="666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1" name="Connector 30"/>
          <p:cNvCxnSpPr/>
          <p:nvPr/>
        </p:nvCxnSpPr>
        <p:spPr>
          <a:xfrm flipV="1">
            <a:off x="8612428" y="2213433"/>
            <a:ext cx="127197" cy="90855"/>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8706312" y="2180119"/>
            <a:ext cx="66626" cy="666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3" name="Connector 32"/>
          <p:cNvCxnSpPr/>
          <p:nvPr/>
        </p:nvCxnSpPr>
        <p:spPr>
          <a:xfrm>
            <a:off x="8612428" y="2304288"/>
            <a:ext cx="0" cy="133253"/>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8579115" y="2404228"/>
            <a:ext cx="66626" cy="666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04219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Machine Learning</a:t>
            </a:r>
          </a:p>
        </p:txBody>
      </p:sp>
      <p:sp>
        <p:nvSpPr>
          <p:cNvPr id="36" name="TextBox 35"/>
          <p:cNvSpPr txBox="1"/>
          <p:nvPr/>
        </p:nvSpPr>
        <p:spPr>
          <a:xfrm>
            <a:off x="838382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Distributed feature engineering and model training with MLlib &amp; Spark ML.</a:t>
            </a:r>
          </a:p>
        </p:txBody>
      </p:sp>
      <p:sp>
        <p:nvSpPr>
          <p:cNvPr id="37" name="Rounded Rectangle 36"/>
          <p:cNvSpPr/>
          <p:nvPr/>
        </p:nvSpPr>
        <p:spPr>
          <a:xfrm>
            <a:off x="56692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566928" y="4014215"/>
            <a:ext cx="91440" cy="1929384"/>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740664" y="4160520"/>
            <a:ext cx="658368" cy="658368"/>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Can 39"/>
          <p:cNvSpPr/>
          <p:nvPr/>
        </p:nvSpPr>
        <p:spPr>
          <a:xfrm>
            <a:off x="945679" y="4338279"/>
            <a:ext cx="248336" cy="302849"/>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49961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Interactive SQL &amp; BI</a:t>
            </a:r>
          </a:p>
        </p:txBody>
      </p:sp>
      <p:sp>
        <p:nvSpPr>
          <p:cNvPr id="42" name="TextBox 41"/>
          <p:cNvSpPr txBox="1"/>
          <p:nvPr/>
        </p:nvSpPr>
        <p:spPr>
          <a:xfrm>
            <a:off x="841247"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Ad-hoc and production SQL analytics over the data lake at scale.</a:t>
            </a:r>
          </a:p>
        </p:txBody>
      </p:sp>
      <p:sp>
        <p:nvSpPr>
          <p:cNvPr id="43" name="Rounded Rectangle 42"/>
          <p:cNvSpPr/>
          <p:nvPr/>
        </p:nvSpPr>
        <p:spPr>
          <a:xfrm>
            <a:off x="433821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4338218" y="4014215"/>
            <a:ext cx="91440" cy="1929384"/>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4511954" y="4160520"/>
            <a:ext cx="658368" cy="658368"/>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4719998" y="4435191"/>
            <a:ext cx="133253" cy="109025"/>
          </a:xfrm>
          <a:prstGeom prst="roundRect">
            <a:avLst>
              <a:gd name="adj" fmla="val 50000"/>
            </a:avLst>
          </a:prstGeom>
          <a:noFill/>
          <a:ln w="37856">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4829024" y="4435191"/>
            <a:ext cx="133253" cy="109025"/>
          </a:xfrm>
          <a:prstGeom prst="roundRect">
            <a:avLst>
              <a:gd name="adj" fmla="val 50000"/>
            </a:avLst>
          </a:prstGeom>
          <a:noFill/>
          <a:ln w="37856">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527090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Graph Analytics</a:t>
            </a:r>
          </a:p>
        </p:txBody>
      </p:sp>
      <p:sp>
        <p:nvSpPr>
          <p:cNvPr id="49" name="TextBox 48"/>
          <p:cNvSpPr txBox="1"/>
          <p:nvPr/>
        </p:nvSpPr>
        <p:spPr>
          <a:xfrm>
            <a:off x="461253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Recommendations, fraud rings and network analysis with GraphX.</a:t>
            </a:r>
          </a:p>
        </p:txBody>
      </p:sp>
      <p:sp>
        <p:nvSpPr>
          <p:cNvPr id="50" name="Rounded Rectangle 49"/>
          <p:cNvSpPr/>
          <p:nvPr/>
        </p:nvSpPr>
        <p:spPr>
          <a:xfrm>
            <a:off x="810950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ounded Rectangle 50"/>
          <p:cNvSpPr/>
          <p:nvPr/>
        </p:nvSpPr>
        <p:spPr>
          <a:xfrm>
            <a:off x="8109508" y="4014215"/>
            <a:ext cx="91440" cy="192938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Oval 51"/>
          <p:cNvSpPr/>
          <p:nvPr/>
        </p:nvSpPr>
        <p:spPr>
          <a:xfrm>
            <a:off x="8283244" y="4160520"/>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Cube 52"/>
          <p:cNvSpPr/>
          <p:nvPr/>
        </p:nvSpPr>
        <p:spPr>
          <a:xfrm>
            <a:off x="8483717" y="4360993"/>
            <a:ext cx="257421" cy="257421"/>
          </a:xfrm>
          <a:prstGeom prst="cub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904219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Data Lake Processing</a:t>
            </a:r>
          </a:p>
        </p:txBody>
      </p:sp>
      <p:sp>
        <p:nvSpPr>
          <p:cNvPr id="55" name="TextBox 54"/>
          <p:cNvSpPr txBox="1"/>
          <p:nvPr/>
        </p:nvSpPr>
        <p:spPr>
          <a:xfrm>
            <a:off x="838382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The compute behind Delta Lake and the medallion architecture.</a:t>
            </a:r>
          </a:p>
        </p:txBody>
      </p:sp>
      <p:sp>
        <p:nvSpPr>
          <p:cNvPr id="56" name="TextBox 55"/>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7" name="TextBox 56"/>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APACHE SPARK FUNDAMENTALS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Best Practices &amp; Part 1 Takeaways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695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Spark</a:t>
            </a:r>
          </a:p>
        </p:txBody>
      </p:sp>
      <p:sp>
        <p:nvSpPr>
          <p:cNvPr id="9" name="Oval 8"/>
          <p:cNvSpPr/>
          <p:nvPr/>
        </p:nvSpPr>
        <p:spPr>
          <a:xfrm>
            <a:off x="94644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Workspace</a:t>
            </a:r>
          </a:p>
        </p:txBody>
      </p:sp>
      <p:sp>
        <p:nvSpPr>
          <p:cNvPr id="11" name="Oval 10"/>
          <p:cNvSpPr/>
          <p:nvPr/>
        </p:nvSpPr>
        <p:spPr>
          <a:xfrm>
            <a:off x="105434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Lakehouse</a:t>
            </a:r>
          </a:p>
        </p:txBody>
      </p:sp>
      <p:sp>
        <p:nvSpPr>
          <p:cNvPr id="13" name="Rounded Rectangle 12"/>
          <p:cNvSpPr/>
          <p:nvPr/>
        </p:nvSpPr>
        <p:spPr>
          <a:xfrm>
            <a:off x="566928" y="1828800"/>
            <a:ext cx="3232403" cy="190652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66928" y="1828800"/>
            <a:ext cx="91440" cy="1906524"/>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68095" y="2002536"/>
            <a:ext cx="603504" cy="603504"/>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968408" y="2202848"/>
            <a:ext cx="86281" cy="8628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1085005" y="2202848"/>
            <a:ext cx="86281" cy="862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Diamond 17"/>
          <p:cNvSpPr/>
          <p:nvPr/>
        </p:nvSpPr>
        <p:spPr>
          <a:xfrm>
            <a:off x="968408" y="2319445"/>
            <a:ext cx="86281" cy="86281"/>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085005" y="2319445"/>
            <a:ext cx="86281" cy="862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499616" y="1993392"/>
            <a:ext cx="2153411" cy="640080"/>
          </a:xfrm>
          <a:prstGeom prst="rect">
            <a:avLst/>
          </a:prstGeom>
          <a:noFill/>
        </p:spPr>
        <p:txBody>
          <a:bodyPr wrap="square" anchor="ctr" lIns="0" rIns="0" tIns="0" bIns="0">
            <a:spAutoFit/>
          </a:bodyPr>
          <a:lstStyle/>
          <a:p>
            <a:pPr algn="l">
              <a:lnSpc>
                <a:spcPct val="100000"/>
              </a:lnSpc>
              <a:spcBef>
                <a:spcPts val="0"/>
              </a:spcBef>
              <a:spcAft>
                <a:spcPts val="200"/>
              </a:spcAft>
            </a:pPr>
            <a:r>
              <a:rPr sz="1300" b="1" i="0">
                <a:solidFill>
                  <a:srgbClr val="1B3139"/>
                </a:solidFill>
                <a:latin typeface="Segoe UI"/>
              </a:rPr>
              <a:t>Prefer DataFrames / SQL</a:t>
            </a:r>
          </a:p>
        </p:txBody>
      </p:sp>
      <p:sp>
        <p:nvSpPr>
          <p:cNvPr id="21" name="TextBox 20"/>
          <p:cNvSpPr txBox="1"/>
          <p:nvPr/>
        </p:nvSpPr>
        <p:spPr>
          <a:xfrm>
            <a:off x="841247" y="2697480"/>
            <a:ext cx="2720339" cy="946403"/>
          </a:xfrm>
          <a:prstGeom prst="rect">
            <a:avLst/>
          </a:prstGeom>
          <a:noFill/>
        </p:spPr>
        <p:txBody>
          <a:bodyPr wrap="square" anchor="t" lIns="0" rIns="0" tIns="0" bIns="0">
            <a:spAutoFit/>
          </a:bodyPr>
          <a:lstStyle/>
          <a:p>
            <a:pPr algn="l">
              <a:lnSpc>
                <a:spcPct val="108000"/>
              </a:lnSpc>
              <a:spcBef>
                <a:spcPts val="0"/>
              </a:spcBef>
              <a:spcAft>
                <a:spcPts val="200"/>
              </a:spcAft>
            </a:pPr>
            <a:r>
              <a:rPr sz="1030" b="0" i="0">
                <a:solidFill>
                  <a:srgbClr val="6B777C"/>
                </a:solidFill>
                <a:latin typeface="Segoe UI"/>
              </a:rPr>
              <a:t>Let Catalyst &amp; Photon optimize — avoid low-level RDDs unless necessary.</a:t>
            </a:r>
          </a:p>
        </p:txBody>
      </p:sp>
      <p:sp>
        <p:nvSpPr>
          <p:cNvPr id="22" name="Rounded Rectangle 21"/>
          <p:cNvSpPr/>
          <p:nvPr/>
        </p:nvSpPr>
        <p:spPr>
          <a:xfrm>
            <a:off x="4055363" y="1828800"/>
            <a:ext cx="3232403" cy="190652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4055363" y="1828800"/>
            <a:ext cx="91440" cy="1906524"/>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4256531" y="2002536"/>
            <a:ext cx="603504" cy="603504"/>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Cube 24"/>
          <p:cNvSpPr/>
          <p:nvPr/>
        </p:nvSpPr>
        <p:spPr>
          <a:xfrm>
            <a:off x="4440298" y="2186302"/>
            <a:ext cx="235970" cy="235970"/>
          </a:xfrm>
          <a:prstGeom prst="cub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988052" y="1993392"/>
            <a:ext cx="2153411" cy="640080"/>
          </a:xfrm>
          <a:prstGeom prst="rect">
            <a:avLst/>
          </a:prstGeom>
          <a:noFill/>
        </p:spPr>
        <p:txBody>
          <a:bodyPr wrap="square" anchor="ctr" lIns="0" rIns="0" tIns="0" bIns="0">
            <a:spAutoFit/>
          </a:bodyPr>
          <a:lstStyle/>
          <a:p>
            <a:pPr algn="l">
              <a:lnSpc>
                <a:spcPct val="100000"/>
              </a:lnSpc>
              <a:spcBef>
                <a:spcPts val="0"/>
              </a:spcBef>
              <a:spcAft>
                <a:spcPts val="200"/>
              </a:spcAft>
            </a:pPr>
            <a:r>
              <a:rPr sz="1300" b="1" i="0">
                <a:solidFill>
                  <a:srgbClr val="1B3139"/>
                </a:solidFill>
                <a:latin typeface="Segoe UI"/>
              </a:rPr>
              <a:t>Partition Wisely</a:t>
            </a:r>
          </a:p>
        </p:txBody>
      </p:sp>
      <p:sp>
        <p:nvSpPr>
          <p:cNvPr id="27" name="TextBox 26"/>
          <p:cNvSpPr txBox="1"/>
          <p:nvPr/>
        </p:nvSpPr>
        <p:spPr>
          <a:xfrm>
            <a:off x="4329683" y="2697480"/>
            <a:ext cx="2720339" cy="946403"/>
          </a:xfrm>
          <a:prstGeom prst="rect">
            <a:avLst/>
          </a:prstGeom>
          <a:noFill/>
        </p:spPr>
        <p:txBody>
          <a:bodyPr wrap="square" anchor="t" lIns="0" rIns="0" tIns="0" bIns="0">
            <a:spAutoFit/>
          </a:bodyPr>
          <a:lstStyle/>
          <a:p>
            <a:pPr algn="l">
              <a:lnSpc>
                <a:spcPct val="108000"/>
              </a:lnSpc>
              <a:spcBef>
                <a:spcPts val="0"/>
              </a:spcBef>
              <a:spcAft>
                <a:spcPts val="200"/>
              </a:spcAft>
            </a:pPr>
            <a:r>
              <a:rPr sz="1030" b="0" i="0">
                <a:solidFill>
                  <a:srgbClr val="6B777C"/>
                </a:solidFill>
                <a:latin typeface="Segoe UI"/>
              </a:rPr>
              <a:t>Right-size partitions and watch for data skew that overloads one task.</a:t>
            </a:r>
          </a:p>
        </p:txBody>
      </p:sp>
      <p:sp>
        <p:nvSpPr>
          <p:cNvPr id="28" name="Rounded Rectangle 27"/>
          <p:cNvSpPr/>
          <p:nvPr/>
        </p:nvSpPr>
        <p:spPr>
          <a:xfrm>
            <a:off x="566928" y="3991356"/>
            <a:ext cx="3232403" cy="190652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566928" y="3991356"/>
            <a:ext cx="91440" cy="1906524"/>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768095" y="4165091"/>
            <a:ext cx="603504" cy="603504"/>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Lightning Bolt 30"/>
          <p:cNvSpPr/>
          <p:nvPr/>
        </p:nvSpPr>
        <p:spPr>
          <a:xfrm>
            <a:off x="972683" y="4328038"/>
            <a:ext cx="194328" cy="277611"/>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1499616" y="4155948"/>
            <a:ext cx="2153411" cy="640080"/>
          </a:xfrm>
          <a:prstGeom prst="rect">
            <a:avLst/>
          </a:prstGeom>
          <a:noFill/>
        </p:spPr>
        <p:txBody>
          <a:bodyPr wrap="square" anchor="ctr" lIns="0" rIns="0" tIns="0" bIns="0">
            <a:spAutoFit/>
          </a:bodyPr>
          <a:lstStyle/>
          <a:p>
            <a:pPr algn="l">
              <a:lnSpc>
                <a:spcPct val="100000"/>
              </a:lnSpc>
              <a:spcBef>
                <a:spcPts val="0"/>
              </a:spcBef>
              <a:spcAft>
                <a:spcPts val="200"/>
              </a:spcAft>
            </a:pPr>
            <a:r>
              <a:rPr sz="1300" b="1" i="0">
                <a:solidFill>
                  <a:srgbClr val="1B3139"/>
                </a:solidFill>
                <a:latin typeface="Segoe UI"/>
              </a:rPr>
              <a:t>Minimize Shuffles</a:t>
            </a:r>
          </a:p>
        </p:txBody>
      </p:sp>
      <p:sp>
        <p:nvSpPr>
          <p:cNvPr id="33" name="TextBox 32"/>
          <p:cNvSpPr txBox="1"/>
          <p:nvPr/>
        </p:nvSpPr>
        <p:spPr>
          <a:xfrm>
            <a:off x="841247" y="4860036"/>
            <a:ext cx="2720339" cy="946403"/>
          </a:xfrm>
          <a:prstGeom prst="rect">
            <a:avLst/>
          </a:prstGeom>
          <a:noFill/>
        </p:spPr>
        <p:txBody>
          <a:bodyPr wrap="square" anchor="t" lIns="0" rIns="0" tIns="0" bIns="0">
            <a:spAutoFit/>
          </a:bodyPr>
          <a:lstStyle/>
          <a:p>
            <a:pPr algn="l">
              <a:lnSpc>
                <a:spcPct val="108000"/>
              </a:lnSpc>
              <a:spcBef>
                <a:spcPts val="0"/>
              </a:spcBef>
              <a:spcAft>
                <a:spcPts val="200"/>
              </a:spcAft>
            </a:pPr>
            <a:r>
              <a:rPr sz="1030" b="0" i="0">
                <a:solidFill>
                  <a:srgbClr val="6B777C"/>
                </a:solidFill>
                <a:latin typeface="Segoe UI"/>
              </a:rPr>
              <a:t>Shuffles move data across the network — filter early, broadcast small tables.</a:t>
            </a:r>
          </a:p>
        </p:txBody>
      </p:sp>
      <p:sp>
        <p:nvSpPr>
          <p:cNvPr id="34" name="Rounded Rectangle 33"/>
          <p:cNvSpPr/>
          <p:nvPr/>
        </p:nvSpPr>
        <p:spPr>
          <a:xfrm>
            <a:off x="4055363" y="3991356"/>
            <a:ext cx="3232403" cy="190652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4055363" y="3991356"/>
            <a:ext cx="91440" cy="1906524"/>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4256531" y="4165091"/>
            <a:ext cx="603504" cy="603504"/>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Can 36"/>
          <p:cNvSpPr/>
          <p:nvPr/>
        </p:nvSpPr>
        <p:spPr>
          <a:xfrm>
            <a:off x="4444463" y="4328038"/>
            <a:ext cx="227641" cy="277611"/>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988052" y="4155948"/>
            <a:ext cx="2153411" cy="640080"/>
          </a:xfrm>
          <a:prstGeom prst="rect">
            <a:avLst/>
          </a:prstGeom>
          <a:noFill/>
        </p:spPr>
        <p:txBody>
          <a:bodyPr wrap="square" anchor="ctr" lIns="0" rIns="0" tIns="0" bIns="0">
            <a:spAutoFit/>
          </a:bodyPr>
          <a:lstStyle/>
          <a:p>
            <a:pPr algn="l">
              <a:lnSpc>
                <a:spcPct val="100000"/>
              </a:lnSpc>
              <a:spcBef>
                <a:spcPts val="0"/>
              </a:spcBef>
              <a:spcAft>
                <a:spcPts val="200"/>
              </a:spcAft>
            </a:pPr>
            <a:r>
              <a:rPr sz="1300" b="1" i="0">
                <a:solidFill>
                  <a:srgbClr val="1B3139"/>
                </a:solidFill>
                <a:latin typeface="Segoe UI"/>
              </a:rPr>
              <a:t>Cache Reused Data</a:t>
            </a:r>
          </a:p>
        </p:txBody>
      </p:sp>
      <p:sp>
        <p:nvSpPr>
          <p:cNvPr id="39" name="TextBox 38"/>
          <p:cNvSpPr txBox="1"/>
          <p:nvPr/>
        </p:nvSpPr>
        <p:spPr>
          <a:xfrm>
            <a:off x="4329683" y="4860036"/>
            <a:ext cx="2720339" cy="946403"/>
          </a:xfrm>
          <a:prstGeom prst="rect">
            <a:avLst/>
          </a:prstGeom>
          <a:noFill/>
        </p:spPr>
        <p:txBody>
          <a:bodyPr wrap="square" anchor="t" lIns="0" rIns="0" tIns="0" bIns="0">
            <a:spAutoFit/>
          </a:bodyPr>
          <a:lstStyle/>
          <a:p>
            <a:pPr algn="l">
              <a:lnSpc>
                <a:spcPct val="108000"/>
              </a:lnSpc>
              <a:spcBef>
                <a:spcPts val="0"/>
              </a:spcBef>
              <a:spcAft>
                <a:spcPts val="200"/>
              </a:spcAft>
            </a:pPr>
            <a:r>
              <a:rPr sz="1030" b="0" i="0">
                <a:solidFill>
                  <a:srgbClr val="6B777C"/>
                </a:solidFill>
                <a:latin typeface="Segoe UI"/>
              </a:rPr>
              <a:t>Persist datasets you reuse across actions to avoid recomputation.</a:t>
            </a:r>
          </a:p>
        </p:txBody>
      </p:sp>
      <p:sp>
        <p:nvSpPr>
          <p:cNvPr id="40" name="Rounded Rectangle 39"/>
          <p:cNvSpPr/>
          <p:nvPr/>
        </p:nvSpPr>
        <p:spPr>
          <a:xfrm>
            <a:off x="7178040" y="1828800"/>
            <a:ext cx="4446727" cy="406908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7178040" y="1828800"/>
            <a:ext cx="4446727" cy="54864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5-Point Star 41"/>
          <p:cNvSpPr/>
          <p:nvPr/>
        </p:nvSpPr>
        <p:spPr>
          <a:xfrm>
            <a:off x="7406640" y="1947672"/>
            <a:ext cx="310896" cy="310896"/>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7927848" y="1828800"/>
            <a:ext cx="3657600" cy="54864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FFFFFF"/>
                </a:solidFill>
                <a:latin typeface="Segoe UI Semibold"/>
              </a:rPr>
              <a:t>KEY TAKEAWAYS</a:t>
            </a:r>
          </a:p>
        </p:txBody>
      </p:sp>
      <p:sp>
        <p:nvSpPr>
          <p:cNvPr id="44" name="TextBox 43"/>
          <p:cNvSpPr txBox="1"/>
          <p:nvPr/>
        </p:nvSpPr>
        <p:spPr>
          <a:xfrm>
            <a:off x="7498079" y="2606040"/>
            <a:ext cx="3806647" cy="3200400"/>
          </a:xfrm>
          <a:prstGeom prst="rect">
            <a:avLst/>
          </a:prstGeom>
          <a:noFill/>
        </p:spPr>
        <p:txBody>
          <a:bodyPr wrap="square" anchor="t" lIns="0" rIns="0" tIns="0" bIns="0">
            <a:spAutoFit/>
          </a:bodyPr>
          <a:lstStyle/>
          <a:p>
            <a:pPr marL="274320" indent="-274320">
              <a:lnSpc>
                <a:spcPct val="112000"/>
              </a:lnSpc>
              <a:spcBef>
                <a:spcPts val="0"/>
              </a:spcBef>
              <a:spcAft>
                <a:spcPts val="1200"/>
              </a:spcAft>
            </a:pPr>
            <a:r>
              <a:rPr sz="1200" b="1">
                <a:solidFill>
                  <a:srgbClr val="FF6B57"/>
                </a:solidFill>
                <a:latin typeface="Segoe UI"/>
              </a:rPr>
              <a:t>▪   </a:t>
            </a:r>
            <a:r>
              <a:rPr sz="1200">
                <a:solidFill>
                  <a:srgbClr val="D6DEE1"/>
                </a:solidFill>
                <a:latin typeface="Segoe UI"/>
              </a:rPr>
              <a:t>Spark = unified, in-memory, distributed engine</a:t>
            </a:r>
          </a:p>
          <a:p>
            <a:pPr marL="274320" indent="-274320">
              <a:lnSpc>
                <a:spcPct val="112000"/>
              </a:lnSpc>
              <a:spcBef>
                <a:spcPts val="0"/>
              </a:spcBef>
              <a:spcAft>
                <a:spcPts val="1200"/>
              </a:spcAft>
            </a:pPr>
            <a:r>
              <a:rPr sz="1200" b="1">
                <a:solidFill>
                  <a:srgbClr val="FF6B57"/>
                </a:solidFill>
                <a:latin typeface="Segoe UI"/>
              </a:rPr>
              <a:t>▪   </a:t>
            </a:r>
            <a:r>
              <a:rPr sz="1200">
                <a:solidFill>
                  <a:srgbClr val="D6DEE1"/>
                </a:solidFill>
                <a:latin typeface="Segoe UI"/>
              </a:rPr>
              <a:t>Driver → Cluster Manager → Executors → Tasks</a:t>
            </a:r>
          </a:p>
          <a:p>
            <a:pPr marL="274320" indent="-274320">
              <a:lnSpc>
                <a:spcPct val="112000"/>
              </a:lnSpc>
              <a:spcBef>
                <a:spcPts val="0"/>
              </a:spcBef>
              <a:spcAft>
                <a:spcPts val="1200"/>
              </a:spcAft>
            </a:pPr>
            <a:r>
              <a:rPr sz="1200" b="1">
                <a:solidFill>
                  <a:srgbClr val="FF6B57"/>
                </a:solidFill>
                <a:latin typeface="Segoe UI"/>
              </a:rPr>
              <a:t>▪   </a:t>
            </a:r>
            <a:r>
              <a:rPr sz="1200">
                <a:solidFill>
                  <a:srgbClr val="D6DEE1"/>
                </a:solidFill>
                <a:latin typeface="Segoe UI"/>
              </a:rPr>
              <a:t>Lazy: a DAG is optimized, then run by an action</a:t>
            </a:r>
          </a:p>
          <a:p>
            <a:pPr marL="274320" indent="-274320">
              <a:lnSpc>
                <a:spcPct val="112000"/>
              </a:lnSpc>
              <a:spcBef>
                <a:spcPts val="0"/>
              </a:spcBef>
              <a:spcAft>
                <a:spcPts val="1200"/>
              </a:spcAft>
            </a:pPr>
            <a:r>
              <a:rPr sz="1200" b="1">
                <a:solidFill>
                  <a:srgbClr val="FF6B57"/>
                </a:solidFill>
                <a:latin typeface="Segoe UI"/>
              </a:rPr>
              <a:t>▪   </a:t>
            </a:r>
            <a:r>
              <a:rPr sz="1200">
                <a:solidFill>
                  <a:srgbClr val="D6DEE1"/>
                </a:solidFill>
                <a:latin typeface="Segoe UI"/>
              </a:rPr>
              <a:t>One core powers SQL, streaming, ML &amp; graph</a:t>
            </a:r>
          </a:p>
          <a:p>
            <a:pPr marL="274320" indent="-274320">
              <a:lnSpc>
                <a:spcPct val="112000"/>
              </a:lnSpc>
              <a:spcBef>
                <a:spcPts val="0"/>
              </a:spcBef>
              <a:spcAft>
                <a:spcPts val="1200"/>
              </a:spcAft>
            </a:pPr>
            <a:r>
              <a:rPr sz="1200" b="1">
                <a:solidFill>
                  <a:srgbClr val="FF6B57"/>
                </a:solidFill>
                <a:latin typeface="Segoe UI"/>
              </a:rPr>
              <a:t>▪   </a:t>
            </a:r>
            <a:r>
              <a:rPr sz="1200">
                <a:solidFill>
                  <a:srgbClr val="D6DEE1"/>
                </a:solidFill>
                <a:latin typeface="Segoe UI"/>
              </a:rPr>
              <a:t>Databricks manages &amp; accelerates it (Photon)</a:t>
            </a:r>
          </a:p>
        </p:txBody>
      </p:sp>
      <p:sp>
        <p:nvSpPr>
          <p:cNvPr id="45" name="TextBox 44"/>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6" name="TextBox 45"/>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1463040"/>
            <a:ext cx="5486400" cy="2194560"/>
          </a:xfrm>
          <a:prstGeom prst="rect">
            <a:avLst/>
          </a:prstGeom>
          <a:noFill/>
        </p:spPr>
        <p:txBody>
          <a:bodyPr wrap="square" anchor="t" lIns="0" rIns="0" tIns="0" bIns="0">
            <a:spAutoFit/>
          </a:bodyPr>
          <a:lstStyle/>
          <a:p>
            <a:pPr algn="l">
              <a:lnSpc>
                <a:spcPct val="100000"/>
              </a:lnSpc>
              <a:spcBef>
                <a:spcPts val="0"/>
              </a:spcBef>
              <a:spcAft>
                <a:spcPts val="200"/>
              </a:spcAft>
            </a:pPr>
            <a:r>
              <a:rPr sz="20000" b="1" i="0">
                <a:solidFill>
                  <a:srgbClr val="27444F"/>
                </a:solidFill>
                <a:latin typeface="Segoe UI Light"/>
              </a:rPr>
              <a:t>02</a:t>
            </a:r>
          </a:p>
        </p:txBody>
      </p:sp>
      <p:sp>
        <p:nvSpPr>
          <p:cNvPr id="9" name="Rounded Rectangle 8"/>
          <p:cNvSpPr/>
          <p:nvPr/>
        </p:nvSpPr>
        <p:spPr>
          <a:xfrm>
            <a:off x="612648" y="3310128"/>
            <a:ext cx="777240" cy="9144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12648" y="2743200"/>
            <a:ext cx="7315200" cy="36576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FF3621"/>
                </a:solidFill>
                <a:latin typeface="Segoe UI Semibold"/>
              </a:rPr>
              <a:t>PART TWO</a:t>
            </a:r>
          </a:p>
        </p:txBody>
      </p:sp>
      <p:sp>
        <p:nvSpPr>
          <p:cNvPr id="11" name="TextBox 10"/>
          <p:cNvSpPr txBox="1"/>
          <p:nvPr/>
        </p:nvSpPr>
        <p:spPr>
          <a:xfrm>
            <a:off x="566928" y="3456432"/>
            <a:ext cx="7680960" cy="1097280"/>
          </a:xfrm>
          <a:prstGeom prst="rect">
            <a:avLst/>
          </a:prstGeom>
          <a:noFill/>
        </p:spPr>
        <p:txBody>
          <a:bodyPr wrap="square" anchor="t" lIns="0" rIns="0" tIns="0" bIns="0">
            <a:spAutoFit/>
          </a:bodyPr>
          <a:lstStyle/>
          <a:p>
            <a:pPr algn="l">
              <a:lnSpc>
                <a:spcPct val="98000"/>
              </a:lnSpc>
              <a:spcBef>
                <a:spcPts val="0"/>
              </a:spcBef>
              <a:spcAft>
                <a:spcPts val="200"/>
              </a:spcAft>
            </a:pPr>
            <a:r>
              <a:rPr sz="4000" b="1" i="0">
                <a:solidFill>
                  <a:srgbClr val="FFFFFF"/>
                </a:solidFill>
                <a:latin typeface="Segoe UI"/>
              </a:rPr>
              <a:t>Databricks Workspace Components</a:t>
            </a:r>
          </a:p>
        </p:txBody>
      </p:sp>
      <p:sp>
        <p:nvSpPr>
          <p:cNvPr id="12" name="TextBox 11"/>
          <p:cNvSpPr txBox="1"/>
          <p:nvPr/>
        </p:nvSpPr>
        <p:spPr>
          <a:xfrm>
            <a:off x="612648" y="4754880"/>
            <a:ext cx="6949440" cy="1463040"/>
          </a:xfrm>
          <a:prstGeom prst="rect">
            <a:avLst/>
          </a:prstGeom>
          <a:noFill/>
        </p:spPr>
        <p:txBody>
          <a:bodyPr wrap="square" anchor="t" lIns="0" rIns="0" tIns="0" bIns="0">
            <a:spAutoFit/>
          </a:bodyPr>
          <a:lstStyle/>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Workspace, notebooks &amp; architecture</a:t>
            </a:r>
          </a:p>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Clusters, jobs &amp; Git integration</a:t>
            </a:r>
          </a:p>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Unity Catalog &amp; best practices</a:t>
            </a:r>
          </a:p>
        </p:txBody>
      </p:sp>
      <p:sp>
        <p:nvSpPr>
          <p:cNvPr id="13" name="Oval 12"/>
          <p:cNvSpPr/>
          <p:nvPr/>
        </p:nvSpPr>
        <p:spPr>
          <a:xfrm>
            <a:off x="8641080" y="2423160"/>
            <a:ext cx="2286000" cy="2286000"/>
          </a:xfrm>
          <a:prstGeom prst="ellipse">
            <a:avLst/>
          </a:prstGeom>
          <a:solidFill>
            <a:srgbClr val="FF3621"/>
          </a:solidFill>
          <a:ln w="15240">
            <a:solidFill>
              <a:srgbClr val="FF8A78"/>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Folded Corner 13"/>
          <p:cNvSpPr/>
          <p:nvPr/>
        </p:nvSpPr>
        <p:spPr>
          <a:xfrm>
            <a:off x="9447580" y="3124504"/>
            <a:ext cx="672998" cy="883310"/>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7E9199"/>
                </a:solidFill>
                <a:latin typeface="Segoe UI"/>
              </a:rPr>
              <a:t>Big Data &amp; Databricks  ·  Enterprise Training Series</a:t>
            </a:r>
          </a:p>
        </p:txBody>
      </p:sp>
      <p:sp>
        <p:nvSpPr>
          <p:cNvPr id="16" name="TextBox 15"/>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7E9199"/>
                </a:solidFill>
                <a:latin typeface="Segoe U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WORKSPACE COMPONENTS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The Databricks Workspace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855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Spark</a:t>
            </a:r>
          </a:p>
        </p:txBody>
      </p:sp>
      <p:sp>
        <p:nvSpPr>
          <p:cNvPr id="9" name="Oval 8"/>
          <p:cNvSpPr/>
          <p:nvPr/>
        </p:nvSpPr>
        <p:spPr>
          <a:xfrm>
            <a:off x="9448495"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Workspace</a:t>
            </a:r>
          </a:p>
        </p:txBody>
      </p:sp>
      <p:sp>
        <p:nvSpPr>
          <p:cNvPr id="11" name="Oval 10"/>
          <p:cNvSpPr/>
          <p:nvPr/>
        </p:nvSpPr>
        <p:spPr>
          <a:xfrm>
            <a:off x="105434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Lakehouse</a:t>
            </a:r>
          </a:p>
        </p:txBody>
      </p:sp>
      <p:sp>
        <p:nvSpPr>
          <p:cNvPr id="13" name="Rounded Rectangle 12"/>
          <p:cNvSpPr/>
          <p:nvPr/>
        </p:nvSpPr>
        <p:spPr>
          <a:xfrm>
            <a:off x="566928" y="1828800"/>
            <a:ext cx="6492240" cy="228600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32688" y="2066543"/>
            <a:ext cx="5852160" cy="27432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FF6B57"/>
                </a:solidFill>
                <a:latin typeface="Segoe UI Semibold"/>
              </a:rPr>
              <a:t>DEFINITION</a:t>
            </a:r>
          </a:p>
        </p:txBody>
      </p:sp>
      <p:sp>
        <p:nvSpPr>
          <p:cNvPr id="15" name="TextBox 14"/>
          <p:cNvSpPr txBox="1"/>
          <p:nvPr/>
        </p:nvSpPr>
        <p:spPr>
          <a:xfrm>
            <a:off x="932688" y="2377440"/>
            <a:ext cx="5852160" cy="1737360"/>
          </a:xfrm>
          <a:prstGeom prst="rect">
            <a:avLst/>
          </a:prstGeom>
          <a:noFill/>
        </p:spPr>
        <p:txBody>
          <a:bodyPr wrap="square" anchor="t" lIns="0" rIns="0" tIns="0" bIns="0">
            <a:spAutoFit/>
          </a:bodyPr>
          <a:lstStyle/>
          <a:p>
            <a:pPr algn="l">
              <a:lnSpc>
                <a:spcPct val="132000"/>
              </a:lnSpc>
              <a:spcBef>
                <a:spcPts val="0"/>
              </a:spcBef>
              <a:spcAft>
                <a:spcPts val="200"/>
              </a:spcAft>
            </a:pPr>
            <a:r>
              <a:rPr sz="1450" b="0" i="0">
                <a:solidFill>
                  <a:srgbClr val="FFFFFF"/>
                </a:solidFill>
                <a:latin typeface="Segoe UI"/>
              </a:rPr>
              <a:t>The Workspace is the </a:t>
            </a:r>
            <a:r>
              <a:rPr sz="1450" b="1" i="0">
                <a:solidFill>
                  <a:srgbClr val="FF6B57"/>
                </a:solidFill>
                <a:latin typeface="Segoe UI"/>
              </a:rPr>
              <a:t>unified, collaborative environment</a:t>
            </a:r>
            <a:r>
              <a:rPr sz="1450" b="0" i="0">
                <a:solidFill>
                  <a:srgbClr val="FFFFFF"/>
                </a:solidFill>
                <a:latin typeface="Segoe UI"/>
              </a:rPr>
              <a:t> where every team builds, runs and governs all data &amp; AI assets — notebooks, clusters, jobs, dashboards, repos and data — in </a:t>
            </a:r>
            <a:r>
              <a:rPr sz="1450" b="1" i="0">
                <a:solidFill>
                  <a:srgbClr val="FF6B57"/>
                </a:solidFill>
                <a:latin typeface="Segoe UI"/>
              </a:rPr>
              <a:t>one browser-based hub</a:t>
            </a:r>
            <a:r>
              <a:rPr sz="1450" b="0" i="0">
                <a:solidFill>
                  <a:srgbClr val="FFFFFF"/>
                </a:solidFill>
                <a:latin typeface="Segoe UI"/>
              </a:rPr>
              <a:t>.</a:t>
            </a:r>
          </a:p>
        </p:txBody>
      </p:sp>
      <p:sp>
        <p:nvSpPr>
          <p:cNvPr id="16" name="Rounded Rectangle 15"/>
          <p:cNvSpPr/>
          <p:nvPr/>
        </p:nvSpPr>
        <p:spPr>
          <a:xfrm>
            <a:off x="7424927" y="1828800"/>
            <a:ext cx="4199839" cy="5029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7580375" y="1851660"/>
            <a:ext cx="457200" cy="457200"/>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766913" y="1991928"/>
            <a:ext cx="84124" cy="841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7737469" y="2088672"/>
            <a:ext cx="143012" cy="88331"/>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156448" y="1892807"/>
            <a:ext cx="3331159" cy="237744"/>
          </a:xfrm>
          <a:prstGeom prst="rect">
            <a:avLst/>
          </a:prstGeom>
          <a:noFill/>
        </p:spPr>
        <p:txBody>
          <a:bodyPr wrap="square" anchor="t" lIns="0" rIns="0" tIns="0" bIns="0">
            <a:spAutoFit/>
          </a:bodyPr>
          <a:lstStyle/>
          <a:p>
            <a:pPr algn="l">
              <a:lnSpc>
                <a:spcPct val="100000"/>
              </a:lnSpc>
              <a:spcBef>
                <a:spcPts val="0"/>
              </a:spcBef>
              <a:spcAft>
                <a:spcPts val="200"/>
              </a:spcAft>
            </a:pPr>
            <a:r>
              <a:rPr sz="1200" b="1" i="0">
                <a:solidFill>
                  <a:srgbClr val="1B3139"/>
                </a:solidFill>
                <a:latin typeface="Segoe UI"/>
              </a:rPr>
              <a:t>Collaborative</a:t>
            </a:r>
          </a:p>
        </p:txBody>
      </p:sp>
      <p:sp>
        <p:nvSpPr>
          <p:cNvPr id="21" name="TextBox 20"/>
          <p:cNvSpPr txBox="1"/>
          <p:nvPr/>
        </p:nvSpPr>
        <p:spPr>
          <a:xfrm>
            <a:off x="8156448" y="2112264"/>
            <a:ext cx="3331159" cy="219456"/>
          </a:xfrm>
          <a:prstGeom prst="rect">
            <a:avLst/>
          </a:prstGeom>
          <a:noFill/>
        </p:spPr>
        <p:txBody>
          <a:bodyPr wrap="square" anchor="t" lIns="0" rIns="0" tIns="0" bIns="0">
            <a:spAutoFit/>
          </a:bodyPr>
          <a:lstStyle/>
          <a:p>
            <a:pPr algn="l">
              <a:lnSpc>
                <a:spcPct val="100000"/>
              </a:lnSpc>
              <a:spcBef>
                <a:spcPts val="0"/>
              </a:spcBef>
              <a:spcAft>
                <a:spcPts val="200"/>
              </a:spcAft>
            </a:pPr>
            <a:r>
              <a:rPr sz="930" b="0" i="0">
                <a:solidFill>
                  <a:srgbClr val="6B777C"/>
                </a:solidFill>
                <a:latin typeface="Segoe UI"/>
              </a:rPr>
              <a:t>Shared notebooks, comments &amp; co-editing for the whole team.</a:t>
            </a:r>
          </a:p>
        </p:txBody>
      </p:sp>
      <p:sp>
        <p:nvSpPr>
          <p:cNvPr id="22" name="Rounded Rectangle 21"/>
          <p:cNvSpPr/>
          <p:nvPr/>
        </p:nvSpPr>
        <p:spPr>
          <a:xfrm>
            <a:off x="7424927" y="2423160"/>
            <a:ext cx="4199839" cy="5029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7580375" y="2446020"/>
            <a:ext cx="457200" cy="457200"/>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7712232" y="2577876"/>
            <a:ext cx="193487" cy="193487"/>
          </a:xfrm>
          <a:prstGeom prst="ellipse">
            <a:avLst/>
          </a:prstGeom>
          <a:noFill/>
          <a:ln w="23368">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771119" y="2577876"/>
            <a:ext cx="75712" cy="193487"/>
          </a:xfrm>
          <a:prstGeom prst="ellipse">
            <a:avLst/>
          </a:prstGeom>
          <a:noFill/>
          <a:ln w="17526">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7712232" y="2668310"/>
            <a:ext cx="193487" cy="126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156448" y="2487168"/>
            <a:ext cx="3331159" cy="237744"/>
          </a:xfrm>
          <a:prstGeom prst="rect">
            <a:avLst/>
          </a:prstGeom>
          <a:noFill/>
        </p:spPr>
        <p:txBody>
          <a:bodyPr wrap="square" anchor="t" lIns="0" rIns="0" tIns="0" bIns="0">
            <a:spAutoFit/>
          </a:bodyPr>
          <a:lstStyle/>
          <a:p>
            <a:pPr algn="l">
              <a:lnSpc>
                <a:spcPct val="100000"/>
              </a:lnSpc>
              <a:spcBef>
                <a:spcPts val="0"/>
              </a:spcBef>
              <a:spcAft>
                <a:spcPts val="200"/>
              </a:spcAft>
            </a:pPr>
            <a:r>
              <a:rPr sz="1200" b="1" i="0">
                <a:solidFill>
                  <a:srgbClr val="1B3139"/>
                </a:solidFill>
                <a:latin typeface="Segoe UI"/>
              </a:rPr>
              <a:t>Browser-Based</a:t>
            </a:r>
          </a:p>
        </p:txBody>
      </p:sp>
      <p:sp>
        <p:nvSpPr>
          <p:cNvPr id="28" name="TextBox 27"/>
          <p:cNvSpPr txBox="1"/>
          <p:nvPr/>
        </p:nvSpPr>
        <p:spPr>
          <a:xfrm>
            <a:off x="8156448" y="2706624"/>
            <a:ext cx="3331159" cy="219456"/>
          </a:xfrm>
          <a:prstGeom prst="rect">
            <a:avLst/>
          </a:prstGeom>
          <a:noFill/>
        </p:spPr>
        <p:txBody>
          <a:bodyPr wrap="square" anchor="t" lIns="0" rIns="0" tIns="0" bIns="0">
            <a:spAutoFit/>
          </a:bodyPr>
          <a:lstStyle/>
          <a:p>
            <a:pPr algn="l">
              <a:lnSpc>
                <a:spcPct val="100000"/>
              </a:lnSpc>
              <a:spcBef>
                <a:spcPts val="0"/>
              </a:spcBef>
              <a:spcAft>
                <a:spcPts val="200"/>
              </a:spcAft>
            </a:pPr>
            <a:r>
              <a:rPr sz="930" b="0" i="0">
                <a:solidFill>
                  <a:srgbClr val="6B777C"/>
                </a:solidFill>
                <a:latin typeface="Segoe UI"/>
              </a:rPr>
              <a:t>Nothing to install — work from anywhere, any cloud.</a:t>
            </a:r>
          </a:p>
        </p:txBody>
      </p:sp>
      <p:sp>
        <p:nvSpPr>
          <p:cNvPr id="29" name="Rounded Rectangle 28"/>
          <p:cNvSpPr/>
          <p:nvPr/>
        </p:nvSpPr>
        <p:spPr>
          <a:xfrm>
            <a:off x="7424927" y="3017520"/>
            <a:ext cx="4199839" cy="5029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7580375" y="3040379"/>
            <a:ext cx="457200" cy="457200"/>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7737469" y="3258464"/>
            <a:ext cx="143012" cy="105156"/>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Block Arc 31"/>
          <p:cNvSpPr/>
          <p:nvPr/>
        </p:nvSpPr>
        <p:spPr>
          <a:xfrm>
            <a:off x="7758501" y="3163823"/>
            <a:ext cx="100949" cy="105156"/>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156448" y="3081527"/>
            <a:ext cx="3331159" cy="237744"/>
          </a:xfrm>
          <a:prstGeom prst="rect">
            <a:avLst/>
          </a:prstGeom>
          <a:noFill/>
        </p:spPr>
        <p:txBody>
          <a:bodyPr wrap="square" anchor="t" lIns="0" rIns="0" tIns="0" bIns="0">
            <a:spAutoFit/>
          </a:bodyPr>
          <a:lstStyle/>
          <a:p>
            <a:pPr algn="l">
              <a:lnSpc>
                <a:spcPct val="100000"/>
              </a:lnSpc>
              <a:spcBef>
                <a:spcPts val="0"/>
              </a:spcBef>
              <a:spcAft>
                <a:spcPts val="200"/>
              </a:spcAft>
            </a:pPr>
            <a:r>
              <a:rPr sz="1200" b="1" i="0">
                <a:solidFill>
                  <a:srgbClr val="1B3139"/>
                </a:solidFill>
                <a:latin typeface="Segoe UI"/>
              </a:rPr>
              <a:t>Governed</a:t>
            </a:r>
          </a:p>
        </p:txBody>
      </p:sp>
      <p:sp>
        <p:nvSpPr>
          <p:cNvPr id="34" name="TextBox 33"/>
          <p:cNvSpPr txBox="1"/>
          <p:nvPr/>
        </p:nvSpPr>
        <p:spPr>
          <a:xfrm>
            <a:off x="8156448" y="3300984"/>
            <a:ext cx="3331159" cy="219456"/>
          </a:xfrm>
          <a:prstGeom prst="rect">
            <a:avLst/>
          </a:prstGeom>
          <a:noFill/>
        </p:spPr>
        <p:txBody>
          <a:bodyPr wrap="square" anchor="t" lIns="0" rIns="0" tIns="0" bIns="0">
            <a:spAutoFit/>
          </a:bodyPr>
          <a:lstStyle/>
          <a:p>
            <a:pPr algn="l">
              <a:lnSpc>
                <a:spcPct val="100000"/>
              </a:lnSpc>
              <a:spcBef>
                <a:spcPts val="0"/>
              </a:spcBef>
              <a:spcAft>
                <a:spcPts val="200"/>
              </a:spcAft>
            </a:pPr>
            <a:r>
              <a:rPr sz="930" b="0" i="0">
                <a:solidFill>
                  <a:srgbClr val="6B777C"/>
                </a:solidFill>
                <a:latin typeface="Segoe UI"/>
              </a:rPr>
              <a:t>Unity Catalog secures every asset with fine-grained control.</a:t>
            </a:r>
          </a:p>
        </p:txBody>
      </p:sp>
      <p:sp>
        <p:nvSpPr>
          <p:cNvPr id="35" name="Rounded Rectangle 34"/>
          <p:cNvSpPr/>
          <p:nvPr/>
        </p:nvSpPr>
        <p:spPr>
          <a:xfrm>
            <a:off x="7424927" y="3611880"/>
            <a:ext cx="4199839" cy="5029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7580375" y="3634740"/>
            <a:ext cx="457200" cy="457200"/>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ight Arrow 36"/>
          <p:cNvSpPr/>
          <p:nvPr/>
        </p:nvSpPr>
        <p:spPr>
          <a:xfrm>
            <a:off x="7703819" y="3800246"/>
            <a:ext cx="210312" cy="126187"/>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156448" y="3675888"/>
            <a:ext cx="3331159" cy="237744"/>
          </a:xfrm>
          <a:prstGeom prst="rect">
            <a:avLst/>
          </a:prstGeom>
          <a:noFill/>
        </p:spPr>
        <p:txBody>
          <a:bodyPr wrap="square" anchor="t" lIns="0" rIns="0" tIns="0" bIns="0">
            <a:spAutoFit/>
          </a:bodyPr>
          <a:lstStyle/>
          <a:p>
            <a:pPr algn="l">
              <a:lnSpc>
                <a:spcPct val="100000"/>
              </a:lnSpc>
              <a:spcBef>
                <a:spcPts val="0"/>
              </a:spcBef>
              <a:spcAft>
                <a:spcPts val="200"/>
              </a:spcAft>
            </a:pPr>
            <a:r>
              <a:rPr sz="1200" b="1" i="0">
                <a:solidFill>
                  <a:srgbClr val="1B3139"/>
                </a:solidFill>
                <a:latin typeface="Segoe UI"/>
              </a:rPr>
              <a:t>Production-Ready</a:t>
            </a:r>
          </a:p>
        </p:txBody>
      </p:sp>
      <p:sp>
        <p:nvSpPr>
          <p:cNvPr id="39" name="TextBox 38"/>
          <p:cNvSpPr txBox="1"/>
          <p:nvPr/>
        </p:nvSpPr>
        <p:spPr>
          <a:xfrm>
            <a:off x="8156448" y="3895344"/>
            <a:ext cx="3331159" cy="219456"/>
          </a:xfrm>
          <a:prstGeom prst="rect">
            <a:avLst/>
          </a:prstGeom>
          <a:noFill/>
        </p:spPr>
        <p:txBody>
          <a:bodyPr wrap="square" anchor="t" lIns="0" rIns="0" tIns="0" bIns="0">
            <a:spAutoFit/>
          </a:bodyPr>
          <a:lstStyle/>
          <a:p>
            <a:pPr algn="l">
              <a:lnSpc>
                <a:spcPct val="100000"/>
              </a:lnSpc>
              <a:spcBef>
                <a:spcPts val="0"/>
              </a:spcBef>
              <a:spcAft>
                <a:spcPts val="200"/>
              </a:spcAft>
            </a:pPr>
            <a:r>
              <a:rPr sz="930" b="0" i="0">
                <a:solidFill>
                  <a:srgbClr val="6B777C"/>
                </a:solidFill>
                <a:latin typeface="Segoe UI"/>
              </a:rPr>
              <a:t>From exploration to scheduled jobs in the same place.</a:t>
            </a:r>
          </a:p>
        </p:txBody>
      </p:sp>
      <p:sp>
        <p:nvSpPr>
          <p:cNvPr id="40" name="Rounded Rectangle 39"/>
          <p:cNvSpPr/>
          <p:nvPr/>
        </p:nvSpPr>
        <p:spPr>
          <a:xfrm>
            <a:off x="566928" y="4343400"/>
            <a:ext cx="11057839" cy="169164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14400" y="4343400"/>
            <a:ext cx="10362895" cy="169164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One place for everyone.  </a:t>
            </a:r>
            <a:r>
              <a:rPr sz="1250" b="0" i="0">
                <a:solidFill>
                  <a:srgbClr val="465257"/>
                </a:solidFill>
                <a:latin typeface="Segoe UI"/>
              </a:rPr>
              <a:t>Engineers, analysts and scientists share the same notebooks, compute and governed data — eliminating the hand-offs and tool-switching of traditional stacks.</a:t>
            </a:r>
          </a:p>
        </p:txBody>
      </p:sp>
      <p:sp>
        <p:nvSpPr>
          <p:cNvPr id="42" name="TextBox 41"/>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3" name="TextBox 42"/>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WORKSPACE COMPONENTS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Workspace Architecture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855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Spark</a:t>
            </a:r>
          </a:p>
        </p:txBody>
      </p:sp>
      <p:sp>
        <p:nvSpPr>
          <p:cNvPr id="9" name="Oval 8"/>
          <p:cNvSpPr/>
          <p:nvPr/>
        </p:nvSpPr>
        <p:spPr>
          <a:xfrm>
            <a:off x="9448495"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Workspace</a:t>
            </a:r>
          </a:p>
        </p:txBody>
      </p:sp>
      <p:sp>
        <p:nvSpPr>
          <p:cNvPr id="11" name="Oval 10"/>
          <p:cNvSpPr/>
          <p:nvPr/>
        </p:nvSpPr>
        <p:spPr>
          <a:xfrm>
            <a:off x="105434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Lakehouse</a:t>
            </a:r>
          </a:p>
        </p:txBody>
      </p:sp>
      <p:sp>
        <p:nvSpPr>
          <p:cNvPr id="13" name="Rounded Rectangle 12"/>
          <p:cNvSpPr/>
          <p:nvPr/>
        </p:nvSpPr>
        <p:spPr>
          <a:xfrm>
            <a:off x="566928" y="1828800"/>
            <a:ext cx="2050633" cy="457200"/>
          </a:xfrm>
          <a:prstGeom prst="roundRect">
            <a:avLst>
              <a:gd name="adj" fmla="val 300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1B3139"/>
                </a:solidFill>
                <a:latin typeface="Segoe UI Semibold"/>
              </a:rPr>
              <a:t>Data Engineers</a:t>
            </a:r>
          </a:p>
        </p:txBody>
      </p:sp>
      <p:sp>
        <p:nvSpPr>
          <p:cNvPr id="14" name="Rounded Rectangle 13"/>
          <p:cNvSpPr/>
          <p:nvPr/>
        </p:nvSpPr>
        <p:spPr>
          <a:xfrm>
            <a:off x="2818729" y="1828800"/>
            <a:ext cx="2050633" cy="457200"/>
          </a:xfrm>
          <a:prstGeom prst="roundRect">
            <a:avLst>
              <a:gd name="adj" fmla="val 300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1B3139"/>
                </a:solidFill>
                <a:latin typeface="Segoe UI Semibold"/>
              </a:rPr>
              <a:t>Analysts</a:t>
            </a:r>
          </a:p>
        </p:txBody>
      </p:sp>
      <p:sp>
        <p:nvSpPr>
          <p:cNvPr id="15" name="Rounded Rectangle 14"/>
          <p:cNvSpPr/>
          <p:nvPr/>
        </p:nvSpPr>
        <p:spPr>
          <a:xfrm>
            <a:off x="5070530" y="1828800"/>
            <a:ext cx="2050633" cy="457200"/>
          </a:xfrm>
          <a:prstGeom prst="roundRect">
            <a:avLst>
              <a:gd name="adj" fmla="val 300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1B3139"/>
                </a:solidFill>
                <a:latin typeface="Segoe UI Semibold"/>
              </a:rPr>
              <a:t>Data Scientists</a:t>
            </a:r>
          </a:p>
        </p:txBody>
      </p:sp>
      <p:sp>
        <p:nvSpPr>
          <p:cNvPr id="16" name="Rounded Rectangle 15"/>
          <p:cNvSpPr/>
          <p:nvPr/>
        </p:nvSpPr>
        <p:spPr>
          <a:xfrm>
            <a:off x="7322332" y="1828800"/>
            <a:ext cx="2050633" cy="457200"/>
          </a:xfrm>
          <a:prstGeom prst="roundRect">
            <a:avLst>
              <a:gd name="adj" fmla="val 300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1B3139"/>
                </a:solidFill>
                <a:latin typeface="Segoe UI Semibold"/>
              </a:rPr>
              <a:t>ML Engineers</a:t>
            </a:r>
          </a:p>
        </p:txBody>
      </p:sp>
      <p:sp>
        <p:nvSpPr>
          <p:cNvPr id="17" name="Rounded Rectangle 16"/>
          <p:cNvSpPr/>
          <p:nvPr/>
        </p:nvSpPr>
        <p:spPr>
          <a:xfrm>
            <a:off x="9574133" y="1828800"/>
            <a:ext cx="2050633" cy="457200"/>
          </a:xfrm>
          <a:prstGeom prst="roundRect">
            <a:avLst>
              <a:gd name="adj" fmla="val 300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1">
                <a:solidFill>
                  <a:srgbClr val="1B3139"/>
                </a:solidFill>
                <a:latin typeface="Segoe UI Semibold"/>
              </a:rPr>
              <a:t>BI Users</a:t>
            </a:r>
          </a:p>
        </p:txBody>
      </p:sp>
      <p:sp>
        <p:nvSpPr>
          <p:cNvPr id="18" name="Down Arrow 17"/>
          <p:cNvSpPr/>
          <p:nvPr/>
        </p:nvSpPr>
        <p:spPr>
          <a:xfrm>
            <a:off x="1537380" y="2340864"/>
            <a:ext cx="109728" cy="146304"/>
          </a:xfrm>
          <a:prstGeom prst="down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Down Arrow 18"/>
          <p:cNvSpPr/>
          <p:nvPr/>
        </p:nvSpPr>
        <p:spPr>
          <a:xfrm>
            <a:off x="3789182" y="2340864"/>
            <a:ext cx="109728" cy="146304"/>
          </a:xfrm>
          <a:prstGeom prst="down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Down Arrow 19"/>
          <p:cNvSpPr/>
          <p:nvPr/>
        </p:nvSpPr>
        <p:spPr>
          <a:xfrm>
            <a:off x="6040983" y="2340864"/>
            <a:ext cx="109728" cy="146304"/>
          </a:xfrm>
          <a:prstGeom prst="down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Down Arrow 20"/>
          <p:cNvSpPr/>
          <p:nvPr/>
        </p:nvSpPr>
        <p:spPr>
          <a:xfrm>
            <a:off x="8292785" y="2340864"/>
            <a:ext cx="109728" cy="146304"/>
          </a:xfrm>
          <a:prstGeom prst="down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Down Arrow 21"/>
          <p:cNvSpPr/>
          <p:nvPr/>
        </p:nvSpPr>
        <p:spPr>
          <a:xfrm>
            <a:off x="10544586" y="2340864"/>
            <a:ext cx="109728" cy="146304"/>
          </a:xfrm>
          <a:prstGeom prst="down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566928" y="2560320"/>
            <a:ext cx="11057839" cy="96012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41247" y="2633472"/>
            <a:ext cx="2743200" cy="274320"/>
          </a:xfrm>
          <a:prstGeom prst="rect">
            <a:avLst/>
          </a:prstGeom>
          <a:noFill/>
        </p:spPr>
        <p:txBody>
          <a:bodyPr wrap="square" anchor="t" lIns="0" rIns="0" tIns="0" bIns="0">
            <a:spAutoFit/>
          </a:bodyPr>
          <a:lstStyle/>
          <a:p>
            <a:pPr algn="l">
              <a:lnSpc>
                <a:spcPct val="100000"/>
              </a:lnSpc>
              <a:spcBef>
                <a:spcPts val="0"/>
              </a:spcBef>
              <a:spcAft>
                <a:spcPts val="200"/>
              </a:spcAft>
            </a:pPr>
            <a:r>
              <a:rPr sz="1050" b="1" i="0">
                <a:solidFill>
                  <a:srgbClr val="FF6B57"/>
                </a:solidFill>
                <a:latin typeface="Segoe UI Semibold"/>
              </a:rPr>
              <a:t>WORKSPACE UI</a:t>
            </a:r>
          </a:p>
        </p:txBody>
      </p:sp>
      <p:sp>
        <p:nvSpPr>
          <p:cNvPr id="25" name="Rounded Rectangle 24"/>
          <p:cNvSpPr/>
          <p:nvPr/>
        </p:nvSpPr>
        <p:spPr>
          <a:xfrm>
            <a:off x="841247" y="2944368"/>
            <a:ext cx="1970166" cy="457200"/>
          </a:xfrm>
          <a:prstGeom prst="roundRect">
            <a:avLst>
              <a:gd name="adj" fmla="val 16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77824" y="2944368"/>
            <a:ext cx="1897014" cy="457200"/>
          </a:xfrm>
          <a:prstGeom prst="rect">
            <a:avLst/>
          </a:prstGeom>
          <a:noFill/>
        </p:spPr>
        <p:txBody>
          <a:bodyPr wrap="square" anchor="ctr" lIns="0" rIns="0" tIns="0" bIns="0">
            <a:spAutoFit/>
          </a:bodyPr>
          <a:lstStyle/>
          <a:p>
            <a:pPr algn="ctr">
              <a:lnSpc>
                <a:spcPct val="90000"/>
              </a:lnSpc>
              <a:spcBef>
                <a:spcPts val="0"/>
              </a:spcBef>
              <a:spcAft>
                <a:spcPts val="200"/>
              </a:spcAft>
            </a:pPr>
            <a:r>
              <a:rPr sz="960" b="1" i="0">
                <a:solidFill>
                  <a:srgbClr val="FFFFFF"/>
                </a:solidFill>
                <a:latin typeface="Segoe UI"/>
              </a:rPr>
              <a:t>Notebooks</a:t>
            </a:r>
          </a:p>
        </p:txBody>
      </p:sp>
      <p:sp>
        <p:nvSpPr>
          <p:cNvPr id="27" name="Rounded Rectangle 26"/>
          <p:cNvSpPr/>
          <p:nvPr/>
        </p:nvSpPr>
        <p:spPr>
          <a:xfrm>
            <a:off x="2976006" y="2944368"/>
            <a:ext cx="1970166" cy="457200"/>
          </a:xfrm>
          <a:prstGeom prst="roundRect">
            <a:avLst>
              <a:gd name="adj" fmla="val 16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012582" y="2944368"/>
            <a:ext cx="1897014" cy="457200"/>
          </a:xfrm>
          <a:prstGeom prst="rect">
            <a:avLst/>
          </a:prstGeom>
          <a:noFill/>
        </p:spPr>
        <p:txBody>
          <a:bodyPr wrap="square" anchor="ctr" lIns="0" rIns="0" tIns="0" bIns="0">
            <a:spAutoFit/>
          </a:bodyPr>
          <a:lstStyle/>
          <a:p>
            <a:pPr algn="ctr">
              <a:lnSpc>
                <a:spcPct val="90000"/>
              </a:lnSpc>
              <a:spcBef>
                <a:spcPts val="0"/>
              </a:spcBef>
              <a:spcAft>
                <a:spcPts val="200"/>
              </a:spcAft>
            </a:pPr>
            <a:r>
              <a:rPr sz="960" b="1" i="0">
                <a:solidFill>
                  <a:srgbClr val="FFFFFF"/>
                </a:solidFill>
                <a:latin typeface="Segoe UI"/>
              </a:rPr>
              <a:t>SQL Editor</a:t>
            </a:r>
          </a:p>
        </p:txBody>
      </p:sp>
      <p:sp>
        <p:nvSpPr>
          <p:cNvPr id="29" name="Rounded Rectangle 28"/>
          <p:cNvSpPr/>
          <p:nvPr/>
        </p:nvSpPr>
        <p:spPr>
          <a:xfrm>
            <a:off x="5110764" y="2944368"/>
            <a:ext cx="1970166" cy="457200"/>
          </a:xfrm>
          <a:prstGeom prst="roundRect">
            <a:avLst>
              <a:gd name="adj" fmla="val 16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147340" y="2944368"/>
            <a:ext cx="1897014" cy="457200"/>
          </a:xfrm>
          <a:prstGeom prst="rect">
            <a:avLst/>
          </a:prstGeom>
          <a:noFill/>
        </p:spPr>
        <p:txBody>
          <a:bodyPr wrap="square" anchor="ctr" lIns="0" rIns="0" tIns="0" bIns="0">
            <a:spAutoFit/>
          </a:bodyPr>
          <a:lstStyle/>
          <a:p>
            <a:pPr algn="ctr">
              <a:lnSpc>
                <a:spcPct val="90000"/>
              </a:lnSpc>
              <a:spcBef>
                <a:spcPts val="0"/>
              </a:spcBef>
              <a:spcAft>
                <a:spcPts val="200"/>
              </a:spcAft>
            </a:pPr>
            <a:r>
              <a:rPr sz="960" b="1" i="0">
                <a:solidFill>
                  <a:srgbClr val="FFFFFF"/>
                </a:solidFill>
                <a:latin typeface="Segoe UI"/>
              </a:rPr>
              <a:t>Jobs / Workflows</a:t>
            </a:r>
          </a:p>
        </p:txBody>
      </p:sp>
      <p:sp>
        <p:nvSpPr>
          <p:cNvPr id="31" name="Rounded Rectangle 30"/>
          <p:cNvSpPr/>
          <p:nvPr/>
        </p:nvSpPr>
        <p:spPr>
          <a:xfrm>
            <a:off x="7245522" y="2944368"/>
            <a:ext cx="1970166" cy="457200"/>
          </a:xfrm>
          <a:prstGeom prst="roundRect">
            <a:avLst>
              <a:gd name="adj" fmla="val 16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282098" y="2944368"/>
            <a:ext cx="1897014" cy="457200"/>
          </a:xfrm>
          <a:prstGeom prst="rect">
            <a:avLst/>
          </a:prstGeom>
          <a:noFill/>
        </p:spPr>
        <p:txBody>
          <a:bodyPr wrap="square" anchor="ctr" lIns="0" rIns="0" tIns="0" bIns="0">
            <a:spAutoFit/>
          </a:bodyPr>
          <a:lstStyle/>
          <a:p>
            <a:pPr algn="ctr">
              <a:lnSpc>
                <a:spcPct val="90000"/>
              </a:lnSpc>
              <a:spcBef>
                <a:spcPts val="0"/>
              </a:spcBef>
              <a:spcAft>
                <a:spcPts val="200"/>
              </a:spcAft>
            </a:pPr>
            <a:r>
              <a:rPr sz="960" b="1" i="0">
                <a:solidFill>
                  <a:srgbClr val="FFFFFF"/>
                </a:solidFill>
                <a:latin typeface="Segoe UI"/>
              </a:rPr>
              <a:t>Repos (Git)</a:t>
            </a:r>
          </a:p>
        </p:txBody>
      </p:sp>
      <p:sp>
        <p:nvSpPr>
          <p:cNvPr id="33" name="Rounded Rectangle 32"/>
          <p:cNvSpPr/>
          <p:nvPr/>
        </p:nvSpPr>
        <p:spPr>
          <a:xfrm>
            <a:off x="9380280" y="2944368"/>
            <a:ext cx="1970166" cy="457200"/>
          </a:xfrm>
          <a:prstGeom prst="roundRect">
            <a:avLst>
              <a:gd name="adj" fmla="val 16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416856" y="2944368"/>
            <a:ext cx="1897014" cy="457200"/>
          </a:xfrm>
          <a:prstGeom prst="rect">
            <a:avLst/>
          </a:prstGeom>
          <a:noFill/>
        </p:spPr>
        <p:txBody>
          <a:bodyPr wrap="square" anchor="ctr" lIns="0" rIns="0" tIns="0" bIns="0">
            <a:spAutoFit/>
          </a:bodyPr>
          <a:lstStyle/>
          <a:p>
            <a:pPr algn="ctr">
              <a:lnSpc>
                <a:spcPct val="90000"/>
              </a:lnSpc>
              <a:spcBef>
                <a:spcPts val="0"/>
              </a:spcBef>
              <a:spcAft>
                <a:spcPts val="200"/>
              </a:spcAft>
            </a:pPr>
            <a:r>
              <a:rPr sz="960" b="1" i="0">
                <a:solidFill>
                  <a:srgbClr val="FFFFFF"/>
                </a:solidFill>
                <a:latin typeface="Segoe UI"/>
              </a:rPr>
              <a:t>Dashboards / Genie</a:t>
            </a:r>
          </a:p>
        </p:txBody>
      </p:sp>
      <p:sp>
        <p:nvSpPr>
          <p:cNvPr id="35" name="Down Arrow 34"/>
          <p:cNvSpPr/>
          <p:nvPr/>
        </p:nvSpPr>
        <p:spPr>
          <a:xfrm>
            <a:off x="6022695" y="3566160"/>
            <a:ext cx="146304" cy="164592"/>
          </a:xfrm>
          <a:prstGeom prst="down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566928" y="3840480"/>
            <a:ext cx="11057839" cy="8686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41247" y="3913632"/>
            <a:ext cx="2743200" cy="274320"/>
          </a:xfrm>
          <a:prstGeom prst="rect">
            <a:avLst/>
          </a:prstGeom>
          <a:noFill/>
        </p:spPr>
        <p:txBody>
          <a:bodyPr wrap="square" anchor="t" lIns="0" rIns="0" tIns="0" bIns="0">
            <a:spAutoFit/>
          </a:bodyPr>
          <a:lstStyle/>
          <a:p>
            <a:pPr algn="l">
              <a:lnSpc>
                <a:spcPct val="100000"/>
              </a:lnSpc>
              <a:spcBef>
                <a:spcPts val="0"/>
              </a:spcBef>
              <a:spcAft>
                <a:spcPts val="200"/>
              </a:spcAft>
            </a:pPr>
            <a:r>
              <a:rPr sz="1050" b="1" i="0">
                <a:solidFill>
                  <a:srgbClr val="FF3621"/>
                </a:solidFill>
                <a:latin typeface="Segoe UI Semibold"/>
              </a:rPr>
              <a:t>COMPUTE</a:t>
            </a:r>
          </a:p>
        </p:txBody>
      </p:sp>
      <p:sp>
        <p:nvSpPr>
          <p:cNvPr id="38" name="Rounded Rectangle 37"/>
          <p:cNvSpPr/>
          <p:nvPr/>
        </p:nvSpPr>
        <p:spPr>
          <a:xfrm>
            <a:off x="841247" y="4206240"/>
            <a:ext cx="2490139" cy="384048"/>
          </a:xfrm>
          <a:prstGeom prst="roundRect">
            <a:avLst>
              <a:gd name="adj" fmla="val 16000"/>
            </a:avLst>
          </a:prstGeom>
          <a:solidFill>
            <a:srgbClr val="EFECE6"/>
          </a:solidFill>
          <a:ln w="19050">
            <a:solidFill>
              <a:srgbClr val="2272B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841247" y="4206240"/>
            <a:ext cx="73152" cy="384048"/>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969264" y="4206240"/>
            <a:ext cx="2307259" cy="384048"/>
          </a:xfrm>
          <a:prstGeom prst="rect">
            <a:avLst/>
          </a:prstGeom>
          <a:noFill/>
        </p:spPr>
        <p:txBody>
          <a:bodyPr wrap="square" anchor="ctr" lIns="0" rIns="0" tIns="0" bIns="0">
            <a:spAutoFit/>
          </a:bodyPr>
          <a:lstStyle/>
          <a:p>
            <a:pPr algn="ctr">
              <a:lnSpc>
                <a:spcPct val="100000"/>
              </a:lnSpc>
              <a:spcBef>
                <a:spcPts val="0"/>
              </a:spcBef>
              <a:spcAft>
                <a:spcPts val="200"/>
              </a:spcAft>
            </a:pPr>
            <a:r>
              <a:rPr sz="1000" b="1" i="0">
                <a:solidFill>
                  <a:srgbClr val="1B3139"/>
                </a:solidFill>
                <a:latin typeface="Segoe UI"/>
              </a:rPr>
              <a:t>All-Purpose Clusters</a:t>
            </a:r>
          </a:p>
        </p:txBody>
      </p:sp>
      <p:sp>
        <p:nvSpPr>
          <p:cNvPr id="41" name="Rounded Rectangle 40"/>
          <p:cNvSpPr/>
          <p:nvPr/>
        </p:nvSpPr>
        <p:spPr>
          <a:xfrm>
            <a:off x="3514267" y="4206240"/>
            <a:ext cx="2490139" cy="384048"/>
          </a:xfrm>
          <a:prstGeom prst="roundRect">
            <a:avLst>
              <a:gd name="adj" fmla="val 16000"/>
            </a:avLst>
          </a:prstGeom>
          <a:solidFill>
            <a:srgbClr val="EFECE6"/>
          </a:solidFill>
          <a:ln w="19050">
            <a:solidFill>
              <a:srgbClr val="FF36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3514267" y="4206240"/>
            <a:ext cx="73152" cy="384048"/>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642283" y="4206240"/>
            <a:ext cx="2307259" cy="384048"/>
          </a:xfrm>
          <a:prstGeom prst="rect">
            <a:avLst/>
          </a:prstGeom>
          <a:noFill/>
        </p:spPr>
        <p:txBody>
          <a:bodyPr wrap="square" anchor="ctr" lIns="0" rIns="0" tIns="0" bIns="0">
            <a:spAutoFit/>
          </a:bodyPr>
          <a:lstStyle/>
          <a:p>
            <a:pPr algn="ctr">
              <a:lnSpc>
                <a:spcPct val="100000"/>
              </a:lnSpc>
              <a:spcBef>
                <a:spcPts val="0"/>
              </a:spcBef>
              <a:spcAft>
                <a:spcPts val="200"/>
              </a:spcAft>
            </a:pPr>
            <a:r>
              <a:rPr sz="1000" b="1" i="0">
                <a:solidFill>
                  <a:srgbClr val="1B3139"/>
                </a:solidFill>
                <a:latin typeface="Segoe UI"/>
              </a:rPr>
              <a:t>Job Clusters</a:t>
            </a:r>
          </a:p>
        </p:txBody>
      </p:sp>
      <p:sp>
        <p:nvSpPr>
          <p:cNvPr id="44" name="Rounded Rectangle 43"/>
          <p:cNvSpPr/>
          <p:nvPr/>
        </p:nvSpPr>
        <p:spPr>
          <a:xfrm>
            <a:off x="6187287" y="4206240"/>
            <a:ext cx="2490139" cy="384048"/>
          </a:xfrm>
          <a:prstGeom prst="roundRect">
            <a:avLst>
              <a:gd name="adj" fmla="val 16000"/>
            </a:avLst>
          </a:prstGeom>
          <a:solidFill>
            <a:srgbClr val="EFECE6"/>
          </a:solidFill>
          <a:ln w="19050">
            <a:solidFill>
              <a:srgbClr val="7C5C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6187287" y="4206240"/>
            <a:ext cx="73152" cy="384048"/>
          </a:xfrm>
          <a:prstGeom prst="rect">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315303" y="4206240"/>
            <a:ext cx="2307259" cy="384048"/>
          </a:xfrm>
          <a:prstGeom prst="rect">
            <a:avLst/>
          </a:prstGeom>
          <a:noFill/>
        </p:spPr>
        <p:txBody>
          <a:bodyPr wrap="square" anchor="ctr" lIns="0" rIns="0" tIns="0" bIns="0">
            <a:spAutoFit/>
          </a:bodyPr>
          <a:lstStyle/>
          <a:p>
            <a:pPr algn="ctr">
              <a:lnSpc>
                <a:spcPct val="100000"/>
              </a:lnSpc>
              <a:spcBef>
                <a:spcPts val="0"/>
              </a:spcBef>
              <a:spcAft>
                <a:spcPts val="200"/>
              </a:spcAft>
            </a:pPr>
            <a:r>
              <a:rPr sz="1000" b="1" i="0">
                <a:solidFill>
                  <a:srgbClr val="1B3139"/>
                </a:solidFill>
                <a:latin typeface="Segoe UI"/>
              </a:rPr>
              <a:t>SQL Warehouses</a:t>
            </a:r>
          </a:p>
        </p:txBody>
      </p:sp>
      <p:sp>
        <p:nvSpPr>
          <p:cNvPr id="47" name="Rounded Rectangle 46"/>
          <p:cNvSpPr/>
          <p:nvPr/>
        </p:nvSpPr>
        <p:spPr>
          <a:xfrm>
            <a:off x="8860307" y="4206240"/>
            <a:ext cx="2490139" cy="384048"/>
          </a:xfrm>
          <a:prstGeom prst="roundRect">
            <a:avLst>
              <a:gd name="adj" fmla="val 16000"/>
            </a:avLst>
          </a:prstGeom>
          <a:solidFill>
            <a:srgbClr val="EFECE6"/>
          </a:solidFill>
          <a:ln w="19050">
            <a:solidFill>
              <a:srgbClr val="00A9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8860307" y="4206240"/>
            <a:ext cx="73152" cy="384048"/>
          </a:xfrm>
          <a:prstGeom prst="rect">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988323" y="4206240"/>
            <a:ext cx="2307259" cy="384048"/>
          </a:xfrm>
          <a:prstGeom prst="rect">
            <a:avLst/>
          </a:prstGeom>
          <a:noFill/>
        </p:spPr>
        <p:txBody>
          <a:bodyPr wrap="square" anchor="ctr" lIns="0" rIns="0" tIns="0" bIns="0">
            <a:spAutoFit/>
          </a:bodyPr>
          <a:lstStyle/>
          <a:p>
            <a:pPr algn="ctr">
              <a:lnSpc>
                <a:spcPct val="100000"/>
              </a:lnSpc>
              <a:spcBef>
                <a:spcPts val="0"/>
              </a:spcBef>
              <a:spcAft>
                <a:spcPts val="200"/>
              </a:spcAft>
            </a:pPr>
            <a:r>
              <a:rPr sz="1000" b="1" i="0">
                <a:solidFill>
                  <a:srgbClr val="1B3139"/>
                </a:solidFill>
                <a:latin typeface="Segoe UI"/>
              </a:rPr>
              <a:t>Serverless</a:t>
            </a:r>
          </a:p>
        </p:txBody>
      </p:sp>
      <p:sp>
        <p:nvSpPr>
          <p:cNvPr id="50" name="Rounded Rectangle 49"/>
          <p:cNvSpPr/>
          <p:nvPr/>
        </p:nvSpPr>
        <p:spPr>
          <a:xfrm>
            <a:off x="566928" y="4864608"/>
            <a:ext cx="11057839" cy="457200"/>
          </a:xfrm>
          <a:prstGeom prst="roundRect">
            <a:avLst>
              <a:gd name="adj" fmla="val 20000"/>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ounded Rectangle 50"/>
          <p:cNvSpPr/>
          <p:nvPr/>
        </p:nvSpPr>
        <p:spPr>
          <a:xfrm>
            <a:off x="885139" y="5079492"/>
            <a:ext cx="186537" cy="137160"/>
          </a:xfrm>
          <a:prstGeom prst="roundRect">
            <a:avLst>
              <a:gd name="adj" fmla="val 18000"/>
            </a:avLst>
          </a:prstGeom>
          <a:solidFill>
            <a:srgbClr val="FF6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Block Arc 51"/>
          <p:cNvSpPr/>
          <p:nvPr/>
        </p:nvSpPr>
        <p:spPr>
          <a:xfrm>
            <a:off x="912571" y="4956048"/>
            <a:ext cx="131673" cy="137160"/>
          </a:xfrm>
          <a:prstGeom prst="blockArc">
            <a:avLst>
              <a:gd name="adj1" fmla="val 314159"/>
              <a:gd name="adj2" fmla="val 0"/>
              <a:gd name="adj3" fmla="val 25000"/>
            </a:avLst>
          </a:prstGeom>
          <a:solidFill>
            <a:srgbClr val="FF6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1344168" y="4864608"/>
            <a:ext cx="10143439" cy="457200"/>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FF6B57"/>
                </a:solidFill>
                <a:latin typeface="Segoe UI"/>
              </a:rPr>
              <a:t>Unity Catalog</a:t>
            </a:r>
            <a:r>
              <a:rPr sz="1100" b="0" i="0">
                <a:solidFill>
                  <a:srgbClr val="FFFFFF"/>
                </a:solidFill>
                <a:latin typeface="Segoe UI"/>
              </a:rPr>
              <a:t>  — unified governance, access control &amp; lineage across every asset</a:t>
            </a:r>
          </a:p>
        </p:txBody>
      </p:sp>
      <p:sp>
        <p:nvSpPr>
          <p:cNvPr id="54" name="Rounded Rectangle 53"/>
          <p:cNvSpPr/>
          <p:nvPr/>
        </p:nvSpPr>
        <p:spPr>
          <a:xfrm>
            <a:off x="566928" y="5413248"/>
            <a:ext cx="11057839" cy="457200"/>
          </a:xfrm>
          <a:prstGeom prst="roundRect">
            <a:avLst>
              <a:gd name="adj" fmla="val 200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Cloud 54"/>
          <p:cNvSpPr/>
          <p:nvPr/>
        </p:nvSpPr>
        <p:spPr>
          <a:xfrm>
            <a:off x="820674" y="5525262"/>
            <a:ext cx="315468" cy="233172"/>
          </a:xfrm>
          <a:prstGeom prst="cloud">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1344168" y="5413248"/>
            <a:ext cx="10143439" cy="457200"/>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Open Cloud Storage</a:t>
            </a:r>
            <a:r>
              <a:rPr sz="1100" b="0" i="0">
                <a:solidFill>
                  <a:srgbClr val="465257"/>
                </a:solidFill>
                <a:latin typeface="Segoe UI"/>
              </a:rPr>
              <a:t>  — Delta Lake on S3 / ADLS / GCS  (your account, open formats)</a:t>
            </a:r>
          </a:p>
        </p:txBody>
      </p:sp>
      <p:sp>
        <p:nvSpPr>
          <p:cNvPr id="57" name="TextBox 56"/>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8" name="TextBox 57"/>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WORKSPACE COMPONENTS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The Seven Building Blocks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855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Spark</a:t>
            </a:r>
          </a:p>
        </p:txBody>
      </p:sp>
      <p:sp>
        <p:nvSpPr>
          <p:cNvPr id="9" name="Oval 8"/>
          <p:cNvSpPr/>
          <p:nvPr/>
        </p:nvSpPr>
        <p:spPr>
          <a:xfrm>
            <a:off x="9448495"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Workspace</a:t>
            </a:r>
          </a:p>
        </p:txBody>
      </p:sp>
      <p:sp>
        <p:nvSpPr>
          <p:cNvPr id="11" name="Oval 10"/>
          <p:cNvSpPr/>
          <p:nvPr/>
        </p:nvSpPr>
        <p:spPr>
          <a:xfrm>
            <a:off x="105434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Lakehouse</a:t>
            </a:r>
          </a:p>
        </p:txBody>
      </p:sp>
      <p:sp>
        <p:nvSpPr>
          <p:cNvPr id="13" name="Rounded Rectangle 12"/>
          <p:cNvSpPr/>
          <p:nvPr/>
        </p:nvSpPr>
        <p:spPr>
          <a:xfrm>
            <a:off x="566928" y="1828800"/>
            <a:ext cx="2586151" cy="190652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66928" y="1828800"/>
            <a:ext cx="91440" cy="1906524"/>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77239" y="2011680"/>
            <a:ext cx="585216" cy="585216"/>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016008" y="2191224"/>
            <a:ext cx="107679" cy="10767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978320" y="2315055"/>
            <a:ext cx="183055" cy="11306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499616" y="1993392"/>
            <a:ext cx="1507159"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Workspace</a:t>
            </a:r>
          </a:p>
        </p:txBody>
      </p:sp>
      <p:sp>
        <p:nvSpPr>
          <p:cNvPr id="19" name="TextBox 18"/>
          <p:cNvSpPr txBox="1"/>
          <p:nvPr/>
        </p:nvSpPr>
        <p:spPr>
          <a:xfrm>
            <a:off x="841247" y="2697480"/>
            <a:ext cx="2074087" cy="946403"/>
          </a:xfrm>
          <a:prstGeom prst="rect">
            <a:avLst/>
          </a:prstGeom>
          <a:noFill/>
        </p:spPr>
        <p:txBody>
          <a:bodyPr wrap="square" anchor="t" lIns="0" rIns="0" tIns="0" bIns="0">
            <a:spAutoFit/>
          </a:bodyPr>
          <a:lstStyle/>
          <a:p>
            <a:pPr algn="l">
              <a:lnSpc>
                <a:spcPct val="108000"/>
              </a:lnSpc>
              <a:spcBef>
                <a:spcPts val="0"/>
              </a:spcBef>
              <a:spcAft>
                <a:spcPts val="200"/>
              </a:spcAft>
            </a:pPr>
            <a:r>
              <a:rPr sz="960" b="0" i="0">
                <a:solidFill>
                  <a:srgbClr val="6B777C"/>
                </a:solidFill>
                <a:latin typeface="Segoe UI"/>
              </a:rPr>
              <a:t>The collaborative hub organizing all assets, folders &amp; permissions.</a:t>
            </a:r>
          </a:p>
        </p:txBody>
      </p:sp>
      <p:sp>
        <p:nvSpPr>
          <p:cNvPr id="20" name="Rounded Rectangle 19"/>
          <p:cNvSpPr/>
          <p:nvPr/>
        </p:nvSpPr>
        <p:spPr>
          <a:xfrm>
            <a:off x="3390823" y="1828800"/>
            <a:ext cx="2586151" cy="190652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3390823" y="1828800"/>
            <a:ext cx="91440" cy="1906524"/>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3601135" y="2011680"/>
            <a:ext cx="585216" cy="585216"/>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Folded Corner 22"/>
          <p:cNvSpPr/>
          <p:nvPr/>
        </p:nvSpPr>
        <p:spPr>
          <a:xfrm>
            <a:off x="3807600" y="2191224"/>
            <a:ext cx="172287" cy="226127"/>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323511" y="1993392"/>
            <a:ext cx="1507159"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Notebook</a:t>
            </a:r>
          </a:p>
        </p:txBody>
      </p:sp>
      <p:sp>
        <p:nvSpPr>
          <p:cNvPr id="25" name="TextBox 24"/>
          <p:cNvSpPr txBox="1"/>
          <p:nvPr/>
        </p:nvSpPr>
        <p:spPr>
          <a:xfrm>
            <a:off x="3665143" y="2697480"/>
            <a:ext cx="2074087" cy="946403"/>
          </a:xfrm>
          <a:prstGeom prst="rect">
            <a:avLst/>
          </a:prstGeom>
          <a:noFill/>
        </p:spPr>
        <p:txBody>
          <a:bodyPr wrap="square" anchor="t" lIns="0" rIns="0" tIns="0" bIns="0">
            <a:spAutoFit/>
          </a:bodyPr>
          <a:lstStyle/>
          <a:p>
            <a:pPr algn="l">
              <a:lnSpc>
                <a:spcPct val="108000"/>
              </a:lnSpc>
              <a:spcBef>
                <a:spcPts val="0"/>
              </a:spcBef>
              <a:spcAft>
                <a:spcPts val="200"/>
              </a:spcAft>
            </a:pPr>
            <a:r>
              <a:rPr sz="960" b="0" i="0">
                <a:solidFill>
                  <a:srgbClr val="6B777C"/>
                </a:solidFill>
                <a:latin typeface="Segoe UI"/>
              </a:rPr>
              <a:t>Multi-language (Python/SQL/Scala/R) cells for code, viz &amp; narrative.</a:t>
            </a:r>
          </a:p>
        </p:txBody>
      </p:sp>
      <p:sp>
        <p:nvSpPr>
          <p:cNvPr id="26" name="Rounded Rectangle 25"/>
          <p:cNvSpPr/>
          <p:nvPr/>
        </p:nvSpPr>
        <p:spPr>
          <a:xfrm>
            <a:off x="6214719" y="1828800"/>
            <a:ext cx="2586151" cy="190652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6214719" y="1828800"/>
            <a:ext cx="91440" cy="1906524"/>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6425031" y="2011680"/>
            <a:ext cx="585216" cy="585216"/>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6627188" y="2213837"/>
            <a:ext cx="73222" cy="73222"/>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734868" y="2213837"/>
            <a:ext cx="73222" cy="73222"/>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6627188" y="2321516"/>
            <a:ext cx="73222" cy="73222"/>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6734868" y="2321516"/>
            <a:ext cx="73222" cy="73222"/>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147407" y="1993392"/>
            <a:ext cx="1507159"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Cluster</a:t>
            </a:r>
          </a:p>
        </p:txBody>
      </p:sp>
      <p:sp>
        <p:nvSpPr>
          <p:cNvPr id="34" name="TextBox 33"/>
          <p:cNvSpPr txBox="1"/>
          <p:nvPr/>
        </p:nvSpPr>
        <p:spPr>
          <a:xfrm>
            <a:off x="6489039" y="2697480"/>
            <a:ext cx="2074087" cy="946403"/>
          </a:xfrm>
          <a:prstGeom prst="rect">
            <a:avLst/>
          </a:prstGeom>
          <a:noFill/>
        </p:spPr>
        <p:txBody>
          <a:bodyPr wrap="square" anchor="t" lIns="0" rIns="0" tIns="0" bIns="0">
            <a:spAutoFit/>
          </a:bodyPr>
          <a:lstStyle/>
          <a:p>
            <a:pPr algn="l">
              <a:lnSpc>
                <a:spcPct val="108000"/>
              </a:lnSpc>
              <a:spcBef>
                <a:spcPts val="0"/>
              </a:spcBef>
              <a:spcAft>
                <a:spcPts val="200"/>
              </a:spcAft>
            </a:pPr>
            <a:r>
              <a:rPr sz="960" b="0" i="0">
                <a:solidFill>
                  <a:srgbClr val="6B777C"/>
                </a:solidFill>
                <a:latin typeface="Segoe UI"/>
              </a:rPr>
              <a:t>The Spark compute that notebooks and jobs attach to and run on.</a:t>
            </a:r>
          </a:p>
        </p:txBody>
      </p:sp>
      <p:sp>
        <p:nvSpPr>
          <p:cNvPr id="35" name="Rounded Rectangle 34"/>
          <p:cNvSpPr/>
          <p:nvPr/>
        </p:nvSpPr>
        <p:spPr>
          <a:xfrm>
            <a:off x="9038615" y="1828800"/>
            <a:ext cx="2586151" cy="190652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9038615" y="1828800"/>
            <a:ext cx="91440" cy="1906524"/>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9248927" y="2011680"/>
            <a:ext cx="585216" cy="585216"/>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ight Arrow 37"/>
          <p:cNvSpPr/>
          <p:nvPr/>
        </p:nvSpPr>
        <p:spPr>
          <a:xfrm>
            <a:off x="9406935" y="2223528"/>
            <a:ext cx="269199" cy="161519"/>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971303" y="1993392"/>
            <a:ext cx="1507159"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Jobs / Workflows</a:t>
            </a:r>
          </a:p>
        </p:txBody>
      </p:sp>
      <p:sp>
        <p:nvSpPr>
          <p:cNvPr id="40" name="TextBox 39"/>
          <p:cNvSpPr txBox="1"/>
          <p:nvPr/>
        </p:nvSpPr>
        <p:spPr>
          <a:xfrm>
            <a:off x="9312935" y="2697480"/>
            <a:ext cx="2074087" cy="946403"/>
          </a:xfrm>
          <a:prstGeom prst="rect">
            <a:avLst/>
          </a:prstGeom>
          <a:noFill/>
        </p:spPr>
        <p:txBody>
          <a:bodyPr wrap="square" anchor="t" lIns="0" rIns="0" tIns="0" bIns="0">
            <a:spAutoFit/>
          </a:bodyPr>
          <a:lstStyle/>
          <a:p>
            <a:pPr algn="l">
              <a:lnSpc>
                <a:spcPct val="108000"/>
              </a:lnSpc>
              <a:spcBef>
                <a:spcPts val="0"/>
              </a:spcBef>
              <a:spcAft>
                <a:spcPts val="200"/>
              </a:spcAft>
            </a:pPr>
            <a:r>
              <a:rPr sz="960" b="0" i="0">
                <a:solidFill>
                  <a:srgbClr val="6B777C"/>
                </a:solidFill>
                <a:latin typeface="Segoe UI"/>
              </a:rPr>
              <a:t>Schedule and orchestrate notebooks &amp; tasks into production pipelines.</a:t>
            </a:r>
          </a:p>
        </p:txBody>
      </p:sp>
      <p:sp>
        <p:nvSpPr>
          <p:cNvPr id="41" name="Rounded Rectangle 40"/>
          <p:cNvSpPr/>
          <p:nvPr/>
        </p:nvSpPr>
        <p:spPr>
          <a:xfrm>
            <a:off x="566928" y="3991356"/>
            <a:ext cx="2586151" cy="190652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a:off x="566928" y="3991356"/>
            <a:ext cx="91440" cy="1906524"/>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777239" y="4174235"/>
            <a:ext cx="585216" cy="585216"/>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962168" y="4418388"/>
            <a:ext cx="118447" cy="96911"/>
          </a:xfrm>
          <a:prstGeom prst="roundRect">
            <a:avLst>
              <a:gd name="adj" fmla="val 50000"/>
            </a:avLst>
          </a:prstGeom>
          <a:noFill/>
          <a:ln w="33649">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1059080" y="4418388"/>
            <a:ext cx="118447" cy="96911"/>
          </a:xfrm>
          <a:prstGeom prst="roundRect">
            <a:avLst>
              <a:gd name="adj" fmla="val 50000"/>
            </a:avLst>
          </a:prstGeom>
          <a:noFill/>
          <a:ln w="33649">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1499616" y="4155948"/>
            <a:ext cx="1507159"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Repos</a:t>
            </a:r>
          </a:p>
        </p:txBody>
      </p:sp>
      <p:sp>
        <p:nvSpPr>
          <p:cNvPr id="47" name="TextBox 46"/>
          <p:cNvSpPr txBox="1"/>
          <p:nvPr/>
        </p:nvSpPr>
        <p:spPr>
          <a:xfrm>
            <a:off x="841247" y="4860036"/>
            <a:ext cx="2074087" cy="946403"/>
          </a:xfrm>
          <a:prstGeom prst="rect">
            <a:avLst/>
          </a:prstGeom>
          <a:noFill/>
        </p:spPr>
        <p:txBody>
          <a:bodyPr wrap="square" anchor="t" lIns="0" rIns="0" tIns="0" bIns="0">
            <a:spAutoFit/>
          </a:bodyPr>
          <a:lstStyle/>
          <a:p>
            <a:pPr algn="l">
              <a:lnSpc>
                <a:spcPct val="108000"/>
              </a:lnSpc>
              <a:spcBef>
                <a:spcPts val="0"/>
              </a:spcBef>
              <a:spcAft>
                <a:spcPts val="200"/>
              </a:spcAft>
            </a:pPr>
            <a:r>
              <a:rPr sz="960" b="0" i="0">
                <a:solidFill>
                  <a:srgbClr val="6B777C"/>
                </a:solidFill>
                <a:latin typeface="Segoe UI"/>
              </a:rPr>
              <a:t>Native Git integration for version control and CI/CD.</a:t>
            </a:r>
          </a:p>
        </p:txBody>
      </p:sp>
      <p:sp>
        <p:nvSpPr>
          <p:cNvPr id="48" name="Rounded Rectangle 47"/>
          <p:cNvSpPr/>
          <p:nvPr/>
        </p:nvSpPr>
        <p:spPr>
          <a:xfrm>
            <a:off x="3390823" y="3991356"/>
            <a:ext cx="2586151" cy="190652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ounded Rectangle 48"/>
          <p:cNvSpPr/>
          <p:nvPr/>
        </p:nvSpPr>
        <p:spPr>
          <a:xfrm>
            <a:off x="3390823" y="3991356"/>
            <a:ext cx="91440" cy="190652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Oval 49"/>
          <p:cNvSpPr/>
          <p:nvPr/>
        </p:nvSpPr>
        <p:spPr>
          <a:xfrm>
            <a:off x="3601135" y="4174235"/>
            <a:ext cx="585216" cy="5852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ounded Rectangle 50"/>
          <p:cNvSpPr/>
          <p:nvPr/>
        </p:nvSpPr>
        <p:spPr>
          <a:xfrm>
            <a:off x="3802216" y="4453384"/>
            <a:ext cx="183055" cy="134599"/>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Block Arc 51"/>
          <p:cNvSpPr/>
          <p:nvPr/>
        </p:nvSpPr>
        <p:spPr>
          <a:xfrm>
            <a:off x="3829135" y="4332244"/>
            <a:ext cx="129215" cy="134599"/>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4323511" y="4155948"/>
            <a:ext cx="1507159"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Unity Catalog</a:t>
            </a:r>
          </a:p>
        </p:txBody>
      </p:sp>
      <p:sp>
        <p:nvSpPr>
          <p:cNvPr id="54" name="TextBox 53"/>
          <p:cNvSpPr txBox="1"/>
          <p:nvPr/>
        </p:nvSpPr>
        <p:spPr>
          <a:xfrm>
            <a:off x="3665143" y="4860036"/>
            <a:ext cx="2074087" cy="946403"/>
          </a:xfrm>
          <a:prstGeom prst="rect">
            <a:avLst/>
          </a:prstGeom>
          <a:noFill/>
        </p:spPr>
        <p:txBody>
          <a:bodyPr wrap="square" anchor="t" lIns="0" rIns="0" tIns="0" bIns="0">
            <a:spAutoFit/>
          </a:bodyPr>
          <a:lstStyle/>
          <a:p>
            <a:pPr algn="l">
              <a:lnSpc>
                <a:spcPct val="108000"/>
              </a:lnSpc>
              <a:spcBef>
                <a:spcPts val="0"/>
              </a:spcBef>
              <a:spcAft>
                <a:spcPts val="200"/>
              </a:spcAft>
            </a:pPr>
            <a:r>
              <a:rPr sz="960" b="0" i="0">
                <a:solidFill>
                  <a:srgbClr val="6B777C"/>
                </a:solidFill>
                <a:latin typeface="Segoe UI"/>
              </a:rPr>
              <a:t>Central governance for data, ML models, files &amp; permissions.</a:t>
            </a:r>
          </a:p>
        </p:txBody>
      </p:sp>
      <p:sp>
        <p:nvSpPr>
          <p:cNvPr id="55" name="Rounded Rectangle 54"/>
          <p:cNvSpPr/>
          <p:nvPr/>
        </p:nvSpPr>
        <p:spPr>
          <a:xfrm>
            <a:off x="6214719" y="3991356"/>
            <a:ext cx="2586151" cy="190652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ounded Rectangle 55"/>
          <p:cNvSpPr/>
          <p:nvPr/>
        </p:nvSpPr>
        <p:spPr>
          <a:xfrm>
            <a:off x="6214719" y="3991356"/>
            <a:ext cx="91440" cy="1906524"/>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Oval 56"/>
          <p:cNvSpPr/>
          <p:nvPr/>
        </p:nvSpPr>
        <p:spPr>
          <a:xfrm>
            <a:off x="6425031" y="4174235"/>
            <a:ext cx="585216" cy="585216"/>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ounded Rectangle 57"/>
          <p:cNvSpPr/>
          <p:nvPr/>
        </p:nvSpPr>
        <p:spPr>
          <a:xfrm>
            <a:off x="6604575" y="4466844"/>
            <a:ext cx="53839" cy="13459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ounded Rectangle 58"/>
          <p:cNvSpPr/>
          <p:nvPr/>
        </p:nvSpPr>
        <p:spPr>
          <a:xfrm>
            <a:off x="6690719" y="4391468"/>
            <a:ext cx="53839" cy="209975"/>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ounded Rectangle 59"/>
          <p:cNvSpPr/>
          <p:nvPr/>
        </p:nvSpPr>
        <p:spPr>
          <a:xfrm>
            <a:off x="6776863" y="4332244"/>
            <a:ext cx="53839" cy="26919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7147407" y="4155948"/>
            <a:ext cx="1507159"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Dashboards</a:t>
            </a:r>
          </a:p>
        </p:txBody>
      </p:sp>
      <p:sp>
        <p:nvSpPr>
          <p:cNvPr id="62" name="TextBox 61"/>
          <p:cNvSpPr txBox="1"/>
          <p:nvPr/>
        </p:nvSpPr>
        <p:spPr>
          <a:xfrm>
            <a:off x="6489039" y="4860036"/>
            <a:ext cx="2074087" cy="946403"/>
          </a:xfrm>
          <a:prstGeom prst="rect">
            <a:avLst/>
          </a:prstGeom>
          <a:noFill/>
        </p:spPr>
        <p:txBody>
          <a:bodyPr wrap="square" anchor="t" lIns="0" rIns="0" tIns="0" bIns="0">
            <a:spAutoFit/>
          </a:bodyPr>
          <a:lstStyle/>
          <a:p>
            <a:pPr algn="l">
              <a:lnSpc>
                <a:spcPct val="108000"/>
              </a:lnSpc>
              <a:spcBef>
                <a:spcPts val="0"/>
              </a:spcBef>
              <a:spcAft>
                <a:spcPts val="200"/>
              </a:spcAft>
            </a:pPr>
            <a:r>
              <a:rPr sz="960" b="0" i="0">
                <a:solidFill>
                  <a:srgbClr val="6B777C"/>
                </a:solidFill>
                <a:latin typeface="Segoe UI"/>
              </a:rPr>
              <a:t>AI/BI dashboards &amp; Genie for SQL analytics and natural-language Q&amp;A.</a:t>
            </a:r>
          </a:p>
        </p:txBody>
      </p:sp>
      <p:sp>
        <p:nvSpPr>
          <p:cNvPr id="63" name="TextBox 62"/>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64" name="TextBox 63"/>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WORKSPACE COMPONENTS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The Notebook Lifecycle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855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Spark</a:t>
            </a:r>
          </a:p>
        </p:txBody>
      </p:sp>
      <p:sp>
        <p:nvSpPr>
          <p:cNvPr id="9" name="Oval 8"/>
          <p:cNvSpPr/>
          <p:nvPr/>
        </p:nvSpPr>
        <p:spPr>
          <a:xfrm>
            <a:off x="9448495"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Workspace</a:t>
            </a:r>
          </a:p>
        </p:txBody>
      </p:sp>
      <p:sp>
        <p:nvSpPr>
          <p:cNvPr id="11" name="Oval 10"/>
          <p:cNvSpPr/>
          <p:nvPr/>
        </p:nvSpPr>
        <p:spPr>
          <a:xfrm>
            <a:off x="105434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Lakehouse</a:t>
            </a:r>
          </a:p>
        </p:txBody>
      </p:sp>
      <p:sp>
        <p:nvSpPr>
          <p:cNvPr id="13" name="Rounded Rectangle 12"/>
          <p:cNvSpPr/>
          <p:nvPr/>
        </p:nvSpPr>
        <p:spPr>
          <a:xfrm>
            <a:off x="566928" y="2148840"/>
            <a:ext cx="1538173" cy="23774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66928" y="2148840"/>
            <a:ext cx="1538173" cy="109728"/>
          </a:xfrm>
          <a:prstGeom prst="roundRect">
            <a:avLst>
              <a:gd name="adj" fmla="val 50000"/>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915390" y="2386584"/>
            <a:ext cx="841248" cy="841248"/>
          </a:xfrm>
          <a:prstGeom prst="ellipse">
            <a:avLst/>
          </a:prstGeom>
          <a:solidFill>
            <a:srgbClr val="27444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Folded Corner 15"/>
          <p:cNvSpPr/>
          <p:nvPr/>
        </p:nvSpPr>
        <p:spPr>
          <a:xfrm>
            <a:off x="1212182" y="2644678"/>
            <a:ext cx="247663" cy="325058"/>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611325"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1</a:t>
            </a:r>
          </a:p>
        </p:txBody>
      </p:sp>
      <p:sp>
        <p:nvSpPr>
          <p:cNvPr id="18" name="TextBox 17"/>
          <p:cNvSpPr txBox="1"/>
          <p:nvPr/>
        </p:nvSpPr>
        <p:spPr>
          <a:xfrm>
            <a:off x="676656" y="3282696"/>
            <a:ext cx="1318717" cy="310896"/>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1B3139"/>
                </a:solidFill>
                <a:latin typeface="Segoe UI"/>
              </a:rPr>
              <a:t>Create</a:t>
            </a:r>
          </a:p>
        </p:txBody>
      </p:sp>
      <p:sp>
        <p:nvSpPr>
          <p:cNvPr id="19" name="TextBox 18"/>
          <p:cNvSpPr txBox="1"/>
          <p:nvPr/>
        </p:nvSpPr>
        <p:spPr>
          <a:xfrm>
            <a:off x="713232" y="3813048"/>
            <a:ext cx="1245565" cy="676656"/>
          </a:xfrm>
          <a:prstGeom prst="rect">
            <a:avLst/>
          </a:prstGeom>
          <a:noFill/>
        </p:spPr>
        <p:txBody>
          <a:bodyPr wrap="square" anchor="t" lIns="0" rIns="0" tIns="0" bIns="0">
            <a:spAutoFit/>
          </a:bodyPr>
          <a:lstStyle/>
          <a:p>
            <a:pPr algn="ctr">
              <a:lnSpc>
                <a:spcPct val="105000"/>
              </a:lnSpc>
              <a:spcBef>
                <a:spcPts val="0"/>
              </a:spcBef>
              <a:spcAft>
                <a:spcPts val="200"/>
              </a:spcAft>
            </a:pPr>
            <a:r>
              <a:rPr sz="960" b="0" i="0">
                <a:solidFill>
                  <a:srgbClr val="6B777C"/>
                </a:solidFill>
                <a:latin typeface="Segoe UI"/>
              </a:rPr>
              <a:t>New notebook; pick a default language &amp; folder.</a:t>
            </a:r>
          </a:p>
        </p:txBody>
      </p:sp>
      <p:sp>
        <p:nvSpPr>
          <p:cNvPr id="20" name="Right Arrow 19"/>
          <p:cNvSpPr/>
          <p:nvPr/>
        </p:nvSpPr>
        <p:spPr>
          <a:xfrm>
            <a:off x="2141677" y="325526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2470861" y="2148840"/>
            <a:ext cx="1538173" cy="23774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2470861" y="2148840"/>
            <a:ext cx="1538173" cy="109728"/>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2819323" y="2386584"/>
            <a:ext cx="841248" cy="841248"/>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3109924" y="2677184"/>
            <a:ext cx="105256" cy="105256"/>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3264714" y="2677184"/>
            <a:ext cx="105256" cy="105256"/>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3109924" y="2831974"/>
            <a:ext cx="105256" cy="105256"/>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3264714" y="2831974"/>
            <a:ext cx="105256" cy="105256"/>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3515258"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2</a:t>
            </a:r>
          </a:p>
        </p:txBody>
      </p:sp>
      <p:sp>
        <p:nvSpPr>
          <p:cNvPr id="29" name="TextBox 28"/>
          <p:cNvSpPr txBox="1"/>
          <p:nvPr/>
        </p:nvSpPr>
        <p:spPr>
          <a:xfrm>
            <a:off x="2580589" y="3282696"/>
            <a:ext cx="1318717" cy="310896"/>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1B3139"/>
                </a:solidFill>
                <a:latin typeface="Segoe UI"/>
              </a:rPr>
              <a:t>Attach</a:t>
            </a:r>
          </a:p>
        </p:txBody>
      </p:sp>
      <p:sp>
        <p:nvSpPr>
          <p:cNvPr id="30" name="TextBox 29"/>
          <p:cNvSpPr txBox="1"/>
          <p:nvPr/>
        </p:nvSpPr>
        <p:spPr>
          <a:xfrm>
            <a:off x="2617165" y="3813048"/>
            <a:ext cx="1245565" cy="676656"/>
          </a:xfrm>
          <a:prstGeom prst="rect">
            <a:avLst/>
          </a:prstGeom>
          <a:noFill/>
        </p:spPr>
        <p:txBody>
          <a:bodyPr wrap="square" anchor="t" lIns="0" rIns="0" tIns="0" bIns="0">
            <a:spAutoFit/>
          </a:bodyPr>
          <a:lstStyle/>
          <a:p>
            <a:pPr algn="ctr">
              <a:lnSpc>
                <a:spcPct val="105000"/>
              </a:lnSpc>
              <a:spcBef>
                <a:spcPts val="0"/>
              </a:spcBef>
              <a:spcAft>
                <a:spcPts val="200"/>
              </a:spcAft>
            </a:pPr>
            <a:r>
              <a:rPr sz="960" b="0" i="0">
                <a:solidFill>
                  <a:srgbClr val="6B777C"/>
                </a:solidFill>
                <a:latin typeface="Segoe UI"/>
              </a:rPr>
              <a:t>Connect to a cluster or SQL warehouse for compute.</a:t>
            </a:r>
          </a:p>
        </p:txBody>
      </p:sp>
      <p:sp>
        <p:nvSpPr>
          <p:cNvPr id="31" name="Right Arrow 30"/>
          <p:cNvSpPr/>
          <p:nvPr/>
        </p:nvSpPr>
        <p:spPr>
          <a:xfrm>
            <a:off x="4045610" y="325526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4374794" y="2148840"/>
            <a:ext cx="1538173" cy="23774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4374794" y="2148840"/>
            <a:ext cx="1538173" cy="109728"/>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4723257" y="2386584"/>
            <a:ext cx="841248" cy="841248"/>
          </a:xfrm>
          <a:prstGeom prst="ellipse">
            <a:avLst/>
          </a:prstGeom>
          <a:solidFill>
            <a:srgbClr val="0E8C9C"/>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5002480" y="2665807"/>
            <a:ext cx="120271" cy="12027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5165009" y="2665807"/>
            <a:ext cx="120271" cy="12027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Diamond 36"/>
          <p:cNvSpPr/>
          <p:nvPr/>
        </p:nvSpPr>
        <p:spPr>
          <a:xfrm>
            <a:off x="5002480" y="2828336"/>
            <a:ext cx="120271" cy="120271"/>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5165009" y="2828336"/>
            <a:ext cx="120271" cy="12027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541919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3</a:t>
            </a:r>
          </a:p>
        </p:txBody>
      </p:sp>
      <p:sp>
        <p:nvSpPr>
          <p:cNvPr id="40" name="TextBox 39"/>
          <p:cNvSpPr txBox="1"/>
          <p:nvPr/>
        </p:nvSpPr>
        <p:spPr>
          <a:xfrm>
            <a:off x="4484522" y="3282696"/>
            <a:ext cx="1318717" cy="310896"/>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1B3139"/>
                </a:solidFill>
                <a:latin typeface="Segoe UI"/>
              </a:rPr>
              <a:t>Develop</a:t>
            </a:r>
          </a:p>
        </p:txBody>
      </p:sp>
      <p:sp>
        <p:nvSpPr>
          <p:cNvPr id="41" name="TextBox 40"/>
          <p:cNvSpPr txBox="1"/>
          <p:nvPr/>
        </p:nvSpPr>
        <p:spPr>
          <a:xfrm>
            <a:off x="4521098" y="3813048"/>
            <a:ext cx="1245565" cy="676656"/>
          </a:xfrm>
          <a:prstGeom prst="rect">
            <a:avLst/>
          </a:prstGeom>
          <a:noFill/>
        </p:spPr>
        <p:txBody>
          <a:bodyPr wrap="square" anchor="t" lIns="0" rIns="0" tIns="0" bIns="0">
            <a:spAutoFit/>
          </a:bodyPr>
          <a:lstStyle/>
          <a:p>
            <a:pPr algn="ctr">
              <a:lnSpc>
                <a:spcPct val="105000"/>
              </a:lnSpc>
              <a:spcBef>
                <a:spcPts val="0"/>
              </a:spcBef>
              <a:spcAft>
                <a:spcPts val="200"/>
              </a:spcAft>
            </a:pPr>
            <a:r>
              <a:rPr sz="960" b="0" i="0">
                <a:solidFill>
                  <a:srgbClr val="6B777C"/>
                </a:solidFill>
                <a:latin typeface="Segoe UI"/>
              </a:rPr>
              <a:t>Mix Python, SQL, Scala, R &amp; magic commands.</a:t>
            </a:r>
          </a:p>
        </p:txBody>
      </p:sp>
      <p:sp>
        <p:nvSpPr>
          <p:cNvPr id="42" name="Right Arrow 41"/>
          <p:cNvSpPr/>
          <p:nvPr/>
        </p:nvSpPr>
        <p:spPr>
          <a:xfrm>
            <a:off x="5949543" y="325526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ounded Rectangle 42"/>
          <p:cNvSpPr/>
          <p:nvPr/>
        </p:nvSpPr>
        <p:spPr>
          <a:xfrm>
            <a:off x="6278727" y="2148840"/>
            <a:ext cx="1538173" cy="23774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6278727" y="2148840"/>
            <a:ext cx="1538173" cy="109728"/>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6627190" y="2386584"/>
            <a:ext cx="841248" cy="841248"/>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6885285" y="2807208"/>
            <a:ext cx="77394" cy="193487"/>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7009116" y="2698855"/>
            <a:ext cx="77394" cy="30183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7132948" y="2613720"/>
            <a:ext cx="77394" cy="386974"/>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Oval 48"/>
          <p:cNvSpPr/>
          <p:nvPr/>
        </p:nvSpPr>
        <p:spPr>
          <a:xfrm>
            <a:off x="7323124"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4</a:t>
            </a:r>
          </a:p>
        </p:txBody>
      </p:sp>
      <p:sp>
        <p:nvSpPr>
          <p:cNvPr id="50" name="TextBox 49"/>
          <p:cNvSpPr txBox="1"/>
          <p:nvPr/>
        </p:nvSpPr>
        <p:spPr>
          <a:xfrm>
            <a:off x="6388455" y="3282696"/>
            <a:ext cx="1318717" cy="310896"/>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1B3139"/>
                </a:solidFill>
                <a:latin typeface="Segoe UI"/>
              </a:rPr>
              <a:t>Run &amp; Visualize</a:t>
            </a:r>
          </a:p>
        </p:txBody>
      </p:sp>
      <p:sp>
        <p:nvSpPr>
          <p:cNvPr id="51" name="TextBox 50"/>
          <p:cNvSpPr txBox="1"/>
          <p:nvPr/>
        </p:nvSpPr>
        <p:spPr>
          <a:xfrm>
            <a:off x="6425031" y="3813048"/>
            <a:ext cx="1245565" cy="676656"/>
          </a:xfrm>
          <a:prstGeom prst="rect">
            <a:avLst/>
          </a:prstGeom>
          <a:noFill/>
        </p:spPr>
        <p:txBody>
          <a:bodyPr wrap="square" anchor="t" lIns="0" rIns="0" tIns="0" bIns="0">
            <a:spAutoFit/>
          </a:bodyPr>
          <a:lstStyle/>
          <a:p>
            <a:pPr algn="ctr">
              <a:lnSpc>
                <a:spcPct val="105000"/>
              </a:lnSpc>
              <a:spcBef>
                <a:spcPts val="0"/>
              </a:spcBef>
              <a:spcAft>
                <a:spcPts val="200"/>
              </a:spcAft>
            </a:pPr>
            <a:r>
              <a:rPr sz="960" b="0" i="0">
                <a:solidFill>
                  <a:srgbClr val="6B777C"/>
                </a:solidFill>
                <a:latin typeface="Segoe UI"/>
              </a:rPr>
              <a:t>Execute cells; chart results inline; iterate fast.</a:t>
            </a:r>
          </a:p>
        </p:txBody>
      </p:sp>
      <p:sp>
        <p:nvSpPr>
          <p:cNvPr id="52" name="Right Arrow 51"/>
          <p:cNvSpPr/>
          <p:nvPr/>
        </p:nvSpPr>
        <p:spPr>
          <a:xfrm>
            <a:off x="7853476" y="325526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ounded Rectangle 52"/>
          <p:cNvSpPr/>
          <p:nvPr/>
        </p:nvSpPr>
        <p:spPr>
          <a:xfrm>
            <a:off x="8182660" y="2148840"/>
            <a:ext cx="1538173" cy="23774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ounded Rectangle 53"/>
          <p:cNvSpPr/>
          <p:nvPr/>
        </p:nvSpPr>
        <p:spPr>
          <a:xfrm>
            <a:off x="8182660" y="2148840"/>
            <a:ext cx="1538173" cy="109728"/>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Oval 54"/>
          <p:cNvSpPr/>
          <p:nvPr/>
        </p:nvSpPr>
        <p:spPr>
          <a:xfrm>
            <a:off x="8531123" y="2386584"/>
            <a:ext cx="841248" cy="841248"/>
          </a:xfrm>
          <a:prstGeom prst="ellipse">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ounded Rectangle 55"/>
          <p:cNvSpPr/>
          <p:nvPr/>
        </p:nvSpPr>
        <p:spPr>
          <a:xfrm>
            <a:off x="8796957" y="2737552"/>
            <a:ext cx="170268" cy="139310"/>
          </a:xfrm>
          <a:prstGeom prst="roundRect">
            <a:avLst>
              <a:gd name="adj" fmla="val 50000"/>
            </a:avLst>
          </a:prstGeom>
          <a:noFill/>
          <a:ln w="48371">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ounded Rectangle 56"/>
          <p:cNvSpPr/>
          <p:nvPr/>
        </p:nvSpPr>
        <p:spPr>
          <a:xfrm>
            <a:off x="8936268" y="2737552"/>
            <a:ext cx="170268" cy="139310"/>
          </a:xfrm>
          <a:prstGeom prst="roundRect">
            <a:avLst>
              <a:gd name="adj" fmla="val 50000"/>
            </a:avLst>
          </a:prstGeom>
          <a:noFill/>
          <a:ln w="48371">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Oval 57"/>
          <p:cNvSpPr/>
          <p:nvPr/>
        </p:nvSpPr>
        <p:spPr>
          <a:xfrm>
            <a:off x="9227058"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5</a:t>
            </a:r>
          </a:p>
        </p:txBody>
      </p:sp>
      <p:sp>
        <p:nvSpPr>
          <p:cNvPr id="59" name="TextBox 58"/>
          <p:cNvSpPr txBox="1"/>
          <p:nvPr/>
        </p:nvSpPr>
        <p:spPr>
          <a:xfrm>
            <a:off x="8292388" y="3282696"/>
            <a:ext cx="1318717" cy="310896"/>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1B3139"/>
                </a:solidFill>
                <a:latin typeface="Segoe UI"/>
              </a:rPr>
              <a:t>Version</a:t>
            </a:r>
          </a:p>
        </p:txBody>
      </p:sp>
      <p:sp>
        <p:nvSpPr>
          <p:cNvPr id="60" name="TextBox 59"/>
          <p:cNvSpPr txBox="1"/>
          <p:nvPr/>
        </p:nvSpPr>
        <p:spPr>
          <a:xfrm>
            <a:off x="8328964" y="3813048"/>
            <a:ext cx="1245565" cy="676656"/>
          </a:xfrm>
          <a:prstGeom prst="rect">
            <a:avLst/>
          </a:prstGeom>
          <a:noFill/>
        </p:spPr>
        <p:txBody>
          <a:bodyPr wrap="square" anchor="t" lIns="0" rIns="0" tIns="0" bIns="0">
            <a:spAutoFit/>
          </a:bodyPr>
          <a:lstStyle/>
          <a:p>
            <a:pPr algn="ctr">
              <a:lnSpc>
                <a:spcPct val="105000"/>
              </a:lnSpc>
              <a:spcBef>
                <a:spcPts val="0"/>
              </a:spcBef>
              <a:spcAft>
                <a:spcPts val="200"/>
              </a:spcAft>
            </a:pPr>
            <a:r>
              <a:rPr sz="960" b="0" i="0">
                <a:solidFill>
                  <a:srgbClr val="6B777C"/>
                </a:solidFill>
                <a:latin typeface="Segoe UI"/>
              </a:rPr>
              <a:t>Commit to Git via Repos; review &amp; branch.</a:t>
            </a:r>
          </a:p>
        </p:txBody>
      </p:sp>
      <p:sp>
        <p:nvSpPr>
          <p:cNvPr id="61" name="Right Arrow 60"/>
          <p:cNvSpPr/>
          <p:nvPr/>
        </p:nvSpPr>
        <p:spPr>
          <a:xfrm>
            <a:off x="9757410" y="325526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ounded Rectangle 61"/>
          <p:cNvSpPr/>
          <p:nvPr/>
        </p:nvSpPr>
        <p:spPr>
          <a:xfrm>
            <a:off x="10086593" y="2148840"/>
            <a:ext cx="1538173" cy="23774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ounded Rectangle 62"/>
          <p:cNvSpPr/>
          <p:nvPr/>
        </p:nvSpPr>
        <p:spPr>
          <a:xfrm>
            <a:off x="10086593" y="2148840"/>
            <a:ext cx="1538173" cy="109728"/>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Oval 63"/>
          <p:cNvSpPr/>
          <p:nvPr/>
        </p:nvSpPr>
        <p:spPr>
          <a:xfrm>
            <a:off x="10435056" y="2386584"/>
            <a:ext cx="841248" cy="841248"/>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Right Arrow 64"/>
          <p:cNvSpPr/>
          <p:nvPr/>
        </p:nvSpPr>
        <p:spPr>
          <a:xfrm>
            <a:off x="10662193" y="2691115"/>
            <a:ext cx="386974" cy="232184"/>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Oval 65"/>
          <p:cNvSpPr/>
          <p:nvPr/>
        </p:nvSpPr>
        <p:spPr>
          <a:xfrm>
            <a:off x="1113099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6</a:t>
            </a:r>
          </a:p>
        </p:txBody>
      </p:sp>
      <p:sp>
        <p:nvSpPr>
          <p:cNvPr id="67" name="TextBox 66"/>
          <p:cNvSpPr txBox="1"/>
          <p:nvPr/>
        </p:nvSpPr>
        <p:spPr>
          <a:xfrm>
            <a:off x="10196321" y="3282696"/>
            <a:ext cx="1318717" cy="310896"/>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1B3139"/>
                </a:solidFill>
                <a:latin typeface="Segoe UI"/>
              </a:rPr>
              <a:t>Operationalize</a:t>
            </a:r>
          </a:p>
        </p:txBody>
      </p:sp>
      <p:sp>
        <p:nvSpPr>
          <p:cNvPr id="68" name="TextBox 67"/>
          <p:cNvSpPr txBox="1"/>
          <p:nvPr/>
        </p:nvSpPr>
        <p:spPr>
          <a:xfrm>
            <a:off x="10232897" y="3813048"/>
            <a:ext cx="1245565" cy="676656"/>
          </a:xfrm>
          <a:prstGeom prst="rect">
            <a:avLst/>
          </a:prstGeom>
          <a:noFill/>
        </p:spPr>
        <p:txBody>
          <a:bodyPr wrap="square" anchor="t" lIns="0" rIns="0" tIns="0" bIns="0">
            <a:spAutoFit/>
          </a:bodyPr>
          <a:lstStyle/>
          <a:p>
            <a:pPr algn="ctr">
              <a:lnSpc>
                <a:spcPct val="105000"/>
              </a:lnSpc>
              <a:spcBef>
                <a:spcPts val="0"/>
              </a:spcBef>
              <a:spcAft>
                <a:spcPts val="200"/>
              </a:spcAft>
            </a:pPr>
            <a:r>
              <a:rPr sz="960" b="0" i="0">
                <a:solidFill>
                  <a:srgbClr val="6B777C"/>
                </a:solidFill>
                <a:latin typeface="Segoe UI"/>
              </a:rPr>
              <a:t>Schedule as a Job or publish a dashboard.</a:t>
            </a:r>
          </a:p>
        </p:txBody>
      </p:sp>
      <p:sp>
        <p:nvSpPr>
          <p:cNvPr id="69" name="Rounded Rectangle 68"/>
          <p:cNvSpPr/>
          <p:nvPr/>
        </p:nvSpPr>
        <p:spPr>
          <a:xfrm>
            <a:off x="566928" y="4846320"/>
            <a:ext cx="11057839" cy="86868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914400" y="4846320"/>
            <a:ext cx="10362895" cy="86868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Exploration to production, in one artifact.  </a:t>
            </a:r>
            <a:r>
              <a:rPr sz="1250" b="0" i="0">
                <a:solidFill>
                  <a:srgbClr val="465257"/>
                </a:solidFill>
                <a:latin typeface="Segoe UI"/>
              </a:rPr>
              <a:t>The same notebook you prototype in can be version-controlled and scheduled — no rewrite, no hand-off to a different tool.</a:t>
            </a:r>
          </a:p>
        </p:txBody>
      </p:sp>
      <p:sp>
        <p:nvSpPr>
          <p:cNvPr id="71" name="TextBox 70"/>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72" name="TextBox 71"/>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WORKSPACE COMPONENTS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Cluster Types — Choosing Compute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855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Spark</a:t>
            </a:r>
          </a:p>
        </p:txBody>
      </p:sp>
      <p:sp>
        <p:nvSpPr>
          <p:cNvPr id="9" name="Oval 8"/>
          <p:cNvSpPr/>
          <p:nvPr/>
        </p:nvSpPr>
        <p:spPr>
          <a:xfrm>
            <a:off x="9448495"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Workspace</a:t>
            </a:r>
          </a:p>
        </p:txBody>
      </p:sp>
      <p:sp>
        <p:nvSpPr>
          <p:cNvPr id="11" name="Oval 10"/>
          <p:cNvSpPr/>
          <p:nvPr/>
        </p:nvSpPr>
        <p:spPr>
          <a:xfrm>
            <a:off x="105434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Lakehouse</a:t>
            </a:r>
          </a:p>
        </p:txBody>
      </p:sp>
      <p:sp>
        <p:nvSpPr>
          <p:cNvPr id="13" name="Rounded Rectangle 12"/>
          <p:cNvSpPr/>
          <p:nvPr/>
        </p:nvSpPr>
        <p:spPr>
          <a:xfrm>
            <a:off x="566928" y="1828800"/>
            <a:ext cx="2562441" cy="512064"/>
          </a:xfrm>
          <a:prstGeom prst="roundRect">
            <a:avLst>
              <a:gd name="adj" fmla="val 16000"/>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50" b="1">
                <a:solidFill>
                  <a:srgbClr val="FFFFFF"/>
                </a:solidFill>
                <a:latin typeface="Segoe UI Semibold"/>
              </a:rPr>
              <a:t>Aspect</a:t>
            </a:r>
          </a:p>
        </p:txBody>
      </p:sp>
      <p:sp>
        <p:nvSpPr>
          <p:cNvPr id="14" name="Rounded Rectangle 13"/>
          <p:cNvSpPr/>
          <p:nvPr/>
        </p:nvSpPr>
        <p:spPr>
          <a:xfrm>
            <a:off x="3220809" y="1828800"/>
            <a:ext cx="4110538" cy="512064"/>
          </a:xfrm>
          <a:prstGeom prst="roundRect">
            <a:avLst>
              <a:gd name="adj" fmla="val 16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50" b="1">
                <a:solidFill>
                  <a:srgbClr val="FFFFFF"/>
                </a:solidFill>
                <a:latin typeface="Segoe UI Semibold"/>
              </a:rPr>
              <a:t>All-Purpose Cluster</a:t>
            </a:r>
          </a:p>
        </p:txBody>
      </p:sp>
      <p:sp>
        <p:nvSpPr>
          <p:cNvPr id="15" name="Rounded Rectangle 14"/>
          <p:cNvSpPr/>
          <p:nvPr/>
        </p:nvSpPr>
        <p:spPr>
          <a:xfrm>
            <a:off x="7422788" y="1828800"/>
            <a:ext cx="4110538" cy="512064"/>
          </a:xfrm>
          <a:prstGeom prst="roundRect">
            <a:avLst>
              <a:gd name="adj" fmla="val 16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50" b="1">
                <a:solidFill>
                  <a:srgbClr val="FFFFFF"/>
                </a:solidFill>
                <a:latin typeface="Segoe UI Semibold"/>
              </a:rPr>
              <a:t>Job Cluster</a:t>
            </a:r>
          </a:p>
        </p:txBody>
      </p:sp>
      <p:sp>
        <p:nvSpPr>
          <p:cNvPr id="16" name="Rectangle 15"/>
          <p:cNvSpPr/>
          <p:nvPr/>
        </p:nvSpPr>
        <p:spPr>
          <a:xfrm>
            <a:off x="566928" y="2432304"/>
            <a:ext cx="11057839" cy="60350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76656" y="2432304"/>
            <a:ext cx="2434425" cy="603504"/>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Purpose</a:t>
            </a:r>
          </a:p>
        </p:txBody>
      </p:sp>
      <p:sp>
        <p:nvSpPr>
          <p:cNvPr id="18" name="TextBox 17"/>
          <p:cNvSpPr txBox="1"/>
          <p:nvPr/>
        </p:nvSpPr>
        <p:spPr>
          <a:xfrm>
            <a:off x="3348825" y="2432304"/>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Interactive development</a:t>
            </a:r>
          </a:p>
        </p:txBody>
      </p:sp>
      <p:sp>
        <p:nvSpPr>
          <p:cNvPr id="19" name="TextBox 18"/>
          <p:cNvSpPr txBox="1"/>
          <p:nvPr/>
        </p:nvSpPr>
        <p:spPr>
          <a:xfrm>
            <a:off x="7550804" y="2432304"/>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Automated production runs</a:t>
            </a:r>
          </a:p>
        </p:txBody>
      </p:sp>
      <p:sp>
        <p:nvSpPr>
          <p:cNvPr id="20" name="TextBox 19"/>
          <p:cNvSpPr txBox="1"/>
          <p:nvPr/>
        </p:nvSpPr>
        <p:spPr>
          <a:xfrm>
            <a:off x="676656" y="3035808"/>
            <a:ext cx="2434425" cy="603504"/>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Lifecycle</a:t>
            </a:r>
          </a:p>
        </p:txBody>
      </p:sp>
      <p:sp>
        <p:nvSpPr>
          <p:cNvPr id="21" name="TextBox 20"/>
          <p:cNvSpPr txBox="1"/>
          <p:nvPr/>
        </p:nvSpPr>
        <p:spPr>
          <a:xfrm>
            <a:off x="3348825" y="3035808"/>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Long-running, manual start</a:t>
            </a:r>
          </a:p>
        </p:txBody>
      </p:sp>
      <p:sp>
        <p:nvSpPr>
          <p:cNvPr id="22" name="TextBox 21"/>
          <p:cNvSpPr txBox="1"/>
          <p:nvPr/>
        </p:nvSpPr>
        <p:spPr>
          <a:xfrm>
            <a:off x="7550804" y="3035808"/>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Created per job, auto-terminated</a:t>
            </a:r>
          </a:p>
        </p:txBody>
      </p:sp>
      <p:sp>
        <p:nvSpPr>
          <p:cNvPr id="23" name="Rectangle 22"/>
          <p:cNvSpPr/>
          <p:nvPr/>
        </p:nvSpPr>
        <p:spPr>
          <a:xfrm>
            <a:off x="566928" y="3639312"/>
            <a:ext cx="11057839" cy="60350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76656" y="3639312"/>
            <a:ext cx="2434425" cy="603504"/>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Sharing</a:t>
            </a:r>
          </a:p>
        </p:txBody>
      </p:sp>
      <p:sp>
        <p:nvSpPr>
          <p:cNvPr id="25" name="TextBox 24"/>
          <p:cNvSpPr txBox="1"/>
          <p:nvPr/>
        </p:nvSpPr>
        <p:spPr>
          <a:xfrm>
            <a:off x="3348825" y="3639312"/>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Shared by a team</a:t>
            </a:r>
          </a:p>
        </p:txBody>
      </p:sp>
      <p:sp>
        <p:nvSpPr>
          <p:cNvPr id="26" name="TextBox 25"/>
          <p:cNvSpPr txBox="1"/>
          <p:nvPr/>
        </p:nvSpPr>
        <p:spPr>
          <a:xfrm>
            <a:off x="7550804" y="3639312"/>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Dedicated to one job</a:t>
            </a:r>
          </a:p>
        </p:txBody>
      </p:sp>
      <p:sp>
        <p:nvSpPr>
          <p:cNvPr id="27" name="TextBox 26"/>
          <p:cNvSpPr txBox="1"/>
          <p:nvPr/>
        </p:nvSpPr>
        <p:spPr>
          <a:xfrm>
            <a:off x="676656" y="4242816"/>
            <a:ext cx="2434425" cy="603504"/>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Cost</a:t>
            </a:r>
          </a:p>
        </p:txBody>
      </p:sp>
      <p:sp>
        <p:nvSpPr>
          <p:cNvPr id="28" name="TextBox 27"/>
          <p:cNvSpPr txBox="1"/>
          <p:nvPr/>
        </p:nvSpPr>
        <p:spPr>
          <a:xfrm>
            <a:off x="3348825" y="4242816"/>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Higher — stays on</a:t>
            </a:r>
          </a:p>
        </p:txBody>
      </p:sp>
      <p:sp>
        <p:nvSpPr>
          <p:cNvPr id="29" name="TextBox 28"/>
          <p:cNvSpPr txBox="1"/>
          <p:nvPr/>
        </p:nvSpPr>
        <p:spPr>
          <a:xfrm>
            <a:off x="7550804" y="4242816"/>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Lower — runs only when needed</a:t>
            </a:r>
          </a:p>
        </p:txBody>
      </p:sp>
      <p:sp>
        <p:nvSpPr>
          <p:cNvPr id="30" name="Rectangle 29"/>
          <p:cNvSpPr/>
          <p:nvPr/>
        </p:nvSpPr>
        <p:spPr>
          <a:xfrm>
            <a:off x="566928" y="4846320"/>
            <a:ext cx="11057839" cy="60350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76656" y="4846320"/>
            <a:ext cx="2434425" cy="603504"/>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1B3139"/>
                </a:solidFill>
                <a:latin typeface="Segoe UI"/>
              </a:rPr>
              <a:t>Best For</a:t>
            </a:r>
          </a:p>
        </p:txBody>
      </p:sp>
      <p:sp>
        <p:nvSpPr>
          <p:cNvPr id="32" name="TextBox 31"/>
          <p:cNvSpPr txBox="1"/>
          <p:nvPr/>
        </p:nvSpPr>
        <p:spPr>
          <a:xfrm>
            <a:off x="3348825" y="4846320"/>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Notebooks, ad-hoc, EDA</a:t>
            </a:r>
          </a:p>
        </p:txBody>
      </p:sp>
      <p:sp>
        <p:nvSpPr>
          <p:cNvPr id="33" name="TextBox 32"/>
          <p:cNvSpPr txBox="1"/>
          <p:nvPr/>
        </p:nvSpPr>
        <p:spPr>
          <a:xfrm>
            <a:off x="7550804" y="4846320"/>
            <a:ext cx="3945946"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0" i="0">
                <a:solidFill>
                  <a:srgbClr val="465257"/>
                </a:solidFill>
                <a:latin typeface="Segoe UI"/>
              </a:rPr>
              <a:t>Scheduled ETL &amp; pipelines</a:t>
            </a:r>
          </a:p>
        </p:txBody>
      </p:sp>
      <p:sp>
        <p:nvSpPr>
          <p:cNvPr id="34" name="Rounded Rectangle 33"/>
          <p:cNvSpPr/>
          <p:nvPr/>
        </p:nvSpPr>
        <p:spPr>
          <a:xfrm>
            <a:off x="566928" y="5074920"/>
            <a:ext cx="5391759" cy="84124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758952" y="5230368"/>
            <a:ext cx="530352" cy="530352"/>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921663" y="5495544"/>
            <a:ext cx="48792" cy="12198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999731" y="5427234"/>
            <a:ext cx="48792" cy="19029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1077799" y="5373563"/>
            <a:ext cx="48792" cy="243961"/>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1435607" y="5193792"/>
            <a:ext cx="4385919" cy="310896"/>
          </a:xfrm>
          <a:prstGeom prst="rect">
            <a:avLst/>
          </a:prstGeom>
          <a:noFill/>
        </p:spPr>
        <p:txBody>
          <a:bodyPr wrap="square" anchor="t" lIns="0" rIns="0" tIns="0" bIns="0">
            <a:spAutoFit/>
          </a:bodyPr>
          <a:lstStyle/>
          <a:p>
            <a:pPr algn="l">
              <a:lnSpc>
                <a:spcPct val="100000"/>
              </a:lnSpc>
              <a:spcBef>
                <a:spcPts val="0"/>
              </a:spcBef>
              <a:spcAft>
                <a:spcPts val="200"/>
              </a:spcAft>
            </a:pPr>
            <a:r>
              <a:rPr sz="1250" b="1" i="0">
                <a:solidFill>
                  <a:srgbClr val="1B3139"/>
                </a:solidFill>
                <a:latin typeface="Segoe UI"/>
              </a:rPr>
              <a:t>SQL Warehouse</a:t>
            </a:r>
          </a:p>
        </p:txBody>
      </p:sp>
      <p:sp>
        <p:nvSpPr>
          <p:cNvPr id="40" name="TextBox 39"/>
          <p:cNvSpPr txBox="1"/>
          <p:nvPr/>
        </p:nvSpPr>
        <p:spPr>
          <a:xfrm>
            <a:off x="1435607" y="5495544"/>
            <a:ext cx="4385919" cy="365760"/>
          </a:xfrm>
          <a:prstGeom prst="rect">
            <a:avLst/>
          </a:prstGeom>
          <a:noFill/>
        </p:spPr>
        <p:txBody>
          <a:bodyPr wrap="square" anchor="t" lIns="0" rIns="0" tIns="0" bIns="0">
            <a:spAutoFit/>
          </a:bodyPr>
          <a:lstStyle/>
          <a:p>
            <a:pPr algn="l">
              <a:lnSpc>
                <a:spcPct val="100000"/>
              </a:lnSpc>
              <a:spcBef>
                <a:spcPts val="0"/>
              </a:spcBef>
              <a:spcAft>
                <a:spcPts val="200"/>
              </a:spcAft>
            </a:pPr>
            <a:r>
              <a:rPr sz="1000" b="0" i="0">
                <a:solidFill>
                  <a:srgbClr val="6B777C"/>
                </a:solidFill>
                <a:latin typeface="Segoe UI"/>
              </a:rPr>
              <a:t>Photon-optimized compute for BI &amp; SQL analytics</a:t>
            </a:r>
          </a:p>
        </p:txBody>
      </p:sp>
      <p:sp>
        <p:nvSpPr>
          <p:cNvPr id="41" name="Rounded Rectangle 40"/>
          <p:cNvSpPr/>
          <p:nvPr/>
        </p:nvSpPr>
        <p:spPr>
          <a:xfrm>
            <a:off x="6233007" y="5074920"/>
            <a:ext cx="5391759" cy="84124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6425031" y="5230368"/>
            <a:ext cx="530352" cy="530352"/>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Cloud 42"/>
          <p:cNvSpPr/>
          <p:nvPr/>
        </p:nvSpPr>
        <p:spPr>
          <a:xfrm>
            <a:off x="6549929" y="5391860"/>
            <a:ext cx="280556" cy="207367"/>
          </a:xfrm>
          <a:prstGeom prst="clou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101687" y="5193792"/>
            <a:ext cx="4385919" cy="310896"/>
          </a:xfrm>
          <a:prstGeom prst="rect">
            <a:avLst/>
          </a:prstGeom>
          <a:noFill/>
        </p:spPr>
        <p:txBody>
          <a:bodyPr wrap="square" anchor="t" lIns="0" rIns="0" tIns="0" bIns="0">
            <a:spAutoFit/>
          </a:bodyPr>
          <a:lstStyle/>
          <a:p>
            <a:pPr algn="l">
              <a:lnSpc>
                <a:spcPct val="100000"/>
              </a:lnSpc>
              <a:spcBef>
                <a:spcPts val="0"/>
              </a:spcBef>
              <a:spcAft>
                <a:spcPts val="200"/>
              </a:spcAft>
            </a:pPr>
            <a:r>
              <a:rPr sz="1250" b="1" i="0">
                <a:solidFill>
                  <a:srgbClr val="1B3139"/>
                </a:solidFill>
                <a:latin typeface="Segoe UI"/>
              </a:rPr>
              <a:t>Serverless</a:t>
            </a:r>
          </a:p>
        </p:txBody>
      </p:sp>
      <p:sp>
        <p:nvSpPr>
          <p:cNvPr id="45" name="TextBox 44"/>
          <p:cNvSpPr txBox="1"/>
          <p:nvPr/>
        </p:nvSpPr>
        <p:spPr>
          <a:xfrm>
            <a:off x="7101687" y="5495544"/>
            <a:ext cx="4385919" cy="365760"/>
          </a:xfrm>
          <a:prstGeom prst="rect">
            <a:avLst/>
          </a:prstGeom>
          <a:noFill/>
        </p:spPr>
        <p:txBody>
          <a:bodyPr wrap="square" anchor="t" lIns="0" rIns="0" tIns="0" bIns="0">
            <a:spAutoFit/>
          </a:bodyPr>
          <a:lstStyle/>
          <a:p>
            <a:pPr algn="l">
              <a:lnSpc>
                <a:spcPct val="100000"/>
              </a:lnSpc>
              <a:spcBef>
                <a:spcPts val="0"/>
              </a:spcBef>
              <a:spcAft>
                <a:spcPts val="200"/>
              </a:spcAft>
            </a:pPr>
            <a:r>
              <a:rPr sz="1000" b="0" i="0">
                <a:solidFill>
                  <a:srgbClr val="6B777C"/>
                </a:solidFill>
                <a:latin typeface="Segoe UI"/>
              </a:rPr>
              <a:t>Instant, fully-managed pools — zero infra to configure</a:t>
            </a:r>
          </a:p>
        </p:txBody>
      </p:sp>
      <p:sp>
        <p:nvSpPr>
          <p:cNvPr id="46" name="TextBox 45"/>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7" name="TextBox 46"/>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WORKSPACE COMPONENTS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Repos &amp; Git Integration</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855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Spark</a:t>
            </a:r>
          </a:p>
        </p:txBody>
      </p:sp>
      <p:sp>
        <p:nvSpPr>
          <p:cNvPr id="9" name="Oval 8"/>
          <p:cNvSpPr/>
          <p:nvPr/>
        </p:nvSpPr>
        <p:spPr>
          <a:xfrm>
            <a:off x="9448495"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Workspace</a:t>
            </a:r>
          </a:p>
        </p:txBody>
      </p:sp>
      <p:sp>
        <p:nvSpPr>
          <p:cNvPr id="11" name="Oval 10"/>
          <p:cNvSpPr/>
          <p:nvPr/>
        </p:nvSpPr>
        <p:spPr>
          <a:xfrm>
            <a:off x="105434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Lakehouse</a:t>
            </a:r>
          </a:p>
        </p:txBody>
      </p:sp>
      <p:sp>
        <p:nvSpPr>
          <p:cNvPr id="13" name="Rounded Rectangle 12"/>
          <p:cNvSpPr/>
          <p:nvPr/>
        </p:nvSpPr>
        <p:spPr>
          <a:xfrm>
            <a:off x="566928" y="1874519"/>
            <a:ext cx="4297680" cy="141732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795528" y="2258568"/>
            <a:ext cx="640080" cy="640080"/>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Folded Corner 14"/>
          <p:cNvSpPr/>
          <p:nvPr/>
        </p:nvSpPr>
        <p:spPr>
          <a:xfrm>
            <a:off x="1021348" y="2454944"/>
            <a:ext cx="188439" cy="247326"/>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527048" y="2212848"/>
            <a:ext cx="3108960" cy="365760"/>
          </a:xfrm>
          <a:prstGeom prst="rect">
            <a:avLst/>
          </a:prstGeom>
          <a:noFill/>
        </p:spPr>
        <p:txBody>
          <a:bodyPr wrap="square" anchor="t" lIns="0" rIns="0" tIns="0" bIns="0">
            <a:spAutoFit/>
          </a:bodyPr>
          <a:lstStyle/>
          <a:p>
            <a:pPr algn="l">
              <a:lnSpc>
                <a:spcPct val="100000"/>
              </a:lnSpc>
              <a:spcBef>
                <a:spcPts val="0"/>
              </a:spcBef>
              <a:spcAft>
                <a:spcPts val="200"/>
              </a:spcAft>
            </a:pPr>
            <a:r>
              <a:rPr sz="1400" b="1" i="0">
                <a:solidFill>
                  <a:srgbClr val="FFFFFF"/>
                </a:solidFill>
                <a:latin typeface="Segoe UI"/>
              </a:rPr>
              <a:t>Databricks Repo</a:t>
            </a:r>
          </a:p>
        </p:txBody>
      </p:sp>
      <p:sp>
        <p:nvSpPr>
          <p:cNvPr id="17" name="TextBox 16"/>
          <p:cNvSpPr txBox="1"/>
          <p:nvPr/>
        </p:nvSpPr>
        <p:spPr>
          <a:xfrm>
            <a:off x="1527048" y="2578608"/>
            <a:ext cx="3200400" cy="548640"/>
          </a:xfrm>
          <a:prstGeom prst="rect">
            <a:avLst/>
          </a:prstGeom>
          <a:noFill/>
        </p:spPr>
        <p:txBody>
          <a:bodyPr wrap="square" anchor="t" lIns="0" rIns="0" tIns="0" bIns="0">
            <a:spAutoFit/>
          </a:bodyPr>
          <a:lstStyle/>
          <a:p>
            <a:pPr algn="l">
              <a:lnSpc>
                <a:spcPct val="105000"/>
              </a:lnSpc>
              <a:spcBef>
                <a:spcPts val="0"/>
              </a:spcBef>
              <a:spcAft>
                <a:spcPts val="200"/>
              </a:spcAft>
            </a:pPr>
            <a:r>
              <a:rPr sz="1000" b="0" i="0">
                <a:solidFill>
                  <a:srgbClr val="C4D0D4"/>
                </a:solidFill>
                <a:latin typeface="Segoe UI"/>
              </a:rPr>
              <a:t>Notebooks &amp; code, versioned inside the Workspace</a:t>
            </a:r>
          </a:p>
        </p:txBody>
      </p:sp>
      <p:sp>
        <p:nvSpPr>
          <p:cNvPr id="18" name="Right Arrow 17"/>
          <p:cNvSpPr/>
          <p:nvPr/>
        </p:nvSpPr>
        <p:spPr>
          <a:xfrm>
            <a:off x="5074920" y="2286000"/>
            <a:ext cx="1417320" cy="274320"/>
          </a:xfrm>
          <a:prstGeom prst="rightArrow">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029200" y="2029968"/>
            <a:ext cx="1554480" cy="228600"/>
          </a:xfrm>
          <a:prstGeom prst="rect">
            <a:avLst/>
          </a:prstGeom>
          <a:noFill/>
        </p:spPr>
        <p:txBody>
          <a:bodyPr wrap="square" anchor="t" lIns="0" rIns="0" tIns="0" bIns="0">
            <a:spAutoFit/>
          </a:bodyPr>
          <a:lstStyle/>
          <a:p>
            <a:pPr algn="ctr">
              <a:lnSpc>
                <a:spcPct val="100000"/>
              </a:lnSpc>
              <a:spcBef>
                <a:spcPts val="0"/>
              </a:spcBef>
              <a:spcAft>
                <a:spcPts val="200"/>
              </a:spcAft>
            </a:pPr>
            <a:r>
              <a:rPr sz="900" b="1" i="0">
                <a:solidFill>
                  <a:srgbClr val="057A55"/>
                </a:solidFill>
                <a:latin typeface="Segoe UI"/>
              </a:rPr>
              <a:t>commit · push</a:t>
            </a:r>
          </a:p>
        </p:txBody>
      </p:sp>
      <p:sp>
        <p:nvSpPr>
          <p:cNvPr id="20" name="Left Arrow 19"/>
          <p:cNvSpPr/>
          <p:nvPr/>
        </p:nvSpPr>
        <p:spPr>
          <a:xfrm>
            <a:off x="5074920" y="2743200"/>
            <a:ext cx="1417320" cy="274320"/>
          </a:xfrm>
          <a:prstGeom prst="leftArrow">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029200" y="3035808"/>
            <a:ext cx="1554480" cy="228600"/>
          </a:xfrm>
          <a:prstGeom prst="rect">
            <a:avLst/>
          </a:prstGeom>
          <a:noFill/>
        </p:spPr>
        <p:txBody>
          <a:bodyPr wrap="square" anchor="t" lIns="0" rIns="0" tIns="0" bIns="0">
            <a:spAutoFit/>
          </a:bodyPr>
          <a:lstStyle/>
          <a:p>
            <a:pPr algn="ctr">
              <a:lnSpc>
                <a:spcPct val="100000"/>
              </a:lnSpc>
              <a:spcBef>
                <a:spcPts val="0"/>
              </a:spcBef>
              <a:spcAft>
                <a:spcPts val="200"/>
              </a:spcAft>
            </a:pPr>
            <a:r>
              <a:rPr sz="900" b="1" i="0">
                <a:solidFill>
                  <a:srgbClr val="2272B4"/>
                </a:solidFill>
                <a:latin typeface="Segoe UI"/>
              </a:rPr>
              <a:t>pull · clone</a:t>
            </a:r>
          </a:p>
        </p:txBody>
      </p:sp>
      <p:sp>
        <p:nvSpPr>
          <p:cNvPr id="22" name="Rounded Rectangle 21"/>
          <p:cNvSpPr/>
          <p:nvPr/>
        </p:nvSpPr>
        <p:spPr>
          <a:xfrm>
            <a:off x="6675120" y="1874519"/>
            <a:ext cx="4949647" cy="14173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903720" y="2258568"/>
            <a:ext cx="640080" cy="640080"/>
          </a:xfrm>
          <a:prstGeom prst="ellipse">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7105985" y="2525609"/>
            <a:ext cx="129552" cy="105997"/>
          </a:xfrm>
          <a:prstGeom prst="roundRect">
            <a:avLst>
              <a:gd name="adj" fmla="val 50000"/>
            </a:avLst>
          </a:prstGeom>
          <a:noFill/>
          <a:ln w="36804">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7211982" y="2525609"/>
            <a:ext cx="129552" cy="105997"/>
          </a:xfrm>
          <a:prstGeom prst="roundRect">
            <a:avLst>
              <a:gd name="adj" fmla="val 50000"/>
            </a:avLst>
          </a:prstGeom>
          <a:noFill/>
          <a:ln w="36804">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635240" y="2212848"/>
            <a:ext cx="3474720" cy="365760"/>
          </a:xfrm>
          <a:prstGeom prst="rect">
            <a:avLst/>
          </a:prstGeom>
          <a:noFill/>
        </p:spPr>
        <p:txBody>
          <a:bodyPr wrap="square" anchor="t" lIns="0" rIns="0" tIns="0" bIns="0">
            <a:spAutoFit/>
          </a:bodyPr>
          <a:lstStyle/>
          <a:p>
            <a:pPr algn="l">
              <a:lnSpc>
                <a:spcPct val="100000"/>
              </a:lnSpc>
              <a:spcBef>
                <a:spcPts val="0"/>
              </a:spcBef>
              <a:spcAft>
                <a:spcPts val="200"/>
              </a:spcAft>
            </a:pPr>
            <a:r>
              <a:rPr sz="1400" b="1" i="0">
                <a:solidFill>
                  <a:srgbClr val="1B3139"/>
                </a:solidFill>
                <a:latin typeface="Segoe UI"/>
              </a:rPr>
              <a:t>Remote Git Provider</a:t>
            </a:r>
          </a:p>
        </p:txBody>
      </p:sp>
      <p:sp>
        <p:nvSpPr>
          <p:cNvPr id="27" name="TextBox 26"/>
          <p:cNvSpPr txBox="1"/>
          <p:nvPr/>
        </p:nvSpPr>
        <p:spPr>
          <a:xfrm>
            <a:off x="7635240" y="2578608"/>
            <a:ext cx="3657600" cy="548640"/>
          </a:xfrm>
          <a:prstGeom prst="rect">
            <a:avLst/>
          </a:prstGeom>
          <a:noFill/>
        </p:spPr>
        <p:txBody>
          <a:bodyPr wrap="square" anchor="t" lIns="0" rIns="0" tIns="0" bIns="0">
            <a:spAutoFit/>
          </a:bodyPr>
          <a:lstStyle/>
          <a:p>
            <a:pPr algn="l">
              <a:lnSpc>
                <a:spcPct val="105000"/>
              </a:lnSpc>
              <a:spcBef>
                <a:spcPts val="0"/>
              </a:spcBef>
              <a:spcAft>
                <a:spcPts val="200"/>
              </a:spcAft>
            </a:pPr>
            <a:r>
              <a:rPr sz="1000" b="0" i="0">
                <a:solidFill>
                  <a:srgbClr val="6B777C"/>
                </a:solidFill>
                <a:latin typeface="Segoe UI"/>
              </a:rPr>
              <a:t>GitHub · GitLab · Azure DevOps · Bitbucket</a:t>
            </a:r>
          </a:p>
        </p:txBody>
      </p:sp>
      <p:sp>
        <p:nvSpPr>
          <p:cNvPr id="28" name="TextBox 27"/>
          <p:cNvSpPr txBox="1"/>
          <p:nvPr/>
        </p:nvSpPr>
        <p:spPr>
          <a:xfrm>
            <a:off x="566928" y="3657600"/>
            <a:ext cx="11057839" cy="274320"/>
          </a:xfrm>
          <a:prstGeom prst="rect">
            <a:avLst/>
          </a:prstGeom>
          <a:noFill/>
        </p:spPr>
        <p:txBody>
          <a:bodyPr wrap="square" anchor="t" lIns="0" rIns="0" tIns="0" bIns="0">
            <a:spAutoFit/>
          </a:bodyPr>
          <a:lstStyle/>
          <a:p>
            <a:pPr algn="l">
              <a:lnSpc>
                <a:spcPct val="100000"/>
              </a:lnSpc>
              <a:spcBef>
                <a:spcPts val="0"/>
              </a:spcBef>
              <a:spcAft>
                <a:spcPts val="200"/>
              </a:spcAft>
            </a:pPr>
            <a:r>
              <a:rPr sz="1050" b="1" i="0">
                <a:solidFill>
                  <a:srgbClr val="FF3621"/>
                </a:solidFill>
                <a:latin typeface="Segoe UI Semibold"/>
              </a:rPr>
              <a:t>TYPICAL WORKFLOW</a:t>
            </a:r>
          </a:p>
        </p:txBody>
      </p:sp>
      <p:sp>
        <p:nvSpPr>
          <p:cNvPr id="29" name="Rounded Rectangle 28"/>
          <p:cNvSpPr/>
          <p:nvPr/>
        </p:nvSpPr>
        <p:spPr>
          <a:xfrm>
            <a:off x="566928" y="4023360"/>
            <a:ext cx="1313209" cy="868680"/>
          </a:xfrm>
          <a:prstGeom prst="roundRect">
            <a:avLst>
              <a:gd name="adj" fmla="val 10000"/>
            </a:avLst>
          </a:prstGeom>
          <a:solidFill>
            <a:srgbClr val="FFFFFF"/>
          </a:solidFill>
          <a:ln w="20320">
            <a:solidFill>
              <a:srgbClr val="27444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566928" y="4023360"/>
            <a:ext cx="1313209" cy="91440"/>
          </a:xfrm>
          <a:prstGeom prst="rect">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667512" y="4087368"/>
            <a:ext cx="274320" cy="274320"/>
          </a:xfrm>
          <a:prstGeom prst="ellipse">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FFFFFF"/>
                </a:solidFill>
                <a:latin typeface="Segoe UI Semibold"/>
              </a:rPr>
              <a:t>1</a:t>
            </a:r>
          </a:p>
        </p:txBody>
      </p:sp>
      <p:sp>
        <p:nvSpPr>
          <p:cNvPr id="32" name="TextBox 31"/>
          <p:cNvSpPr txBox="1"/>
          <p:nvPr/>
        </p:nvSpPr>
        <p:spPr>
          <a:xfrm>
            <a:off x="603504" y="4261104"/>
            <a:ext cx="1240057" cy="566928"/>
          </a:xfrm>
          <a:prstGeom prst="rect">
            <a:avLst/>
          </a:prstGeom>
          <a:noFill/>
        </p:spPr>
        <p:txBody>
          <a:bodyPr wrap="square" anchor="ctr" lIns="0" rIns="0" tIns="0" bIns="0">
            <a:spAutoFit/>
          </a:bodyPr>
          <a:lstStyle/>
          <a:p>
            <a:pPr algn="ctr">
              <a:lnSpc>
                <a:spcPct val="90000"/>
              </a:lnSpc>
              <a:spcBef>
                <a:spcPts val="0"/>
              </a:spcBef>
              <a:spcAft>
                <a:spcPts val="200"/>
              </a:spcAft>
            </a:pPr>
            <a:r>
              <a:rPr sz="1000" b="1" i="0">
                <a:solidFill>
                  <a:srgbClr val="1B3139"/>
                </a:solidFill>
                <a:latin typeface="Segoe UI"/>
              </a:rPr>
              <a:t>Clone</a:t>
            </a:r>
          </a:p>
        </p:txBody>
      </p:sp>
      <p:sp>
        <p:nvSpPr>
          <p:cNvPr id="33" name="Right Arrow 32"/>
          <p:cNvSpPr/>
          <p:nvPr/>
        </p:nvSpPr>
        <p:spPr>
          <a:xfrm>
            <a:off x="1898425" y="4389120"/>
            <a:ext cx="256032" cy="128016"/>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2191033" y="4023360"/>
            <a:ext cx="1313209" cy="868680"/>
          </a:xfrm>
          <a:prstGeom prst="roundRect">
            <a:avLst>
              <a:gd name="adj" fmla="val 10000"/>
            </a:avLst>
          </a:prstGeom>
          <a:solidFill>
            <a:srgbClr val="FFFFFF"/>
          </a:solidFill>
          <a:ln w="20320">
            <a:solidFill>
              <a:srgbClr val="2272B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2191033" y="4023360"/>
            <a:ext cx="1313209" cy="91440"/>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2291617" y="4087368"/>
            <a:ext cx="274320" cy="274320"/>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FFFFFF"/>
                </a:solidFill>
                <a:latin typeface="Segoe UI Semibold"/>
              </a:rPr>
              <a:t>2</a:t>
            </a:r>
          </a:p>
        </p:txBody>
      </p:sp>
      <p:sp>
        <p:nvSpPr>
          <p:cNvPr id="37" name="TextBox 36"/>
          <p:cNvSpPr txBox="1"/>
          <p:nvPr/>
        </p:nvSpPr>
        <p:spPr>
          <a:xfrm>
            <a:off x="2227609" y="4261104"/>
            <a:ext cx="1240057" cy="566928"/>
          </a:xfrm>
          <a:prstGeom prst="rect">
            <a:avLst/>
          </a:prstGeom>
          <a:noFill/>
        </p:spPr>
        <p:txBody>
          <a:bodyPr wrap="square" anchor="ctr" lIns="0" rIns="0" tIns="0" bIns="0">
            <a:spAutoFit/>
          </a:bodyPr>
          <a:lstStyle/>
          <a:p>
            <a:pPr algn="ctr">
              <a:lnSpc>
                <a:spcPct val="90000"/>
              </a:lnSpc>
              <a:spcBef>
                <a:spcPts val="0"/>
              </a:spcBef>
              <a:spcAft>
                <a:spcPts val="200"/>
              </a:spcAft>
            </a:pPr>
            <a:r>
              <a:rPr sz="1000" b="1" i="0">
                <a:solidFill>
                  <a:srgbClr val="1B3139"/>
                </a:solidFill>
                <a:latin typeface="Segoe UI"/>
              </a:rPr>
              <a:t>Branch</a:t>
            </a:r>
          </a:p>
        </p:txBody>
      </p:sp>
      <p:sp>
        <p:nvSpPr>
          <p:cNvPr id="38" name="Right Arrow 37"/>
          <p:cNvSpPr/>
          <p:nvPr/>
        </p:nvSpPr>
        <p:spPr>
          <a:xfrm>
            <a:off x="3522530" y="4389120"/>
            <a:ext cx="256032" cy="128016"/>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3815138" y="4023360"/>
            <a:ext cx="1313209" cy="868680"/>
          </a:xfrm>
          <a:prstGeom prst="roundRect">
            <a:avLst>
              <a:gd name="adj" fmla="val 10000"/>
            </a:avLst>
          </a:prstGeom>
          <a:solidFill>
            <a:srgbClr val="FFFFFF"/>
          </a:solidFill>
          <a:ln w="20320">
            <a:solidFill>
              <a:srgbClr val="0E8C9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3815138" y="4023360"/>
            <a:ext cx="1313209" cy="91440"/>
          </a:xfrm>
          <a:prstGeom prst="rect">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3915722" y="4087368"/>
            <a:ext cx="274320" cy="274320"/>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FFFFFF"/>
                </a:solidFill>
                <a:latin typeface="Segoe UI Semibold"/>
              </a:rPr>
              <a:t>3</a:t>
            </a:r>
          </a:p>
        </p:txBody>
      </p:sp>
      <p:sp>
        <p:nvSpPr>
          <p:cNvPr id="42" name="TextBox 41"/>
          <p:cNvSpPr txBox="1"/>
          <p:nvPr/>
        </p:nvSpPr>
        <p:spPr>
          <a:xfrm>
            <a:off x="3851714" y="4261104"/>
            <a:ext cx="1240057" cy="566928"/>
          </a:xfrm>
          <a:prstGeom prst="rect">
            <a:avLst/>
          </a:prstGeom>
          <a:noFill/>
        </p:spPr>
        <p:txBody>
          <a:bodyPr wrap="square" anchor="ctr" lIns="0" rIns="0" tIns="0" bIns="0">
            <a:spAutoFit/>
          </a:bodyPr>
          <a:lstStyle/>
          <a:p>
            <a:pPr algn="ctr">
              <a:lnSpc>
                <a:spcPct val="90000"/>
              </a:lnSpc>
              <a:spcBef>
                <a:spcPts val="0"/>
              </a:spcBef>
              <a:spcAft>
                <a:spcPts val="200"/>
              </a:spcAft>
            </a:pPr>
            <a:r>
              <a:rPr sz="1000" b="1" i="0">
                <a:solidFill>
                  <a:srgbClr val="1B3139"/>
                </a:solidFill>
                <a:latin typeface="Segoe UI"/>
              </a:rPr>
              <a:t>Edit in
Notebooks</a:t>
            </a:r>
          </a:p>
        </p:txBody>
      </p:sp>
      <p:sp>
        <p:nvSpPr>
          <p:cNvPr id="43" name="Right Arrow 42"/>
          <p:cNvSpPr/>
          <p:nvPr/>
        </p:nvSpPr>
        <p:spPr>
          <a:xfrm>
            <a:off x="5146635" y="4389120"/>
            <a:ext cx="256032" cy="128016"/>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5439243" y="4023360"/>
            <a:ext cx="1313209" cy="868680"/>
          </a:xfrm>
          <a:prstGeom prst="roundRect">
            <a:avLst>
              <a:gd name="adj" fmla="val 10000"/>
            </a:avLst>
          </a:prstGeom>
          <a:solidFill>
            <a:srgbClr val="FFFFFF"/>
          </a:solidFill>
          <a:ln w="20320">
            <a:solidFill>
              <a:srgbClr val="FF36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5439243" y="4023360"/>
            <a:ext cx="1313209" cy="9144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Oval 45"/>
          <p:cNvSpPr/>
          <p:nvPr/>
        </p:nvSpPr>
        <p:spPr>
          <a:xfrm>
            <a:off x="5539827" y="4087368"/>
            <a:ext cx="274320" cy="274320"/>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FFFFFF"/>
                </a:solidFill>
                <a:latin typeface="Segoe UI Semibold"/>
              </a:rPr>
              <a:t>4</a:t>
            </a:r>
          </a:p>
        </p:txBody>
      </p:sp>
      <p:sp>
        <p:nvSpPr>
          <p:cNvPr id="47" name="TextBox 46"/>
          <p:cNvSpPr txBox="1"/>
          <p:nvPr/>
        </p:nvSpPr>
        <p:spPr>
          <a:xfrm>
            <a:off x="5475819" y="4261104"/>
            <a:ext cx="1240057" cy="566928"/>
          </a:xfrm>
          <a:prstGeom prst="rect">
            <a:avLst/>
          </a:prstGeom>
          <a:noFill/>
        </p:spPr>
        <p:txBody>
          <a:bodyPr wrap="square" anchor="ctr" lIns="0" rIns="0" tIns="0" bIns="0">
            <a:spAutoFit/>
          </a:bodyPr>
          <a:lstStyle/>
          <a:p>
            <a:pPr algn="ctr">
              <a:lnSpc>
                <a:spcPct val="90000"/>
              </a:lnSpc>
              <a:spcBef>
                <a:spcPts val="0"/>
              </a:spcBef>
              <a:spcAft>
                <a:spcPts val="200"/>
              </a:spcAft>
            </a:pPr>
            <a:r>
              <a:rPr sz="1000" b="1" i="0">
                <a:solidFill>
                  <a:srgbClr val="1B3139"/>
                </a:solidFill>
                <a:latin typeface="Segoe UI"/>
              </a:rPr>
              <a:t>Commit &amp;
Push</a:t>
            </a:r>
          </a:p>
        </p:txBody>
      </p:sp>
      <p:sp>
        <p:nvSpPr>
          <p:cNvPr id="48" name="Right Arrow 47"/>
          <p:cNvSpPr/>
          <p:nvPr/>
        </p:nvSpPr>
        <p:spPr>
          <a:xfrm>
            <a:off x="6770740" y="4389120"/>
            <a:ext cx="256032" cy="128016"/>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ounded Rectangle 48"/>
          <p:cNvSpPr/>
          <p:nvPr/>
        </p:nvSpPr>
        <p:spPr>
          <a:xfrm>
            <a:off x="7063348" y="4023360"/>
            <a:ext cx="1313209" cy="868680"/>
          </a:xfrm>
          <a:prstGeom prst="roundRect">
            <a:avLst>
              <a:gd name="adj" fmla="val 10000"/>
            </a:avLst>
          </a:prstGeom>
          <a:solidFill>
            <a:srgbClr val="FFFFFF"/>
          </a:solidFill>
          <a:ln w="20320">
            <a:solidFill>
              <a:srgbClr val="7C5C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7063348" y="4023360"/>
            <a:ext cx="1313209" cy="91440"/>
          </a:xfrm>
          <a:prstGeom prst="rect">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Oval 50"/>
          <p:cNvSpPr/>
          <p:nvPr/>
        </p:nvSpPr>
        <p:spPr>
          <a:xfrm>
            <a:off x="7163932" y="4087368"/>
            <a:ext cx="274320" cy="274320"/>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FFFFFF"/>
                </a:solidFill>
                <a:latin typeface="Segoe UI Semibold"/>
              </a:rPr>
              <a:t>5</a:t>
            </a:r>
          </a:p>
        </p:txBody>
      </p:sp>
      <p:sp>
        <p:nvSpPr>
          <p:cNvPr id="52" name="TextBox 51"/>
          <p:cNvSpPr txBox="1"/>
          <p:nvPr/>
        </p:nvSpPr>
        <p:spPr>
          <a:xfrm>
            <a:off x="7099924" y="4261104"/>
            <a:ext cx="1240057" cy="566928"/>
          </a:xfrm>
          <a:prstGeom prst="rect">
            <a:avLst/>
          </a:prstGeom>
          <a:noFill/>
        </p:spPr>
        <p:txBody>
          <a:bodyPr wrap="square" anchor="ctr" lIns="0" rIns="0" tIns="0" bIns="0">
            <a:spAutoFit/>
          </a:bodyPr>
          <a:lstStyle/>
          <a:p>
            <a:pPr algn="ctr">
              <a:lnSpc>
                <a:spcPct val="90000"/>
              </a:lnSpc>
              <a:spcBef>
                <a:spcPts val="0"/>
              </a:spcBef>
              <a:spcAft>
                <a:spcPts val="200"/>
              </a:spcAft>
            </a:pPr>
            <a:r>
              <a:rPr sz="1000" b="1" i="0">
                <a:solidFill>
                  <a:srgbClr val="1B3139"/>
                </a:solidFill>
                <a:latin typeface="Segoe UI"/>
              </a:rPr>
              <a:t>Pull
Request</a:t>
            </a:r>
          </a:p>
        </p:txBody>
      </p:sp>
      <p:sp>
        <p:nvSpPr>
          <p:cNvPr id="53" name="Right Arrow 52"/>
          <p:cNvSpPr/>
          <p:nvPr/>
        </p:nvSpPr>
        <p:spPr>
          <a:xfrm>
            <a:off x="8394845" y="4389120"/>
            <a:ext cx="256032" cy="128016"/>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ounded Rectangle 53"/>
          <p:cNvSpPr/>
          <p:nvPr/>
        </p:nvSpPr>
        <p:spPr>
          <a:xfrm>
            <a:off x="8687453" y="4023360"/>
            <a:ext cx="1313209" cy="868680"/>
          </a:xfrm>
          <a:prstGeom prst="roundRect">
            <a:avLst>
              <a:gd name="adj" fmla="val 10000"/>
            </a:avLst>
          </a:prstGeom>
          <a:solidFill>
            <a:srgbClr val="FFFFFF"/>
          </a:solidFill>
          <a:ln w="20320">
            <a:solidFill>
              <a:srgbClr val="00A9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8687453" y="4023360"/>
            <a:ext cx="1313209" cy="91440"/>
          </a:xfrm>
          <a:prstGeom prst="rect">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Oval 55"/>
          <p:cNvSpPr/>
          <p:nvPr/>
        </p:nvSpPr>
        <p:spPr>
          <a:xfrm>
            <a:off x="8788037" y="4087368"/>
            <a:ext cx="274320" cy="274320"/>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FFFFFF"/>
                </a:solidFill>
                <a:latin typeface="Segoe UI Semibold"/>
              </a:rPr>
              <a:t>6</a:t>
            </a:r>
          </a:p>
        </p:txBody>
      </p:sp>
      <p:sp>
        <p:nvSpPr>
          <p:cNvPr id="57" name="TextBox 56"/>
          <p:cNvSpPr txBox="1"/>
          <p:nvPr/>
        </p:nvSpPr>
        <p:spPr>
          <a:xfrm>
            <a:off x="8724029" y="4261104"/>
            <a:ext cx="1240057" cy="566928"/>
          </a:xfrm>
          <a:prstGeom prst="rect">
            <a:avLst/>
          </a:prstGeom>
          <a:noFill/>
        </p:spPr>
        <p:txBody>
          <a:bodyPr wrap="square" anchor="ctr" lIns="0" rIns="0" tIns="0" bIns="0">
            <a:spAutoFit/>
          </a:bodyPr>
          <a:lstStyle/>
          <a:p>
            <a:pPr algn="ctr">
              <a:lnSpc>
                <a:spcPct val="90000"/>
              </a:lnSpc>
              <a:spcBef>
                <a:spcPts val="0"/>
              </a:spcBef>
              <a:spcAft>
                <a:spcPts val="200"/>
              </a:spcAft>
            </a:pPr>
            <a:r>
              <a:rPr sz="1000" b="1" i="0">
                <a:solidFill>
                  <a:srgbClr val="1B3139"/>
                </a:solidFill>
                <a:latin typeface="Segoe UI"/>
              </a:rPr>
              <a:t>Merge</a:t>
            </a:r>
          </a:p>
        </p:txBody>
      </p:sp>
      <p:sp>
        <p:nvSpPr>
          <p:cNvPr id="58" name="Right Arrow 57"/>
          <p:cNvSpPr/>
          <p:nvPr/>
        </p:nvSpPr>
        <p:spPr>
          <a:xfrm>
            <a:off x="10018950" y="4389120"/>
            <a:ext cx="256032" cy="128016"/>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ounded Rectangle 58"/>
          <p:cNvSpPr/>
          <p:nvPr/>
        </p:nvSpPr>
        <p:spPr>
          <a:xfrm>
            <a:off x="10311558" y="4023360"/>
            <a:ext cx="1313209" cy="868680"/>
          </a:xfrm>
          <a:prstGeom prst="roundRect">
            <a:avLst>
              <a:gd name="adj" fmla="val 10000"/>
            </a:avLst>
          </a:prstGeom>
          <a:solidFill>
            <a:srgbClr val="FFFFFF"/>
          </a:solidFill>
          <a:ln w="20320">
            <a:solidFill>
              <a:srgbClr val="057A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10311558" y="4023360"/>
            <a:ext cx="1313209" cy="91440"/>
          </a:xfrm>
          <a:prstGeom prst="rect">
            <a:avLst/>
          </a:prstGeom>
          <a:solidFill>
            <a:srgbClr val="057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Oval 60"/>
          <p:cNvSpPr/>
          <p:nvPr/>
        </p:nvSpPr>
        <p:spPr>
          <a:xfrm>
            <a:off x="10412142" y="4087368"/>
            <a:ext cx="274320" cy="274320"/>
          </a:xfrm>
          <a:prstGeom prst="ellipse">
            <a:avLst/>
          </a:prstGeom>
          <a:solidFill>
            <a:srgbClr val="057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FFFFFF"/>
                </a:solidFill>
                <a:latin typeface="Segoe UI Semibold"/>
              </a:rPr>
              <a:t>7</a:t>
            </a:r>
          </a:p>
        </p:txBody>
      </p:sp>
      <p:sp>
        <p:nvSpPr>
          <p:cNvPr id="62" name="TextBox 61"/>
          <p:cNvSpPr txBox="1"/>
          <p:nvPr/>
        </p:nvSpPr>
        <p:spPr>
          <a:xfrm>
            <a:off x="10348134" y="4261104"/>
            <a:ext cx="1240057" cy="566928"/>
          </a:xfrm>
          <a:prstGeom prst="rect">
            <a:avLst/>
          </a:prstGeom>
          <a:noFill/>
        </p:spPr>
        <p:txBody>
          <a:bodyPr wrap="square" anchor="ctr" lIns="0" rIns="0" tIns="0" bIns="0">
            <a:spAutoFit/>
          </a:bodyPr>
          <a:lstStyle/>
          <a:p>
            <a:pPr algn="ctr">
              <a:lnSpc>
                <a:spcPct val="90000"/>
              </a:lnSpc>
              <a:spcBef>
                <a:spcPts val="0"/>
              </a:spcBef>
              <a:spcAft>
                <a:spcPts val="200"/>
              </a:spcAft>
            </a:pPr>
            <a:r>
              <a:rPr sz="1000" b="1" i="0">
                <a:solidFill>
                  <a:srgbClr val="1B3139"/>
                </a:solidFill>
                <a:latin typeface="Segoe UI"/>
              </a:rPr>
              <a:t>CI/CD
Deploy</a:t>
            </a:r>
          </a:p>
        </p:txBody>
      </p:sp>
      <p:sp>
        <p:nvSpPr>
          <p:cNvPr id="63" name="Rounded Rectangle 62"/>
          <p:cNvSpPr/>
          <p:nvPr/>
        </p:nvSpPr>
        <p:spPr>
          <a:xfrm>
            <a:off x="566928" y="5166360"/>
            <a:ext cx="11057839" cy="77724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914400" y="5166360"/>
            <a:ext cx="10362895" cy="777240"/>
          </a:xfrm>
          <a:prstGeom prst="rect">
            <a:avLst/>
          </a:prstGeom>
          <a:noFill/>
        </p:spPr>
        <p:txBody>
          <a:bodyPr wrap="square" anchor="ctr" lIns="0" rIns="0" tIns="0" bIns="0">
            <a:spAutoFit/>
          </a:bodyPr>
          <a:lstStyle/>
          <a:p>
            <a:pPr algn="l">
              <a:lnSpc>
                <a:spcPct val="125000"/>
              </a:lnSpc>
              <a:spcBef>
                <a:spcPts val="0"/>
              </a:spcBef>
              <a:spcAft>
                <a:spcPts val="200"/>
              </a:spcAft>
            </a:pPr>
            <a:r>
              <a:rPr sz="1200" b="1" i="0">
                <a:solidFill>
                  <a:srgbClr val="1B3139"/>
                </a:solidFill>
                <a:latin typeface="Segoe UI"/>
              </a:rPr>
              <a:t>Engineering discipline, built in.  </a:t>
            </a:r>
            <a:r>
              <a:rPr sz="1200" b="0" i="0">
                <a:solidFill>
                  <a:srgbClr val="465257"/>
                </a:solidFill>
                <a:latin typeface="Segoe UI"/>
              </a:rPr>
              <a:t>Repos bring branches, pull requests and CI/CD to notebooks — so data pipelines are reviewed, tested and deployed like any other software.</a:t>
            </a:r>
          </a:p>
        </p:txBody>
      </p:sp>
      <p:sp>
        <p:nvSpPr>
          <p:cNvPr id="65" name="TextBox 64"/>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66" name="TextBox 65"/>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WORKSPACE COMPONENTS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Unity Catalog — Unified Governance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855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Spark</a:t>
            </a:r>
          </a:p>
        </p:txBody>
      </p:sp>
      <p:sp>
        <p:nvSpPr>
          <p:cNvPr id="9" name="Oval 8"/>
          <p:cNvSpPr/>
          <p:nvPr/>
        </p:nvSpPr>
        <p:spPr>
          <a:xfrm>
            <a:off x="9448495"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Workspace</a:t>
            </a:r>
          </a:p>
        </p:txBody>
      </p:sp>
      <p:sp>
        <p:nvSpPr>
          <p:cNvPr id="11" name="Oval 10"/>
          <p:cNvSpPr/>
          <p:nvPr/>
        </p:nvSpPr>
        <p:spPr>
          <a:xfrm>
            <a:off x="105434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Lakehouse</a:t>
            </a:r>
          </a:p>
        </p:txBody>
      </p:sp>
      <p:sp>
        <p:nvSpPr>
          <p:cNvPr id="13" name="Rounded Rectangle 12"/>
          <p:cNvSpPr/>
          <p:nvPr/>
        </p:nvSpPr>
        <p:spPr>
          <a:xfrm>
            <a:off x="566928" y="1874519"/>
            <a:ext cx="4846320" cy="40233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86968" y="2066543"/>
            <a:ext cx="4206240" cy="27432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FF3621"/>
                </a:solidFill>
                <a:latin typeface="Segoe UI Semibold"/>
              </a:rPr>
              <a:t>ONE NAMESPACE FOR EVERY ASSET</a:t>
            </a:r>
          </a:p>
        </p:txBody>
      </p:sp>
      <p:sp>
        <p:nvSpPr>
          <p:cNvPr id="15" name="Rounded Rectangle 14"/>
          <p:cNvSpPr/>
          <p:nvPr/>
        </p:nvSpPr>
        <p:spPr>
          <a:xfrm>
            <a:off x="886968" y="2468880"/>
            <a:ext cx="4114800" cy="603504"/>
          </a:xfrm>
          <a:prstGeom prst="roundRect">
            <a:avLst>
              <a:gd name="adj" fmla="val 16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24128" y="2468880"/>
            <a:ext cx="3840480" cy="603504"/>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FFFFFF"/>
                </a:solidFill>
                <a:latin typeface="Segoe UI"/>
              </a:rPr>
              <a:t>Catalog</a:t>
            </a:r>
            <a:r>
              <a:rPr sz="850" b="0" i="1">
                <a:solidFill>
                  <a:srgbClr val="EAF2F0"/>
                </a:solidFill>
                <a:latin typeface="Segoe UI"/>
              </a:rPr>
              <a:t>   top-level container</a:t>
            </a:r>
          </a:p>
        </p:txBody>
      </p:sp>
      <p:sp>
        <p:nvSpPr>
          <p:cNvPr id="17" name="Down Arrow 16"/>
          <p:cNvSpPr/>
          <p:nvPr/>
        </p:nvSpPr>
        <p:spPr>
          <a:xfrm>
            <a:off x="1207007" y="3072384"/>
            <a:ext cx="164592" cy="146304"/>
          </a:xfrm>
          <a:prstGeom prst="down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1207007" y="3218688"/>
            <a:ext cx="3794760" cy="603504"/>
          </a:xfrm>
          <a:prstGeom prst="roundRect">
            <a:avLst>
              <a:gd name="adj" fmla="val 16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344168" y="3218688"/>
            <a:ext cx="3520440" cy="603504"/>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FFFFFF"/>
                </a:solidFill>
                <a:latin typeface="Segoe UI"/>
              </a:rPr>
              <a:t>Schema</a:t>
            </a:r>
            <a:r>
              <a:rPr sz="850" b="0" i="1">
                <a:solidFill>
                  <a:srgbClr val="EAF2F0"/>
                </a:solidFill>
                <a:latin typeface="Segoe UI"/>
              </a:rPr>
              <a:t>   database / namespace</a:t>
            </a:r>
          </a:p>
        </p:txBody>
      </p:sp>
      <p:sp>
        <p:nvSpPr>
          <p:cNvPr id="20" name="Down Arrow 19"/>
          <p:cNvSpPr/>
          <p:nvPr/>
        </p:nvSpPr>
        <p:spPr>
          <a:xfrm>
            <a:off x="1527048" y="3822191"/>
            <a:ext cx="164592" cy="146304"/>
          </a:xfrm>
          <a:prstGeom prst="down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1527048" y="3968496"/>
            <a:ext cx="3474720" cy="603504"/>
          </a:xfrm>
          <a:prstGeom prst="roundRect">
            <a:avLst>
              <a:gd name="adj" fmla="val 16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664208" y="3968496"/>
            <a:ext cx="3200400" cy="603504"/>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FFFFFF"/>
                </a:solidFill>
                <a:latin typeface="Segoe UI"/>
              </a:rPr>
              <a:t>Table · View · Volume · Model</a:t>
            </a:r>
            <a:r>
              <a:rPr sz="850" b="0" i="1">
                <a:solidFill>
                  <a:srgbClr val="EAF2F0"/>
                </a:solidFill>
                <a:latin typeface="Segoe UI"/>
              </a:rPr>
              <a:t>   the governed asset</a:t>
            </a:r>
          </a:p>
        </p:txBody>
      </p:sp>
      <p:sp>
        <p:nvSpPr>
          <p:cNvPr id="23" name="Rounded Rectangle 22"/>
          <p:cNvSpPr/>
          <p:nvPr/>
        </p:nvSpPr>
        <p:spPr>
          <a:xfrm>
            <a:off x="886968" y="5074920"/>
            <a:ext cx="4206240" cy="566928"/>
          </a:xfrm>
          <a:prstGeom prst="roundRect">
            <a:avLst>
              <a:gd name="adj" fmla="val 16000"/>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300" b="1">
                <a:solidFill>
                  <a:srgbClr val="FF6B57"/>
                </a:solidFill>
                <a:latin typeface="Segoe UI Semibold"/>
              </a:rPr>
              <a:t>catalog . schema . object</a:t>
            </a:r>
          </a:p>
        </p:txBody>
      </p:sp>
      <p:sp>
        <p:nvSpPr>
          <p:cNvPr id="24" name="TextBox 23"/>
          <p:cNvSpPr txBox="1"/>
          <p:nvPr/>
        </p:nvSpPr>
        <p:spPr>
          <a:xfrm>
            <a:off x="886968" y="5669280"/>
            <a:ext cx="4297680" cy="274320"/>
          </a:xfrm>
          <a:prstGeom prst="rect">
            <a:avLst/>
          </a:prstGeom>
          <a:noFill/>
        </p:spPr>
        <p:txBody>
          <a:bodyPr wrap="square" anchor="t" lIns="0" rIns="0" tIns="0" bIns="0">
            <a:spAutoFit/>
          </a:bodyPr>
          <a:lstStyle/>
          <a:p>
            <a:pPr algn="l">
              <a:lnSpc>
                <a:spcPct val="100000"/>
              </a:lnSpc>
              <a:spcBef>
                <a:spcPts val="0"/>
              </a:spcBef>
              <a:spcAft>
                <a:spcPts val="200"/>
              </a:spcAft>
            </a:pPr>
            <a:r>
              <a:rPr sz="930" b="0" i="1">
                <a:solidFill>
                  <a:srgbClr val="6B777C"/>
                </a:solidFill>
                <a:latin typeface="Segoe UI"/>
              </a:rPr>
              <a:t>One name &amp; permission across all clouds &amp; workspaces</a:t>
            </a:r>
          </a:p>
        </p:txBody>
      </p:sp>
      <p:sp>
        <p:nvSpPr>
          <p:cNvPr id="25" name="Rounded Rectangle 24"/>
          <p:cNvSpPr/>
          <p:nvPr/>
        </p:nvSpPr>
        <p:spPr>
          <a:xfrm>
            <a:off x="5989320" y="1874519"/>
            <a:ext cx="2703423"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5989320" y="1874519"/>
            <a:ext cx="91440" cy="189738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6190488" y="2048255"/>
            <a:ext cx="603504" cy="603504"/>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397851" y="2336127"/>
            <a:ext cx="188776" cy="138805"/>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Block Arc 28"/>
          <p:cNvSpPr/>
          <p:nvPr/>
        </p:nvSpPr>
        <p:spPr>
          <a:xfrm>
            <a:off x="6425613" y="2211202"/>
            <a:ext cx="133253" cy="138805"/>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922008" y="2039112"/>
            <a:ext cx="1624431"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Fine-Grained Access</a:t>
            </a:r>
          </a:p>
        </p:txBody>
      </p:sp>
      <p:sp>
        <p:nvSpPr>
          <p:cNvPr id="31" name="TextBox 30"/>
          <p:cNvSpPr txBox="1"/>
          <p:nvPr/>
        </p:nvSpPr>
        <p:spPr>
          <a:xfrm>
            <a:off x="6263640" y="2743200"/>
            <a:ext cx="2191359" cy="937260"/>
          </a:xfrm>
          <a:prstGeom prst="rect">
            <a:avLst/>
          </a:prstGeom>
          <a:noFill/>
        </p:spPr>
        <p:txBody>
          <a:bodyPr wrap="square" anchor="t" lIns="0" rIns="0" tIns="0" bIns="0">
            <a:spAutoFit/>
          </a:bodyPr>
          <a:lstStyle/>
          <a:p>
            <a:pPr algn="l">
              <a:lnSpc>
                <a:spcPct val="108000"/>
              </a:lnSpc>
              <a:spcBef>
                <a:spcPts val="0"/>
              </a:spcBef>
              <a:spcAft>
                <a:spcPts val="200"/>
              </a:spcAft>
            </a:pPr>
            <a:r>
              <a:rPr sz="1000" b="0" i="0">
                <a:solidFill>
                  <a:srgbClr val="6B777C"/>
                </a:solidFill>
                <a:latin typeface="Segoe UI"/>
              </a:rPr>
              <a:t>Row/column security via standard SQL GRANTs tied to SSO identity.</a:t>
            </a:r>
          </a:p>
        </p:txBody>
      </p:sp>
      <p:sp>
        <p:nvSpPr>
          <p:cNvPr id="32" name="Rounded Rectangle 31"/>
          <p:cNvSpPr/>
          <p:nvPr/>
        </p:nvSpPr>
        <p:spPr>
          <a:xfrm>
            <a:off x="8921343" y="1874519"/>
            <a:ext cx="2703423"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8921343" y="1874519"/>
            <a:ext cx="91440" cy="1897380"/>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9122511" y="2048255"/>
            <a:ext cx="603504" cy="603504"/>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9313218" y="2300037"/>
            <a:ext cx="122149" cy="99940"/>
          </a:xfrm>
          <a:prstGeom prst="roundRect">
            <a:avLst>
              <a:gd name="adj" fmla="val 50000"/>
            </a:avLst>
          </a:prstGeom>
          <a:noFill/>
          <a:ln w="34701">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9413159" y="2300037"/>
            <a:ext cx="122149" cy="99940"/>
          </a:xfrm>
          <a:prstGeom prst="roundRect">
            <a:avLst>
              <a:gd name="adj" fmla="val 50000"/>
            </a:avLst>
          </a:prstGeom>
          <a:noFill/>
          <a:ln w="34701">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854031" y="2039112"/>
            <a:ext cx="1624431"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Automated Lineage</a:t>
            </a:r>
          </a:p>
        </p:txBody>
      </p:sp>
      <p:sp>
        <p:nvSpPr>
          <p:cNvPr id="38" name="TextBox 37"/>
          <p:cNvSpPr txBox="1"/>
          <p:nvPr/>
        </p:nvSpPr>
        <p:spPr>
          <a:xfrm>
            <a:off x="9195663" y="2743200"/>
            <a:ext cx="2191359" cy="937260"/>
          </a:xfrm>
          <a:prstGeom prst="rect">
            <a:avLst/>
          </a:prstGeom>
          <a:noFill/>
        </p:spPr>
        <p:txBody>
          <a:bodyPr wrap="square" anchor="t" lIns="0" rIns="0" tIns="0" bIns="0">
            <a:spAutoFit/>
          </a:bodyPr>
          <a:lstStyle/>
          <a:p>
            <a:pPr algn="l">
              <a:lnSpc>
                <a:spcPct val="108000"/>
              </a:lnSpc>
              <a:spcBef>
                <a:spcPts val="0"/>
              </a:spcBef>
              <a:spcAft>
                <a:spcPts val="200"/>
              </a:spcAft>
            </a:pPr>
            <a:r>
              <a:rPr sz="1000" b="0" i="0">
                <a:solidFill>
                  <a:srgbClr val="6B777C"/>
                </a:solidFill>
                <a:latin typeface="Segoe UI"/>
              </a:rPr>
              <a:t>Column-level lineage &amp; audit across notebooks, jobs &amp; dashboards.</a:t>
            </a:r>
          </a:p>
        </p:txBody>
      </p:sp>
      <p:sp>
        <p:nvSpPr>
          <p:cNvPr id="39" name="Rounded Rectangle 38"/>
          <p:cNvSpPr/>
          <p:nvPr/>
        </p:nvSpPr>
        <p:spPr>
          <a:xfrm>
            <a:off x="5989320" y="4000500"/>
            <a:ext cx="2703423"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5989320" y="4000500"/>
            <a:ext cx="91440" cy="1897380"/>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6190488" y="4174235"/>
            <a:ext cx="603504" cy="603504"/>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6364538" y="4348286"/>
            <a:ext cx="255402" cy="255402"/>
          </a:xfrm>
          <a:prstGeom prst="ellipse">
            <a:avLst/>
          </a:prstGeom>
          <a:noFill/>
          <a:ln w="3084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6442269" y="4348286"/>
            <a:ext cx="99940" cy="255402"/>
          </a:xfrm>
          <a:prstGeom prst="ellipse">
            <a:avLst/>
          </a:prstGeom>
          <a:noFill/>
          <a:ln w="23134">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6364538" y="4467659"/>
            <a:ext cx="255402" cy="1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922008" y="4165091"/>
            <a:ext cx="1624431"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Discovery &amp; Sharing</a:t>
            </a:r>
          </a:p>
        </p:txBody>
      </p:sp>
      <p:sp>
        <p:nvSpPr>
          <p:cNvPr id="46" name="TextBox 45"/>
          <p:cNvSpPr txBox="1"/>
          <p:nvPr/>
        </p:nvSpPr>
        <p:spPr>
          <a:xfrm>
            <a:off x="6263640" y="4869180"/>
            <a:ext cx="2191359" cy="937260"/>
          </a:xfrm>
          <a:prstGeom prst="rect">
            <a:avLst/>
          </a:prstGeom>
          <a:noFill/>
        </p:spPr>
        <p:txBody>
          <a:bodyPr wrap="square" anchor="t" lIns="0" rIns="0" tIns="0" bIns="0">
            <a:spAutoFit/>
          </a:bodyPr>
          <a:lstStyle/>
          <a:p>
            <a:pPr algn="l">
              <a:lnSpc>
                <a:spcPct val="108000"/>
              </a:lnSpc>
              <a:spcBef>
                <a:spcPts val="0"/>
              </a:spcBef>
              <a:spcAft>
                <a:spcPts val="200"/>
              </a:spcAft>
            </a:pPr>
            <a:r>
              <a:rPr sz="1000" b="0" i="0">
                <a:solidFill>
                  <a:srgbClr val="6B777C"/>
                </a:solidFill>
                <a:latin typeface="Segoe UI"/>
              </a:rPr>
              <a:t>Search, tags and open Delta Sharing across organizations.</a:t>
            </a:r>
          </a:p>
        </p:txBody>
      </p:sp>
      <p:sp>
        <p:nvSpPr>
          <p:cNvPr id="47" name="Rounded Rectangle 46"/>
          <p:cNvSpPr/>
          <p:nvPr/>
        </p:nvSpPr>
        <p:spPr>
          <a:xfrm>
            <a:off x="8921343" y="4000500"/>
            <a:ext cx="2703423"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8921343" y="4000500"/>
            <a:ext cx="91440" cy="1897380"/>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Oval 48"/>
          <p:cNvSpPr/>
          <p:nvPr/>
        </p:nvSpPr>
        <p:spPr>
          <a:xfrm>
            <a:off x="9122511" y="4174235"/>
            <a:ext cx="603504" cy="603504"/>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Oval 49"/>
          <p:cNvSpPr/>
          <p:nvPr/>
        </p:nvSpPr>
        <p:spPr>
          <a:xfrm>
            <a:off x="9377069" y="4428793"/>
            <a:ext cx="94388" cy="943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1" name="Connector 50"/>
          <p:cNvCxnSpPr/>
          <p:nvPr/>
        </p:nvCxnSpPr>
        <p:spPr>
          <a:xfrm flipH="1" flipV="1">
            <a:off x="9307666" y="4392704"/>
            <a:ext cx="116597" cy="83284"/>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9277129" y="4362167"/>
            <a:ext cx="61074" cy="610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3" name="Connector 52"/>
          <p:cNvCxnSpPr/>
          <p:nvPr/>
        </p:nvCxnSpPr>
        <p:spPr>
          <a:xfrm flipV="1">
            <a:off x="9424263" y="4392704"/>
            <a:ext cx="116597" cy="83284"/>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9510323" y="4362167"/>
            <a:ext cx="61074" cy="610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5" name="Connector 54"/>
          <p:cNvCxnSpPr/>
          <p:nvPr/>
        </p:nvCxnSpPr>
        <p:spPr>
          <a:xfrm>
            <a:off x="9424263" y="4475988"/>
            <a:ext cx="0" cy="122149"/>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9393726" y="4567599"/>
            <a:ext cx="61074" cy="610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9854031" y="4165091"/>
            <a:ext cx="1624431"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Data + AI Assets</a:t>
            </a:r>
          </a:p>
        </p:txBody>
      </p:sp>
      <p:sp>
        <p:nvSpPr>
          <p:cNvPr id="58" name="TextBox 57"/>
          <p:cNvSpPr txBox="1"/>
          <p:nvPr/>
        </p:nvSpPr>
        <p:spPr>
          <a:xfrm>
            <a:off x="9195663" y="4869180"/>
            <a:ext cx="2191359" cy="937260"/>
          </a:xfrm>
          <a:prstGeom prst="rect">
            <a:avLst/>
          </a:prstGeom>
          <a:noFill/>
        </p:spPr>
        <p:txBody>
          <a:bodyPr wrap="square" anchor="t" lIns="0" rIns="0" tIns="0" bIns="0">
            <a:spAutoFit/>
          </a:bodyPr>
          <a:lstStyle/>
          <a:p>
            <a:pPr algn="l">
              <a:lnSpc>
                <a:spcPct val="108000"/>
              </a:lnSpc>
              <a:spcBef>
                <a:spcPts val="0"/>
              </a:spcBef>
              <a:spcAft>
                <a:spcPts val="200"/>
              </a:spcAft>
            </a:pPr>
            <a:r>
              <a:rPr sz="1000" b="0" i="0">
                <a:solidFill>
                  <a:srgbClr val="6B777C"/>
                </a:solidFill>
                <a:latin typeface="Segoe UI"/>
              </a:rPr>
              <a:t>Governs tables, files, ML models &amp; functions in one place.</a:t>
            </a:r>
          </a:p>
        </p:txBody>
      </p:sp>
      <p:sp>
        <p:nvSpPr>
          <p:cNvPr id="59" name="TextBox 58"/>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60" name="TextBox 59"/>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WORKSPACE COMPONENTS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Best Practices &amp; Part 2 Takeaways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855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Spark</a:t>
            </a:r>
          </a:p>
        </p:txBody>
      </p:sp>
      <p:sp>
        <p:nvSpPr>
          <p:cNvPr id="9" name="Oval 8"/>
          <p:cNvSpPr/>
          <p:nvPr/>
        </p:nvSpPr>
        <p:spPr>
          <a:xfrm>
            <a:off x="9448495"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Workspace</a:t>
            </a:r>
          </a:p>
        </p:txBody>
      </p:sp>
      <p:sp>
        <p:nvSpPr>
          <p:cNvPr id="11" name="Oval 10"/>
          <p:cNvSpPr/>
          <p:nvPr/>
        </p:nvSpPr>
        <p:spPr>
          <a:xfrm>
            <a:off x="10543489"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Lakehouse</a:t>
            </a:r>
          </a:p>
        </p:txBody>
      </p:sp>
      <p:sp>
        <p:nvSpPr>
          <p:cNvPr id="13" name="Rounded Rectangle 12"/>
          <p:cNvSpPr/>
          <p:nvPr/>
        </p:nvSpPr>
        <p:spPr>
          <a:xfrm>
            <a:off x="566928" y="1828800"/>
            <a:ext cx="3232403" cy="190652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66928" y="1828800"/>
            <a:ext cx="91440" cy="1906524"/>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68095" y="2002536"/>
            <a:ext cx="603504" cy="603504"/>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958803" y="2254317"/>
            <a:ext cx="122149" cy="99940"/>
          </a:xfrm>
          <a:prstGeom prst="roundRect">
            <a:avLst>
              <a:gd name="adj" fmla="val 50000"/>
            </a:avLst>
          </a:prstGeom>
          <a:noFill/>
          <a:ln w="34701">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1058743" y="2254317"/>
            <a:ext cx="122149" cy="99940"/>
          </a:xfrm>
          <a:prstGeom prst="roundRect">
            <a:avLst>
              <a:gd name="adj" fmla="val 50000"/>
            </a:avLst>
          </a:prstGeom>
          <a:noFill/>
          <a:ln w="34701">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499616" y="1993392"/>
            <a:ext cx="2153411" cy="640080"/>
          </a:xfrm>
          <a:prstGeom prst="rect">
            <a:avLst/>
          </a:prstGeom>
          <a:noFill/>
        </p:spPr>
        <p:txBody>
          <a:bodyPr wrap="square" anchor="ctr" lIns="0" rIns="0" tIns="0" bIns="0">
            <a:spAutoFit/>
          </a:bodyPr>
          <a:lstStyle/>
          <a:p>
            <a:pPr algn="l">
              <a:lnSpc>
                <a:spcPct val="100000"/>
              </a:lnSpc>
              <a:spcBef>
                <a:spcPts val="0"/>
              </a:spcBef>
              <a:spcAft>
                <a:spcPts val="200"/>
              </a:spcAft>
            </a:pPr>
            <a:r>
              <a:rPr sz="1300" b="1" i="0">
                <a:solidFill>
                  <a:srgbClr val="1B3139"/>
                </a:solidFill>
                <a:latin typeface="Segoe UI"/>
              </a:rPr>
              <a:t>Version Everything</a:t>
            </a:r>
          </a:p>
        </p:txBody>
      </p:sp>
      <p:sp>
        <p:nvSpPr>
          <p:cNvPr id="19" name="TextBox 18"/>
          <p:cNvSpPr txBox="1"/>
          <p:nvPr/>
        </p:nvSpPr>
        <p:spPr>
          <a:xfrm>
            <a:off x="841247" y="2697480"/>
            <a:ext cx="2720339" cy="946403"/>
          </a:xfrm>
          <a:prstGeom prst="rect">
            <a:avLst/>
          </a:prstGeom>
          <a:noFill/>
        </p:spPr>
        <p:txBody>
          <a:bodyPr wrap="square" anchor="t" lIns="0" rIns="0" tIns="0" bIns="0">
            <a:spAutoFit/>
          </a:bodyPr>
          <a:lstStyle/>
          <a:p>
            <a:pPr algn="l">
              <a:lnSpc>
                <a:spcPct val="108000"/>
              </a:lnSpc>
              <a:spcBef>
                <a:spcPts val="0"/>
              </a:spcBef>
              <a:spcAft>
                <a:spcPts val="200"/>
              </a:spcAft>
            </a:pPr>
            <a:r>
              <a:rPr sz="1030" b="0" i="0">
                <a:solidFill>
                  <a:srgbClr val="6B777C"/>
                </a:solidFill>
                <a:latin typeface="Segoe UI"/>
              </a:rPr>
              <a:t>Use Repos &amp; Git for all notebooks — branches, reviews, CI/CD.</a:t>
            </a:r>
          </a:p>
        </p:txBody>
      </p:sp>
      <p:sp>
        <p:nvSpPr>
          <p:cNvPr id="20" name="Rounded Rectangle 19"/>
          <p:cNvSpPr/>
          <p:nvPr/>
        </p:nvSpPr>
        <p:spPr>
          <a:xfrm>
            <a:off x="4055363" y="1828800"/>
            <a:ext cx="3232403" cy="190652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4055363" y="1828800"/>
            <a:ext cx="91440" cy="1906524"/>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4256531" y="2002536"/>
            <a:ext cx="603504" cy="603504"/>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ight Arrow 22"/>
          <p:cNvSpPr/>
          <p:nvPr/>
        </p:nvSpPr>
        <p:spPr>
          <a:xfrm>
            <a:off x="4419478" y="2221004"/>
            <a:ext cx="277611" cy="166567"/>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988052" y="1993392"/>
            <a:ext cx="2153411" cy="640080"/>
          </a:xfrm>
          <a:prstGeom prst="rect">
            <a:avLst/>
          </a:prstGeom>
          <a:noFill/>
        </p:spPr>
        <p:txBody>
          <a:bodyPr wrap="square" anchor="ctr" lIns="0" rIns="0" tIns="0" bIns="0">
            <a:spAutoFit/>
          </a:bodyPr>
          <a:lstStyle/>
          <a:p>
            <a:pPr algn="l">
              <a:lnSpc>
                <a:spcPct val="100000"/>
              </a:lnSpc>
              <a:spcBef>
                <a:spcPts val="0"/>
              </a:spcBef>
              <a:spcAft>
                <a:spcPts val="200"/>
              </a:spcAft>
            </a:pPr>
            <a:r>
              <a:rPr sz="1300" b="1" i="0">
                <a:solidFill>
                  <a:srgbClr val="1B3139"/>
                </a:solidFill>
                <a:latin typeface="Segoe UI"/>
              </a:rPr>
              <a:t>Job Clusters for Prod</a:t>
            </a:r>
          </a:p>
        </p:txBody>
      </p:sp>
      <p:sp>
        <p:nvSpPr>
          <p:cNvPr id="25" name="TextBox 24"/>
          <p:cNvSpPr txBox="1"/>
          <p:nvPr/>
        </p:nvSpPr>
        <p:spPr>
          <a:xfrm>
            <a:off x="4329683" y="2697480"/>
            <a:ext cx="2720339" cy="946403"/>
          </a:xfrm>
          <a:prstGeom prst="rect">
            <a:avLst/>
          </a:prstGeom>
          <a:noFill/>
        </p:spPr>
        <p:txBody>
          <a:bodyPr wrap="square" anchor="t" lIns="0" rIns="0" tIns="0" bIns="0">
            <a:spAutoFit/>
          </a:bodyPr>
          <a:lstStyle/>
          <a:p>
            <a:pPr algn="l">
              <a:lnSpc>
                <a:spcPct val="108000"/>
              </a:lnSpc>
              <a:spcBef>
                <a:spcPts val="0"/>
              </a:spcBef>
              <a:spcAft>
                <a:spcPts val="200"/>
              </a:spcAft>
            </a:pPr>
            <a:r>
              <a:rPr sz="1030" b="0" i="0">
                <a:solidFill>
                  <a:srgbClr val="6B777C"/>
                </a:solidFill>
                <a:latin typeface="Segoe UI"/>
              </a:rPr>
              <a:t>Run scheduled pipelines on ephemeral job clusters to cut cost.</a:t>
            </a:r>
          </a:p>
        </p:txBody>
      </p:sp>
      <p:sp>
        <p:nvSpPr>
          <p:cNvPr id="26" name="Rounded Rectangle 25"/>
          <p:cNvSpPr/>
          <p:nvPr/>
        </p:nvSpPr>
        <p:spPr>
          <a:xfrm>
            <a:off x="566928" y="3991356"/>
            <a:ext cx="3232403" cy="190652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566928" y="3991356"/>
            <a:ext cx="91440" cy="1906524"/>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768095" y="4165091"/>
            <a:ext cx="603504" cy="603504"/>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Gear 6 28"/>
          <p:cNvSpPr/>
          <p:nvPr/>
        </p:nvSpPr>
        <p:spPr>
          <a:xfrm>
            <a:off x="931042" y="4328038"/>
            <a:ext cx="277611" cy="277611"/>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499616" y="4155948"/>
            <a:ext cx="2153411" cy="640080"/>
          </a:xfrm>
          <a:prstGeom prst="rect">
            <a:avLst/>
          </a:prstGeom>
          <a:noFill/>
        </p:spPr>
        <p:txBody>
          <a:bodyPr wrap="square" anchor="ctr" lIns="0" rIns="0" tIns="0" bIns="0">
            <a:spAutoFit/>
          </a:bodyPr>
          <a:lstStyle/>
          <a:p>
            <a:pPr algn="l">
              <a:lnSpc>
                <a:spcPct val="100000"/>
              </a:lnSpc>
              <a:spcBef>
                <a:spcPts val="0"/>
              </a:spcBef>
              <a:spcAft>
                <a:spcPts val="200"/>
              </a:spcAft>
            </a:pPr>
            <a:r>
              <a:rPr sz="1300" b="1" i="0">
                <a:solidFill>
                  <a:srgbClr val="1B3139"/>
                </a:solidFill>
                <a:latin typeface="Segoe UI"/>
              </a:rPr>
              <a:t>Parametrize Notebooks</a:t>
            </a:r>
          </a:p>
        </p:txBody>
      </p:sp>
      <p:sp>
        <p:nvSpPr>
          <p:cNvPr id="31" name="TextBox 30"/>
          <p:cNvSpPr txBox="1"/>
          <p:nvPr/>
        </p:nvSpPr>
        <p:spPr>
          <a:xfrm>
            <a:off x="841247" y="4860036"/>
            <a:ext cx="2720339" cy="946403"/>
          </a:xfrm>
          <a:prstGeom prst="rect">
            <a:avLst/>
          </a:prstGeom>
          <a:noFill/>
        </p:spPr>
        <p:txBody>
          <a:bodyPr wrap="square" anchor="t" lIns="0" rIns="0" tIns="0" bIns="0">
            <a:spAutoFit/>
          </a:bodyPr>
          <a:lstStyle/>
          <a:p>
            <a:pPr algn="l">
              <a:lnSpc>
                <a:spcPct val="108000"/>
              </a:lnSpc>
              <a:spcBef>
                <a:spcPts val="0"/>
              </a:spcBef>
              <a:spcAft>
                <a:spcPts val="200"/>
              </a:spcAft>
            </a:pPr>
            <a:r>
              <a:rPr sz="1030" b="0" i="0">
                <a:solidFill>
                  <a:srgbClr val="6B777C"/>
                </a:solidFill>
                <a:latin typeface="Segoe UI"/>
              </a:rPr>
              <a:t>Use widgets &amp; job parameters to make code reusable and testable.</a:t>
            </a:r>
          </a:p>
        </p:txBody>
      </p:sp>
      <p:sp>
        <p:nvSpPr>
          <p:cNvPr id="32" name="Rounded Rectangle 31"/>
          <p:cNvSpPr/>
          <p:nvPr/>
        </p:nvSpPr>
        <p:spPr>
          <a:xfrm>
            <a:off x="4055363" y="3991356"/>
            <a:ext cx="3232403" cy="190652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4055363" y="3991356"/>
            <a:ext cx="91440" cy="1906524"/>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4256531" y="4165091"/>
            <a:ext cx="603504" cy="603504"/>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4463895" y="4452963"/>
            <a:ext cx="188776" cy="138805"/>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Block Arc 35"/>
          <p:cNvSpPr/>
          <p:nvPr/>
        </p:nvSpPr>
        <p:spPr>
          <a:xfrm>
            <a:off x="4491657" y="4328038"/>
            <a:ext cx="133253" cy="138805"/>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4988052" y="4155948"/>
            <a:ext cx="2153411" cy="640080"/>
          </a:xfrm>
          <a:prstGeom prst="rect">
            <a:avLst/>
          </a:prstGeom>
          <a:noFill/>
        </p:spPr>
        <p:txBody>
          <a:bodyPr wrap="square" anchor="ctr" lIns="0" rIns="0" tIns="0" bIns="0">
            <a:spAutoFit/>
          </a:bodyPr>
          <a:lstStyle/>
          <a:p>
            <a:pPr algn="l">
              <a:lnSpc>
                <a:spcPct val="100000"/>
              </a:lnSpc>
              <a:spcBef>
                <a:spcPts val="0"/>
              </a:spcBef>
              <a:spcAft>
                <a:spcPts val="200"/>
              </a:spcAft>
            </a:pPr>
            <a:r>
              <a:rPr sz="1300" b="1" i="0">
                <a:solidFill>
                  <a:srgbClr val="1B3139"/>
                </a:solidFill>
                <a:latin typeface="Segoe UI"/>
              </a:rPr>
              <a:t>Govern with Unity Catalog</a:t>
            </a:r>
          </a:p>
        </p:txBody>
      </p:sp>
      <p:sp>
        <p:nvSpPr>
          <p:cNvPr id="38" name="TextBox 37"/>
          <p:cNvSpPr txBox="1"/>
          <p:nvPr/>
        </p:nvSpPr>
        <p:spPr>
          <a:xfrm>
            <a:off x="4329683" y="4860036"/>
            <a:ext cx="2720339" cy="946403"/>
          </a:xfrm>
          <a:prstGeom prst="rect">
            <a:avLst/>
          </a:prstGeom>
          <a:noFill/>
        </p:spPr>
        <p:txBody>
          <a:bodyPr wrap="square" anchor="t" lIns="0" rIns="0" tIns="0" bIns="0">
            <a:spAutoFit/>
          </a:bodyPr>
          <a:lstStyle/>
          <a:p>
            <a:pPr algn="l">
              <a:lnSpc>
                <a:spcPct val="108000"/>
              </a:lnSpc>
              <a:spcBef>
                <a:spcPts val="0"/>
              </a:spcBef>
              <a:spcAft>
                <a:spcPts val="200"/>
              </a:spcAft>
            </a:pPr>
            <a:r>
              <a:rPr sz="1030" b="0" i="0">
                <a:solidFill>
                  <a:srgbClr val="6B777C"/>
                </a:solidFill>
                <a:latin typeface="Segoe UI"/>
              </a:rPr>
              <a:t>Centralize permissions; grant least privilege, audit lineage.</a:t>
            </a:r>
          </a:p>
        </p:txBody>
      </p:sp>
      <p:sp>
        <p:nvSpPr>
          <p:cNvPr id="39" name="Rounded Rectangle 38"/>
          <p:cNvSpPr/>
          <p:nvPr/>
        </p:nvSpPr>
        <p:spPr>
          <a:xfrm>
            <a:off x="7178040" y="1828800"/>
            <a:ext cx="4446727" cy="406908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7178040" y="1828800"/>
            <a:ext cx="4446727" cy="54864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5-Point Star 40"/>
          <p:cNvSpPr/>
          <p:nvPr/>
        </p:nvSpPr>
        <p:spPr>
          <a:xfrm>
            <a:off x="7406640" y="1947672"/>
            <a:ext cx="310896" cy="310896"/>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927848" y="1828800"/>
            <a:ext cx="3657600" cy="54864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FFFFFF"/>
                </a:solidFill>
                <a:latin typeface="Segoe UI Semibold"/>
              </a:rPr>
              <a:t>KEY TAKEAWAYS</a:t>
            </a:r>
          </a:p>
        </p:txBody>
      </p:sp>
      <p:sp>
        <p:nvSpPr>
          <p:cNvPr id="43" name="TextBox 42"/>
          <p:cNvSpPr txBox="1"/>
          <p:nvPr/>
        </p:nvSpPr>
        <p:spPr>
          <a:xfrm>
            <a:off x="7498079" y="2606040"/>
            <a:ext cx="3806647" cy="3200400"/>
          </a:xfrm>
          <a:prstGeom prst="rect">
            <a:avLst/>
          </a:prstGeom>
          <a:noFill/>
        </p:spPr>
        <p:txBody>
          <a:bodyPr wrap="square" anchor="t" lIns="0" rIns="0" tIns="0" bIns="0">
            <a:spAutoFit/>
          </a:bodyPr>
          <a:lstStyle/>
          <a:p>
            <a:pPr marL="274320" indent="-274320">
              <a:lnSpc>
                <a:spcPct val="112000"/>
              </a:lnSpc>
              <a:spcBef>
                <a:spcPts val="0"/>
              </a:spcBef>
              <a:spcAft>
                <a:spcPts val="1200"/>
              </a:spcAft>
            </a:pPr>
            <a:r>
              <a:rPr sz="1200" b="1">
                <a:solidFill>
                  <a:srgbClr val="FF6B57"/>
                </a:solidFill>
                <a:latin typeface="Segoe UI"/>
              </a:rPr>
              <a:t>▪   </a:t>
            </a:r>
            <a:r>
              <a:rPr sz="1200">
                <a:solidFill>
                  <a:srgbClr val="D6DEE1"/>
                </a:solidFill>
                <a:latin typeface="Segoe UI"/>
              </a:rPr>
              <a:t>Workspace = one collaborative, governed hub</a:t>
            </a:r>
          </a:p>
          <a:p>
            <a:pPr marL="274320" indent="-274320">
              <a:lnSpc>
                <a:spcPct val="112000"/>
              </a:lnSpc>
              <a:spcBef>
                <a:spcPts val="0"/>
              </a:spcBef>
              <a:spcAft>
                <a:spcPts val="1200"/>
              </a:spcAft>
            </a:pPr>
            <a:r>
              <a:rPr sz="1200" b="1">
                <a:solidFill>
                  <a:srgbClr val="FF6B57"/>
                </a:solidFill>
                <a:latin typeface="Segoe UI"/>
              </a:rPr>
              <a:t>▪   </a:t>
            </a:r>
            <a:r>
              <a:rPr sz="1200">
                <a:solidFill>
                  <a:srgbClr val="D6DEE1"/>
                </a:solidFill>
                <a:latin typeface="Segoe UI"/>
              </a:rPr>
              <a:t>Notebooks span exploration → production</a:t>
            </a:r>
          </a:p>
          <a:p>
            <a:pPr marL="274320" indent="-274320">
              <a:lnSpc>
                <a:spcPct val="112000"/>
              </a:lnSpc>
              <a:spcBef>
                <a:spcPts val="0"/>
              </a:spcBef>
              <a:spcAft>
                <a:spcPts val="1200"/>
              </a:spcAft>
            </a:pPr>
            <a:r>
              <a:rPr sz="1200" b="1">
                <a:solidFill>
                  <a:srgbClr val="FF6B57"/>
                </a:solidFill>
                <a:latin typeface="Segoe UI"/>
              </a:rPr>
              <a:t>▪   </a:t>
            </a:r>
            <a:r>
              <a:rPr sz="1200">
                <a:solidFill>
                  <a:srgbClr val="D6DEE1"/>
                </a:solidFill>
                <a:latin typeface="Segoe UI"/>
              </a:rPr>
              <a:t>All-purpose for dev, job clusters for prod</a:t>
            </a:r>
          </a:p>
          <a:p>
            <a:pPr marL="274320" indent="-274320">
              <a:lnSpc>
                <a:spcPct val="112000"/>
              </a:lnSpc>
              <a:spcBef>
                <a:spcPts val="0"/>
              </a:spcBef>
              <a:spcAft>
                <a:spcPts val="1200"/>
              </a:spcAft>
            </a:pPr>
            <a:r>
              <a:rPr sz="1200" b="1">
                <a:solidFill>
                  <a:srgbClr val="FF6B57"/>
                </a:solidFill>
                <a:latin typeface="Segoe UI"/>
              </a:rPr>
              <a:t>▪   </a:t>
            </a:r>
            <a:r>
              <a:rPr sz="1200">
                <a:solidFill>
                  <a:srgbClr val="D6DEE1"/>
                </a:solidFill>
                <a:latin typeface="Segoe UI"/>
              </a:rPr>
              <a:t>Repos bring Git &amp; CI/CD to data work</a:t>
            </a:r>
          </a:p>
          <a:p>
            <a:pPr marL="274320" indent="-274320">
              <a:lnSpc>
                <a:spcPct val="112000"/>
              </a:lnSpc>
              <a:spcBef>
                <a:spcPts val="0"/>
              </a:spcBef>
              <a:spcAft>
                <a:spcPts val="1200"/>
              </a:spcAft>
            </a:pPr>
            <a:r>
              <a:rPr sz="1200" b="1">
                <a:solidFill>
                  <a:srgbClr val="FF6B57"/>
                </a:solidFill>
                <a:latin typeface="Segoe UI"/>
              </a:rPr>
              <a:t>▪   </a:t>
            </a:r>
            <a:r>
              <a:rPr sz="1200">
                <a:solidFill>
                  <a:srgbClr val="D6DEE1"/>
                </a:solidFill>
                <a:latin typeface="Segoe UI"/>
              </a:rPr>
              <a:t>Unity Catalog governs every data &amp; AI asset</a:t>
            </a:r>
          </a:p>
        </p:txBody>
      </p:sp>
      <p:sp>
        <p:nvSpPr>
          <p:cNvPr id="44" name="TextBox 43"/>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5" name="TextBox 44"/>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1463040"/>
            <a:ext cx="5486400" cy="2194560"/>
          </a:xfrm>
          <a:prstGeom prst="rect">
            <a:avLst/>
          </a:prstGeom>
          <a:noFill/>
        </p:spPr>
        <p:txBody>
          <a:bodyPr wrap="square" anchor="t" lIns="0" rIns="0" tIns="0" bIns="0">
            <a:spAutoFit/>
          </a:bodyPr>
          <a:lstStyle/>
          <a:p>
            <a:pPr algn="l">
              <a:lnSpc>
                <a:spcPct val="100000"/>
              </a:lnSpc>
              <a:spcBef>
                <a:spcPts val="0"/>
              </a:spcBef>
              <a:spcAft>
                <a:spcPts val="200"/>
              </a:spcAft>
            </a:pPr>
            <a:r>
              <a:rPr sz="20000" b="1" i="0">
                <a:solidFill>
                  <a:srgbClr val="27444F"/>
                </a:solidFill>
                <a:latin typeface="Segoe UI Light"/>
              </a:rPr>
              <a:t>03</a:t>
            </a:r>
          </a:p>
        </p:txBody>
      </p:sp>
      <p:sp>
        <p:nvSpPr>
          <p:cNvPr id="9" name="Rounded Rectangle 8"/>
          <p:cNvSpPr/>
          <p:nvPr/>
        </p:nvSpPr>
        <p:spPr>
          <a:xfrm>
            <a:off x="612648" y="3310128"/>
            <a:ext cx="777240" cy="9144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12648" y="2743200"/>
            <a:ext cx="7315200" cy="36576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FF3621"/>
                </a:solidFill>
                <a:latin typeface="Segoe UI Semibold"/>
              </a:rPr>
              <a:t>PART THREE</a:t>
            </a:r>
          </a:p>
        </p:txBody>
      </p:sp>
      <p:sp>
        <p:nvSpPr>
          <p:cNvPr id="11" name="TextBox 10"/>
          <p:cNvSpPr txBox="1"/>
          <p:nvPr/>
        </p:nvSpPr>
        <p:spPr>
          <a:xfrm>
            <a:off x="566928" y="3456432"/>
            <a:ext cx="7680960" cy="1097280"/>
          </a:xfrm>
          <a:prstGeom prst="rect">
            <a:avLst/>
          </a:prstGeom>
          <a:noFill/>
        </p:spPr>
        <p:txBody>
          <a:bodyPr wrap="square" anchor="t" lIns="0" rIns="0" tIns="0" bIns="0">
            <a:spAutoFit/>
          </a:bodyPr>
          <a:lstStyle/>
          <a:p>
            <a:pPr algn="l">
              <a:lnSpc>
                <a:spcPct val="98000"/>
              </a:lnSpc>
              <a:spcBef>
                <a:spcPts val="0"/>
              </a:spcBef>
              <a:spcAft>
                <a:spcPts val="200"/>
              </a:spcAft>
            </a:pPr>
            <a:r>
              <a:rPr sz="4000" b="1" i="0">
                <a:solidFill>
                  <a:srgbClr val="FFFFFF"/>
                </a:solidFill>
                <a:latin typeface="Segoe UI"/>
              </a:rPr>
              <a:t>Databricks Lakehouse Architecture</a:t>
            </a:r>
          </a:p>
        </p:txBody>
      </p:sp>
      <p:sp>
        <p:nvSpPr>
          <p:cNvPr id="12" name="TextBox 11"/>
          <p:cNvSpPr txBox="1"/>
          <p:nvPr/>
        </p:nvSpPr>
        <p:spPr>
          <a:xfrm>
            <a:off x="612648" y="4754880"/>
            <a:ext cx="6949440" cy="1463040"/>
          </a:xfrm>
          <a:prstGeom prst="rect">
            <a:avLst/>
          </a:prstGeom>
          <a:noFill/>
        </p:spPr>
        <p:txBody>
          <a:bodyPr wrap="square" anchor="t" lIns="0" rIns="0" tIns="0" bIns="0">
            <a:spAutoFit/>
          </a:bodyPr>
          <a:lstStyle/>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Evolution · Lakehouse &amp; Delta Lake</a:t>
            </a:r>
          </a:p>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Medallion · governance · AI &amp; ML</a:t>
            </a:r>
          </a:p>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End-to-end pipeline &amp; benefits</a:t>
            </a:r>
          </a:p>
        </p:txBody>
      </p:sp>
      <p:sp>
        <p:nvSpPr>
          <p:cNvPr id="13" name="Oval 12"/>
          <p:cNvSpPr/>
          <p:nvPr/>
        </p:nvSpPr>
        <p:spPr>
          <a:xfrm>
            <a:off x="8641080" y="2423160"/>
            <a:ext cx="2286000" cy="2286000"/>
          </a:xfrm>
          <a:prstGeom prst="ellipse">
            <a:avLst/>
          </a:prstGeom>
          <a:solidFill>
            <a:srgbClr val="FF3621"/>
          </a:solidFill>
          <a:ln w="15240">
            <a:solidFill>
              <a:srgbClr val="FF8A78"/>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Isosceles Triangle 13"/>
          <p:cNvSpPr/>
          <p:nvPr/>
        </p:nvSpPr>
        <p:spPr>
          <a:xfrm>
            <a:off x="9258300" y="3092958"/>
            <a:ext cx="1051560" cy="946404"/>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7E9199"/>
                </a:solidFill>
                <a:latin typeface="Segoe UI"/>
              </a:rPr>
              <a:t>Big Data &amp; Databricks  ·  Enterprise Training Series</a:t>
            </a:r>
          </a:p>
        </p:txBody>
      </p:sp>
      <p:sp>
        <p:nvSpPr>
          <p:cNvPr id="16" name="TextBox 15"/>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7E9199"/>
                </a:solidFill>
                <a:latin typeface="Segoe U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LAKEHOUSE ARCHITECTURE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Evolution of Data Platforms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855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Spark</a:t>
            </a:r>
          </a:p>
        </p:txBody>
      </p:sp>
      <p:sp>
        <p:nvSpPr>
          <p:cNvPr id="9" name="Oval 8"/>
          <p:cNvSpPr/>
          <p:nvPr/>
        </p:nvSpPr>
        <p:spPr>
          <a:xfrm>
            <a:off x="94644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Workspace</a:t>
            </a:r>
          </a:p>
        </p:txBody>
      </p:sp>
      <p:sp>
        <p:nvSpPr>
          <p:cNvPr id="11" name="Oval 10"/>
          <p:cNvSpPr/>
          <p:nvPr/>
        </p:nvSpPr>
        <p:spPr>
          <a:xfrm>
            <a:off x="10527487"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Lakehouse</a:t>
            </a:r>
          </a:p>
        </p:txBody>
      </p:sp>
      <p:sp>
        <p:nvSpPr>
          <p:cNvPr id="13" name="Rounded Rectangle 12"/>
          <p:cNvSpPr/>
          <p:nvPr/>
        </p:nvSpPr>
        <p:spPr>
          <a:xfrm>
            <a:off x="566928" y="2057400"/>
            <a:ext cx="3350666" cy="24231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566928" y="2057400"/>
            <a:ext cx="3350666" cy="777240"/>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922080" y="2291394"/>
            <a:ext cx="109362" cy="1261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1060886" y="2291394"/>
            <a:ext cx="109362" cy="1261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1199692" y="2291394"/>
            <a:ext cx="109362" cy="1261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922080" y="2447025"/>
            <a:ext cx="109362" cy="1261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060886" y="2447025"/>
            <a:ext cx="109362" cy="1261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199692" y="2447025"/>
            <a:ext cx="109362" cy="1261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527048" y="2057400"/>
            <a:ext cx="2344826" cy="777240"/>
          </a:xfrm>
          <a:prstGeom prst="rect">
            <a:avLst/>
          </a:prstGeom>
          <a:noFill/>
        </p:spPr>
        <p:txBody>
          <a:bodyPr wrap="square" anchor="ctr" lIns="0" rIns="0" tIns="0" bIns="0">
            <a:spAutoFit/>
          </a:bodyPr>
          <a:lstStyle/>
          <a:p>
            <a:pPr algn="l">
              <a:lnSpc>
                <a:spcPct val="90000"/>
              </a:lnSpc>
              <a:spcBef>
                <a:spcPts val="0"/>
              </a:spcBef>
              <a:spcAft>
                <a:spcPts val="200"/>
              </a:spcAft>
            </a:pPr>
            <a:r>
              <a:rPr sz="1550" b="1" i="0">
                <a:solidFill>
                  <a:srgbClr val="FFFFFF"/>
                </a:solidFill>
                <a:latin typeface="Segoe UI"/>
              </a:rPr>
              <a:t>Data Warehouse</a:t>
            </a:r>
          </a:p>
        </p:txBody>
      </p:sp>
      <p:sp>
        <p:nvSpPr>
          <p:cNvPr id="22" name="TextBox 21"/>
          <p:cNvSpPr txBox="1"/>
          <p:nvPr/>
        </p:nvSpPr>
        <p:spPr>
          <a:xfrm>
            <a:off x="841247" y="2971800"/>
            <a:ext cx="2802026" cy="1005840"/>
          </a:xfrm>
          <a:prstGeom prst="rect">
            <a:avLst/>
          </a:prstGeom>
          <a:noFill/>
        </p:spPr>
        <p:txBody>
          <a:bodyPr wrap="square" anchor="t" lIns="0" rIns="0" tIns="0" bIns="0">
            <a:spAutoFit/>
          </a:bodyPr>
          <a:lstStyle/>
          <a:p>
            <a:pPr algn="l">
              <a:lnSpc>
                <a:spcPct val="118000"/>
              </a:lnSpc>
              <a:spcBef>
                <a:spcPts val="0"/>
              </a:spcBef>
              <a:spcAft>
                <a:spcPts val="200"/>
              </a:spcAft>
            </a:pPr>
            <a:r>
              <a:rPr sz="1130" b="0" i="0">
                <a:solidFill>
                  <a:srgbClr val="465257"/>
                </a:solidFill>
                <a:latin typeface="Segoe UI"/>
              </a:rPr>
              <a:t>1980s+ · Structured, reliable SQL &amp; BI — but rigid, costly and no ML.</a:t>
            </a:r>
          </a:p>
        </p:txBody>
      </p:sp>
      <p:sp>
        <p:nvSpPr>
          <p:cNvPr id="23" name="TextBox 22"/>
          <p:cNvSpPr txBox="1"/>
          <p:nvPr/>
        </p:nvSpPr>
        <p:spPr>
          <a:xfrm>
            <a:off x="841247" y="3950208"/>
            <a:ext cx="2802026" cy="457200"/>
          </a:xfrm>
          <a:prstGeom prst="rect">
            <a:avLst/>
          </a:prstGeom>
          <a:noFill/>
        </p:spPr>
        <p:txBody>
          <a:bodyPr wrap="square" anchor="t" lIns="0" rIns="0" tIns="0" bIns="0">
            <a:spAutoFit/>
          </a:bodyPr>
          <a:lstStyle/>
          <a:p>
            <a:pPr algn="l">
              <a:lnSpc>
                <a:spcPct val="105000"/>
              </a:lnSpc>
              <a:spcBef>
                <a:spcPts val="0"/>
              </a:spcBef>
              <a:spcAft>
                <a:spcPts val="200"/>
              </a:spcAft>
            </a:pPr>
            <a:r>
              <a:rPr sz="1100" b="1" i="0">
                <a:solidFill>
                  <a:srgbClr val="FF3621"/>
                </a:solidFill>
                <a:latin typeface="Segoe UI"/>
              </a:rPr>
              <a:t>✕  </a:t>
            </a:r>
            <a:r>
              <a:rPr sz="980" b="0" i="1">
                <a:solidFill>
                  <a:srgbClr val="6B777C"/>
                </a:solidFill>
                <a:latin typeface="Segoe UI"/>
              </a:rPr>
              <a:t>Limitation: can't handle scale, unstructured data or ML</a:t>
            </a:r>
          </a:p>
        </p:txBody>
      </p:sp>
      <p:sp>
        <p:nvSpPr>
          <p:cNvPr id="24" name="Right Arrow 23"/>
          <p:cNvSpPr/>
          <p:nvPr/>
        </p:nvSpPr>
        <p:spPr>
          <a:xfrm>
            <a:off x="3990746" y="3127248"/>
            <a:ext cx="365760" cy="237744"/>
          </a:xfrm>
          <a:prstGeom prst="rightArrow">
            <a:avLst>
              <a:gd name="adj1" fmla="val 55000"/>
              <a:gd name="adj2" fmla="val 55000"/>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420514" y="2057400"/>
            <a:ext cx="3350666" cy="24231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420514" y="2057400"/>
            <a:ext cx="3350666" cy="777240"/>
          </a:xfrm>
          <a:prstGeom prst="rect">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Cloud 26"/>
          <p:cNvSpPr/>
          <p:nvPr/>
        </p:nvSpPr>
        <p:spPr>
          <a:xfrm>
            <a:off x="4737811" y="2264054"/>
            <a:ext cx="462686" cy="336499"/>
          </a:xfrm>
          <a:prstGeom prst="clou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380634" y="2057400"/>
            <a:ext cx="2344826" cy="777240"/>
          </a:xfrm>
          <a:prstGeom prst="rect">
            <a:avLst/>
          </a:prstGeom>
          <a:noFill/>
        </p:spPr>
        <p:txBody>
          <a:bodyPr wrap="square" anchor="ctr" lIns="0" rIns="0" tIns="0" bIns="0">
            <a:spAutoFit/>
          </a:bodyPr>
          <a:lstStyle/>
          <a:p>
            <a:pPr algn="l">
              <a:lnSpc>
                <a:spcPct val="90000"/>
              </a:lnSpc>
              <a:spcBef>
                <a:spcPts val="0"/>
              </a:spcBef>
              <a:spcAft>
                <a:spcPts val="200"/>
              </a:spcAft>
            </a:pPr>
            <a:r>
              <a:rPr sz="1550" b="1" i="0">
                <a:solidFill>
                  <a:srgbClr val="FFFFFF"/>
                </a:solidFill>
                <a:latin typeface="Segoe UI"/>
              </a:rPr>
              <a:t>Data Lake</a:t>
            </a:r>
          </a:p>
        </p:txBody>
      </p:sp>
      <p:sp>
        <p:nvSpPr>
          <p:cNvPr id="29" name="TextBox 28"/>
          <p:cNvSpPr txBox="1"/>
          <p:nvPr/>
        </p:nvSpPr>
        <p:spPr>
          <a:xfrm>
            <a:off x="4694834" y="2971800"/>
            <a:ext cx="2802026" cy="1005840"/>
          </a:xfrm>
          <a:prstGeom prst="rect">
            <a:avLst/>
          </a:prstGeom>
          <a:noFill/>
        </p:spPr>
        <p:txBody>
          <a:bodyPr wrap="square" anchor="t" lIns="0" rIns="0" tIns="0" bIns="0">
            <a:spAutoFit/>
          </a:bodyPr>
          <a:lstStyle/>
          <a:p>
            <a:pPr algn="l">
              <a:lnSpc>
                <a:spcPct val="118000"/>
              </a:lnSpc>
              <a:spcBef>
                <a:spcPts val="0"/>
              </a:spcBef>
              <a:spcAft>
                <a:spcPts val="200"/>
              </a:spcAft>
            </a:pPr>
            <a:r>
              <a:rPr sz="1130" b="0" i="0">
                <a:solidFill>
                  <a:srgbClr val="465257"/>
                </a:solidFill>
                <a:latin typeface="Segoe UI"/>
              </a:rPr>
              <a:t>2010s+ · Cheap, scalable, any data &amp; ML — but unreliable &amp; ungoverned.</a:t>
            </a:r>
          </a:p>
        </p:txBody>
      </p:sp>
      <p:sp>
        <p:nvSpPr>
          <p:cNvPr id="30" name="TextBox 29"/>
          <p:cNvSpPr txBox="1"/>
          <p:nvPr/>
        </p:nvSpPr>
        <p:spPr>
          <a:xfrm>
            <a:off x="4694834" y="3950208"/>
            <a:ext cx="2802026" cy="457200"/>
          </a:xfrm>
          <a:prstGeom prst="rect">
            <a:avLst/>
          </a:prstGeom>
          <a:noFill/>
        </p:spPr>
        <p:txBody>
          <a:bodyPr wrap="square" anchor="t" lIns="0" rIns="0" tIns="0" bIns="0">
            <a:spAutoFit/>
          </a:bodyPr>
          <a:lstStyle/>
          <a:p>
            <a:pPr algn="l">
              <a:lnSpc>
                <a:spcPct val="105000"/>
              </a:lnSpc>
              <a:spcBef>
                <a:spcPts val="0"/>
              </a:spcBef>
              <a:spcAft>
                <a:spcPts val="200"/>
              </a:spcAft>
            </a:pPr>
            <a:r>
              <a:rPr sz="1100" b="1" i="0">
                <a:solidFill>
                  <a:srgbClr val="FF3621"/>
                </a:solidFill>
                <a:latin typeface="Segoe UI"/>
              </a:rPr>
              <a:t>✕  </a:t>
            </a:r>
            <a:r>
              <a:rPr sz="980" b="0" i="1">
                <a:solidFill>
                  <a:srgbClr val="6B777C"/>
                </a:solidFill>
                <a:latin typeface="Segoe UI"/>
              </a:rPr>
              <a:t>Limitation: becomes a 'data swamp' — no ACID, weak governance</a:t>
            </a:r>
          </a:p>
        </p:txBody>
      </p:sp>
      <p:sp>
        <p:nvSpPr>
          <p:cNvPr id="31" name="Right Arrow 30"/>
          <p:cNvSpPr/>
          <p:nvPr/>
        </p:nvSpPr>
        <p:spPr>
          <a:xfrm>
            <a:off x="7844332" y="3127248"/>
            <a:ext cx="365760" cy="237744"/>
          </a:xfrm>
          <a:prstGeom prst="rightArrow">
            <a:avLst>
              <a:gd name="adj1" fmla="val 55000"/>
              <a:gd name="adj2" fmla="val 55000"/>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8274100" y="2057400"/>
            <a:ext cx="3350666" cy="24231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8274100" y="2057400"/>
            <a:ext cx="3350666" cy="77724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Isosceles Triangle 33"/>
          <p:cNvSpPr/>
          <p:nvPr/>
        </p:nvSpPr>
        <p:spPr>
          <a:xfrm>
            <a:off x="8612428" y="2243023"/>
            <a:ext cx="420624" cy="378561"/>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234220" y="2057400"/>
            <a:ext cx="2344826" cy="777240"/>
          </a:xfrm>
          <a:prstGeom prst="rect">
            <a:avLst/>
          </a:prstGeom>
          <a:noFill/>
        </p:spPr>
        <p:txBody>
          <a:bodyPr wrap="square" anchor="ctr" lIns="0" rIns="0" tIns="0" bIns="0">
            <a:spAutoFit/>
          </a:bodyPr>
          <a:lstStyle/>
          <a:p>
            <a:pPr algn="l">
              <a:lnSpc>
                <a:spcPct val="90000"/>
              </a:lnSpc>
              <a:spcBef>
                <a:spcPts val="0"/>
              </a:spcBef>
              <a:spcAft>
                <a:spcPts val="200"/>
              </a:spcAft>
            </a:pPr>
            <a:r>
              <a:rPr sz="1550" b="1" i="0">
                <a:solidFill>
                  <a:srgbClr val="FFFFFF"/>
                </a:solidFill>
                <a:latin typeface="Segoe UI"/>
              </a:rPr>
              <a:t>Lakehouse</a:t>
            </a:r>
          </a:p>
        </p:txBody>
      </p:sp>
      <p:sp>
        <p:nvSpPr>
          <p:cNvPr id="36" name="TextBox 35"/>
          <p:cNvSpPr txBox="1"/>
          <p:nvPr/>
        </p:nvSpPr>
        <p:spPr>
          <a:xfrm>
            <a:off x="8548420" y="2971800"/>
            <a:ext cx="2802026" cy="1005840"/>
          </a:xfrm>
          <a:prstGeom prst="rect">
            <a:avLst/>
          </a:prstGeom>
          <a:noFill/>
        </p:spPr>
        <p:txBody>
          <a:bodyPr wrap="square" anchor="t" lIns="0" rIns="0" tIns="0" bIns="0">
            <a:spAutoFit/>
          </a:bodyPr>
          <a:lstStyle/>
          <a:p>
            <a:pPr algn="l">
              <a:lnSpc>
                <a:spcPct val="118000"/>
              </a:lnSpc>
              <a:spcBef>
                <a:spcPts val="0"/>
              </a:spcBef>
              <a:spcAft>
                <a:spcPts val="200"/>
              </a:spcAft>
            </a:pPr>
            <a:r>
              <a:rPr sz="1130" b="0" i="0">
                <a:solidFill>
                  <a:srgbClr val="465257"/>
                </a:solidFill>
                <a:latin typeface="Segoe UI"/>
              </a:rPr>
              <a:t>2020s+ · One open platform — lake economics + warehouse reliability.</a:t>
            </a:r>
          </a:p>
        </p:txBody>
      </p:sp>
      <p:sp>
        <p:nvSpPr>
          <p:cNvPr id="37" name="TextBox 36"/>
          <p:cNvSpPr txBox="1"/>
          <p:nvPr/>
        </p:nvSpPr>
        <p:spPr>
          <a:xfrm>
            <a:off x="8548420" y="3950208"/>
            <a:ext cx="2802026" cy="457200"/>
          </a:xfrm>
          <a:prstGeom prst="rect">
            <a:avLst/>
          </a:prstGeom>
          <a:noFill/>
        </p:spPr>
        <p:txBody>
          <a:bodyPr wrap="square" anchor="t" lIns="0" rIns="0" tIns="0" bIns="0">
            <a:spAutoFit/>
          </a:bodyPr>
          <a:lstStyle/>
          <a:p>
            <a:pPr algn="l">
              <a:lnSpc>
                <a:spcPct val="105000"/>
              </a:lnSpc>
              <a:spcBef>
                <a:spcPts val="0"/>
              </a:spcBef>
              <a:spcAft>
                <a:spcPts val="200"/>
              </a:spcAft>
            </a:pPr>
            <a:r>
              <a:rPr sz="1100" b="1" i="0">
                <a:solidFill>
                  <a:srgbClr val="057A55"/>
                </a:solidFill>
                <a:latin typeface="Segoe UI"/>
              </a:rPr>
              <a:t>▸  </a:t>
            </a:r>
            <a:r>
              <a:rPr sz="980" b="0" i="1">
                <a:solidFill>
                  <a:srgbClr val="6B777C"/>
                </a:solidFill>
                <a:latin typeface="Segoe UI"/>
              </a:rPr>
              <a:t>Resolves both — reliable, governed, open &amp; AI-ready</a:t>
            </a:r>
          </a:p>
        </p:txBody>
      </p:sp>
      <p:sp>
        <p:nvSpPr>
          <p:cNvPr id="38" name="Rounded Rectangle 37"/>
          <p:cNvSpPr/>
          <p:nvPr/>
        </p:nvSpPr>
        <p:spPr>
          <a:xfrm>
            <a:off x="566928" y="4846320"/>
            <a:ext cx="11057839" cy="86868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14400" y="4846320"/>
            <a:ext cx="10362895" cy="86868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Each generation fixed the last one's flaw.  </a:t>
            </a:r>
            <a:r>
              <a:rPr sz="1250" b="0" i="0">
                <a:solidFill>
                  <a:srgbClr val="465257"/>
                </a:solidFill>
                <a:latin typeface="Segoe UI"/>
              </a:rPr>
              <a:t>The Lakehouse keeps the lake's low-cost openness and adds the warehouse's reliability and performance — so you no longer need both.</a:t>
            </a:r>
          </a:p>
        </p:txBody>
      </p:sp>
      <p:sp>
        <p:nvSpPr>
          <p:cNvPr id="40" name="TextBox 39"/>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1" name="TextBox 40"/>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LAKEHOUSE ARCHITECTURE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What Is the Lakehouse?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855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Spark</a:t>
            </a:r>
          </a:p>
        </p:txBody>
      </p:sp>
      <p:sp>
        <p:nvSpPr>
          <p:cNvPr id="9" name="Oval 8"/>
          <p:cNvSpPr/>
          <p:nvPr/>
        </p:nvSpPr>
        <p:spPr>
          <a:xfrm>
            <a:off x="94644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Workspace</a:t>
            </a:r>
          </a:p>
        </p:txBody>
      </p:sp>
      <p:sp>
        <p:nvSpPr>
          <p:cNvPr id="11" name="Oval 10"/>
          <p:cNvSpPr/>
          <p:nvPr/>
        </p:nvSpPr>
        <p:spPr>
          <a:xfrm>
            <a:off x="10527487"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Lakehouse</a:t>
            </a:r>
          </a:p>
        </p:txBody>
      </p:sp>
      <p:sp>
        <p:nvSpPr>
          <p:cNvPr id="13" name="Rounded Rectangle 12"/>
          <p:cNvSpPr/>
          <p:nvPr/>
        </p:nvSpPr>
        <p:spPr>
          <a:xfrm>
            <a:off x="566928" y="1828800"/>
            <a:ext cx="5989320" cy="233172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32688" y="2084831"/>
            <a:ext cx="5303520" cy="27432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FF6B57"/>
                </a:solidFill>
                <a:latin typeface="Segoe UI Semibold"/>
              </a:rPr>
              <a:t>DEFINITION</a:t>
            </a:r>
          </a:p>
        </p:txBody>
      </p:sp>
      <p:sp>
        <p:nvSpPr>
          <p:cNvPr id="15" name="TextBox 14"/>
          <p:cNvSpPr txBox="1"/>
          <p:nvPr/>
        </p:nvSpPr>
        <p:spPr>
          <a:xfrm>
            <a:off x="932688" y="2395728"/>
            <a:ext cx="5349240" cy="1691640"/>
          </a:xfrm>
          <a:prstGeom prst="rect">
            <a:avLst/>
          </a:prstGeom>
          <a:noFill/>
        </p:spPr>
        <p:txBody>
          <a:bodyPr wrap="square" anchor="t" lIns="0" rIns="0" tIns="0" bIns="0">
            <a:spAutoFit/>
          </a:bodyPr>
          <a:lstStyle/>
          <a:p>
            <a:pPr algn="l">
              <a:lnSpc>
                <a:spcPct val="128000"/>
              </a:lnSpc>
              <a:spcBef>
                <a:spcPts val="0"/>
              </a:spcBef>
              <a:spcAft>
                <a:spcPts val="200"/>
              </a:spcAft>
            </a:pPr>
            <a:r>
              <a:rPr sz="1400" b="0" i="0">
                <a:solidFill>
                  <a:srgbClr val="FFFFFF"/>
                </a:solidFill>
                <a:latin typeface="Segoe UI"/>
              </a:rPr>
              <a:t>A Lakehouse is a single platform that adds a </a:t>
            </a:r>
            <a:r>
              <a:rPr sz="1400" b="1" i="0">
                <a:solidFill>
                  <a:srgbClr val="FF6B57"/>
                </a:solidFill>
                <a:latin typeface="Segoe UI"/>
              </a:rPr>
              <a:t>transactional, governed layer (Delta Lake)</a:t>
            </a:r>
            <a:r>
              <a:rPr sz="1400" b="0" i="0">
                <a:solidFill>
                  <a:srgbClr val="FFFFFF"/>
                </a:solidFill>
                <a:latin typeface="Segoe UI"/>
              </a:rPr>
              <a:t> directly on low-cost cloud object storage — delivering </a:t>
            </a:r>
            <a:r>
              <a:rPr sz="1400" b="1" i="0">
                <a:solidFill>
                  <a:srgbClr val="FF6B57"/>
                </a:solidFill>
                <a:latin typeface="Segoe UI"/>
              </a:rPr>
              <a:t>warehouse reliability &amp; performance with lake openness &amp; scale</a:t>
            </a:r>
            <a:r>
              <a:rPr sz="1400" b="0" i="0">
                <a:solidFill>
                  <a:srgbClr val="FFFFFF"/>
                </a:solidFill>
                <a:latin typeface="Segoe UI"/>
              </a:rPr>
              <a:t> for every workload.</a:t>
            </a:r>
          </a:p>
        </p:txBody>
      </p:sp>
      <p:sp>
        <p:nvSpPr>
          <p:cNvPr id="16" name="TextBox 15"/>
          <p:cNvSpPr txBox="1"/>
          <p:nvPr/>
        </p:nvSpPr>
        <p:spPr>
          <a:xfrm>
            <a:off x="612648" y="4434840"/>
            <a:ext cx="5943600" cy="1645920"/>
          </a:xfrm>
          <a:prstGeom prst="rect">
            <a:avLst/>
          </a:prstGeom>
          <a:noFill/>
        </p:spPr>
        <p:txBody>
          <a:bodyPr wrap="square" anchor="t" lIns="0" rIns="0" tIns="0" bIns="0">
            <a:spAutoFit/>
          </a:bodyPr>
          <a:lstStyle/>
          <a:p>
            <a:pPr marL="274320" indent="-274320">
              <a:lnSpc>
                <a:spcPct val="112000"/>
              </a:lnSpc>
              <a:spcBef>
                <a:spcPts val="0"/>
              </a:spcBef>
              <a:spcAft>
                <a:spcPts val="1000"/>
              </a:spcAft>
            </a:pPr>
            <a:r>
              <a:rPr sz="1250" b="1">
                <a:solidFill>
                  <a:srgbClr val="FF3621"/>
                </a:solidFill>
                <a:latin typeface="Segoe UI"/>
              </a:rPr>
              <a:t>▪   </a:t>
            </a:r>
            <a:r>
              <a:rPr sz="1250">
                <a:solidFill>
                  <a:srgbClr val="465257"/>
                </a:solidFill>
                <a:latin typeface="Segoe UI"/>
              </a:rPr>
              <a:t>One open copy of data — no warehouse/lake duplication</a:t>
            </a:r>
          </a:p>
          <a:p>
            <a:pPr marL="274320" indent="-274320">
              <a:lnSpc>
                <a:spcPct val="112000"/>
              </a:lnSpc>
              <a:spcBef>
                <a:spcPts val="0"/>
              </a:spcBef>
              <a:spcAft>
                <a:spcPts val="1000"/>
              </a:spcAft>
            </a:pPr>
            <a:r>
              <a:rPr sz="1250" b="1">
                <a:solidFill>
                  <a:srgbClr val="FF3621"/>
                </a:solidFill>
                <a:latin typeface="Segoe UI"/>
              </a:rPr>
              <a:t>▪   </a:t>
            </a:r>
            <a:r>
              <a:rPr sz="1250">
                <a:solidFill>
                  <a:srgbClr val="465257"/>
                </a:solidFill>
                <a:latin typeface="Segoe UI"/>
              </a:rPr>
              <a:t>ACID transactions &amp; performance on cheap storage</a:t>
            </a:r>
          </a:p>
          <a:p>
            <a:pPr marL="274320" indent="-274320">
              <a:lnSpc>
                <a:spcPct val="112000"/>
              </a:lnSpc>
              <a:spcBef>
                <a:spcPts val="0"/>
              </a:spcBef>
              <a:spcAft>
                <a:spcPts val="1000"/>
              </a:spcAft>
            </a:pPr>
            <a:r>
              <a:rPr sz="1250" b="1">
                <a:solidFill>
                  <a:srgbClr val="FF3621"/>
                </a:solidFill>
                <a:latin typeface="Segoe UI"/>
              </a:rPr>
              <a:t>▪   </a:t>
            </a:r>
            <a:r>
              <a:rPr sz="1250">
                <a:solidFill>
                  <a:srgbClr val="465257"/>
                </a:solidFill>
                <a:latin typeface="Segoe UI"/>
              </a:rPr>
              <a:t>Serves BI, SQL, streaming, data science &amp; AI together</a:t>
            </a:r>
          </a:p>
        </p:txBody>
      </p:sp>
      <p:sp>
        <p:nvSpPr>
          <p:cNvPr id="17" name="Rounded Rectangle 16"/>
          <p:cNvSpPr/>
          <p:nvPr/>
        </p:nvSpPr>
        <p:spPr>
          <a:xfrm>
            <a:off x="6903720" y="1828800"/>
            <a:ext cx="1943100" cy="19431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903720" y="1828800"/>
            <a:ext cx="91440" cy="1943100"/>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159752" y="2011680"/>
            <a:ext cx="1577340" cy="457200"/>
          </a:xfrm>
          <a:prstGeom prst="rect">
            <a:avLst/>
          </a:prstGeom>
          <a:noFill/>
        </p:spPr>
        <p:txBody>
          <a:bodyPr wrap="square" anchor="t" lIns="0" rIns="0" tIns="0" bIns="0">
            <a:spAutoFit/>
          </a:bodyPr>
          <a:lstStyle/>
          <a:p>
            <a:pPr algn="l">
              <a:lnSpc>
                <a:spcPct val="100000"/>
              </a:lnSpc>
              <a:spcBef>
                <a:spcPts val="0"/>
              </a:spcBef>
              <a:spcAft>
                <a:spcPts val="200"/>
              </a:spcAft>
            </a:pPr>
            <a:r>
              <a:rPr sz="1900" b="1" i="0">
                <a:solidFill>
                  <a:srgbClr val="2272B4"/>
                </a:solidFill>
                <a:latin typeface="Segoe UI"/>
              </a:rPr>
              <a:t>Open</a:t>
            </a:r>
          </a:p>
        </p:txBody>
      </p:sp>
      <p:sp>
        <p:nvSpPr>
          <p:cNvPr id="20" name="TextBox 19"/>
          <p:cNvSpPr txBox="1"/>
          <p:nvPr/>
        </p:nvSpPr>
        <p:spPr>
          <a:xfrm>
            <a:off x="7178040" y="2505456"/>
            <a:ext cx="1531620" cy="822960"/>
          </a:xfrm>
          <a:prstGeom prst="rect">
            <a:avLst/>
          </a:prstGeom>
          <a:noFill/>
        </p:spPr>
        <p:txBody>
          <a:bodyPr wrap="square" anchor="t" lIns="0" rIns="0" tIns="0" bIns="0">
            <a:spAutoFit/>
          </a:bodyPr>
          <a:lstStyle/>
          <a:p>
            <a:pPr algn="l">
              <a:lnSpc>
                <a:spcPct val="108000"/>
              </a:lnSpc>
              <a:spcBef>
                <a:spcPts val="0"/>
              </a:spcBef>
              <a:spcAft>
                <a:spcPts val="200"/>
              </a:spcAft>
            </a:pPr>
            <a:r>
              <a:rPr sz="1050" b="0" i="0">
                <a:solidFill>
                  <a:srgbClr val="465257"/>
                </a:solidFill>
                <a:latin typeface="Segoe UI"/>
              </a:rPr>
              <a:t>Delta &amp; Parquet — no proprietary lock-in</a:t>
            </a:r>
          </a:p>
        </p:txBody>
      </p:sp>
      <p:sp>
        <p:nvSpPr>
          <p:cNvPr id="21" name="Rounded Rectangle 20"/>
          <p:cNvSpPr/>
          <p:nvPr/>
        </p:nvSpPr>
        <p:spPr>
          <a:xfrm>
            <a:off x="9121140" y="1828800"/>
            <a:ext cx="1943100" cy="19431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9121140" y="1828800"/>
            <a:ext cx="91440" cy="1943100"/>
          </a:xfrm>
          <a:prstGeom prst="rect">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377172" y="2011680"/>
            <a:ext cx="1577340" cy="457200"/>
          </a:xfrm>
          <a:prstGeom prst="rect">
            <a:avLst/>
          </a:prstGeom>
          <a:noFill/>
        </p:spPr>
        <p:txBody>
          <a:bodyPr wrap="square" anchor="t" lIns="0" rIns="0" tIns="0" bIns="0">
            <a:spAutoFit/>
          </a:bodyPr>
          <a:lstStyle/>
          <a:p>
            <a:pPr algn="l">
              <a:lnSpc>
                <a:spcPct val="100000"/>
              </a:lnSpc>
              <a:spcBef>
                <a:spcPts val="0"/>
              </a:spcBef>
              <a:spcAft>
                <a:spcPts val="200"/>
              </a:spcAft>
            </a:pPr>
            <a:r>
              <a:rPr sz="1900" b="1" i="0">
                <a:solidFill>
                  <a:srgbClr val="00A972"/>
                </a:solidFill>
                <a:latin typeface="Segoe UI"/>
              </a:rPr>
              <a:t>Reliable</a:t>
            </a:r>
          </a:p>
        </p:txBody>
      </p:sp>
      <p:sp>
        <p:nvSpPr>
          <p:cNvPr id="24" name="TextBox 23"/>
          <p:cNvSpPr txBox="1"/>
          <p:nvPr/>
        </p:nvSpPr>
        <p:spPr>
          <a:xfrm>
            <a:off x="9395460" y="2505456"/>
            <a:ext cx="1531620" cy="822960"/>
          </a:xfrm>
          <a:prstGeom prst="rect">
            <a:avLst/>
          </a:prstGeom>
          <a:noFill/>
        </p:spPr>
        <p:txBody>
          <a:bodyPr wrap="square" anchor="t" lIns="0" rIns="0" tIns="0" bIns="0">
            <a:spAutoFit/>
          </a:bodyPr>
          <a:lstStyle/>
          <a:p>
            <a:pPr algn="l">
              <a:lnSpc>
                <a:spcPct val="108000"/>
              </a:lnSpc>
              <a:spcBef>
                <a:spcPts val="0"/>
              </a:spcBef>
              <a:spcAft>
                <a:spcPts val="200"/>
              </a:spcAft>
            </a:pPr>
            <a:r>
              <a:rPr sz="1050" b="0" i="0">
                <a:solidFill>
                  <a:srgbClr val="465257"/>
                </a:solidFill>
                <a:latin typeface="Segoe UI"/>
              </a:rPr>
              <a:t>ACID transactions &amp; schema enforcement</a:t>
            </a:r>
          </a:p>
        </p:txBody>
      </p:sp>
      <p:sp>
        <p:nvSpPr>
          <p:cNvPr id="25" name="Rounded Rectangle 24"/>
          <p:cNvSpPr/>
          <p:nvPr/>
        </p:nvSpPr>
        <p:spPr>
          <a:xfrm>
            <a:off x="6903720" y="4046220"/>
            <a:ext cx="1943100" cy="19431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903720" y="4046220"/>
            <a:ext cx="91440" cy="194310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159752" y="4229100"/>
            <a:ext cx="1577340" cy="457200"/>
          </a:xfrm>
          <a:prstGeom prst="rect">
            <a:avLst/>
          </a:prstGeom>
          <a:noFill/>
        </p:spPr>
        <p:txBody>
          <a:bodyPr wrap="square" anchor="t" lIns="0" rIns="0" tIns="0" bIns="0">
            <a:spAutoFit/>
          </a:bodyPr>
          <a:lstStyle/>
          <a:p>
            <a:pPr algn="l">
              <a:lnSpc>
                <a:spcPct val="100000"/>
              </a:lnSpc>
              <a:spcBef>
                <a:spcPts val="0"/>
              </a:spcBef>
              <a:spcAft>
                <a:spcPts val="200"/>
              </a:spcAft>
            </a:pPr>
            <a:r>
              <a:rPr sz="1900" b="1" i="0">
                <a:solidFill>
                  <a:srgbClr val="FF3621"/>
                </a:solidFill>
                <a:latin typeface="Segoe UI"/>
              </a:rPr>
              <a:t>Unified</a:t>
            </a:r>
          </a:p>
        </p:txBody>
      </p:sp>
      <p:sp>
        <p:nvSpPr>
          <p:cNvPr id="28" name="TextBox 27"/>
          <p:cNvSpPr txBox="1"/>
          <p:nvPr/>
        </p:nvSpPr>
        <p:spPr>
          <a:xfrm>
            <a:off x="7178040" y="4722876"/>
            <a:ext cx="1531620" cy="822960"/>
          </a:xfrm>
          <a:prstGeom prst="rect">
            <a:avLst/>
          </a:prstGeom>
          <a:noFill/>
        </p:spPr>
        <p:txBody>
          <a:bodyPr wrap="square" anchor="t" lIns="0" rIns="0" tIns="0" bIns="0">
            <a:spAutoFit/>
          </a:bodyPr>
          <a:lstStyle/>
          <a:p>
            <a:pPr algn="l">
              <a:lnSpc>
                <a:spcPct val="108000"/>
              </a:lnSpc>
              <a:spcBef>
                <a:spcPts val="0"/>
              </a:spcBef>
              <a:spcAft>
                <a:spcPts val="200"/>
              </a:spcAft>
            </a:pPr>
            <a:r>
              <a:rPr sz="1050" b="0" i="0">
                <a:solidFill>
                  <a:srgbClr val="465257"/>
                </a:solidFill>
                <a:latin typeface="Segoe UI"/>
              </a:rPr>
              <a:t>all workloads on one copy of data</a:t>
            </a:r>
          </a:p>
        </p:txBody>
      </p:sp>
      <p:sp>
        <p:nvSpPr>
          <p:cNvPr id="29" name="Rounded Rectangle 28"/>
          <p:cNvSpPr/>
          <p:nvPr/>
        </p:nvSpPr>
        <p:spPr>
          <a:xfrm>
            <a:off x="9121140" y="4046220"/>
            <a:ext cx="1943100" cy="19431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9121140" y="4046220"/>
            <a:ext cx="91440" cy="1943100"/>
          </a:xfrm>
          <a:prstGeom prst="rect">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377172" y="4229100"/>
            <a:ext cx="1577340" cy="457200"/>
          </a:xfrm>
          <a:prstGeom prst="rect">
            <a:avLst/>
          </a:prstGeom>
          <a:noFill/>
        </p:spPr>
        <p:txBody>
          <a:bodyPr wrap="square" anchor="t" lIns="0" rIns="0" tIns="0" bIns="0">
            <a:spAutoFit/>
          </a:bodyPr>
          <a:lstStyle/>
          <a:p>
            <a:pPr algn="l">
              <a:lnSpc>
                <a:spcPct val="100000"/>
              </a:lnSpc>
              <a:spcBef>
                <a:spcPts val="0"/>
              </a:spcBef>
              <a:spcAft>
                <a:spcPts val="200"/>
              </a:spcAft>
            </a:pPr>
            <a:r>
              <a:rPr sz="1900" b="1" i="0">
                <a:solidFill>
                  <a:srgbClr val="7C5CCF"/>
                </a:solidFill>
                <a:latin typeface="Segoe UI"/>
              </a:rPr>
              <a:t>Governed</a:t>
            </a:r>
          </a:p>
        </p:txBody>
      </p:sp>
      <p:sp>
        <p:nvSpPr>
          <p:cNvPr id="32" name="TextBox 31"/>
          <p:cNvSpPr txBox="1"/>
          <p:nvPr/>
        </p:nvSpPr>
        <p:spPr>
          <a:xfrm>
            <a:off x="9395460" y="4722876"/>
            <a:ext cx="1531620" cy="822960"/>
          </a:xfrm>
          <a:prstGeom prst="rect">
            <a:avLst/>
          </a:prstGeom>
          <a:noFill/>
        </p:spPr>
        <p:txBody>
          <a:bodyPr wrap="square" anchor="t" lIns="0" rIns="0" tIns="0" bIns="0">
            <a:spAutoFit/>
          </a:bodyPr>
          <a:lstStyle/>
          <a:p>
            <a:pPr algn="l">
              <a:lnSpc>
                <a:spcPct val="108000"/>
              </a:lnSpc>
              <a:spcBef>
                <a:spcPts val="0"/>
              </a:spcBef>
              <a:spcAft>
                <a:spcPts val="200"/>
              </a:spcAft>
            </a:pPr>
            <a:r>
              <a:rPr sz="1050" b="0" i="0">
                <a:solidFill>
                  <a:srgbClr val="465257"/>
                </a:solidFill>
                <a:latin typeface="Segoe UI"/>
              </a:rPr>
              <a:t>one security model via Unity Catalog</a:t>
            </a:r>
          </a:p>
        </p:txBody>
      </p:sp>
      <p:sp>
        <p:nvSpPr>
          <p:cNvPr id="33" name="TextBox 32"/>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34" name="TextBox 33"/>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LAKEHOUSE ARCHITECTURE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Lakehouse Architecture — Layer by Layer</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855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Spark</a:t>
            </a:r>
          </a:p>
        </p:txBody>
      </p:sp>
      <p:sp>
        <p:nvSpPr>
          <p:cNvPr id="9" name="Oval 8"/>
          <p:cNvSpPr/>
          <p:nvPr/>
        </p:nvSpPr>
        <p:spPr>
          <a:xfrm>
            <a:off x="94644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Workspace</a:t>
            </a:r>
          </a:p>
        </p:txBody>
      </p:sp>
      <p:sp>
        <p:nvSpPr>
          <p:cNvPr id="11" name="Oval 10"/>
          <p:cNvSpPr/>
          <p:nvPr/>
        </p:nvSpPr>
        <p:spPr>
          <a:xfrm>
            <a:off x="10527487"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Lakehouse</a:t>
            </a:r>
          </a:p>
        </p:txBody>
      </p:sp>
      <p:sp>
        <p:nvSpPr>
          <p:cNvPr id="13" name="Rounded Rectangle 12"/>
          <p:cNvSpPr/>
          <p:nvPr/>
        </p:nvSpPr>
        <p:spPr>
          <a:xfrm>
            <a:off x="566928" y="2194560"/>
            <a:ext cx="1583893" cy="914400"/>
          </a:xfrm>
          <a:prstGeom prst="roundRect">
            <a:avLst>
              <a:gd name="adj" fmla="val 14000"/>
            </a:avLst>
          </a:prstGeom>
          <a:solidFill>
            <a:srgbClr val="27444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699698" y="2491922"/>
            <a:ext cx="319674" cy="319674"/>
          </a:xfrm>
          <a:prstGeom prst="ellipse">
            <a:avLst/>
          </a:prstGeom>
          <a:noFill/>
          <a:ln w="38608">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96991" y="2491922"/>
            <a:ext cx="125089" cy="319674"/>
          </a:xfrm>
          <a:prstGeom prst="ellipse">
            <a:avLst/>
          </a:prstGeom>
          <a:noFill/>
          <a:ln w="28956">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99698" y="2641335"/>
            <a:ext cx="319674" cy="208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42416" y="2194560"/>
            <a:ext cx="1016965" cy="914400"/>
          </a:xfrm>
          <a:prstGeom prst="rect">
            <a:avLst/>
          </a:prstGeom>
          <a:noFill/>
        </p:spPr>
        <p:txBody>
          <a:bodyPr wrap="square" anchor="ctr" lIns="0" rIns="0" tIns="0" bIns="0">
            <a:spAutoFit/>
          </a:bodyPr>
          <a:lstStyle/>
          <a:p>
            <a:pPr algn="ctr">
              <a:lnSpc>
                <a:spcPct val="92000"/>
              </a:lnSpc>
              <a:spcBef>
                <a:spcPts val="0"/>
              </a:spcBef>
              <a:spcAft>
                <a:spcPts val="200"/>
              </a:spcAft>
            </a:pPr>
            <a:r>
              <a:rPr sz="1100" b="1" i="0">
                <a:solidFill>
                  <a:srgbClr val="FFFFFF"/>
                </a:solidFill>
                <a:latin typeface="Segoe UI"/>
              </a:rPr>
              <a:t>Data
Sources</a:t>
            </a:r>
          </a:p>
        </p:txBody>
      </p:sp>
      <p:sp>
        <p:nvSpPr>
          <p:cNvPr id="18" name="Rounded Rectangle 17"/>
          <p:cNvSpPr/>
          <p:nvPr/>
        </p:nvSpPr>
        <p:spPr>
          <a:xfrm>
            <a:off x="566928" y="3273552"/>
            <a:ext cx="1583893" cy="12344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31520" y="3419856"/>
            <a:ext cx="1272997" cy="960120"/>
          </a:xfrm>
          <a:prstGeom prst="rect">
            <a:avLst/>
          </a:prstGeom>
          <a:noFill/>
        </p:spPr>
        <p:txBody>
          <a:bodyPr wrap="square" anchor="t" lIns="0" rIns="0" tIns="0" bIns="0">
            <a:spAutoFit/>
          </a:bodyPr>
          <a:lstStyle/>
          <a:p>
            <a:pPr marL="274320" indent="-274320">
              <a:lnSpc>
                <a:spcPct val="105000"/>
              </a:lnSpc>
              <a:spcBef>
                <a:spcPts val="0"/>
              </a:spcBef>
              <a:spcAft>
                <a:spcPts val="400"/>
              </a:spcAft>
            </a:pPr>
            <a:r>
              <a:rPr sz="980" b="1">
                <a:solidFill>
                  <a:srgbClr val="27444F"/>
                </a:solidFill>
                <a:latin typeface="Segoe UI"/>
              </a:rPr>
              <a:t>▪   </a:t>
            </a:r>
            <a:r>
              <a:rPr sz="980">
                <a:solidFill>
                  <a:srgbClr val="465257"/>
                </a:solidFill>
                <a:latin typeface="Segoe UI"/>
              </a:rPr>
              <a:t>Apps &amp; DBs</a:t>
            </a:r>
          </a:p>
          <a:p>
            <a:pPr marL="274320" indent="-274320">
              <a:lnSpc>
                <a:spcPct val="105000"/>
              </a:lnSpc>
              <a:spcBef>
                <a:spcPts val="0"/>
              </a:spcBef>
              <a:spcAft>
                <a:spcPts val="400"/>
              </a:spcAft>
            </a:pPr>
            <a:r>
              <a:rPr sz="980" b="1">
                <a:solidFill>
                  <a:srgbClr val="27444F"/>
                </a:solidFill>
                <a:latin typeface="Segoe UI"/>
              </a:rPr>
              <a:t>▪   </a:t>
            </a:r>
            <a:r>
              <a:rPr sz="980">
                <a:solidFill>
                  <a:srgbClr val="465257"/>
                </a:solidFill>
                <a:latin typeface="Segoe UI"/>
              </a:rPr>
              <a:t>IoT / events</a:t>
            </a:r>
          </a:p>
          <a:p>
            <a:pPr marL="274320" indent="-274320">
              <a:lnSpc>
                <a:spcPct val="105000"/>
              </a:lnSpc>
              <a:spcBef>
                <a:spcPts val="0"/>
              </a:spcBef>
              <a:spcAft>
                <a:spcPts val="400"/>
              </a:spcAft>
            </a:pPr>
            <a:r>
              <a:rPr sz="980" b="1">
                <a:solidFill>
                  <a:srgbClr val="27444F"/>
                </a:solidFill>
                <a:latin typeface="Segoe UI"/>
              </a:rPr>
              <a:t>▪   </a:t>
            </a:r>
            <a:r>
              <a:rPr sz="980">
                <a:solidFill>
                  <a:srgbClr val="465257"/>
                </a:solidFill>
                <a:latin typeface="Segoe UI"/>
              </a:rPr>
              <a:t>Files &amp; APIs</a:t>
            </a:r>
          </a:p>
        </p:txBody>
      </p:sp>
      <p:sp>
        <p:nvSpPr>
          <p:cNvPr id="20" name="Right Arrow 19"/>
          <p:cNvSpPr/>
          <p:nvPr/>
        </p:nvSpPr>
        <p:spPr>
          <a:xfrm>
            <a:off x="2169109" y="2574036"/>
            <a:ext cx="256032" cy="155448"/>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2461717" y="2194560"/>
            <a:ext cx="1583893" cy="914400"/>
          </a:xfrm>
          <a:prstGeom prst="roundRect">
            <a:avLst>
              <a:gd name="adj" fmla="val 14000"/>
            </a:avLst>
          </a:prstGeom>
          <a:solidFill>
            <a:srgbClr val="0E8C9C"/>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Down Arrow 21"/>
          <p:cNvSpPr/>
          <p:nvPr/>
        </p:nvSpPr>
        <p:spPr>
          <a:xfrm>
            <a:off x="2646608" y="2478024"/>
            <a:ext cx="215432" cy="347472"/>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937205" y="2194560"/>
            <a:ext cx="1016965" cy="914400"/>
          </a:xfrm>
          <a:prstGeom prst="rect">
            <a:avLst/>
          </a:prstGeom>
          <a:noFill/>
        </p:spPr>
        <p:txBody>
          <a:bodyPr wrap="square" anchor="ctr" lIns="0" rIns="0" tIns="0" bIns="0">
            <a:spAutoFit/>
          </a:bodyPr>
          <a:lstStyle/>
          <a:p>
            <a:pPr algn="ctr">
              <a:lnSpc>
                <a:spcPct val="92000"/>
              </a:lnSpc>
              <a:spcBef>
                <a:spcPts val="0"/>
              </a:spcBef>
              <a:spcAft>
                <a:spcPts val="200"/>
              </a:spcAft>
            </a:pPr>
            <a:r>
              <a:rPr sz="1100" b="1" i="0">
                <a:solidFill>
                  <a:srgbClr val="FFFFFF"/>
                </a:solidFill>
                <a:latin typeface="Segoe UI"/>
              </a:rPr>
              <a:t>Ingestion</a:t>
            </a:r>
          </a:p>
        </p:txBody>
      </p:sp>
      <p:sp>
        <p:nvSpPr>
          <p:cNvPr id="24" name="Rounded Rectangle 23"/>
          <p:cNvSpPr/>
          <p:nvPr/>
        </p:nvSpPr>
        <p:spPr>
          <a:xfrm>
            <a:off x="2461717" y="3273552"/>
            <a:ext cx="1583893" cy="12344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626309" y="3419856"/>
            <a:ext cx="1272997" cy="960120"/>
          </a:xfrm>
          <a:prstGeom prst="rect">
            <a:avLst/>
          </a:prstGeom>
          <a:noFill/>
        </p:spPr>
        <p:txBody>
          <a:bodyPr wrap="square" anchor="t" lIns="0" rIns="0" tIns="0" bIns="0">
            <a:spAutoFit/>
          </a:bodyPr>
          <a:lstStyle/>
          <a:p>
            <a:pPr marL="274320" indent="-274320">
              <a:lnSpc>
                <a:spcPct val="105000"/>
              </a:lnSpc>
              <a:spcBef>
                <a:spcPts val="0"/>
              </a:spcBef>
              <a:spcAft>
                <a:spcPts val="400"/>
              </a:spcAft>
            </a:pPr>
            <a:r>
              <a:rPr sz="980" b="1">
                <a:solidFill>
                  <a:srgbClr val="0E8C9C"/>
                </a:solidFill>
                <a:latin typeface="Segoe UI"/>
              </a:rPr>
              <a:t>▪   </a:t>
            </a:r>
            <a:r>
              <a:rPr sz="980">
                <a:solidFill>
                  <a:srgbClr val="465257"/>
                </a:solidFill>
                <a:latin typeface="Segoe UI"/>
              </a:rPr>
              <a:t>Auto Loader</a:t>
            </a:r>
          </a:p>
          <a:p>
            <a:pPr marL="274320" indent="-274320">
              <a:lnSpc>
                <a:spcPct val="105000"/>
              </a:lnSpc>
              <a:spcBef>
                <a:spcPts val="0"/>
              </a:spcBef>
              <a:spcAft>
                <a:spcPts val="400"/>
              </a:spcAft>
            </a:pPr>
            <a:r>
              <a:rPr sz="980" b="1">
                <a:solidFill>
                  <a:srgbClr val="0E8C9C"/>
                </a:solidFill>
                <a:latin typeface="Segoe UI"/>
              </a:rPr>
              <a:t>▪   </a:t>
            </a:r>
            <a:r>
              <a:rPr sz="980">
                <a:solidFill>
                  <a:srgbClr val="465257"/>
                </a:solidFill>
                <a:latin typeface="Segoe UI"/>
              </a:rPr>
              <a:t>Lakeflow</a:t>
            </a:r>
          </a:p>
          <a:p>
            <a:pPr marL="274320" indent="-274320">
              <a:lnSpc>
                <a:spcPct val="105000"/>
              </a:lnSpc>
              <a:spcBef>
                <a:spcPts val="0"/>
              </a:spcBef>
              <a:spcAft>
                <a:spcPts val="400"/>
              </a:spcAft>
            </a:pPr>
            <a:r>
              <a:rPr sz="980" b="1">
                <a:solidFill>
                  <a:srgbClr val="0E8C9C"/>
                </a:solidFill>
                <a:latin typeface="Segoe UI"/>
              </a:rPr>
              <a:t>▪   </a:t>
            </a:r>
            <a:r>
              <a:rPr sz="980">
                <a:solidFill>
                  <a:srgbClr val="465257"/>
                </a:solidFill>
                <a:latin typeface="Segoe UI"/>
              </a:rPr>
              <a:t>Batch + stream</a:t>
            </a:r>
          </a:p>
        </p:txBody>
      </p:sp>
      <p:sp>
        <p:nvSpPr>
          <p:cNvPr id="26" name="Right Arrow 25"/>
          <p:cNvSpPr/>
          <p:nvPr/>
        </p:nvSpPr>
        <p:spPr>
          <a:xfrm>
            <a:off x="4063898" y="2574036"/>
            <a:ext cx="256032" cy="155448"/>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4356506" y="2194560"/>
            <a:ext cx="1583893" cy="914400"/>
          </a:xfrm>
          <a:prstGeom prst="roundRect">
            <a:avLst>
              <a:gd name="adj" fmla="val 14000"/>
            </a:avLst>
          </a:prstGeom>
          <a:solidFill>
            <a:srgbClr val="B06A3B"/>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Can 27"/>
          <p:cNvSpPr/>
          <p:nvPr/>
        </p:nvSpPr>
        <p:spPr>
          <a:xfrm>
            <a:off x="4506650" y="2478024"/>
            <a:ext cx="284927" cy="347472"/>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831994" y="2194560"/>
            <a:ext cx="1016965" cy="914400"/>
          </a:xfrm>
          <a:prstGeom prst="rect">
            <a:avLst/>
          </a:prstGeom>
          <a:noFill/>
        </p:spPr>
        <p:txBody>
          <a:bodyPr wrap="square" anchor="ctr" lIns="0" rIns="0" tIns="0" bIns="0">
            <a:spAutoFit/>
          </a:bodyPr>
          <a:lstStyle/>
          <a:p>
            <a:pPr algn="ctr">
              <a:lnSpc>
                <a:spcPct val="92000"/>
              </a:lnSpc>
              <a:spcBef>
                <a:spcPts val="0"/>
              </a:spcBef>
              <a:spcAft>
                <a:spcPts val="200"/>
              </a:spcAft>
            </a:pPr>
            <a:r>
              <a:rPr sz="1100" b="1" i="0">
                <a:solidFill>
                  <a:srgbClr val="FFFFFF"/>
                </a:solidFill>
                <a:latin typeface="Segoe UI"/>
              </a:rPr>
              <a:t>Bronze</a:t>
            </a:r>
          </a:p>
        </p:txBody>
      </p:sp>
      <p:sp>
        <p:nvSpPr>
          <p:cNvPr id="30" name="Rounded Rectangle 29"/>
          <p:cNvSpPr/>
          <p:nvPr/>
        </p:nvSpPr>
        <p:spPr>
          <a:xfrm>
            <a:off x="4356506" y="3273552"/>
            <a:ext cx="1583893" cy="12344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4521098" y="3419856"/>
            <a:ext cx="1272997" cy="960120"/>
          </a:xfrm>
          <a:prstGeom prst="rect">
            <a:avLst/>
          </a:prstGeom>
          <a:noFill/>
        </p:spPr>
        <p:txBody>
          <a:bodyPr wrap="square" anchor="t" lIns="0" rIns="0" tIns="0" bIns="0">
            <a:spAutoFit/>
          </a:bodyPr>
          <a:lstStyle/>
          <a:p>
            <a:pPr marL="274320" indent="-274320">
              <a:lnSpc>
                <a:spcPct val="105000"/>
              </a:lnSpc>
              <a:spcBef>
                <a:spcPts val="0"/>
              </a:spcBef>
              <a:spcAft>
                <a:spcPts val="400"/>
              </a:spcAft>
            </a:pPr>
            <a:r>
              <a:rPr sz="980" b="1">
                <a:solidFill>
                  <a:srgbClr val="B06A3B"/>
                </a:solidFill>
                <a:latin typeface="Segoe UI"/>
              </a:rPr>
              <a:t>▪   </a:t>
            </a:r>
            <a:r>
              <a:rPr sz="980">
                <a:solidFill>
                  <a:srgbClr val="465257"/>
                </a:solidFill>
                <a:latin typeface="Segoe UI"/>
              </a:rPr>
              <a:t>Raw, as-is</a:t>
            </a:r>
          </a:p>
          <a:p>
            <a:pPr marL="274320" indent="-274320">
              <a:lnSpc>
                <a:spcPct val="105000"/>
              </a:lnSpc>
              <a:spcBef>
                <a:spcPts val="0"/>
              </a:spcBef>
              <a:spcAft>
                <a:spcPts val="400"/>
              </a:spcAft>
            </a:pPr>
            <a:r>
              <a:rPr sz="980" b="1">
                <a:solidFill>
                  <a:srgbClr val="B06A3B"/>
                </a:solidFill>
                <a:latin typeface="Segoe UI"/>
              </a:rPr>
              <a:t>▪   </a:t>
            </a:r>
            <a:r>
              <a:rPr sz="980">
                <a:solidFill>
                  <a:srgbClr val="465257"/>
                </a:solidFill>
                <a:latin typeface="Segoe UI"/>
              </a:rPr>
              <a:t>Full history</a:t>
            </a:r>
          </a:p>
          <a:p>
            <a:pPr marL="274320" indent="-274320">
              <a:lnSpc>
                <a:spcPct val="105000"/>
              </a:lnSpc>
              <a:spcBef>
                <a:spcPts val="0"/>
              </a:spcBef>
              <a:spcAft>
                <a:spcPts val="400"/>
              </a:spcAft>
            </a:pPr>
            <a:r>
              <a:rPr sz="980" b="1">
                <a:solidFill>
                  <a:srgbClr val="B06A3B"/>
                </a:solidFill>
                <a:latin typeface="Segoe UI"/>
              </a:rPr>
              <a:t>▪   </a:t>
            </a:r>
            <a:r>
              <a:rPr sz="980">
                <a:solidFill>
                  <a:srgbClr val="465257"/>
                </a:solidFill>
                <a:latin typeface="Segoe UI"/>
              </a:rPr>
              <a:t>Append-only</a:t>
            </a:r>
          </a:p>
        </p:txBody>
      </p:sp>
      <p:sp>
        <p:nvSpPr>
          <p:cNvPr id="32" name="Right Arrow 31"/>
          <p:cNvSpPr/>
          <p:nvPr/>
        </p:nvSpPr>
        <p:spPr>
          <a:xfrm>
            <a:off x="5958687" y="2574036"/>
            <a:ext cx="256032" cy="155448"/>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6251295" y="2194560"/>
            <a:ext cx="1583893" cy="914400"/>
          </a:xfrm>
          <a:prstGeom prst="roundRect">
            <a:avLst>
              <a:gd name="adj" fmla="val 14000"/>
            </a:avLst>
          </a:prstGeom>
          <a:solidFill>
            <a:srgbClr val="8D9AA3"/>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Gear 6 33"/>
          <p:cNvSpPr/>
          <p:nvPr/>
        </p:nvSpPr>
        <p:spPr>
          <a:xfrm>
            <a:off x="6370167" y="2478024"/>
            <a:ext cx="347472" cy="347472"/>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726783" y="2194560"/>
            <a:ext cx="1016965" cy="914400"/>
          </a:xfrm>
          <a:prstGeom prst="rect">
            <a:avLst/>
          </a:prstGeom>
          <a:noFill/>
        </p:spPr>
        <p:txBody>
          <a:bodyPr wrap="square" anchor="ctr" lIns="0" rIns="0" tIns="0" bIns="0">
            <a:spAutoFit/>
          </a:bodyPr>
          <a:lstStyle/>
          <a:p>
            <a:pPr algn="ctr">
              <a:lnSpc>
                <a:spcPct val="92000"/>
              </a:lnSpc>
              <a:spcBef>
                <a:spcPts val="0"/>
              </a:spcBef>
              <a:spcAft>
                <a:spcPts val="200"/>
              </a:spcAft>
            </a:pPr>
            <a:r>
              <a:rPr sz="1100" b="1" i="0">
                <a:solidFill>
                  <a:srgbClr val="FFFFFF"/>
                </a:solidFill>
                <a:latin typeface="Segoe UI"/>
              </a:rPr>
              <a:t>Silver</a:t>
            </a:r>
          </a:p>
        </p:txBody>
      </p:sp>
      <p:sp>
        <p:nvSpPr>
          <p:cNvPr id="36" name="Rounded Rectangle 35"/>
          <p:cNvSpPr/>
          <p:nvPr/>
        </p:nvSpPr>
        <p:spPr>
          <a:xfrm>
            <a:off x="6251295" y="3273552"/>
            <a:ext cx="1583893" cy="12344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15887" y="3419856"/>
            <a:ext cx="1272997" cy="960120"/>
          </a:xfrm>
          <a:prstGeom prst="rect">
            <a:avLst/>
          </a:prstGeom>
          <a:noFill/>
        </p:spPr>
        <p:txBody>
          <a:bodyPr wrap="square" anchor="t" lIns="0" rIns="0" tIns="0" bIns="0">
            <a:spAutoFit/>
          </a:bodyPr>
          <a:lstStyle/>
          <a:p>
            <a:pPr marL="274320" indent="-274320">
              <a:lnSpc>
                <a:spcPct val="105000"/>
              </a:lnSpc>
              <a:spcBef>
                <a:spcPts val="0"/>
              </a:spcBef>
              <a:spcAft>
                <a:spcPts val="400"/>
              </a:spcAft>
            </a:pPr>
            <a:r>
              <a:rPr sz="980" b="1">
                <a:solidFill>
                  <a:srgbClr val="8D9AA3"/>
                </a:solidFill>
                <a:latin typeface="Segoe UI"/>
              </a:rPr>
              <a:t>▪   </a:t>
            </a:r>
            <a:r>
              <a:rPr sz="980">
                <a:solidFill>
                  <a:srgbClr val="465257"/>
                </a:solidFill>
                <a:latin typeface="Segoe UI"/>
              </a:rPr>
              <a:t>Cleansed</a:t>
            </a:r>
          </a:p>
          <a:p>
            <a:pPr marL="274320" indent="-274320">
              <a:lnSpc>
                <a:spcPct val="105000"/>
              </a:lnSpc>
              <a:spcBef>
                <a:spcPts val="0"/>
              </a:spcBef>
              <a:spcAft>
                <a:spcPts val="400"/>
              </a:spcAft>
            </a:pPr>
            <a:r>
              <a:rPr sz="980" b="1">
                <a:solidFill>
                  <a:srgbClr val="8D9AA3"/>
                </a:solidFill>
                <a:latin typeface="Segoe UI"/>
              </a:rPr>
              <a:t>▪   </a:t>
            </a:r>
            <a:r>
              <a:rPr sz="980">
                <a:solidFill>
                  <a:srgbClr val="465257"/>
                </a:solidFill>
                <a:latin typeface="Segoe UI"/>
              </a:rPr>
              <a:t>Conformed</a:t>
            </a:r>
          </a:p>
          <a:p>
            <a:pPr marL="274320" indent="-274320">
              <a:lnSpc>
                <a:spcPct val="105000"/>
              </a:lnSpc>
              <a:spcBef>
                <a:spcPts val="0"/>
              </a:spcBef>
              <a:spcAft>
                <a:spcPts val="400"/>
              </a:spcAft>
            </a:pPr>
            <a:r>
              <a:rPr sz="980" b="1">
                <a:solidFill>
                  <a:srgbClr val="8D9AA3"/>
                </a:solidFill>
                <a:latin typeface="Segoe UI"/>
              </a:rPr>
              <a:t>▪   </a:t>
            </a:r>
            <a:r>
              <a:rPr sz="980">
                <a:solidFill>
                  <a:srgbClr val="465257"/>
                </a:solidFill>
                <a:latin typeface="Segoe UI"/>
              </a:rPr>
              <a:t>Joined</a:t>
            </a:r>
          </a:p>
        </p:txBody>
      </p:sp>
      <p:sp>
        <p:nvSpPr>
          <p:cNvPr id="38" name="Right Arrow 37"/>
          <p:cNvSpPr/>
          <p:nvPr/>
        </p:nvSpPr>
        <p:spPr>
          <a:xfrm>
            <a:off x="7853476" y="2574036"/>
            <a:ext cx="256032" cy="155448"/>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8146084" y="2194560"/>
            <a:ext cx="1583893" cy="914400"/>
          </a:xfrm>
          <a:prstGeom prst="roundRect">
            <a:avLst>
              <a:gd name="adj" fmla="val 14000"/>
            </a:avLst>
          </a:prstGeom>
          <a:solidFill>
            <a:srgbClr val="D8A32B"/>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Diamond 39"/>
          <p:cNvSpPr/>
          <p:nvPr/>
        </p:nvSpPr>
        <p:spPr>
          <a:xfrm>
            <a:off x="8278855" y="2478024"/>
            <a:ext cx="319674" cy="347472"/>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621572" y="2194560"/>
            <a:ext cx="1016965" cy="914400"/>
          </a:xfrm>
          <a:prstGeom prst="rect">
            <a:avLst/>
          </a:prstGeom>
          <a:noFill/>
        </p:spPr>
        <p:txBody>
          <a:bodyPr wrap="square" anchor="ctr" lIns="0" rIns="0" tIns="0" bIns="0">
            <a:spAutoFit/>
          </a:bodyPr>
          <a:lstStyle/>
          <a:p>
            <a:pPr algn="ctr">
              <a:lnSpc>
                <a:spcPct val="92000"/>
              </a:lnSpc>
              <a:spcBef>
                <a:spcPts val="0"/>
              </a:spcBef>
              <a:spcAft>
                <a:spcPts val="200"/>
              </a:spcAft>
            </a:pPr>
            <a:r>
              <a:rPr sz="1100" b="1" i="0">
                <a:solidFill>
                  <a:srgbClr val="FFFFFF"/>
                </a:solidFill>
                <a:latin typeface="Segoe UI"/>
              </a:rPr>
              <a:t>Gold</a:t>
            </a:r>
          </a:p>
        </p:txBody>
      </p:sp>
      <p:sp>
        <p:nvSpPr>
          <p:cNvPr id="42" name="Rounded Rectangle 41"/>
          <p:cNvSpPr/>
          <p:nvPr/>
        </p:nvSpPr>
        <p:spPr>
          <a:xfrm>
            <a:off x="8146084" y="3273552"/>
            <a:ext cx="1583893" cy="12344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8310676" y="3419856"/>
            <a:ext cx="1272997" cy="960120"/>
          </a:xfrm>
          <a:prstGeom prst="rect">
            <a:avLst/>
          </a:prstGeom>
          <a:noFill/>
        </p:spPr>
        <p:txBody>
          <a:bodyPr wrap="square" anchor="t" lIns="0" rIns="0" tIns="0" bIns="0">
            <a:spAutoFit/>
          </a:bodyPr>
          <a:lstStyle/>
          <a:p>
            <a:pPr marL="274320" indent="-274320">
              <a:lnSpc>
                <a:spcPct val="105000"/>
              </a:lnSpc>
              <a:spcBef>
                <a:spcPts val="0"/>
              </a:spcBef>
              <a:spcAft>
                <a:spcPts val="400"/>
              </a:spcAft>
            </a:pPr>
            <a:r>
              <a:rPr sz="980" b="1">
                <a:solidFill>
                  <a:srgbClr val="D8A32B"/>
                </a:solidFill>
                <a:latin typeface="Segoe UI"/>
              </a:rPr>
              <a:t>▪   </a:t>
            </a:r>
            <a:r>
              <a:rPr sz="980">
                <a:solidFill>
                  <a:srgbClr val="465257"/>
                </a:solidFill>
                <a:latin typeface="Segoe UI"/>
              </a:rPr>
              <a:t>Aggregates</a:t>
            </a:r>
          </a:p>
          <a:p>
            <a:pPr marL="274320" indent="-274320">
              <a:lnSpc>
                <a:spcPct val="105000"/>
              </a:lnSpc>
              <a:spcBef>
                <a:spcPts val="0"/>
              </a:spcBef>
              <a:spcAft>
                <a:spcPts val="400"/>
              </a:spcAft>
            </a:pPr>
            <a:r>
              <a:rPr sz="980" b="1">
                <a:solidFill>
                  <a:srgbClr val="D8A32B"/>
                </a:solidFill>
                <a:latin typeface="Segoe UI"/>
              </a:rPr>
              <a:t>▪   </a:t>
            </a:r>
            <a:r>
              <a:rPr sz="980">
                <a:solidFill>
                  <a:srgbClr val="465257"/>
                </a:solidFill>
                <a:latin typeface="Segoe UI"/>
              </a:rPr>
              <a:t>Business KPIs</a:t>
            </a:r>
          </a:p>
          <a:p>
            <a:pPr marL="274320" indent="-274320">
              <a:lnSpc>
                <a:spcPct val="105000"/>
              </a:lnSpc>
              <a:spcBef>
                <a:spcPts val="0"/>
              </a:spcBef>
              <a:spcAft>
                <a:spcPts val="400"/>
              </a:spcAft>
            </a:pPr>
            <a:r>
              <a:rPr sz="980" b="1">
                <a:solidFill>
                  <a:srgbClr val="D8A32B"/>
                </a:solidFill>
                <a:latin typeface="Segoe UI"/>
              </a:rPr>
              <a:t>▪   </a:t>
            </a:r>
            <a:r>
              <a:rPr sz="980">
                <a:solidFill>
                  <a:srgbClr val="465257"/>
                </a:solidFill>
                <a:latin typeface="Segoe UI"/>
              </a:rPr>
              <a:t>ML features</a:t>
            </a:r>
          </a:p>
        </p:txBody>
      </p:sp>
      <p:sp>
        <p:nvSpPr>
          <p:cNvPr id="44" name="Right Arrow 43"/>
          <p:cNvSpPr/>
          <p:nvPr/>
        </p:nvSpPr>
        <p:spPr>
          <a:xfrm>
            <a:off x="9748266" y="2574036"/>
            <a:ext cx="256032" cy="155448"/>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10040874" y="2194560"/>
            <a:ext cx="1583893" cy="914400"/>
          </a:xfrm>
          <a:prstGeom prst="roundRect">
            <a:avLst>
              <a:gd name="adj" fmla="val 14000"/>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10187543" y="2651760"/>
            <a:ext cx="69494" cy="173736"/>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10298734" y="2554467"/>
            <a:ext cx="69494" cy="27102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10409925" y="2478024"/>
            <a:ext cx="69494" cy="347472"/>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10516362" y="2194560"/>
            <a:ext cx="1016965" cy="914400"/>
          </a:xfrm>
          <a:prstGeom prst="rect">
            <a:avLst/>
          </a:prstGeom>
          <a:noFill/>
        </p:spPr>
        <p:txBody>
          <a:bodyPr wrap="square" anchor="ctr" lIns="0" rIns="0" tIns="0" bIns="0">
            <a:spAutoFit/>
          </a:bodyPr>
          <a:lstStyle/>
          <a:p>
            <a:pPr algn="ctr">
              <a:lnSpc>
                <a:spcPct val="92000"/>
              </a:lnSpc>
              <a:spcBef>
                <a:spcPts val="0"/>
              </a:spcBef>
              <a:spcAft>
                <a:spcPts val="200"/>
              </a:spcAft>
            </a:pPr>
            <a:r>
              <a:rPr sz="1100" b="1" i="0">
                <a:solidFill>
                  <a:srgbClr val="FFFFFF"/>
                </a:solidFill>
                <a:latin typeface="Segoe UI"/>
              </a:rPr>
              <a:t>BI · AI · ML</a:t>
            </a:r>
          </a:p>
        </p:txBody>
      </p:sp>
      <p:sp>
        <p:nvSpPr>
          <p:cNvPr id="50" name="Rounded Rectangle 49"/>
          <p:cNvSpPr/>
          <p:nvPr/>
        </p:nvSpPr>
        <p:spPr>
          <a:xfrm>
            <a:off x="10040874" y="3273552"/>
            <a:ext cx="1583893" cy="12344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10205466" y="3419856"/>
            <a:ext cx="1272997" cy="960120"/>
          </a:xfrm>
          <a:prstGeom prst="rect">
            <a:avLst/>
          </a:prstGeom>
          <a:noFill/>
        </p:spPr>
        <p:txBody>
          <a:bodyPr wrap="square" anchor="t" lIns="0" rIns="0" tIns="0" bIns="0">
            <a:spAutoFit/>
          </a:bodyPr>
          <a:lstStyle/>
          <a:p>
            <a:pPr marL="274320" indent="-274320">
              <a:lnSpc>
                <a:spcPct val="105000"/>
              </a:lnSpc>
              <a:spcBef>
                <a:spcPts val="0"/>
              </a:spcBef>
              <a:spcAft>
                <a:spcPts val="400"/>
              </a:spcAft>
            </a:pPr>
            <a:r>
              <a:rPr sz="980" b="1">
                <a:solidFill>
                  <a:srgbClr val="7C5CCF"/>
                </a:solidFill>
                <a:latin typeface="Segoe UI"/>
              </a:rPr>
              <a:t>▪   </a:t>
            </a:r>
            <a:r>
              <a:rPr sz="980">
                <a:solidFill>
                  <a:srgbClr val="465257"/>
                </a:solidFill>
                <a:latin typeface="Segoe UI"/>
              </a:rPr>
              <a:t>Dashboards</a:t>
            </a:r>
          </a:p>
          <a:p>
            <a:pPr marL="274320" indent="-274320">
              <a:lnSpc>
                <a:spcPct val="105000"/>
              </a:lnSpc>
              <a:spcBef>
                <a:spcPts val="0"/>
              </a:spcBef>
              <a:spcAft>
                <a:spcPts val="400"/>
              </a:spcAft>
            </a:pPr>
            <a:r>
              <a:rPr sz="980" b="1">
                <a:solidFill>
                  <a:srgbClr val="7C5CCF"/>
                </a:solidFill>
                <a:latin typeface="Segoe UI"/>
              </a:rPr>
              <a:t>▪   </a:t>
            </a:r>
            <a:r>
              <a:rPr sz="980">
                <a:solidFill>
                  <a:srgbClr val="465257"/>
                </a:solidFill>
                <a:latin typeface="Segoe UI"/>
              </a:rPr>
              <a:t>Genie / SQL</a:t>
            </a:r>
          </a:p>
          <a:p>
            <a:pPr marL="274320" indent="-274320">
              <a:lnSpc>
                <a:spcPct val="105000"/>
              </a:lnSpc>
              <a:spcBef>
                <a:spcPts val="0"/>
              </a:spcBef>
              <a:spcAft>
                <a:spcPts val="400"/>
              </a:spcAft>
            </a:pPr>
            <a:r>
              <a:rPr sz="980" b="1">
                <a:solidFill>
                  <a:srgbClr val="7C5CCF"/>
                </a:solidFill>
                <a:latin typeface="Segoe UI"/>
              </a:rPr>
              <a:t>▪   </a:t>
            </a:r>
            <a:r>
              <a:rPr sz="980">
                <a:solidFill>
                  <a:srgbClr val="465257"/>
                </a:solidFill>
                <a:latin typeface="Segoe UI"/>
              </a:rPr>
              <a:t>ML &amp; GenAI</a:t>
            </a:r>
          </a:p>
        </p:txBody>
      </p:sp>
      <p:sp>
        <p:nvSpPr>
          <p:cNvPr id="52" name="Rounded Rectangle 51"/>
          <p:cNvSpPr/>
          <p:nvPr/>
        </p:nvSpPr>
        <p:spPr>
          <a:xfrm>
            <a:off x="566928" y="4937760"/>
            <a:ext cx="11057839" cy="566928"/>
          </a:xfrm>
          <a:prstGeom prst="roundRect">
            <a:avLst>
              <a:gd name="adj" fmla="val 20000"/>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Isosceles Triangle 52"/>
          <p:cNvSpPr/>
          <p:nvPr/>
        </p:nvSpPr>
        <p:spPr>
          <a:xfrm>
            <a:off x="832104" y="5089550"/>
            <a:ext cx="292608" cy="263347"/>
          </a:xfrm>
          <a:prstGeom prst="triangl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1344168" y="4937760"/>
            <a:ext cx="10143439" cy="566928"/>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00A972"/>
                </a:solidFill>
                <a:latin typeface="Segoe UI"/>
              </a:rPr>
              <a:t>Delta Lake</a:t>
            </a:r>
            <a:r>
              <a:rPr sz="1100" b="0" i="0">
                <a:solidFill>
                  <a:srgbClr val="FFFFFF"/>
                </a:solidFill>
                <a:latin typeface="Segoe UI"/>
              </a:rPr>
              <a:t>  open storage for every layer        </a:t>
            </a:r>
            <a:r>
              <a:rPr sz="1150" b="1" i="0">
                <a:solidFill>
                  <a:srgbClr val="FF6B57"/>
                </a:solidFill>
                <a:latin typeface="Segoe UI"/>
              </a:rPr>
              <a:t>Unity Catalog</a:t>
            </a:r>
            <a:r>
              <a:rPr sz="1100" b="0" i="0">
                <a:solidFill>
                  <a:srgbClr val="FFFFFF"/>
                </a:solidFill>
                <a:latin typeface="Segoe UI"/>
              </a:rPr>
              <a:t>  governs the entire pipeline</a:t>
            </a:r>
          </a:p>
        </p:txBody>
      </p:sp>
      <p:sp>
        <p:nvSpPr>
          <p:cNvPr id="55" name="TextBox 54"/>
          <p:cNvSpPr txBox="1"/>
          <p:nvPr/>
        </p:nvSpPr>
        <p:spPr>
          <a:xfrm>
            <a:off x="566928" y="5669280"/>
            <a:ext cx="11057839" cy="365760"/>
          </a:xfrm>
          <a:prstGeom prst="rect">
            <a:avLst/>
          </a:prstGeom>
          <a:noFill/>
        </p:spPr>
        <p:txBody>
          <a:bodyPr wrap="square" anchor="t" lIns="0" rIns="0" tIns="0" bIns="0">
            <a:spAutoFit/>
          </a:bodyPr>
          <a:lstStyle/>
          <a:p>
            <a:pPr algn="ctr">
              <a:lnSpc>
                <a:spcPct val="100000"/>
              </a:lnSpc>
              <a:spcBef>
                <a:spcPts val="0"/>
              </a:spcBef>
              <a:spcAft>
                <a:spcPts val="200"/>
              </a:spcAft>
            </a:pPr>
            <a:r>
              <a:rPr sz="1150" b="0" i="1">
                <a:solidFill>
                  <a:srgbClr val="6B777C"/>
                </a:solidFill>
                <a:latin typeface="Segoe UI"/>
              </a:rPr>
              <a:t>Raw data flows left-to-right through Delta tables of rising quality — all open, all governed.</a:t>
            </a:r>
          </a:p>
        </p:txBody>
      </p:sp>
      <p:sp>
        <p:nvSpPr>
          <p:cNvPr id="56" name="TextBox 55"/>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7" name="TextBox 56"/>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LAKEHOUSE ARCHITECTURE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The Medallion Architecture — In Detail</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855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Spark</a:t>
            </a:r>
          </a:p>
        </p:txBody>
      </p:sp>
      <p:sp>
        <p:nvSpPr>
          <p:cNvPr id="9" name="Oval 8"/>
          <p:cNvSpPr/>
          <p:nvPr/>
        </p:nvSpPr>
        <p:spPr>
          <a:xfrm>
            <a:off x="94644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Workspace</a:t>
            </a:r>
          </a:p>
        </p:txBody>
      </p:sp>
      <p:sp>
        <p:nvSpPr>
          <p:cNvPr id="11" name="Oval 10"/>
          <p:cNvSpPr/>
          <p:nvPr/>
        </p:nvSpPr>
        <p:spPr>
          <a:xfrm>
            <a:off x="10527487"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Lakehouse</a:t>
            </a:r>
          </a:p>
        </p:txBody>
      </p:sp>
      <p:sp>
        <p:nvSpPr>
          <p:cNvPr id="13" name="Rounded Rectangle 12"/>
          <p:cNvSpPr/>
          <p:nvPr/>
        </p:nvSpPr>
        <p:spPr>
          <a:xfrm>
            <a:off x="566928" y="1965960"/>
            <a:ext cx="3381146" cy="32461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566928" y="1965960"/>
            <a:ext cx="3381146" cy="658368"/>
          </a:xfrm>
          <a:prstGeom prst="rect">
            <a:avLst/>
          </a:prstGeom>
          <a:solidFill>
            <a:srgbClr val="B06A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Can 14"/>
          <p:cNvSpPr/>
          <p:nvPr/>
        </p:nvSpPr>
        <p:spPr>
          <a:xfrm>
            <a:off x="912388" y="2103120"/>
            <a:ext cx="314919" cy="384048"/>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481328" y="1965960"/>
            <a:ext cx="2421026" cy="658368"/>
          </a:xfrm>
          <a:prstGeom prst="rect">
            <a:avLst/>
          </a:prstGeom>
          <a:noFill/>
        </p:spPr>
        <p:txBody>
          <a:bodyPr wrap="square" anchor="ctr" lIns="0" rIns="0" tIns="0" bIns="0">
            <a:spAutoFit/>
          </a:bodyPr>
          <a:lstStyle/>
          <a:p>
            <a:pPr algn="l">
              <a:lnSpc>
                <a:spcPct val="100000"/>
              </a:lnSpc>
              <a:spcBef>
                <a:spcPts val="0"/>
              </a:spcBef>
              <a:spcAft>
                <a:spcPts val="200"/>
              </a:spcAft>
            </a:pPr>
            <a:r>
              <a:rPr sz="1700" b="1" i="0">
                <a:solidFill>
                  <a:srgbClr val="FFFFFF"/>
                </a:solidFill>
                <a:latin typeface="Segoe UI"/>
              </a:rPr>
              <a:t>Bronze</a:t>
            </a:r>
          </a:p>
        </p:txBody>
      </p:sp>
      <p:sp>
        <p:nvSpPr>
          <p:cNvPr id="17" name="TextBox 16"/>
          <p:cNvSpPr txBox="1"/>
          <p:nvPr/>
        </p:nvSpPr>
        <p:spPr>
          <a:xfrm>
            <a:off x="841247" y="2788920"/>
            <a:ext cx="2878226" cy="548640"/>
          </a:xfrm>
          <a:prstGeom prst="rect">
            <a:avLst/>
          </a:prstGeom>
          <a:noFill/>
        </p:spPr>
        <p:txBody>
          <a:bodyPr wrap="square" anchor="t" lIns="0" rIns="0" tIns="0" bIns="0">
            <a:spAutoFit/>
          </a:bodyPr>
          <a:lstStyle/>
          <a:p>
            <a:pPr algn="l">
              <a:lnSpc>
                <a:spcPct val="100000"/>
              </a:lnSpc>
              <a:spcBef>
                <a:spcPts val="0"/>
              </a:spcBef>
              <a:spcAft>
                <a:spcPts val="200"/>
              </a:spcAft>
            </a:pPr>
            <a:r>
              <a:rPr sz="950" b="1" i="0">
                <a:solidFill>
                  <a:srgbClr val="B06A3B"/>
                </a:solidFill>
                <a:latin typeface="Segoe UI Semibold"/>
              </a:rPr>
              <a:t>Data   </a:t>
            </a:r>
            <a:r>
              <a:rPr sz="1050" b="0" i="0">
                <a:solidFill>
                  <a:srgbClr val="465257"/>
                </a:solidFill>
                <a:latin typeface="Segoe UI"/>
              </a:rPr>
              <a:t>Raw, exactly as ingested</a:t>
            </a:r>
          </a:p>
        </p:txBody>
      </p:sp>
      <p:sp>
        <p:nvSpPr>
          <p:cNvPr id="18" name="Rectangle 17"/>
          <p:cNvSpPr/>
          <p:nvPr/>
        </p:nvSpPr>
        <p:spPr>
          <a:xfrm>
            <a:off x="841247" y="3319272"/>
            <a:ext cx="2832506"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41247" y="3392424"/>
            <a:ext cx="2878226" cy="548640"/>
          </a:xfrm>
          <a:prstGeom prst="rect">
            <a:avLst/>
          </a:prstGeom>
          <a:noFill/>
        </p:spPr>
        <p:txBody>
          <a:bodyPr wrap="square" anchor="t" lIns="0" rIns="0" tIns="0" bIns="0">
            <a:spAutoFit/>
          </a:bodyPr>
          <a:lstStyle/>
          <a:p>
            <a:pPr algn="l">
              <a:lnSpc>
                <a:spcPct val="100000"/>
              </a:lnSpc>
              <a:spcBef>
                <a:spcPts val="0"/>
              </a:spcBef>
              <a:spcAft>
                <a:spcPts val="200"/>
              </a:spcAft>
            </a:pPr>
            <a:r>
              <a:rPr sz="950" b="1" i="0">
                <a:solidFill>
                  <a:srgbClr val="B06A3B"/>
                </a:solidFill>
                <a:latin typeface="Segoe UI Semibold"/>
              </a:rPr>
              <a:t>Ops   </a:t>
            </a:r>
            <a:r>
              <a:rPr sz="1050" b="0" i="0">
                <a:solidFill>
                  <a:srgbClr val="465257"/>
                </a:solidFill>
                <a:latin typeface="Segoe UI"/>
              </a:rPr>
              <a:t>Append, capture metadata</a:t>
            </a:r>
          </a:p>
        </p:txBody>
      </p:sp>
      <p:sp>
        <p:nvSpPr>
          <p:cNvPr id="20" name="Rectangle 19"/>
          <p:cNvSpPr/>
          <p:nvPr/>
        </p:nvSpPr>
        <p:spPr>
          <a:xfrm>
            <a:off x="841247" y="3922776"/>
            <a:ext cx="2832506"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41247" y="3995928"/>
            <a:ext cx="2878226" cy="548640"/>
          </a:xfrm>
          <a:prstGeom prst="rect">
            <a:avLst/>
          </a:prstGeom>
          <a:noFill/>
        </p:spPr>
        <p:txBody>
          <a:bodyPr wrap="square" anchor="t" lIns="0" rIns="0" tIns="0" bIns="0">
            <a:spAutoFit/>
          </a:bodyPr>
          <a:lstStyle/>
          <a:p>
            <a:pPr algn="l">
              <a:lnSpc>
                <a:spcPct val="100000"/>
              </a:lnSpc>
              <a:spcBef>
                <a:spcPts val="0"/>
              </a:spcBef>
              <a:spcAft>
                <a:spcPts val="200"/>
              </a:spcAft>
            </a:pPr>
            <a:r>
              <a:rPr sz="950" b="1" i="0">
                <a:solidFill>
                  <a:srgbClr val="B06A3B"/>
                </a:solidFill>
                <a:latin typeface="Segoe UI Semibold"/>
              </a:rPr>
              <a:t>Quality   </a:t>
            </a:r>
            <a:r>
              <a:rPr sz="1050" b="0" i="0">
                <a:solidFill>
                  <a:srgbClr val="465257"/>
                </a:solidFill>
                <a:latin typeface="Segoe UI"/>
              </a:rPr>
              <a:t>Unvalidated source of truth</a:t>
            </a:r>
          </a:p>
        </p:txBody>
      </p:sp>
      <p:sp>
        <p:nvSpPr>
          <p:cNvPr id="22" name="Rectangle 21"/>
          <p:cNvSpPr/>
          <p:nvPr/>
        </p:nvSpPr>
        <p:spPr>
          <a:xfrm>
            <a:off x="841247" y="4526280"/>
            <a:ext cx="2832506"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41247" y="4599432"/>
            <a:ext cx="2878226" cy="548640"/>
          </a:xfrm>
          <a:prstGeom prst="rect">
            <a:avLst/>
          </a:prstGeom>
          <a:noFill/>
        </p:spPr>
        <p:txBody>
          <a:bodyPr wrap="square" anchor="t" lIns="0" rIns="0" tIns="0" bIns="0">
            <a:spAutoFit/>
          </a:bodyPr>
          <a:lstStyle/>
          <a:p>
            <a:pPr algn="l">
              <a:lnSpc>
                <a:spcPct val="100000"/>
              </a:lnSpc>
              <a:spcBef>
                <a:spcPts val="0"/>
              </a:spcBef>
              <a:spcAft>
                <a:spcPts val="200"/>
              </a:spcAft>
            </a:pPr>
            <a:r>
              <a:rPr sz="950" b="1" i="0">
                <a:solidFill>
                  <a:srgbClr val="B06A3B"/>
                </a:solidFill>
                <a:latin typeface="Segoe UI Semibold"/>
              </a:rPr>
              <a:t>Users   </a:t>
            </a:r>
            <a:r>
              <a:rPr sz="1050" b="0" i="0">
                <a:solidFill>
                  <a:srgbClr val="465257"/>
                </a:solidFill>
                <a:latin typeface="Segoe UI"/>
              </a:rPr>
              <a:t>Data engineers</a:t>
            </a:r>
          </a:p>
        </p:txBody>
      </p:sp>
      <p:sp>
        <p:nvSpPr>
          <p:cNvPr id="24" name="Rectangle 23"/>
          <p:cNvSpPr/>
          <p:nvPr/>
        </p:nvSpPr>
        <p:spPr>
          <a:xfrm>
            <a:off x="841247" y="5129784"/>
            <a:ext cx="2832506"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ight Arrow 24"/>
          <p:cNvSpPr/>
          <p:nvPr/>
        </p:nvSpPr>
        <p:spPr>
          <a:xfrm>
            <a:off x="3993794" y="3447288"/>
            <a:ext cx="365760" cy="237744"/>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4405274" y="1965960"/>
            <a:ext cx="3381146" cy="32461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4405274" y="1965960"/>
            <a:ext cx="3381146" cy="658368"/>
          </a:xfrm>
          <a:prstGeom prst="rect">
            <a:avLst/>
          </a:prstGeom>
          <a:solidFill>
            <a:srgbClr val="8D9A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Gear 6 27"/>
          <p:cNvSpPr/>
          <p:nvPr/>
        </p:nvSpPr>
        <p:spPr>
          <a:xfrm>
            <a:off x="4716170" y="2103120"/>
            <a:ext cx="384048" cy="384048"/>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319674" y="1965960"/>
            <a:ext cx="2421026" cy="658368"/>
          </a:xfrm>
          <a:prstGeom prst="rect">
            <a:avLst/>
          </a:prstGeom>
          <a:noFill/>
        </p:spPr>
        <p:txBody>
          <a:bodyPr wrap="square" anchor="ctr" lIns="0" rIns="0" tIns="0" bIns="0">
            <a:spAutoFit/>
          </a:bodyPr>
          <a:lstStyle/>
          <a:p>
            <a:pPr algn="l">
              <a:lnSpc>
                <a:spcPct val="100000"/>
              </a:lnSpc>
              <a:spcBef>
                <a:spcPts val="0"/>
              </a:spcBef>
              <a:spcAft>
                <a:spcPts val="200"/>
              </a:spcAft>
            </a:pPr>
            <a:r>
              <a:rPr sz="1700" b="1" i="0">
                <a:solidFill>
                  <a:srgbClr val="FFFFFF"/>
                </a:solidFill>
                <a:latin typeface="Segoe UI"/>
              </a:rPr>
              <a:t>Silver</a:t>
            </a:r>
          </a:p>
        </p:txBody>
      </p:sp>
      <p:sp>
        <p:nvSpPr>
          <p:cNvPr id="30" name="TextBox 29"/>
          <p:cNvSpPr txBox="1"/>
          <p:nvPr/>
        </p:nvSpPr>
        <p:spPr>
          <a:xfrm>
            <a:off x="4679594" y="2788920"/>
            <a:ext cx="2878226" cy="548640"/>
          </a:xfrm>
          <a:prstGeom prst="rect">
            <a:avLst/>
          </a:prstGeom>
          <a:noFill/>
        </p:spPr>
        <p:txBody>
          <a:bodyPr wrap="square" anchor="t" lIns="0" rIns="0" tIns="0" bIns="0">
            <a:spAutoFit/>
          </a:bodyPr>
          <a:lstStyle/>
          <a:p>
            <a:pPr algn="l">
              <a:lnSpc>
                <a:spcPct val="100000"/>
              </a:lnSpc>
              <a:spcBef>
                <a:spcPts val="0"/>
              </a:spcBef>
              <a:spcAft>
                <a:spcPts val="200"/>
              </a:spcAft>
            </a:pPr>
            <a:r>
              <a:rPr sz="950" b="1" i="0">
                <a:solidFill>
                  <a:srgbClr val="8D9AA3"/>
                </a:solidFill>
                <a:latin typeface="Segoe UI Semibold"/>
              </a:rPr>
              <a:t>Data   </a:t>
            </a:r>
            <a:r>
              <a:rPr sz="1050" b="0" i="0">
                <a:solidFill>
                  <a:srgbClr val="465257"/>
                </a:solidFill>
                <a:latin typeface="Segoe UI"/>
              </a:rPr>
              <a:t>Cleansed &amp; conformed</a:t>
            </a:r>
          </a:p>
        </p:txBody>
      </p:sp>
      <p:sp>
        <p:nvSpPr>
          <p:cNvPr id="31" name="Rectangle 30"/>
          <p:cNvSpPr/>
          <p:nvPr/>
        </p:nvSpPr>
        <p:spPr>
          <a:xfrm>
            <a:off x="4679594" y="3319272"/>
            <a:ext cx="2832506"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679594" y="3392424"/>
            <a:ext cx="2878226" cy="548640"/>
          </a:xfrm>
          <a:prstGeom prst="rect">
            <a:avLst/>
          </a:prstGeom>
          <a:noFill/>
        </p:spPr>
        <p:txBody>
          <a:bodyPr wrap="square" anchor="t" lIns="0" rIns="0" tIns="0" bIns="0">
            <a:spAutoFit/>
          </a:bodyPr>
          <a:lstStyle/>
          <a:p>
            <a:pPr algn="l">
              <a:lnSpc>
                <a:spcPct val="100000"/>
              </a:lnSpc>
              <a:spcBef>
                <a:spcPts val="0"/>
              </a:spcBef>
              <a:spcAft>
                <a:spcPts val="200"/>
              </a:spcAft>
            </a:pPr>
            <a:r>
              <a:rPr sz="950" b="1" i="0">
                <a:solidFill>
                  <a:srgbClr val="8D9AA3"/>
                </a:solidFill>
                <a:latin typeface="Segoe UI Semibold"/>
              </a:rPr>
              <a:t>Ops   </a:t>
            </a:r>
            <a:r>
              <a:rPr sz="1050" b="0" i="0">
                <a:solidFill>
                  <a:srgbClr val="465257"/>
                </a:solidFill>
                <a:latin typeface="Segoe UI"/>
              </a:rPr>
              <a:t>Dedupe, validate, join</a:t>
            </a:r>
          </a:p>
        </p:txBody>
      </p:sp>
      <p:sp>
        <p:nvSpPr>
          <p:cNvPr id="33" name="Rectangle 32"/>
          <p:cNvSpPr/>
          <p:nvPr/>
        </p:nvSpPr>
        <p:spPr>
          <a:xfrm>
            <a:off x="4679594" y="3922776"/>
            <a:ext cx="2832506"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679594" y="3995928"/>
            <a:ext cx="2878226" cy="548640"/>
          </a:xfrm>
          <a:prstGeom prst="rect">
            <a:avLst/>
          </a:prstGeom>
          <a:noFill/>
        </p:spPr>
        <p:txBody>
          <a:bodyPr wrap="square" anchor="t" lIns="0" rIns="0" tIns="0" bIns="0">
            <a:spAutoFit/>
          </a:bodyPr>
          <a:lstStyle/>
          <a:p>
            <a:pPr algn="l">
              <a:lnSpc>
                <a:spcPct val="100000"/>
              </a:lnSpc>
              <a:spcBef>
                <a:spcPts val="0"/>
              </a:spcBef>
              <a:spcAft>
                <a:spcPts val="200"/>
              </a:spcAft>
            </a:pPr>
            <a:r>
              <a:rPr sz="950" b="1" i="0">
                <a:solidFill>
                  <a:srgbClr val="8D9AA3"/>
                </a:solidFill>
                <a:latin typeface="Segoe UI Semibold"/>
              </a:rPr>
              <a:t>Quality   </a:t>
            </a:r>
            <a:r>
              <a:rPr sz="1050" b="0" i="0">
                <a:solidFill>
                  <a:srgbClr val="465257"/>
                </a:solidFill>
                <a:latin typeface="Segoe UI"/>
              </a:rPr>
              <a:t>Trusted, queryable</a:t>
            </a:r>
          </a:p>
        </p:txBody>
      </p:sp>
      <p:sp>
        <p:nvSpPr>
          <p:cNvPr id="35" name="Rectangle 34"/>
          <p:cNvSpPr/>
          <p:nvPr/>
        </p:nvSpPr>
        <p:spPr>
          <a:xfrm>
            <a:off x="4679594" y="4526280"/>
            <a:ext cx="2832506"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679594" y="4599432"/>
            <a:ext cx="2878226" cy="548640"/>
          </a:xfrm>
          <a:prstGeom prst="rect">
            <a:avLst/>
          </a:prstGeom>
          <a:noFill/>
        </p:spPr>
        <p:txBody>
          <a:bodyPr wrap="square" anchor="t" lIns="0" rIns="0" tIns="0" bIns="0">
            <a:spAutoFit/>
          </a:bodyPr>
          <a:lstStyle/>
          <a:p>
            <a:pPr algn="l">
              <a:lnSpc>
                <a:spcPct val="100000"/>
              </a:lnSpc>
              <a:spcBef>
                <a:spcPts val="0"/>
              </a:spcBef>
              <a:spcAft>
                <a:spcPts val="200"/>
              </a:spcAft>
            </a:pPr>
            <a:r>
              <a:rPr sz="950" b="1" i="0">
                <a:solidFill>
                  <a:srgbClr val="8D9AA3"/>
                </a:solidFill>
                <a:latin typeface="Segoe UI Semibold"/>
              </a:rPr>
              <a:t>Users   </a:t>
            </a:r>
            <a:r>
              <a:rPr sz="1050" b="0" i="0">
                <a:solidFill>
                  <a:srgbClr val="465257"/>
                </a:solidFill>
                <a:latin typeface="Segoe UI"/>
              </a:rPr>
              <a:t>Engineers &amp; analysts</a:t>
            </a:r>
          </a:p>
        </p:txBody>
      </p:sp>
      <p:sp>
        <p:nvSpPr>
          <p:cNvPr id="37" name="Rectangle 36"/>
          <p:cNvSpPr/>
          <p:nvPr/>
        </p:nvSpPr>
        <p:spPr>
          <a:xfrm>
            <a:off x="4679594" y="5129784"/>
            <a:ext cx="2832506"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ight Arrow 37"/>
          <p:cNvSpPr/>
          <p:nvPr/>
        </p:nvSpPr>
        <p:spPr>
          <a:xfrm>
            <a:off x="7832140" y="3447288"/>
            <a:ext cx="365760" cy="237744"/>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8243620" y="1965960"/>
            <a:ext cx="3381146" cy="32461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8243620" y="1965960"/>
            <a:ext cx="3381146" cy="658368"/>
          </a:xfrm>
          <a:prstGeom prst="rect">
            <a:avLst/>
          </a:prstGeom>
          <a:solidFill>
            <a:srgbClr val="D8A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Diamond 40"/>
          <p:cNvSpPr/>
          <p:nvPr/>
        </p:nvSpPr>
        <p:spPr>
          <a:xfrm>
            <a:off x="8569878" y="2103120"/>
            <a:ext cx="353324" cy="384048"/>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158020" y="1965960"/>
            <a:ext cx="2421026" cy="658368"/>
          </a:xfrm>
          <a:prstGeom prst="rect">
            <a:avLst/>
          </a:prstGeom>
          <a:noFill/>
        </p:spPr>
        <p:txBody>
          <a:bodyPr wrap="square" anchor="ctr" lIns="0" rIns="0" tIns="0" bIns="0">
            <a:spAutoFit/>
          </a:bodyPr>
          <a:lstStyle/>
          <a:p>
            <a:pPr algn="l">
              <a:lnSpc>
                <a:spcPct val="100000"/>
              </a:lnSpc>
              <a:spcBef>
                <a:spcPts val="0"/>
              </a:spcBef>
              <a:spcAft>
                <a:spcPts val="200"/>
              </a:spcAft>
            </a:pPr>
            <a:r>
              <a:rPr sz="1700" b="1" i="0">
                <a:solidFill>
                  <a:srgbClr val="FFFFFF"/>
                </a:solidFill>
                <a:latin typeface="Segoe UI"/>
              </a:rPr>
              <a:t>Gold</a:t>
            </a:r>
          </a:p>
        </p:txBody>
      </p:sp>
      <p:sp>
        <p:nvSpPr>
          <p:cNvPr id="43" name="TextBox 42"/>
          <p:cNvSpPr txBox="1"/>
          <p:nvPr/>
        </p:nvSpPr>
        <p:spPr>
          <a:xfrm>
            <a:off x="8517940" y="2788920"/>
            <a:ext cx="2878226" cy="548640"/>
          </a:xfrm>
          <a:prstGeom prst="rect">
            <a:avLst/>
          </a:prstGeom>
          <a:noFill/>
        </p:spPr>
        <p:txBody>
          <a:bodyPr wrap="square" anchor="t" lIns="0" rIns="0" tIns="0" bIns="0">
            <a:spAutoFit/>
          </a:bodyPr>
          <a:lstStyle/>
          <a:p>
            <a:pPr algn="l">
              <a:lnSpc>
                <a:spcPct val="100000"/>
              </a:lnSpc>
              <a:spcBef>
                <a:spcPts val="0"/>
              </a:spcBef>
              <a:spcAft>
                <a:spcPts val="200"/>
              </a:spcAft>
            </a:pPr>
            <a:r>
              <a:rPr sz="950" b="1" i="0">
                <a:solidFill>
                  <a:srgbClr val="D8A32B"/>
                </a:solidFill>
                <a:latin typeface="Segoe UI Semibold"/>
              </a:rPr>
              <a:t>Data   </a:t>
            </a:r>
            <a:r>
              <a:rPr sz="1050" b="0" i="0">
                <a:solidFill>
                  <a:srgbClr val="465257"/>
                </a:solidFill>
                <a:latin typeface="Segoe UI"/>
              </a:rPr>
              <a:t>Curated &amp; aggregated</a:t>
            </a:r>
          </a:p>
        </p:txBody>
      </p:sp>
      <p:sp>
        <p:nvSpPr>
          <p:cNvPr id="44" name="Rectangle 43"/>
          <p:cNvSpPr/>
          <p:nvPr/>
        </p:nvSpPr>
        <p:spPr>
          <a:xfrm>
            <a:off x="8517940" y="3319272"/>
            <a:ext cx="2832506"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8517940" y="3392424"/>
            <a:ext cx="2878226" cy="548640"/>
          </a:xfrm>
          <a:prstGeom prst="rect">
            <a:avLst/>
          </a:prstGeom>
          <a:noFill/>
        </p:spPr>
        <p:txBody>
          <a:bodyPr wrap="square" anchor="t" lIns="0" rIns="0" tIns="0" bIns="0">
            <a:spAutoFit/>
          </a:bodyPr>
          <a:lstStyle/>
          <a:p>
            <a:pPr algn="l">
              <a:lnSpc>
                <a:spcPct val="100000"/>
              </a:lnSpc>
              <a:spcBef>
                <a:spcPts val="0"/>
              </a:spcBef>
              <a:spcAft>
                <a:spcPts val="200"/>
              </a:spcAft>
            </a:pPr>
            <a:r>
              <a:rPr sz="950" b="1" i="0">
                <a:solidFill>
                  <a:srgbClr val="D8A32B"/>
                </a:solidFill>
                <a:latin typeface="Segoe UI Semibold"/>
              </a:rPr>
              <a:t>Ops   </a:t>
            </a:r>
            <a:r>
              <a:rPr sz="1050" b="0" i="0">
                <a:solidFill>
                  <a:srgbClr val="465257"/>
                </a:solidFill>
                <a:latin typeface="Segoe UI"/>
              </a:rPr>
              <a:t>Business logic, features</a:t>
            </a:r>
          </a:p>
        </p:txBody>
      </p:sp>
      <p:sp>
        <p:nvSpPr>
          <p:cNvPr id="46" name="Rectangle 45"/>
          <p:cNvSpPr/>
          <p:nvPr/>
        </p:nvSpPr>
        <p:spPr>
          <a:xfrm>
            <a:off x="8517940" y="3922776"/>
            <a:ext cx="2832506"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8517940" y="3995928"/>
            <a:ext cx="2878226" cy="548640"/>
          </a:xfrm>
          <a:prstGeom prst="rect">
            <a:avLst/>
          </a:prstGeom>
          <a:noFill/>
        </p:spPr>
        <p:txBody>
          <a:bodyPr wrap="square" anchor="t" lIns="0" rIns="0" tIns="0" bIns="0">
            <a:spAutoFit/>
          </a:bodyPr>
          <a:lstStyle/>
          <a:p>
            <a:pPr algn="l">
              <a:lnSpc>
                <a:spcPct val="100000"/>
              </a:lnSpc>
              <a:spcBef>
                <a:spcPts val="0"/>
              </a:spcBef>
              <a:spcAft>
                <a:spcPts val="200"/>
              </a:spcAft>
            </a:pPr>
            <a:r>
              <a:rPr sz="950" b="1" i="0">
                <a:solidFill>
                  <a:srgbClr val="D8A32B"/>
                </a:solidFill>
                <a:latin typeface="Segoe UI Semibold"/>
              </a:rPr>
              <a:t>Quality   </a:t>
            </a:r>
            <a:r>
              <a:rPr sz="1050" b="0" i="0">
                <a:solidFill>
                  <a:srgbClr val="465257"/>
                </a:solidFill>
                <a:latin typeface="Segoe UI"/>
              </a:rPr>
              <a:t>Consumption-ready</a:t>
            </a:r>
          </a:p>
        </p:txBody>
      </p:sp>
      <p:sp>
        <p:nvSpPr>
          <p:cNvPr id="48" name="Rectangle 47"/>
          <p:cNvSpPr/>
          <p:nvPr/>
        </p:nvSpPr>
        <p:spPr>
          <a:xfrm>
            <a:off x="8517940" y="4526280"/>
            <a:ext cx="2832506"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517940" y="4599432"/>
            <a:ext cx="2878226" cy="548640"/>
          </a:xfrm>
          <a:prstGeom prst="rect">
            <a:avLst/>
          </a:prstGeom>
          <a:noFill/>
        </p:spPr>
        <p:txBody>
          <a:bodyPr wrap="square" anchor="t" lIns="0" rIns="0" tIns="0" bIns="0">
            <a:spAutoFit/>
          </a:bodyPr>
          <a:lstStyle/>
          <a:p>
            <a:pPr algn="l">
              <a:lnSpc>
                <a:spcPct val="100000"/>
              </a:lnSpc>
              <a:spcBef>
                <a:spcPts val="0"/>
              </a:spcBef>
              <a:spcAft>
                <a:spcPts val="200"/>
              </a:spcAft>
            </a:pPr>
            <a:r>
              <a:rPr sz="950" b="1" i="0">
                <a:solidFill>
                  <a:srgbClr val="D8A32B"/>
                </a:solidFill>
                <a:latin typeface="Segoe UI Semibold"/>
              </a:rPr>
              <a:t>Users   </a:t>
            </a:r>
            <a:r>
              <a:rPr sz="1050" b="0" i="0">
                <a:solidFill>
                  <a:srgbClr val="465257"/>
                </a:solidFill>
                <a:latin typeface="Segoe UI"/>
              </a:rPr>
              <a:t>BI, ML &amp; business</a:t>
            </a:r>
          </a:p>
        </p:txBody>
      </p:sp>
      <p:sp>
        <p:nvSpPr>
          <p:cNvPr id="50" name="Rectangle 49"/>
          <p:cNvSpPr/>
          <p:nvPr/>
        </p:nvSpPr>
        <p:spPr>
          <a:xfrm>
            <a:off x="8517940" y="5129784"/>
            <a:ext cx="2832506" cy="914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566928" y="5486400"/>
            <a:ext cx="11057839" cy="420624"/>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841247" y="5486400"/>
            <a:ext cx="3657600" cy="420624"/>
          </a:xfrm>
          <a:prstGeom prst="rect">
            <a:avLst/>
          </a:prstGeom>
          <a:noFill/>
        </p:spPr>
        <p:txBody>
          <a:bodyPr wrap="square" anchor="ctr" lIns="0" rIns="0" tIns="0" bIns="0">
            <a:spAutoFit/>
          </a:bodyPr>
          <a:lstStyle/>
          <a:p>
            <a:pPr algn="l">
              <a:lnSpc>
                <a:spcPct val="100000"/>
              </a:lnSpc>
              <a:spcBef>
                <a:spcPts val="0"/>
              </a:spcBef>
              <a:spcAft>
                <a:spcPts val="200"/>
              </a:spcAft>
            </a:pPr>
            <a:r>
              <a:rPr sz="1050" b="1" i="0">
                <a:solidFill>
                  <a:srgbClr val="1B3139"/>
                </a:solidFill>
                <a:latin typeface="Segoe UI"/>
              </a:rPr>
              <a:t>Quality &amp; business value</a:t>
            </a:r>
          </a:p>
        </p:txBody>
      </p:sp>
      <p:sp>
        <p:nvSpPr>
          <p:cNvPr id="53" name="Rounded Rectangle 52"/>
          <p:cNvSpPr/>
          <p:nvPr/>
        </p:nvSpPr>
        <p:spPr>
          <a:xfrm>
            <a:off x="4498848" y="5568696"/>
            <a:ext cx="6309360" cy="237744"/>
          </a:xfrm>
          <a:prstGeom prst="roundRect">
            <a:avLst>
              <a:gd name="adj" fmla="val 50000"/>
            </a:avLst>
          </a:prstGeom>
          <a:gradFill rotWithShape="1">
            <a:gsLst>
              <a:gs pos="0">
                <a:srgbClr val="B06A3B"/>
              </a:gs>
              <a:gs pos="100000">
                <a:srgbClr val="D8A32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ight Arrow 53"/>
          <p:cNvSpPr/>
          <p:nvPr/>
        </p:nvSpPr>
        <p:spPr>
          <a:xfrm>
            <a:off x="10287000" y="5550408"/>
            <a:ext cx="603504" cy="274320"/>
          </a:xfrm>
          <a:prstGeom prst="rightArrow">
            <a:avLst/>
          </a:prstGeom>
          <a:solidFill>
            <a:srgbClr val="D8A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6" name="TextBox 55"/>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LAKEHOUSE ARCHITECTURE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Delta Lake Fundamentals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855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Spark</a:t>
            </a:r>
          </a:p>
        </p:txBody>
      </p:sp>
      <p:sp>
        <p:nvSpPr>
          <p:cNvPr id="9" name="Oval 8"/>
          <p:cNvSpPr/>
          <p:nvPr/>
        </p:nvSpPr>
        <p:spPr>
          <a:xfrm>
            <a:off x="94644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Workspace</a:t>
            </a:r>
          </a:p>
        </p:txBody>
      </p:sp>
      <p:sp>
        <p:nvSpPr>
          <p:cNvPr id="11" name="Oval 10"/>
          <p:cNvSpPr/>
          <p:nvPr/>
        </p:nvSpPr>
        <p:spPr>
          <a:xfrm>
            <a:off x="10527487"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Lakehouse</a:t>
            </a:r>
          </a:p>
        </p:txBody>
      </p:sp>
      <p:sp>
        <p:nvSpPr>
          <p:cNvPr id="13" name="Rounded Rectangle 12"/>
          <p:cNvSpPr/>
          <p:nvPr/>
        </p:nvSpPr>
        <p:spPr>
          <a:xfrm>
            <a:off x="566928" y="2103120"/>
            <a:ext cx="27644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66928" y="2103120"/>
            <a:ext cx="2764459" cy="109728"/>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1491957" y="2304287"/>
            <a:ext cx="914400" cy="914400"/>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rot="2700000">
            <a:off x="1831383" y="2769900"/>
            <a:ext cx="126187" cy="67299"/>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rot="18480000">
            <a:off x="1923920" y="2677363"/>
            <a:ext cx="243961" cy="67299"/>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283761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1</a:t>
            </a:r>
          </a:p>
        </p:txBody>
      </p:sp>
      <p:sp>
        <p:nvSpPr>
          <p:cNvPr id="19" name="TextBox 18"/>
          <p:cNvSpPr txBox="1"/>
          <p:nvPr/>
        </p:nvSpPr>
        <p:spPr>
          <a:xfrm>
            <a:off x="676656" y="3236976"/>
            <a:ext cx="25450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350" b="1" i="0">
                <a:solidFill>
                  <a:srgbClr val="1B3139"/>
                </a:solidFill>
                <a:latin typeface="Segoe UI"/>
              </a:rPr>
              <a:t>ACID
Transactions</a:t>
            </a:r>
          </a:p>
        </p:txBody>
      </p:sp>
      <p:sp>
        <p:nvSpPr>
          <p:cNvPr id="20" name="TextBox 19"/>
          <p:cNvSpPr txBox="1"/>
          <p:nvPr/>
        </p:nvSpPr>
        <p:spPr>
          <a:xfrm>
            <a:off x="713232" y="3749039"/>
            <a:ext cx="2471851" cy="603503"/>
          </a:xfrm>
          <a:prstGeom prst="rect">
            <a:avLst/>
          </a:prstGeom>
          <a:noFill/>
        </p:spPr>
        <p:txBody>
          <a:bodyPr wrap="square" anchor="t" lIns="0" rIns="0" tIns="0" bIns="0">
            <a:spAutoFit/>
          </a:bodyPr>
          <a:lstStyle/>
          <a:p>
            <a:pPr algn="ctr">
              <a:lnSpc>
                <a:spcPct val="105000"/>
              </a:lnSpc>
              <a:spcBef>
                <a:spcPts val="0"/>
              </a:spcBef>
              <a:spcAft>
                <a:spcPts val="200"/>
              </a:spcAft>
            </a:pPr>
            <a:r>
              <a:rPr sz="1050" b="0" i="0">
                <a:solidFill>
                  <a:srgbClr val="6B777C"/>
                </a:solidFill>
                <a:latin typeface="Segoe UI"/>
              </a:rPr>
              <a:t>Reliable concurrent reads &amp; writes — no corrupt or partial data.</a:t>
            </a:r>
          </a:p>
        </p:txBody>
      </p:sp>
      <p:sp>
        <p:nvSpPr>
          <p:cNvPr id="21" name="Rounded Rectangle 20"/>
          <p:cNvSpPr/>
          <p:nvPr/>
        </p:nvSpPr>
        <p:spPr>
          <a:xfrm>
            <a:off x="3331387" y="2103120"/>
            <a:ext cx="27644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3331387" y="2103120"/>
            <a:ext cx="2764459" cy="109728"/>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256417" y="2304287"/>
            <a:ext cx="914400" cy="914400"/>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Down Arrow 23"/>
          <p:cNvSpPr/>
          <p:nvPr/>
        </p:nvSpPr>
        <p:spPr>
          <a:xfrm>
            <a:off x="4583224" y="2551175"/>
            <a:ext cx="260786" cy="420624"/>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560207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2</a:t>
            </a:r>
          </a:p>
        </p:txBody>
      </p:sp>
      <p:sp>
        <p:nvSpPr>
          <p:cNvPr id="26" name="TextBox 25"/>
          <p:cNvSpPr txBox="1"/>
          <p:nvPr/>
        </p:nvSpPr>
        <p:spPr>
          <a:xfrm>
            <a:off x="3441115" y="3236976"/>
            <a:ext cx="25450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350" b="1" i="0">
                <a:solidFill>
                  <a:srgbClr val="1B3139"/>
                </a:solidFill>
                <a:latin typeface="Segoe UI"/>
              </a:rPr>
              <a:t>Time Travel</a:t>
            </a:r>
          </a:p>
        </p:txBody>
      </p:sp>
      <p:sp>
        <p:nvSpPr>
          <p:cNvPr id="27" name="TextBox 26"/>
          <p:cNvSpPr txBox="1"/>
          <p:nvPr/>
        </p:nvSpPr>
        <p:spPr>
          <a:xfrm>
            <a:off x="3477691" y="3749039"/>
            <a:ext cx="2471851" cy="603503"/>
          </a:xfrm>
          <a:prstGeom prst="rect">
            <a:avLst/>
          </a:prstGeom>
          <a:noFill/>
        </p:spPr>
        <p:txBody>
          <a:bodyPr wrap="square" anchor="t" lIns="0" rIns="0" tIns="0" bIns="0">
            <a:spAutoFit/>
          </a:bodyPr>
          <a:lstStyle/>
          <a:p>
            <a:pPr algn="ctr">
              <a:lnSpc>
                <a:spcPct val="105000"/>
              </a:lnSpc>
              <a:spcBef>
                <a:spcPts val="0"/>
              </a:spcBef>
              <a:spcAft>
                <a:spcPts val="200"/>
              </a:spcAft>
            </a:pPr>
            <a:r>
              <a:rPr sz="1050" b="0" i="0">
                <a:solidFill>
                  <a:srgbClr val="6B777C"/>
                </a:solidFill>
                <a:latin typeface="Segoe UI"/>
              </a:rPr>
              <a:t>Query or roll back to any earlier version of the table.</a:t>
            </a:r>
          </a:p>
        </p:txBody>
      </p:sp>
      <p:sp>
        <p:nvSpPr>
          <p:cNvPr id="28" name="Rounded Rectangle 27"/>
          <p:cNvSpPr/>
          <p:nvPr/>
        </p:nvSpPr>
        <p:spPr>
          <a:xfrm>
            <a:off x="6095847" y="2103120"/>
            <a:ext cx="27644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6095847" y="2103120"/>
            <a:ext cx="2764459" cy="10972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7020877" y="2304287"/>
            <a:ext cx="914400" cy="914400"/>
          </a:xfrm>
          <a:prstGeom prst="ellipse">
            <a:avLst/>
          </a:prstGeom>
          <a:solidFill>
            <a:srgbClr val="F59E0B"/>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Pentagon 30"/>
          <p:cNvSpPr/>
          <p:nvPr/>
        </p:nvSpPr>
        <p:spPr>
          <a:xfrm rot="5400000">
            <a:off x="7301415" y="2559588"/>
            <a:ext cx="353324" cy="386974"/>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836653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3</a:t>
            </a:r>
          </a:p>
        </p:txBody>
      </p:sp>
      <p:sp>
        <p:nvSpPr>
          <p:cNvPr id="33" name="TextBox 32"/>
          <p:cNvSpPr txBox="1"/>
          <p:nvPr/>
        </p:nvSpPr>
        <p:spPr>
          <a:xfrm>
            <a:off x="6205575" y="3236976"/>
            <a:ext cx="25450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350" b="1" i="0">
                <a:solidFill>
                  <a:srgbClr val="1B3139"/>
                </a:solidFill>
                <a:latin typeface="Segoe UI"/>
              </a:rPr>
              <a:t>Schema
Enforcement</a:t>
            </a:r>
          </a:p>
        </p:txBody>
      </p:sp>
      <p:sp>
        <p:nvSpPr>
          <p:cNvPr id="34" name="TextBox 33"/>
          <p:cNvSpPr txBox="1"/>
          <p:nvPr/>
        </p:nvSpPr>
        <p:spPr>
          <a:xfrm>
            <a:off x="6242151" y="3749039"/>
            <a:ext cx="2471851" cy="603503"/>
          </a:xfrm>
          <a:prstGeom prst="rect">
            <a:avLst/>
          </a:prstGeom>
          <a:noFill/>
        </p:spPr>
        <p:txBody>
          <a:bodyPr wrap="square" anchor="t" lIns="0" rIns="0" tIns="0" bIns="0">
            <a:spAutoFit/>
          </a:bodyPr>
          <a:lstStyle/>
          <a:p>
            <a:pPr algn="ctr">
              <a:lnSpc>
                <a:spcPct val="105000"/>
              </a:lnSpc>
              <a:spcBef>
                <a:spcPts val="0"/>
              </a:spcBef>
              <a:spcAft>
                <a:spcPts val="200"/>
              </a:spcAft>
            </a:pPr>
            <a:r>
              <a:rPr sz="1050" b="0" i="0">
                <a:solidFill>
                  <a:srgbClr val="6B777C"/>
                </a:solidFill>
                <a:latin typeface="Segoe UI"/>
              </a:rPr>
              <a:t>Rejects bad data on write; supports safe schema evolution.</a:t>
            </a:r>
          </a:p>
        </p:txBody>
      </p:sp>
      <p:sp>
        <p:nvSpPr>
          <p:cNvPr id="35" name="Rounded Rectangle 34"/>
          <p:cNvSpPr/>
          <p:nvPr/>
        </p:nvSpPr>
        <p:spPr>
          <a:xfrm>
            <a:off x="8860307" y="2103120"/>
            <a:ext cx="27644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8860307" y="2103120"/>
            <a:ext cx="2764459" cy="109728"/>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9785337" y="2304287"/>
            <a:ext cx="914400" cy="91440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Isosceles Triangle 37"/>
          <p:cNvSpPr/>
          <p:nvPr/>
        </p:nvSpPr>
        <p:spPr>
          <a:xfrm>
            <a:off x="10032225" y="2572207"/>
            <a:ext cx="420624" cy="378561"/>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1113099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4</a:t>
            </a:r>
          </a:p>
        </p:txBody>
      </p:sp>
      <p:sp>
        <p:nvSpPr>
          <p:cNvPr id="40" name="TextBox 39"/>
          <p:cNvSpPr txBox="1"/>
          <p:nvPr/>
        </p:nvSpPr>
        <p:spPr>
          <a:xfrm>
            <a:off x="8970035" y="3236976"/>
            <a:ext cx="25450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350" b="1" i="0">
                <a:solidFill>
                  <a:srgbClr val="1B3139"/>
                </a:solidFill>
                <a:latin typeface="Segoe UI"/>
              </a:rPr>
              <a:t>Data
Versioning</a:t>
            </a:r>
          </a:p>
        </p:txBody>
      </p:sp>
      <p:sp>
        <p:nvSpPr>
          <p:cNvPr id="41" name="TextBox 40"/>
          <p:cNvSpPr txBox="1"/>
          <p:nvPr/>
        </p:nvSpPr>
        <p:spPr>
          <a:xfrm>
            <a:off x="9006611" y="3749039"/>
            <a:ext cx="2471851" cy="603503"/>
          </a:xfrm>
          <a:prstGeom prst="rect">
            <a:avLst/>
          </a:prstGeom>
          <a:noFill/>
        </p:spPr>
        <p:txBody>
          <a:bodyPr wrap="square" anchor="t" lIns="0" rIns="0" tIns="0" bIns="0">
            <a:spAutoFit/>
          </a:bodyPr>
          <a:lstStyle/>
          <a:p>
            <a:pPr algn="ctr">
              <a:lnSpc>
                <a:spcPct val="105000"/>
              </a:lnSpc>
              <a:spcBef>
                <a:spcPts val="0"/>
              </a:spcBef>
              <a:spcAft>
                <a:spcPts val="200"/>
              </a:spcAft>
            </a:pPr>
            <a:r>
              <a:rPr sz="1050" b="0" i="0">
                <a:solidFill>
                  <a:srgbClr val="6B777C"/>
                </a:solidFill>
                <a:latin typeface="Segoe UI"/>
              </a:rPr>
              <a:t>Every commit is a version — full audit history &amp; reproducibility.</a:t>
            </a:r>
          </a:p>
        </p:txBody>
      </p:sp>
      <p:sp>
        <p:nvSpPr>
          <p:cNvPr id="42" name="Rounded Rectangle 41"/>
          <p:cNvSpPr/>
          <p:nvPr/>
        </p:nvSpPr>
        <p:spPr>
          <a:xfrm>
            <a:off x="566928" y="4754880"/>
            <a:ext cx="11057839" cy="96012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914400" y="4754880"/>
            <a:ext cx="10362895" cy="96012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Under the hood:  </a:t>
            </a:r>
            <a:r>
              <a:rPr sz="1250" b="0" i="0">
                <a:solidFill>
                  <a:srgbClr val="465257"/>
                </a:solidFill>
                <a:latin typeface="Segoe UI"/>
              </a:rPr>
              <a:t>a Delta table is just </a:t>
            </a:r>
            <a:r>
              <a:rPr sz="1250" b="1" i="0">
                <a:solidFill>
                  <a:srgbClr val="FF3621"/>
                </a:solidFill>
                <a:latin typeface="Segoe UI"/>
              </a:rPr>
              <a:t>Parquet data files + a JSON transaction log (_delta_log)</a:t>
            </a:r>
            <a:r>
              <a:rPr sz="1250" b="0" i="0">
                <a:solidFill>
                  <a:srgbClr val="465257"/>
                </a:solidFill>
                <a:latin typeface="Segoe UI"/>
              </a:rPr>
              <a:t> — the log is what delivers all four guarantees, plus MERGE, OPTIMIZE &amp; Z-ORDER.</a:t>
            </a:r>
          </a:p>
        </p:txBody>
      </p:sp>
      <p:sp>
        <p:nvSpPr>
          <p:cNvPr id="44" name="TextBox 43"/>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5" name="TextBox 44"/>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LAKEHOUSE ARCHITECTURE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Delta Lake — Transaction Flow</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855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Spark</a:t>
            </a:r>
          </a:p>
        </p:txBody>
      </p:sp>
      <p:sp>
        <p:nvSpPr>
          <p:cNvPr id="9" name="Oval 8"/>
          <p:cNvSpPr/>
          <p:nvPr/>
        </p:nvSpPr>
        <p:spPr>
          <a:xfrm>
            <a:off x="94644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Workspace</a:t>
            </a:r>
          </a:p>
        </p:txBody>
      </p:sp>
      <p:sp>
        <p:nvSpPr>
          <p:cNvPr id="11" name="Oval 10"/>
          <p:cNvSpPr/>
          <p:nvPr/>
        </p:nvSpPr>
        <p:spPr>
          <a:xfrm>
            <a:off x="10527487"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Lakehouse</a:t>
            </a:r>
          </a:p>
        </p:txBody>
      </p:sp>
      <p:sp>
        <p:nvSpPr>
          <p:cNvPr id="13" name="TextBox 12"/>
          <p:cNvSpPr txBox="1"/>
          <p:nvPr/>
        </p:nvSpPr>
        <p:spPr>
          <a:xfrm>
            <a:off x="566928" y="1783080"/>
            <a:ext cx="5486400" cy="274320"/>
          </a:xfrm>
          <a:prstGeom prst="rect">
            <a:avLst/>
          </a:prstGeom>
          <a:noFill/>
        </p:spPr>
        <p:txBody>
          <a:bodyPr wrap="square" anchor="t" lIns="0" rIns="0" tIns="0" bIns="0">
            <a:spAutoFit/>
          </a:bodyPr>
          <a:lstStyle/>
          <a:p>
            <a:pPr algn="l">
              <a:lnSpc>
                <a:spcPct val="100000"/>
              </a:lnSpc>
              <a:spcBef>
                <a:spcPts val="0"/>
              </a:spcBef>
              <a:spcAft>
                <a:spcPts val="200"/>
              </a:spcAft>
            </a:pPr>
            <a:r>
              <a:rPr sz="1050" b="1" i="0">
                <a:solidFill>
                  <a:srgbClr val="FF3621"/>
                </a:solidFill>
                <a:latin typeface="Segoe UI Semibold"/>
              </a:rPr>
              <a:t>WRITE PATH</a:t>
            </a:r>
          </a:p>
        </p:txBody>
      </p:sp>
      <p:sp>
        <p:nvSpPr>
          <p:cNvPr id="14" name="Rounded Rectangle 13"/>
          <p:cNvSpPr/>
          <p:nvPr/>
        </p:nvSpPr>
        <p:spPr>
          <a:xfrm>
            <a:off x="566928" y="2084831"/>
            <a:ext cx="2455849" cy="9601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68096" y="2304287"/>
            <a:ext cx="512064" cy="512064"/>
          </a:xfrm>
          <a:prstGeom prst="ellipse">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Folded Corner 15"/>
          <p:cNvSpPr/>
          <p:nvPr/>
        </p:nvSpPr>
        <p:spPr>
          <a:xfrm>
            <a:off x="948752" y="2461389"/>
            <a:ext cx="150751" cy="197861"/>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353312" y="2121408"/>
            <a:ext cx="1587169" cy="868680"/>
          </a:xfrm>
          <a:prstGeom prst="rect">
            <a:avLst/>
          </a:prstGeom>
          <a:noFill/>
        </p:spPr>
        <p:txBody>
          <a:bodyPr wrap="square" anchor="ctr" lIns="0" rIns="0" tIns="0" bIns="0">
            <a:spAutoFit/>
          </a:bodyPr>
          <a:lstStyle/>
          <a:p>
            <a:pPr algn="l">
              <a:lnSpc>
                <a:spcPct val="92000"/>
              </a:lnSpc>
              <a:spcBef>
                <a:spcPts val="0"/>
              </a:spcBef>
              <a:spcAft>
                <a:spcPts val="200"/>
              </a:spcAft>
            </a:pPr>
            <a:r>
              <a:rPr sz="1050" b="1" i="0">
                <a:solidFill>
                  <a:srgbClr val="1B3139"/>
                </a:solidFill>
                <a:latin typeface="Segoe UI"/>
              </a:rPr>
              <a:t>Write
request</a:t>
            </a:r>
          </a:p>
        </p:txBody>
      </p:sp>
      <p:sp>
        <p:nvSpPr>
          <p:cNvPr id="18" name="Right Arrow 17"/>
          <p:cNvSpPr/>
          <p:nvPr/>
        </p:nvSpPr>
        <p:spPr>
          <a:xfrm>
            <a:off x="3059353" y="2478024"/>
            <a:ext cx="338328" cy="164592"/>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3434257" y="2084831"/>
            <a:ext cx="2455849" cy="9601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3635425" y="2304287"/>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Pentagon 20"/>
          <p:cNvSpPr/>
          <p:nvPr/>
        </p:nvSpPr>
        <p:spPr>
          <a:xfrm rot="5400000">
            <a:off x="3792527" y="2447256"/>
            <a:ext cx="197861" cy="216705"/>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220641" y="2121408"/>
            <a:ext cx="1587169" cy="868680"/>
          </a:xfrm>
          <a:prstGeom prst="rect">
            <a:avLst/>
          </a:prstGeom>
          <a:noFill/>
        </p:spPr>
        <p:txBody>
          <a:bodyPr wrap="square" anchor="ctr" lIns="0" rIns="0" tIns="0" bIns="0">
            <a:spAutoFit/>
          </a:bodyPr>
          <a:lstStyle/>
          <a:p>
            <a:pPr algn="l">
              <a:lnSpc>
                <a:spcPct val="92000"/>
              </a:lnSpc>
              <a:spcBef>
                <a:spcPts val="0"/>
              </a:spcBef>
              <a:spcAft>
                <a:spcPts val="200"/>
              </a:spcAft>
            </a:pPr>
            <a:r>
              <a:rPr sz="1050" b="1" i="0">
                <a:solidFill>
                  <a:srgbClr val="1B3139"/>
                </a:solidFill>
                <a:latin typeface="Segoe UI"/>
              </a:rPr>
              <a:t>Validate
schema</a:t>
            </a:r>
          </a:p>
        </p:txBody>
      </p:sp>
      <p:sp>
        <p:nvSpPr>
          <p:cNvPr id="23" name="Right Arrow 22"/>
          <p:cNvSpPr/>
          <p:nvPr/>
        </p:nvSpPr>
        <p:spPr>
          <a:xfrm>
            <a:off x="5926683" y="2478024"/>
            <a:ext cx="338328" cy="164592"/>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6301587" y="2084831"/>
            <a:ext cx="2455849" cy="9601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6502755" y="2304287"/>
            <a:ext cx="512064" cy="512064"/>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Cube 25"/>
          <p:cNvSpPr/>
          <p:nvPr/>
        </p:nvSpPr>
        <p:spPr>
          <a:xfrm>
            <a:off x="6658679" y="2460211"/>
            <a:ext cx="200217" cy="200217"/>
          </a:xfrm>
          <a:prstGeom prst="cub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087971" y="2121408"/>
            <a:ext cx="1587169" cy="868680"/>
          </a:xfrm>
          <a:prstGeom prst="rect">
            <a:avLst/>
          </a:prstGeom>
          <a:noFill/>
        </p:spPr>
        <p:txBody>
          <a:bodyPr wrap="square" anchor="ctr" lIns="0" rIns="0" tIns="0" bIns="0">
            <a:spAutoFit/>
          </a:bodyPr>
          <a:lstStyle/>
          <a:p>
            <a:pPr algn="l">
              <a:lnSpc>
                <a:spcPct val="92000"/>
              </a:lnSpc>
              <a:spcBef>
                <a:spcPts val="0"/>
              </a:spcBef>
              <a:spcAft>
                <a:spcPts val="200"/>
              </a:spcAft>
            </a:pPr>
            <a:r>
              <a:rPr sz="1050" b="1" i="0">
                <a:solidFill>
                  <a:srgbClr val="1B3139"/>
                </a:solidFill>
                <a:latin typeface="Segoe UI"/>
              </a:rPr>
              <a:t>Write Parquet
data files</a:t>
            </a:r>
          </a:p>
        </p:txBody>
      </p:sp>
      <p:sp>
        <p:nvSpPr>
          <p:cNvPr id="28" name="Right Arrow 27"/>
          <p:cNvSpPr/>
          <p:nvPr/>
        </p:nvSpPr>
        <p:spPr>
          <a:xfrm>
            <a:off x="8794013" y="2478024"/>
            <a:ext cx="338328" cy="164592"/>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9168917" y="2084831"/>
            <a:ext cx="2455849" cy="9601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9370085" y="2304287"/>
            <a:ext cx="512064" cy="512064"/>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rot="2700000">
            <a:off x="9560163" y="2565030"/>
            <a:ext cx="70664" cy="3768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rot="18480000">
            <a:off x="9611984" y="2513210"/>
            <a:ext cx="136618" cy="3768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955301" y="2121408"/>
            <a:ext cx="1587169" cy="868680"/>
          </a:xfrm>
          <a:prstGeom prst="rect">
            <a:avLst/>
          </a:prstGeom>
          <a:noFill/>
        </p:spPr>
        <p:txBody>
          <a:bodyPr wrap="square" anchor="ctr" lIns="0" rIns="0" tIns="0" bIns="0">
            <a:spAutoFit/>
          </a:bodyPr>
          <a:lstStyle/>
          <a:p>
            <a:pPr algn="l">
              <a:lnSpc>
                <a:spcPct val="92000"/>
              </a:lnSpc>
              <a:spcBef>
                <a:spcPts val="0"/>
              </a:spcBef>
              <a:spcAft>
                <a:spcPts val="200"/>
              </a:spcAft>
            </a:pPr>
            <a:r>
              <a:rPr sz="1050" b="1" i="0">
                <a:solidFill>
                  <a:srgbClr val="1B3139"/>
                </a:solidFill>
                <a:latin typeface="Segoe UI"/>
              </a:rPr>
              <a:t>Atomic commit
to _delta_log</a:t>
            </a:r>
          </a:p>
        </p:txBody>
      </p:sp>
      <p:sp>
        <p:nvSpPr>
          <p:cNvPr id="34" name="Rounded Rectangle 33"/>
          <p:cNvSpPr/>
          <p:nvPr/>
        </p:nvSpPr>
        <p:spPr>
          <a:xfrm>
            <a:off x="566928" y="3383280"/>
            <a:ext cx="11057839" cy="1051560"/>
          </a:xfrm>
          <a:prstGeom prst="roundRect">
            <a:avLst>
              <a:gd name="adj" fmla="val 8000"/>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86968" y="3493008"/>
            <a:ext cx="3657600" cy="27432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FF6B57"/>
                </a:solidFill>
                <a:latin typeface="Segoe UI Semibold"/>
              </a:rPr>
              <a:t>_delta_log/  (ordered JSON commits)</a:t>
            </a:r>
          </a:p>
        </p:txBody>
      </p:sp>
      <p:sp>
        <p:nvSpPr>
          <p:cNvPr id="36" name="Rounded Rectangle 35"/>
          <p:cNvSpPr/>
          <p:nvPr/>
        </p:nvSpPr>
        <p:spPr>
          <a:xfrm>
            <a:off x="886968" y="3822191"/>
            <a:ext cx="1937247" cy="457200"/>
          </a:xfrm>
          <a:prstGeom prst="roundRect">
            <a:avLst>
              <a:gd name="adj" fmla="val 18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23544" y="3822191"/>
            <a:ext cx="1864095" cy="457200"/>
          </a:xfrm>
          <a:prstGeom prst="rect">
            <a:avLst/>
          </a:prstGeom>
          <a:noFill/>
        </p:spPr>
        <p:txBody>
          <a:bodyPr wrap="square" anchor="ctr" lIns="0" rIns="0" tIns="0" bIns="0">
            <a:spAutoFit/>
          </a:bodyPr>
          <a:lstStyle/>
          <a:p>
            <a:pPr algn="ctr">
              <a:lnSpc>
                <a:spcPct val="100000"/>
              </a:lnSpc>
              <a:spcBef>
                <a:spcPts val="0"/>
              </a:spcBef>
              <a:spcAft>
                <a:spcPts val="200"/>
              </a:spcAft>
            </a:pPr>
            <a:r>
              <a:rPr sz="950" b="0" i="0">
                <a:solidFill>
                  <a:srgbClr val="FFFFFF"/>
                </a:solidFill>
                <a:latin typeface="Segoe UI"/>
              </a:rPr>
              <a:t>v0  initial</a:t>
            </a:r>
          </a:p>
        </p:txBody>
      </p:sp>
      <p:sp>
        <p:nvSpPr>
          <p:cNvPr id="38" name="Right Arrow 37"/>
          <p:cNvSpPr/>
          <p:nvPr/>
        </p:nvSpPr>
        <p:spPr>
          <a:xfrm>
            <a:off x="2842503" y="3995928"/>
            <a:ext cx="164592" cy="109728"/>
          </a:xfrm>
          <a:prstGeom prst="rightArrow">
            <a:avLst>
              <a:gd name="adj1" fmla="val 55000"/>
              <a:gd name="adj2" fmla="val 55000"/>
            </a:avLst>
          </a:prstGeom>
          <a:solidFill>
            <a:srgbClr val="7E91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3007095" y="3822191"/>
            <a:ext cx="1937247" cy="457200"/>
          </a:xfrm>
          <a:prstGeom prst="roundRect">
            <a:avLst>
              <a:gd name="adj" fmla="val 18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043671" y="3822191"/>
            <a:ext cx="1864095" cy="457200"/>
          </a:xfrm>
          <a:prstGeom prst="rect">
            <a:avLst/>
          </a:prstGeom>
          <a:noFill/>
        </p:spPr>
        <p:txBody>
          <a:bodyPr wrap="square" anchor="ctr" lIns="0" rIns="0" tIns="0" bIns="0">
            <a:spAutoFit/>
          </a:bodyPr>
          <a:lstStyle/>
          <a:p>
            <a:pPr algn="ctr">
              <a:lnSpc>
                <a:spcPct val="100000"/>
              </a:lnSpc>
              <a:spcBef>
                <a:spcPts val="0"/>
              </a:spcBef>
              <a:spcAft>
                <a:spcPts val="200"/>
              </a:spcAft>
            </a:pPr>
            <a:r>
              <a:rPr sz="950" b="0" i="0">
                <a:solidFill>
                  <a:srgbClr val="FFFFFF"/>
                </a:solidFill>
                <a:latin typeface="Segoe UI"/>
              </a:rPr>
              <a:t>v1  +rows</a:t>
            </a:r>
          </a:p>
        </p:txBody>
      </p:sp>
      <p:sp>
        <p:nvSpPr>
          <p:cNvPr id="41" name="Right Arrow 40"/>
          <p:cNvSpPr/>
          <p:nvPr/>
        </p:nvSpPr>
        <p:spPr>
          <a:xfrm>
            <a:off x="4962631" y="3995928"/>
            <a:ext cx="164592" cy="109728"/>
          </a:xfrm>
          <a:prstGeom prst="rightArrow">
            <a:avLst>
              <a:gd name="adj1" fmla="val 55000"/>
              <a:gd name="adj2" fmla="val 55000"/>
            </a:avLst>
          </a:prstGeom>
          <a:solidFill>
            <a:srgbClr val="7E91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a:off x="5127223" y="3822191"/>
            <a:ext cx="1937247" cy="457200"/>
          </a:xfrm>
          <a:prstGeom prst="roundRect">
            <a:avLst>
              <a:gd name="adj" fmla="val 18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163799" y="3822191"/>
            <a:ext cx="1864095" cy="457200"/>
          </a:xfrm>
          <a:prstGeom prst="rect">
            <a:avLst/>
          </a:prstGeom>
          <a:noFill/>
        </p:spPr>
        <p:txBody>
          <a:bodyPr wrap="square" anchor="ctr" lIns="0" rIns="0" tIns="0" bIns="0">
            <a:spAutoFit/>
          </a:bodyPr>
          <a:lstStyle/>
          <a:p>
            <a:pPr algn="ctr">
              <a:lnSpc>
                <a:spcPct val="100000"/>
              </a:lnSpc>
              <a:spcBef>
                <a:spcPts val="0"/>
              </a:spcBef>
              <a:spcAft>
                <a:spcPts val="200"/>
              </a:spcAft>
            </a:pPr>
            <a:r>
              <a:rPr sz="950" b="0" i="0">
                <a:solidFill>
                  <a:srgbClr val="FFFFFF"/>
                </a:solidFill>
                <a:latin typeface="Segoe UI"/>
              </a:rPr>
              <a:t>v2  update</a:t>
            </a:r>
          </a:p>
        </p:txBody>
      </p:sp>
      <p:sp>
        <p:nvSpPr>
          <p:cNvPr id="44" name="Right Arrow 43"/>
          <p:cNvSpPr/>
          <p:nvPr/>
        </p:nvSpPr>
        <p:spPr>
          <a:xfrm>
            <a:off x="7082759" y="3995928"/>
            <a:ext cx="164592" cy="109728"/>
          </a:xfrm>
          <a:prstGeom prst="rightArrow">
            <a:avLst>
              <a:gd name="adj1" fmla="val 55000"/>
              <a:gd name="adj2" fmla="val 55000"/>
            </a:avLst>
          </a:prstGeom>
          <a:solidFill>
            <a:srgbClr val="7E91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7247351" y="3822191"/>
            <a:ext cx="1937247" cy="457200"/>
          </a:xfrm>
          <a:prstGeom prst="roundRect">
            <a:avLst>
              <a:gd name="adj" fmla="val 18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283927" y="3822191"/>
            <a:ext cx="1864095" cy="457200"/>
          </a:xfrm>
          <a:prstGeom prst="rect">
            <a:avLst/>
          </a:prstGeom>
          <a:noFill/>
        </p:spPr>
        <p:txBody>
          <a:bodyPr wrap="square" anchor="ctr" lIns="0" rIns="0" tIns="0" bIns="0">
            <a:spAutoFit/>
          </a:bodyPr>
          <a:lstStyle/>
          <a:p>
            <a:pPr algn="ctr">
              <a:lnSpc>
                <a:spcPct val="100000"/>
              </a:lnSpc>
              <a:spcBef>
                <a:spcPts val="0"/>
              </a:spcBef>
              <a:spcAft>
                <a:spcPts val="200"/>
              </a:spcAft>
            </a:pPr>
            <a:r>
              <a:rPr sz="950" b="0" i="0">
                <a:solidFill>
                  <a:srgbClr val="FFFFFF"/>
                </a:solidFill>
                <a:latin typeface="Segoe UI"/>
              </a:rPr>
              <a:t>v3  merge</a:t>
            </a:r>
          </a:p>
        </p:txBody>
      </p:sp>
      <p:sp>
        <p:nvSpPr>
          <p:cNvPr id="47" name="Right Arrow 46"/>
          <p:cNvSpPr/>
          <p:nvPr/>
        </p:nvSpPr>
        <p:spPr>
          <a:xfrm>
            <a:off x="9202887" y="3995928"/>
            <a:ext cx="164592" cy="109728"/>
          </a:xfrm>
          <a:prstGeom prst="rightArrow">
            <a:avLst>
              <a:gd name="adj1" fmla="val 55000"/>
              <a:gd name="adj2" fmla="val 55000"/>
            </a:avLst>
          </a:prstGeom>
          <a:solidFill>
            <a:srgbClr val="7E91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9367479" y="3822191"/>
            <a:ext cx="1937247" cy="457200"/>
          </a:xfrm>
          <a:prstGeom prst="roundRect">
            <a:avLst>
              <a:gd name="adj" fmla="val 18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9404055" y="3822191"/>
            <a:ext cx="1864095" cy="457200"/>
          </a:xfrm>
          <a:prstGeom prst="rect">
            <a:avLst/>
          </a:prstGeom>
          <a:noFill/>
        </p:spPr>
        <p:txBody>
          <a:bodyPr wrap="square" anchor="ctr" lIns="0" rIns="0" tIns="0" bIns="0">
            <a:spAutoFit/>
          </a:bodyPr>
          <a:lstStyle/>
          <a:p>
            <a:pPr algn="ctr">
              <a:lnSpc>
                <a:spcPct val="100000"/>
              </a:lnSpc>
              <a:spcBef>
                <a:spcPts val="0"/>
              </a:spcBef>
              <a:spcAft>
                <a:spcPts val="200"/>
              </a:spcAft>
            </a:pPr>
            <a:r>
              <a:rPr sz="950" b="1" i="0">
                <a:solidFill>
                  <a:srgbClr val="FFFFFF"/>
                </a:solidFill>
                <a:latin typeface="Segoe UI"/>
              </a:rPr>
              <a:t>v4  current</a:t>
            </a:r>
          </a:p>
        </p:txBody>
      </p:sp>
      <p:sp>
        <p:nvSpPr>
          <p:cNvPr id="50" name="TextBox 49"/>
          <p:cNvSpPr txBox="1"/>
          <p:nvPr/>
        </p:nvSpPr>
        <p:spPr>
          <a:xfrm>
            <a:off x="566928" y="4617720"/>
            <a:ext cx="5486400" cy="274320"/>
          </a:xfrm>
          <a:prstGeom prst="rect">
            <a:avLst/>
          </a:prstGeom>
          <a:noFill/>
        </p:spPr>
        <p:txBody>
          <a:bodyPr wrap="square" anchor="t" lIns="0" rIns="0" tIns="0" bIns="0">
            <a:spAutoFit/>
          </a:bodyPr>
          <a:lstStyle/>
          <a:p>
            <a:pPr algn="l">
              <a:lnSpc>
                <a:spcPct val="100000"/>
              </a:lnSpc>
              <a:spcBef>
                <a:spcPts val="0"/>
              </a:spcBef>
              <a:spcAft>
                <a:spcPts val="200"/>
              </a:spcAft>
            </a:pPr>
            <a:r>
              <a:rPr sz="1050" b="1" i="0">
                <a:solidFill>
                  <a:srgbClr val="057A55"/>
                </a:solidFill>
                <a:latin typeface="Segoe UI Semibold"/>
              </a:rPr>
              <a:t>READ PATH</a:t>
            </a:r>
          </a:p>
        </p:txBody>
      </p:sp>
      <p:sp>
        <p:nvSpPr>
          <p:cNvPr id="51" name="Rounded Rectangle 50"/>
          <p:cNvSpPr/>
          <p:nvPr/>
        </p:nvSpPr>
        <p:spPr>
          <a:xfrm>
            <a:off x="566928" y="4892040"/>
            <a:ext cx="11057839" cy="96012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Oval 51"/>
          <p:cNvSpPr/>
          <p:nvPr/>
        </p:nvSpPr>
        <p:spPr>
          <a:xfrm>
            <a:off x="795527" y="5093208"/>
            <a:ext cx="548640" cy="548640"/>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Oval 52"/>
          <p:cNvSpPr/>
          <p:nvPr/>
        </p:nvSpPr>
        <p:spPr>
          <a:xfrm>
            <a:off x="1019373" y="5261530"/>
            <a:ext cx="100949" cy="10094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ounded Rectangle 53"/>
          <p:cNvSpPr/>
          <p:nvPr/>
        </p:nvSpPr>
        <p:spPr>
          <a:xfrm>
            <a:off x="984040" y="5377622"/>
            <a:ext cx="171614" cy="10599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1527048" y="4892040"/>
            <a:ext cx="9777679" cy="960120"/>
          </a:xfrm>
          <a:prstGeom prst="rect">
            <a:avLst/>
          </a:prstGeom>
          <a:noFill/>
        </p:spPr>
        <p:txBody>
          <a:bodyPr wrap="square" anchor="ctr" lIns="0" rIns="0" tIns="0" bIns="0">
            <a:spAutoFit/>
          </a:bodyPr>
          <a:lstStyle/>
          <a:p>
            <a:pPr algn="l">
              <a:lnSpc>
                <a:spcPct val="120000"/>
              </a:lnSpc>
              <a:spcBef>
                <a:spcPts val="0"/>
              </a:spcBef>
              <a:spcAft>
                <a:spcPts val="200"/>
              </a:spcAft>
            </a:pPr>
            <a:r>
              <a:rPr sz="1200" b="1" i="0">
                <a:solidFill>
                  <a:srgbClr val="1B3139"/>
                </a:solidFill>
                <a:latin typeface="Segoe UI"/>
              </a:rPr>
              <a:t>Readers always see a consistent snapshot:  </a:t>
            </a:r>
            <a:r>
              <a:rPr sz="1200" b="0" i="0">
                <a:solidFill>
                  <a:srgbClr val="465257"/>
                </a:solidFill>
                <a:latin typeface="Segoe UI"/>
              </a:rPr>
              <a:t>Delta reads the log to serve the latest committed version (or any past version for time travel) — never partial or dirty data, even while writes are in flight.</a:t>
            </a:r>
          </a:p>
        </p:txBody>
      </p:sp>
      <p:sp>
        <p:nvSpPr>
          <p:cNvPr id="56" name="TextBox 55"/>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7" name="TextBox 56"/>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LAKEHOUSE ARCHITECTURE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Governance &amp; Open Sharing</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855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Spark</a:t>
            </a:r>
          </a:p>
        </p:txBody>
      </p:sp>
      <p:sp>
        <p:nvSpPr>
          <p:cNvPr id="9" name="Oval 8"/>
          <p:cNvSpPr/>
          <p:nvPr/>
        </p:nvSpPr>
        <p:spPr>
          <a:xfrm>
            <a:off x="94644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Workspace</a:t>
            </a:r>
          </a:p>
        </p:txBody>
      </p:sp>
      <p:sp>
        <p:nvSpPr>
          <p:cNvPr id="11" name="Oval 10"/>
          <p:cNvSpPr/>
          <p:nvPr/>
        </p:nvSpPr>
        <p:spPr>
          <a:xfrm>
            <a:off x="10527487"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Lakehouse</a:t>
            </a:r>
          </a:p>
        </p:txBody>
      </p:sp>
      <p:sp>
        <p:nvSpPr>
          <p:cNvPr id="13" name="Rounded Rectangle 12"/>
          <p:cNvSpPr/>
          <p:nvPr/>
        </p:nvSpPr>
        <p:spPr>
          <a:xfrm>
            <a:off x="56692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66928" y="1828800"/>
            <a:ext cx="91440" cy="1929384"/>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40664" y="1975104"/>
            <a:ext cx="658368" cy="65836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966879" y="2289145"/>
            <a:ext cx="205937" cy="151424"/>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Block Arc 16"/>
          <p:cNvSpPr/>
          <p:nvPr/>
        </p:nvSpPr>
        <p:spPr>
          <a:xfrm>
            <a:off x="997164" y="2152863"/>
            <a:ext cx="145367" cy="151424"/>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49961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350" b="1" i="0">
                <a:solidFill>
                  <a:srgbClr val="1B3139"/>
                </a:solidFill>
                <a:latin typeface="Segoe UI"/>
              </a:rPr>
              <a:t>Centralized Access</a:t>
            </a:r>
          </a:p>
        </p:txBody>
      </p:sp>
      <p:sp>
        <p:nvSpPr>
          <p:cNvPr id="19" name="TextBox 18"/>
          <p:cNvSpPr txBox="1"/>
          <p:nvPr/>
        </p:nvSpPr>
        <p:spPr>
          <a:xfrm>
            <a:off x="841247"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50" b="0" i="0">
                <a:solidFill>
                  <a:srgbClr val="6B777C"/>
                </a:solidFill>
                <a:latin typeface="Segoe UI"/>
              </a:rPr>
              <a:t>One permission model — ANSI SQL GRANTs with row &amp; column security.</a:t>
            </a:r>
          </a:p>
        </p:txBody>
      </p:sp>
      <p:sp>
        <p:nvSpPr>
          <p:cNvPr id="20" name="Rounded Rectangle 19"/>
          <p:cNvSpPr/>
          <p:nvPr/>
        </p:nvSpPr>
        <p:spPr>
          <a:xfrm>
            <a:off x="433821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4338218" y="1828800"/>
            <a:ext cx="91440" cy="1929384"/>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4511954" y="1975104"/>
            <a:ext cx="658368" cy="658368"/>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4719998" y="2249775"/>
            <a:ext cx="133253" cy="109025"/>
          </a:xfrm>
          <a:prstGeom prst="roundRect">
            <a:avLst>
              <a:gd name="adj" fmla="val 50000"/>
            </a:avLst>
          </a:prstGeom>
          <a:noFill/>
          <a:ln w="37856">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4829024" y="2249775"/>
            <a:ext cx="133253" cy="109025"/>
          </a:xfrm>
          <a:prstGeom prst="roundRect">
            <a:avLst>
              <a:gd name="adj" fmla="val 50000"/>
            </a:avLst>
          </a:prstGeom>
          <a:noFill/>
          <a:ln w="37856">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27090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350" b="1" i="0">
                <a:solidFill>
                  <a:srgbClr val="1B3139"/>
                </a:solidFill>
                <a:latin typeface="Segoe UI"/>
              </a:rPr>
              <a:t>Lineage &amp; Audit</a:t>
            </a:r>
          </a:p>
        </p:txBody>
      </p:sp>
      <p:sp>
        <p:nvSpPr>
          <p:cNvPr id="26" name="TextBox 25"/>
          <p:cNvSpPr txBox="1"/>
          <p:nvPr/>
        </p:nvSpPr>
        <p:spPr>
          <a:xfrm>
            <a:off x="461253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50" b="0" i="0">
                <a:solidFill>
                  <a:srgbClr val="6B777C"/>
                </a:solidFill>
                <a:latin typeface="Segoe UI"/>
              </a:rPr>
              <a:t>Automatic column-level lineage and full audit logs for compliance.</a:t>
            </a:r>
          </a:p>
        </p:txBody>
      </p:sp>
      <p:sp>
        <p:nvSpPr>
          <p:cNvPr id="27" name="Rounded Rectangle 26"/>
          <p:cNvSpPr/>
          <p:nvPr/>
        </p:nvSpPr>
        <p:spPr>
          <a:xfrm>
            <a:off x="810950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8109508" y="1828800"/>
            <a:ext cx="91440" cy="1929384"/>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8283244" y="1975104"/>
            <a:ext cx="658368" cy="658368"/>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8473118" y="2164977"/>
            <a:ext cx="278621" cy="278621"/>
          </a:xfrm>
          <a:prstGeom prst="ellipse">
            <a:avLst/>
          </a:prstGeom>
          <a:noFill/>
          <a:ln w="33649">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8557915" y="2164977"/>
            <a:ext cx="109025" cy="278621"/>
          </a:xfrm>
          <a:prstGeom prst="ellipse">
            <a:avLst/>
          </a:prstGeom>
          <a:noFill/>
          <a:ln w="25237">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8473118" y="2295202"/>
            <a:ext cx="278621" cy="181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04219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350" b="1" i="0">
                <a:solidFill>
                  <a:srgbClr val="1B3139"/>
                </a:solidFill>
                <a:latin typeface="Segoe UI"/>
              </a:rPr>
              <a:t>Delta Sharing</a:t>
            </a:r>
          </a:p>
        </p:txBody>
      </p:sp>
      <p:sp>
        <p:nvSpPr>
          <p:cNvPr id="34" name="TextBox 33"/>
          <p:cNvSpPr txBox="1"/>
          <p:nvPr/>
        </p:nvSpPr>
        <p:spPr>
          <a:xfrm>
            <a:off x="838382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50" b="0" i="0">
                <a:solidFill>
                  <a:srgbClr val="6B777C"/>
                </a:solidFill>
                <a:latin typeface="Segoe UI"/>
              </a:rPr>
              <a:t>Open protocol to share live data across orgs — no copying, any client.</a:t>
            </a:r>
          </a:p>
        </p:txBody>
      </p:sp>
      <p:sp>
        <p:nvSpPr>
          <p:cNvPr id="35" name="Rounded Rectangle 34"/>
          <p:cNvSpPr/>
          <p:nvPr/>
        </p:nvSpPr>
        <p:spPr>
          <a:xfrm>
            <a:off x="56692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566928" y="4014215"/>
            <a:ext cx="91440" cy="1929384"/>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740664" y="4160520"/>
            <a:ext cx="658368" cy="658368"/>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Folded Corner 37"/>
          <p:cNvSpPr/>
          <p:nvPr/>
        </p:nvSpPr>
        <p:spPr>
          <a:xfrm>
            <a:off x="972936" y="4362507"/>
            <a:ext cx="193823" cy="254393"/>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149961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350" b="1" i="0">
                <a:solidFill>
                  <a:srgbClr val="1B3139"/>
                </a:solidFill>
                <a:latin typeface="Segoe UI"/>
              </a:rPr>
              <a:t>Discovery &amp; Tags</a:t>
            </a:r>
          </a:p>
        </p:txBody>
      </p:sp>
      <p:sp>
        <p:nvSpPr>
          <p:cNvPr id="40" name="TextBox 39"/>
          <p:cNvSpPr txBox="1"/>
          <p:nvPr/>
        </p:nvSpPr>
        <p:spPr>
          <a:xfrm>
            <a:off x="841247"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50" b="0" i="0">
                <a:solidFill>
                  <a:srgbClr val="6B777C"/>
                </a:solidFill>
                <a:latin typeface="Segoe UI"/>
              </a:rPr>
              <a:t>Search, tag and classify all assets in one governed catalog.</a:t>
            </a:r>
          </a:p>
        </p:txBody>
      </p:sp>
      <p:sp>
        <p:nvSpPr>
          <p:cNvPr id="41" name="Rounded Rectangle 40"/>
          <p:cNvSpPr/>
          <p:nvPr/>
        </p:nvSpPr>
        <p:spPr>
          <a:xfrm>
            <a:off x="433821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a:off x="4338218" y="4014215"/>
            <a:ext cx="91440" cy="1929384"/>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4511954" y="4160520"/>
            <a:ext cx="658368" cy="658368"/>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Pentagon 43"/>
          <p:cNvSpPr/>
          <p:nvPr/>
        </p:nvSpPr>
        <p:spPr>
          <a:xfrm rot="5400000">
            <a:off x="4713941" y="4344336"/>
            <a:ext cx="254393" cy="278621"/>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527090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350" b="1" i="0">
                <a:solidFill>
                  <a:srgbClr val="1B3139"/>
                </a:solidFill>
                <a:latin typeface="Segoe UI"/>
              </a:rPr>
              <a:t>Compliance Ready</a:t>
            </a:r>
          </a:p>
        </p:txBody>
      </p:sp>
      <p:sp>
        <p:nvSpPr>
          <p:cNvPr id="46" name="TextBox 45"/>
          <p:cNvSpPr txBox="1"/>
          <p:nvPr/>
        </p:nvSpPr>
        <p:spPr>
          <a:xfrm>
            <a:off x="461253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50" b="0" i="0">
                <a:solidFill>
                  <a:srgbClr val="6B777C"/>
                </a:solidFill>
                <a:latin typeface="Segoe UI"/>
              </a:rPr>
              <a:t>Encryption, network isolation and GDPR / HIPAA / SOC 2 controls.</a:t>
            </a:r>
          </a:p>
        </p:txBody>
      </p:sp>
      <p:sp>
        <p:nvSpPr>
          <p:cNvPr id="47" name="Rounded Rectangle 46"/>
          <p:cNvSpPr/>
          <p:nvPr/>
        </p:nvSpPr>
        <p:spPr>
          <a:xfrm>
            <a:off x="810950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8109508" y="4014215"/>
            <a:ext cx="91440" cy="192938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Oval 48"/>
          <p:cNvSpPr/>
          <p:nvPr/>
        </p:nvSpPr>
        <p:spPr>
          <a:xfrm>
            <a:off x="8283244" y="4160520"/>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Oval 49"/>
          <p:cNvSpPr/>
          <p:nvPr/>
        </p:nvSpPr>
        <p:spPr>
          <a:xfrm>
            <a:off x="8560944" y="4438219"/>
            <a:ext cx="102968" cy="1029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1" name="Connector 50"/>
          <p:cNvCxnSpPr/>
          <p:nvPr/>
        </p:nvCxnSpPr>
        <p:spPr>
          <a:xfrm flipH="1" flipV="1">
            <a:off x="8485232" y="4398849"/>
            <a:ext cx="127196" cy="90855"/>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8451918" y="4365535"/>
            <a:ext cx="66626" cy="666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3" name="Connector 52"/>
          <p:cNvCxnSpPr/>
          <p:nvPr/>
        </p:nvCxnSpPr>
        <p:spPr>
          <a:xfrm flipV="1">
            <a:off x="8612428" y="4398849"/>
            <a:ext cx="127197" cy="90855"/>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8706312" y="4365535"/>
            <a:ext cx="66626" cy="666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5" name="Connector 54"/>
          <p:cNvCxnSpPr/>
          <p:nvPr/>
        </p:nvCxnSpPr>
        <p:spPr>
          <a:xfrm>
            <a:off x="8612428" y="4489704"/>
            <a:ext cx="0" cy="133253"/>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8579115" y="4589644"/>
            <a:ext cx="66626" cy="666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904219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350" b="1" i="0">
                <a:solidFill>
                  <a:srgbClr val="1B3139"/>
                </a:solidFill>
                <a:latin typeface="Segoe UI"/>
              </a:rPr>
              <a:t>Data + AI Together</a:t>
            </a:r>
          </a:p>
        </p:txBody>
      </p:sp>
      <p:sp>
        <p:nvSpPr>
          <p:cNvPr id="58" name="TextBox 57"/>
          <p:cNvSpPr txBox="1"/>
          <p:nvPr/>
        </p:nvSpPr>
        <p:spPr>
          <a:xfrm>
            <a:off x="838382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50" b="0" i="0">
                <a:solidFill>
                  <a:srgbClr val="6B777C"/>
                </a:solidFill>
                <a:latin typeface="Segoe UI"/>
              </a:rPr>
              <a:t>Govern tables, files, ML models &amp; features under one roof.</a:t>
            </a:r>
          </a:p>
        </p:txBody>
      </p:sp>
      <p:sp>
        <p:nvSpPr>
          <p:cNvPr id="59" name="TextBox 58"/>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60" name="TextBox 59"/>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LAKEHOUSE ARCHITECTURE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AI &amp; ML on the Lakehouse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855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Spark</a:t>
            </a:r>
          </a:p>
        </p:txBody>
      </p:sp>
      <p:sp>
        <p:nvSpPr>
          <p:cNvPr id="9" name="Oval 8"/>
          <p:cNvSpPr/>
          <p:nvPr/>
        </p:nvSpPr>
        <p:spPr>
          <a:xfrm>
            <a:off x="94644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Workspace</a:t>
            </a:r>
          </a:p>
        </p:txBody>
      </p:sp>
      <p:sp>
        <p:nvSpPr>
          <p:cNvPr id="11" name="Oval 10"/>
          <p:cNvSpPr/>
          <p:nvPr/>
        </p:nvSpPr>
        <p:spPr>
          <a:xfrm>
            <a:off x="10527487"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Lakehouse</a:t>
            </a:r>
          </a:p>
        </p:txBody>
      </p:sp>
      <p:sp>
        <p:nvSpPr>
          <p:cNvPr id="13" name="Rounded Rectangle 12"/>
          <p:cNvSpPr/>
          <p:nvPr/>
        </p:nvSpPr>
        <p:spPr>
          <a:xfrm>
            <a:off x="566928" y="210312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66928" y="2103120"/>
            <a:ext cx="1918959" cy="109728"/>
          </a:xfrm>
          <a:prstGeom prst="roundRect">
            <a:avLst>
              <a:gd name="adj" fmla="val 50000"/>
            </a:avLst>
          </a:prstGeom>
          <a:solidFill>
            <a:srgbClr val="D8A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1087495" y="2322575"/>
            <a:ext cx="877824" cy="877824"/>
          </a:xfrm>
          <a:prstGeom prst="ellipse">
            <a:avLst/>
          </a:prstGeom>
          <a:solidFill>
            <a:srgbClr val="D8A32B"/>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Diamond 15"/>
          <p:cNvSpPr/>
          <p:nvPr/>
        </p:nvSpPr>
        <p:spPr>
          <a:xfrm>
            <a:off x="1340660" y="2559588"/>
            <a:ext cx="371495" cy="403799"/>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99211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1</a:t>
            </a:r>
          </a:p>
        </p:txBody>
      </p:sp>
      <p:sp>
        <p:nvSpPr>
          <p:cNvPr id="18" name="TextBox 17"/>
          <p:cNvSpPr txBox="1"/>
          <p:nvPr/>
        </p:nvSpPr>
        <p:spPr>
          <a:xfrm>
            <a:off x="676656" y="323697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1B3139"/>
                </a:solidFill>
                <a:latin typeface="Segoe UI"/>
              </a:rPr>
              <a:t>Gold Data</a:t>
            </a:r>
          </a:p>
        </p:txBody>
      </p:sp>
      <p:sp>
        <p:nvSpPr>
          <p:cNvPr id="19" name="TextBox 18"/>
          <p:cNvSpPr txBox="1"/>
          <p:nvPr/>
        </p:nvSpPr>
        <p:spPr>
          <a:xfrm>
            <a:off x="713232" y="3749039"/>
            <a:ext cx="1626351" cy="603503"/>
          </a:xfrm>
          <a:prstGeom prst="rect">
            <a:avLst/>
          </a:prstGeom>
          <a:noFill/>
        </p:spPr>
        <p:txBody>
          <a:bodyPr wrap="square" anchor="t" lIns="0" rIns="0" tIns="0" bIns="0">
            <a:spAutoFit/>
          </a:bodyPr>
          <a:lstStyle/>
          <a:p>
            <a:pPr algn="ctr">
              <a:lnSpc>
                <a:spcPct val="105000"/>
              </a:lnSpc>
              <a:spcBef>
                <a:spcPts val="0"/>
              </a:spcBef>
              <a:spcAft>
                <a:spcPts val="200"/>
              </a:spcAft>
            </a:pPr>
            <a:r>
              <a:rPr sz="980" b="0" i="0">
                <a:solidFill>
                  <a:srgbClr val="6B777C"/>
                </a:solidFill>
                <a:latin typeface="Segoe UI"/>
              </a:rPr>
              <a:t>Curated, governed features straight from the medallion.</a:t>
            </a:r>
          </a:p>
        </p:txBody>
      </p:sp>
      <p:sp>
        <p:nvSpPr>
          <p:cNvPr id="20" name="Right Arrow 19"/>
          <p:cNvSpPr/>
          <p:nvPr/>
        </p:nvSpPr>
        <p:spPr>
          <a:xfrm>
            <a:off x="2522463" y="316382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2851647" y="210312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2851647" y="2103120"/>
            <a:ext cx="1918959" cy="109728"/>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3372215" y="2322575"/>
            <a:ext cx="877824" cy="877824"/>
          </a:xfrm>
          <a:prstGeom prst="ellipse">
            <a:avLst/>
          </a:prstGeom>
          <a:solidFill>
            <a:srgbClr val="0E8C9C"/>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Gear 6 23"/>
          <p:cNvSpPr/>
          <p:nvPr/>
        </p:nvSpPr>
        <p:spPr>
          <a:xfrm>
            <a:off x="3609228" y="2559588"/>
            <a:ext cx="403799" cy="403799"/>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427683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2</a:t>
            </a:r>
          </a:p>
        </p:txBody>
      </p:sp>
      <p:sp>
        <p:nvSpPr>
          <p:cNvPr id="26" name="TextBox 25"/>
          <p:cNvSpPr txBox="1"/>
          <p:nvPr/>
        </p:nvSpPr>
        <p:spPr>
          <a:xfrm>
            <a:off x="2961375" y="323697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1B3139"/>
                </a:solidFill>
                <a:latin typeface="Segoe UI"/>
              </a:rPr>
              <a:t>Feature
Engineering</a:t>
            </a:r>
          </a:p>
        </p:txBody>
      </p:sp>
      <p:sp>
        <p:nvSpPr>
          <p:cNvPr id="27" name="TextBox 26"/>
          <p:cNvSpPr txBox="1"/>
          <p:nvPr/>
        </p:nvSpPr>
        <p:spPr>
          <a:xfrm>
            <a:off x="2997951" y="3749039"/>
            <a:ext cx="1626351" cy="603503"/>
          </a:xfrm>
          <a:prstGeom prst="rect">
            <a:avLst/>
          </a:prstGeom>
          <a:noFill/>
        </p:spPr>
        <p:txBody>
          <a:bodyPr wrap="square" anchor="t" lIns="0" rIns="0" tIns="0" bIns="0">
            <a:spAutoFit/>
          </a:bodyPr>
          <a:lstStyle/>
          <a:p>
            <a:pPr algn="ctr">
              <a:lnSpc>
                <a:spcPct val="105000"/>
              </a:lnSpc>
              <a:spcBef>
                <a:spcPts val="0"/>
              </a:spcBef>
              <a:spcAft>
                <a:spcPts val="200"/>
              </a:spcAft>
            </a:pPr>
            <a:r>
              <a:rPr sz="980" b="0" i="0">
                <a:solidFill>
                  <a:srgbClr val="6B777C"/>
                </a:solidFill>
                <a:latin typeface="Segoe UI"/>
              </a:rPr>
              <a:t>Build &amp; share features in the governed Feature Store.</a:t>
            </a:r>
          </a:p>
        </p:txBody>
      </p:sp>
      <p:sp>
        <p:nvSpPr>
          <p:cNvPr id="28" name="Right Arrow 27"/>
          <p:cNvSpPr/>
          <p:nvPr/>
        </p:nvSpPr>
        <p:spPr>
          <a:xfrm>
            <a:off x="4807183" y="316382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5136367" y="210312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5136367" y="2103120"/>
            <a:ext cx="1918959" cy="109728"/>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5656935" y="2322575"/>
            <a:ext cx="877824" cy="877824"/>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6027201" y="2692842"/>
            <a:ext cx="137291" cy="13729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3" name="Connector 32"/>
          <p:cNvCxnSpPr/>
          <p:nvPr/>
        </p:nvCxnSpPr>
        <p:spPr>
          <a:xfrm flipH="1" flipV="1">
            <a:off x="5926252" y="2640348"/>
            <a:ext cx="169595" cy="121139"/>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5881834" y="2595930"/>
            <a:ext cx="88835" cy="8883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5" name="Connector 34"/>
          <p:cNvCxnSpPr/>
          <p:nvPr/>
        </p:nvCxnSpPr>
        <p:spPr>
          <a:xfrm flipV="1">
            <a:off x="6095847" y="2640348"/>
            <a:ext cx="169596" cy="121139"/>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6221025" y="2595930"/>
            <a:ext cx="88835" cy="8883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7" name="Connector 36"/>
          <p:cNvCxnSpPr/>
          <p:nvPr/>
        </p:nvCxnSpPr>
        <p:spPr>
          <a:xfrm>
            <a:off x="6095847" y="2761487"/>
            <a:ext cx="0" cy="177672"/>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6051429" y="2894741"/>
            <a:ext cx="88835" cy="8883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656155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3</a:t>
            </a:r>
          </a:p>
        </p:txBody>
      </p:sp>
      <p:sp>
        <p:nvSpPr>
          <p:cNvPr id="40" name="TextBox 39"/>
          <p:cNvSpPr txBox="1"/>
          <p:nvPr/>
        </p:nvSpPr>
        <p:spPr>
          <a:xfrm>
            <a:off x="5246095" y="323697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1B3139"/>
                </a:solidFill>
                <a:latin typeface="Segoe UI"/>
              </a:rPr>
              <a:t>Train &amp;
Track</a:t>
            </a:r>
          </a:p>
        </p:txBody>
      </p:sp>
      <p:sp>
        <p:nvSpPr>
          <p:cNvPr id="41" name="TextBox 40"/>
          <p:cNvSpPr txBox="1"/>
          <p:nvPr/>
        </p:nvSpPr>
        <p:spPr>
          <a:xfrm>
            <a:off x="5282671" y="3749039"/>
            <a:ext cx="1626351" cy="603503"/>
          </a:xfrm>
          <a:prstGeom prst="rect">
            <a:avLst/>
          </a:prstGeom>
          <a:noFill/>
        </p:spPr>
        <p:txBody>
          <a:bodyPr wrap="square" anchor="t" lIns="0" rIns="0" tIns="0" bIns="0">
            <a:spAutoFit/>
          </a:bodyPr>
          <a:lstStyle/>
          <a:p>
            <a:pPr algn="ctr">
              <a:lnSpc>
                <a:spcPct val="105000"/>
              </a:lnSpc>
              <a:spcBef>
                <a:spcPts val="0"/>
              </a:spcBef>
              <a:spcAft>
                <a:spcPts val="200"/>
              </a:spcAft>
            </a:pPr>
            <a:r>
              <a:rPr sz="980" b="0" i="0">
                <a:solidFill>
                  <a:srgbClr val="6B777C"/>
                </a:solidFill>
                <a:latin typeface="Segoe UI"/>
              </a:rPr>
              <a:t>Experiment &amp; tune with MLflow tracking and AutoML.</a:t>
            </a:r>
          </a:p>
        </p:txBody>
      </p:sp>
      <p:sp>
        <p:nvSpPr>
          <p:cNvPr id="42" name="Right Arrow 41"/>
          <p:cNvSpPr/>
          <p:nvPr/>
        </p:nvSpPr>
        <p:spPr>
          <a:xfrm>
            <a:off x="7091903" y="316382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ounded Rectangle 42"/>
          <p:cNvSpPr/>
          <p:nvPr/>
        </p:nvSpPr>
        <p:spPr>
          <a:xfrm>
            <a:off x="7421087" y="210312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7421087" y="2103120"/>
            <a:ext cx="1918959" cy="109728"/>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7941655" y="2322575"/>
            <a:ext cx="877824" cy="877824"/>
          </a:xfrm>
          <a:prstGeom prst="ellipse">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8243275" y="2741298"/>
            <a:ext cx="274583" cy="201899"/>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Block Arc 46"/>
          <p:cNvSpPr/>
          <p:nvPr/>
        </p:nvSpPr>
        <p:spPr>
          <a:xfrm>
            <a:off x="8283655" y="2559588"/>
            <a:ext cx="193823" cy="201899"/>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Oval 47"/>
          <p:cNvSpPr/>
          <p:nvPr/>
        </p:nvSpPr>
        <p:spPr>
          <a:xfrm>
            <a:off x="884627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4</a:t>
            </a:r>
          </a:p>
        </p:txBody>
      </p:sp>
      <p:sp>
        <p:nvSpPr>
          <p:cNvPr id="49" name="TextBox 48"/>
          <p:cNvSpPr txBox="1"/>
          <p:nvPr/>
        </p:nvSpPr>
        <p:spPr>
          <a:xfrm>
            <a:off x="7530815" y="323697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1B3139"/>
                </a:solidFill>
                <a:latin typeface="Segoe UI"/>
              </a:rPr>
              <a:t>Register</a:t>
            </a:r>
          </a:p>
        </p:txBody>
      </p:sp>
      <p:sp>
        <p:nvSpPr>
          <p:cNvPr id="50" name="TextBox 49"/>
          <p:cNvSpPr txBox="1"/>
          <p:nvPr/>
        </p:nvSpPr>
        <p:spPr>
          <a:xfrm>
            <a:off x="7567391" y="3749039"/>
            <a:ext cx="1626351" cy="603503"/>
          </a:xfrm>
          <a:prstGeom prst="rect">
            <a:avLst/>
          </a:prstGeom>
          <a:noFill/>
        </p:spPr>
        <p:txBody>
          <a:bodyPr wrap="square" anchor="t" lIns="0" rIns="0" tIns="0" bIns="0">
            <a:spAutoFit/>
          </a:bodyPr>
          <a:lstStyle/>
          <a:p>
            <a:pPr algn="ctr">
              <a:lnSpc>
                <a:spcPct val="105000"/>
              </a:lnSpc>
              <a:spcBef>
                <a:spcPts val="0"/>
              </a:spcBef>
              <a:spcAft>
                <a:spcPts val="200"/>
              </a:spcAft>
            </a:pPr>
            <a:r>
              <a:rPr sz="980" b="0" i="0">
                <a:solidFill>
                  <a:srgbClr val="6B777C"/>
                </a:solidFill>
                <a:latin typeface="Segoe UI"/>
              </a:rPr>
              <a:t>Version &amp; stage models in the Unity Catalog registry.</a:t>
            </a:r>
          </a:p>
        </p:txBody>
      </p:sp>
      <p:sp>
        <p:nvSpPr>
          <p:cNvPr id="51" name="Right Arrow 50"/>
          <p:cNvSpPr/>
          <p:nvPr/>
        </p:nvSpPr>
        <p:spPr>
          <a:xfrm>
            <a:off x="9376623" y="316382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ounded Rectangle 51"/>
          <p:cNvSpPr/>
          <p:nvPr/>
        </p:nvSpPr>
        <p:spPr>
          <a:xfrm>
            <a:off x="9705807" y="210312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ounded Rectangle 52"/>
          <p:cNvSpPr/>
          <p:nvPr/>
        </p:nvSpPr>
        <p:spPr>
          <a:xfrm>
            <a:off x="9705807" y="2103120"/>
            <a:ext cx="1918959" cy="109728"/>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Oval 53"/>
          <p:cNvSpPr/>
          <p:nvPr/>
        </p:nvSpPr>
        <p:spPr>
          <a:xfrm>
            <a:off x="10226375" y="2322575"/>
            <a:ext cx="877824" cy="877824"/>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Oval 54"/>
          <p:cNvSpPr/>
          <p:nvPr/>
        </p:nvSpPr>
        <p:spPr>
          <a:xfrm>
            <a:off x="10479539" y="2575740"/>
            <a:ext cx="371495" cy="371495"/>
          </a:xfrm>
          <a:prstGeom prst="ellipse">
            <a:avLst/>
          </a:prstGeom>
          <a:noFill/>
          <a:ln w="44866">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Oval 55"/>
          <p:cNvSpPr/>
          <p:nvPr/>
        </p:nvSpPr>
        <p:spPr>
          <a:xfrm>
            <a:off x="10592603" y="2575740"/>
            <a:ext cx="145367" cy="371495"/>
          </a:xfrm>
          <a:prstGeom prst="ellipse">
            <a:avLst/>
          </a:prstGeom>
          <a:noFill/>
          <a:ln w="33649">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10479539" y="2749374"/>
            <a:ext cx="371495" cy="2422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Oval 57"/>
          <p:cNvSpPr/>
          <p:nvPr/>
        </p:nvSpPr>
        <p:spPr>
          <a:xfrm>
            <a:off x="1113099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5</a:t>
            </a:r>
          </a:p>
        </p:txBody>
      </p:sp>
      <p:sp>
        <p:nvSpPr>
          <p:cNvPr id="59" name="TextBox 58"/>
          <p:cNvSpPr txBox="1"/>
          <p:nvPr/>
        </p:nvSpPr>
        <p:spPr>
          <a:xfrm>
            <a:off x="9815535" y="323697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1B3139"/>
                </a:solidFill>
                <a:latin typeface="Segoe UI"/>
              </a:rPr>
              <a:t>Serve &amp;
Monitor</a:t>
            </a:r>
          </a:p>
        </p:txBody>
      </p:sp>
      <p:sp>
        <p:nvSpPr>
          <p:cNvPr id="60" name="TextBox 59"/>
          <p:cNvSpPr txBox="1"/>
          <p:nvPr/>
        </p:nvSpPr>
        <p:spPr>
          <a:xfrm>
            <a:off x="9852111" y="3749039"/>
            <a:ext cx="1626351" cy="603503"/>
          </a:xfrm>
          <a:prstGeom prst="rect">
            <a:avLst/>
          </a:prstGeom>
          <a:noFill/>
        </p:spPr>
        <p:txBody>
          <a:bodyPr wrap="square" anchor="t" lIns="0" rIns="0" tIns="0" bIns="0">
            <a:spAutoFit/>
          </a:bodyPr>
          <a:lstStyle/>
          <a:p>
            <a:pPr algn="ctr">
              <a:lnSpc>
                <a:spcPct val="105000"/>
              </a:lnSpc>
              <a:spcBef>
                <a:spcPts val="0"/>
              </a:spcBef>
              <a:spcAft>
                <a:spcPts val="200"/>
              </a:spcAft>
            </a:pPr>
            <a:r>
              <a:rPr sz="980" b="0" i="0">
                <a:solidFill>
                  <a:srgbClr val="6B777C"/>
                </a:solidFill>
                <a:latin typeface="Segoe UI"/>
              </a:rPr>
              <a:t>Real-time Model Serving with quality &amp; drift monitoring.</a:t>
            </a:r>
          </a:p>
        </p:txBody>
      </p:sp>
      <p:sp>
        <p:nvSpPr>
          <p:cNvPr id="61" name="Rounded Rectangle 60"/>
          <p:cNvSpPr/>
          <p:nvPr/>
        </p:nvSpPr>
        <p:spPr>
          <a:xfrm>
            <a:off x="566928" y="4754880"/>
            <a:ext cx="11057839" cy="96012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914400" y="4754880"/>
            <a:ext cx="10362895" cy="96012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Mosaic AI:  </a:t>
            </a:r>
            <a:r>
              <a:rPr sz="1250" b="0" i="0">
                <a:solidFill>
                  <a:srgbClr val="465257"/>
                </a:solidFill>
                <a:latin typeface="Segoe UI"/>
              </a:rPr>
              <a:t>the full ML &amp; GenAI lifecycle on governed data — MLflow, AutoML, Feature Store, Model Serving, Vector Search and LLM fine-tuning, all under Unity Catalog.</a:t>
            </a:r>
          </a:p>
        </p:txBody>
      </p:sp>
      <p:sp>
        <p:nvSpPr>
          <p:cNvPr id="63" name="TextBox 62"/>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64" name="TextBox 63"/>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LAKEHOUSE ARCHITECTURE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End-to-End Data Pipeline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855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Spark</a:t>
            </a:r>
          </a:p>
        </p:txBody>
      </p:sp>
      <p:sp>
        <p:nvSpPr>
          <p:cNvPr id="9" name="Oval 8"/>
          <p:cNvSpPr/>
          <p:nvPr/>
        </p:nvSpPr>
        <p:spPr>
          <a:xfrm>
            <a:off x="94644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Workspace</a:t>
            </a:r>
          </a:p>
        </p:txBody>
      </p:sp>
      <p:sp>
        <p:nvSpPr>
          <p:cNvPr id="11" name="Oval 10"/>
          <p:cNvSpPr/>
          <p:nvPr/>
        </p:nvSpPr>
        <p:spPr>
          <a:xfrm>
            <a:off x="10527487"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Lakehouse</a:t>
            </a:r>
          </a:p>
        </p:txBody>
      </p:sp>
      <p:sp>
        <p:nvSpPr>
          <p:cNvPr id="13" name="Rounded Rectangle 12"/>
          <p:cNvSpPr/>
          <p:nvPr/>
        </p:nvSpPr>
        <p:spPr>
          <a:xfrm>
            <a:off x="566928" y="1783080"/>
            <a:ext cx="2377440" cy="365760"/>
          </a:xfrm>
          <a:prstGeom prst="roundRect">
            <a:avLst>
              <a:gd name="adj" fmla="val 3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0" b="1">
                <a:solidFill>
                  <a:srgbClr val="FFFFFF"/>
                </a:solidFill>
                <a:latin typeface="Segoe UI Semibold"/>
              </a:rPr>
              <a:t>INGEST</a:t>
            </a:r>
          </a:p>
        </p:txBody>
      </p:sp>
      <p:sp>
        <p:nvSpPr>
          <p:cNvPr id="14" name="Rounded Rectangle 13"/>
          <p:cNvSpPr/>
          <p:nvPr/>
        </p:nvSpPr>
        <p:spPr>
          <a:xfrm>
            <a:off x="3108960" y="1783080"/>
            <a:ext cx="4572000" cy="365760"/>
          </a:xfrm>
          <a:prstGeom prst="roundRect">
            <a:avLst>
              <a:gd name="adj" fmla="val 3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0" b="1">
                <a:solidFill>
                  <a:srgbClr val="FFFFFF"/>
                </a:solidFill>
                <a:latin typeface="Segoe UI Semibold"/>
              </a:rPr>
              <a:t>TRANSFORM  ·  MEDALLION (Delta)</a:t>
            </a:r>
          </a:p>
        </p:txBody>
      </p:sp>
      <p:sp>
        <p:nvSpPr>
          <p:cNvPr id="15" name="Rounded Rectangle 14"/>
          <p:cNvSpPr/>
          <p:nvPr/>
        </p:nvSpPr>
        <p:spPr>
          <a:xfrm>
            <a:off x="8339327" y="1783080"/>
            <a:ext cx="2286000" cy="365760"/>
          </a:xfrm>
          <a:prstGeom prst="roundRect">
            <a:avLst>
              <a:gd name="adj" fmla="val 3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0" b="1">
                <a:solidFill>
                  <a:srgbClr val="FFFFFF"/>
                </a:solidFill>
                <a:latin typeface="Segoe UI Semibold"/>
              </a:rPr>
              <a:t>CONSUME</a:t>
            </a:r>
          </a:p>
        </p:txBody>
      </p:sp>
      <p:sp>
        <p:nvSpPr>
          <p:cNvPr id="16" name="Rounded Rectangle 15"/>
          <p:cNvSpPr/>
          <p:nvPr/>
        </p:nvSpPr>
        <p:spPr>
          <a:xfrm>
            <a:off x="566928" y="2377440"/>
            <a:ext cx="1690573"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566928" y="2377440"/>
            <a:ext cx="1690573" cy="91440"/>
          </a:xfrm>
          <a:prstGeom prst="rect">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1037310" y="2660904"/>
            <a:ext cx="749808" cy="749808"/>
          </a:xfrm>
          <a:prstGeom prst="ellipse">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1253555" y="2877148"/>
            <a:ext cx="317318" cy="317318"/>
          </a:xfrm>
          <a:prstGeom prst="ellipse">
            <a:avLst/>
          </a:prstGeom>
          <a:noFill/>
          <a:ln w="38323">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1350130" y="2877148"/>
            <a:ext cx="124168" cy="317318"/>
          </a:xfrm>
          <a:prstGeom prst="ellipse">
            <a:avLst/>
          </a:prstGeom>
          <a:noFill/>
          <a:ln w="28742">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253555" y="3025460"/>
            <a:ext cx="317318" cy="2069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03504" y="3511296"/>
            <a:ext cx="1617421" cy="365760"/>
          </a:xfrm>
          <a:prstGeom prst="rect">
            <a:avLst/>
          </a:prstGeom>
          <a:noFill/>
        </p:spPr>
        <p:txBody>
          <a:bodyPr wrap="square" anchor="t" lIns="0" rIns="0" tIns="0" bIns="0">
            <a:spAutoFit/>
          </a:bodyPr>
          <a:lstStyle/>
          <a:p>
            <a:pPr algn="ctr">
              <a:lnSpc>
                <a:spcPct val="100000"/>
              </a:lnSpc>
              <a:spcBef>
                <a:spcPts val="0"/>
              </a:spcBef>
              <a:spcAft>
                <a:spcPts val="200"/>
              </a:spcAft>
            </a:pPr>
            <a:r>
              <a:rPr sz="1200" b="1" i="0">
                <a:solidFill>
                  <a:srgbClr val="1B3139"/>
                </a:solidFill>
                <a:latin typeface="Segoe UI"/>
              </a:rPr>
              <a:t>Sources</a:t>
            </a:r>
          </a:p>
        </p:txBody>
      </p:sp>
      <p:sp>
        <p:nvSpPr>
          <p:cNvPr id="23" name="TextBox 22"/>
          <p:cNvSpPr txBox="1"/>
          <p:nvPr/>
        </p:nvSpPr>
        <p:spPr>
          <a:xfrm>
            <a:off x="603504" y="3877056"/>
            <a:ext cx="1617421" cy="731520"/>
          </a:xfrm>
          <a:prstGeom prst="rect">
            <a:avLst/>
          </a:prstGeom>
          <a:noFill/>
        </p:spPr>
        <p:txBody>
          <a:bodyPr wrap="square" anchor="t" lIns="0" rIns="0" tIns="0" bIns="0">
            <a:spAutoFit/>
          </a:bodyPr>
          <a:lstStyle/>
          <a:p>
            <a:pPr algn="ctr">
              <a:lnSpc>
                <a:spcPct val="100000"/>
              </a:lnSpc>
              <a:spcBef>
                <a:spcPts val="0"/>
              </a:spcBef>
              <a:spcAft>
                <a:spcPts val="200"/>
              </a:spcAft>
            </a:pPr>
            <a:r>
              <a:rPr sz="860" b="0" i="0">
                <a:solidFill>
                  <a:srgbClr val="6B777C"/>
                </a:solidFill>
                <a:latin typeface="Segoe UI"/>
              </a:rPr>
              <a:t>Apps · DBs · IoT
files · events</a:t>
            </a:r>
          </a:p>
        </p:txBody>
      </p:sp>
      <p:sp>
        <p:nvSpPr>
          <p:cNvPr id="24" name="Oval 23"/>
          <p:cNvSpPr/>
          <p:nvPr/>
        </p:nvSpPr>
        <p:spPr>
          <a:xfrm>
            <a:off x="649224" y="2459736"/>
            <a:ext cx="310896" cy="310896"/>
          </a:xfrm>
          <a:prstGeom prst="ellipse">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1</a:t>
            </a:r>
          </a:p>
        </p:txBody>
      </p:sp>
      <p:sp>
        <p:nvSpPr>
          <p:cNvPr id="25" name="Right Arrow 24"/>
          <p:cNvSpPr/>
          <p:nvPr/>
        </p:nvSpPr>
        <p:spPr>
          <a:xfrm>
            <a:off x="2257501" y="3447288"/>
            <a:ext cx="182880"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2440381" y="2377440"/>
            <a:ext cx="1690573"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440381" y="2377440"/>
            <a:ext cx="1690573" cy="91440"/>
          </a:xfrm>
          <a:prstGeom prst="rect">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2910763" y="2660904"/>
            <a:ext cx="749808" cy="749808"/>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Down Arrow 28"/>
          <p:cNvSpPr/>
          <p:nvPr/>
        </p:nvSpPr>
        <p:spPr>
          <a:xfrm>
            <a:off x="3178745" y="2863352"/>
            <a:ext cx="213845" cy="344911"/>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476957" y="3511296"/>
            <a:ext cx="1617421" cy="365760"/>
          </a:xfrm>
          <a:prstGeom prst="rect">
            <a:avLst/>
          </a:prstGeom>
          <a:noFill/>
        </p:spPr>
        <p:txBody>
          <a:bodyPr wrap="square" anchor="t" lIns="0" rIns="0" tIns="0" bIns="0">
            <a:spAutoFit/>
          </a:bodyPr>
          <a:lstStyle/>
          <a:p>
            <a:pPr algn="ctr">
              <a:lnSpc>
                <a:spcPct val="100000"/>
              </a:lnSpc>
              <a:spcBef>
                <a:spcPts val="0"/>
              </a:spcBef>
              <a:spcAft>
                <a:spcPts val="200"/>
              </a:spcAft>
            </a:pPr>
            <a:r>
              <a:rPr sz="1200" b="1" i="0">
                <a:solidFill>
                  <a:srgbClr val="1B3139"/>
                </a:solidFill>
                <a:latin typeface="Segoe UI"/>
              </a:rPr>
              <a:t>Ingest</a:t>
            </a:r>
          </a:p>
        </p:txBody>
      </p:sp>
      <p:sp>
        <p:nvSpPr>
          <p:cNvPr id="31" name="TextBox 30"/>
          <p:cNvSpPr txBox="1"/>
          <p:nvPr/>
        </p:nvSpPr>
        <p:spPr>
          <a:xfrm>
            <a:off x="2476957" y="3877056"/>
            <a:ext cx="1617421" cy="731520"/>
          </a:xfrm>
          <a:prstGeom prst="rect">
            <a:avLst/>
          </a:prstGeom>
          <a:noFill/>
        </p:spPr>
        <p:txBody>
          <a:bodyPr wrap="square" anchor="t" lIns="0" rIns="0" tIns="0" bIns="0">
            <a:spAutoFit/>
          </a:bodyPr>
          <a:lstStyle/>
          <a:p>
            <a:pPr algn="ctr">
              <a:lnSpc>
                <a:spcPct val="100000"/>
              </a:lnSpc>
              <a:spcBef>
                <a:spcPts val="0"/>
              </a:spcBef>
              <a:spcAft>
                <a:spcPts val="200"/>
              </a:spcAft>
            </a:pPr>
            <a:r>
              <a:rPr sz="860" b="0" i="0">
                <a:solidFill>
                  <a:srgbClr val="6B777C"/>
                </a:solidFill>
                <a:latin typeface="Segoe UI"/>
              </a:rPr>
              <a:t>Auto Loader
Lakeflow Connect</a:t>
            </a:r>
          </a:p>
        </p:txBody>
      </p:sp>
      <p:sp>
        <p:nvSpPr>
          <p:cNvPr id="32" name="Oval 31"/>
          <p:cNvSpPr/>
          <p:nvPr/>
        </p:nvSpPr>
        <p:spPr>
          <a:xfrm>
            <a:off x="2522677" y="2459736"/>
            <a:ext cx="310896" cy="310896"/>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2</a:t>
            </a:r>
          </a:p>
        </p:txBody>
      </p:sp>
      <p:sp>
        <p:nvSpPr>
          <p:cNvPr id="33" name="Right Arrow 32"/>
          <p:cNvSpPr/>
          <p:nvPr/>
        </p:nvSpPr>
        <p:spPr>
          <a:xfrm>
            <a:off x="4130954" y="3447288"/>
            <a:ext cx="182880"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4313834" y="2377440"/>
            <a:ext cx="1690573"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4313834" y="2377440"/>
            <a:ext cx="1690573" cy="91440"/>
          </a:xfrm>
          <a:prstGeom prst="rect">
            <a:avLst/>
          </a:prstGeom>
          <a:solidFill>
            <a:srgbClr val="B06A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4784217" y="2660904"/>
            <a:ext cx="749808" cy="749808"/>
          </a:xfrm>
          <a:prstGeom prst="ellipse">
            <a:avLst/>
          </a:prstGeom>
          <a:solidFill>
            <a:srgbClr val="B06A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Can 36"/>
          <p:cNvSpPr/>
          <p:nvPr/>
        </p:nvSpPr>
        <p:spPr>
          <a:xfrm>
            <a:off x="5017707" y="2863352"/>
            <a:ext cx="282827" cy="344911"/>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350410" y="3511296"/>
            <a:ext cx="1617421" cy="365760"/>
          </a:xfrm>
          <a:prstGeom prst="rect">
            <a:avLst/>
          </a:prstGeom>
          <a:noFill/>
        </p:spPr>
        <p:txBody>
          <a:bodyPr wrap="square" anchor="t" lIns="0" rIns="0" tIns="0" bIns="0">
            <a:spAutoFit/>
          </a:bodyPr>
          <a:lstStyle/>
          <a:p>
            <a:pPr algn="ctr">
              <a:lnSpc>
                <a:spcPct val="100000"/>
              </a:lnSpc>
              <a:spcBef>
                <a:spcPts val="0"/>
              </a:spcBef>
              <a:spcAft>
                <a:spcPts val="200"/>
              </a:spcAft>
            </a:pPr>
            <a:r>
              <a:rPr sz="1200" b="1" i="0">
                <a:solidFill>
                  <a:srgbClr val="1B3139"/>
                </a:solidFill>
                <a:latin typeface="Segoe UI"/>
              </a:rPr>
              <a:t>Bronze</a:t>
            </a:r>
          </a:p>
        </p:txBody>
      </p:sp>
      <p:sp>
        <p:nvSpPr>
          <p:cNvPr id="39" name="TextBox 38"/>
          <p:cNvSpPr txBox="1"/>
          <p:nvPr/>
        </p:nvSpPr>
        <p:spPr>
          <a:xfrm>
            <a:off x="4350410" y="3877056"/>
            <a:ext cx="1617421" cy="731520"/>
          </a:xfrm>
          <a:prstGeom prst="rect">
            <a:avLst/>
          </a:prstGeom>
          <a:noFill/>
        </p:spPr>
        <p:txBody>
          <a:bodyPr wrap="square" anchor="t" lIns="0" rIns="0" tIns="0" bIns="0">
            <a:spAutoFit/>
          </a:bodyPr>
          <a:lstStyle/>
          <a:p>
            <a:pPr algn="ctr">
              <a:lnSpc>
                <a:spcPct val="100000"/>
              </a:lnSpc>
              <a:spcBef>
                <a:spcPts val="0"/>
              </a:spcBef>
              <a:spcAft>
                <a:spcPts val="200"/>
              </a:spcAft>
            </a:pPr>
            <a:r>
              <a:rPr sz="860" b="0" i="0">
                <a:solidFill>
                  <a:srgbClr val="6B777C"/>
                </a:solidFill>
                <a:latin typeface="Segoe UI"/>
              </a:rPr>
              <a:t>Raw Delta
append-only</a:t>
            </a:r>
          </a:p>
        </p:txBody>
      </p:sp>
      <p:sp>
        <p:nvSpPr>
          <p:cNvPr id="40" name="Oval 39"/>
          <p:cNvSpPr/>
          <p:nvPr/>
        </p:nvSpPr>
        <p:spPr>
          <a:xfrm>
            <a:off x="4396130" y="2459736"/>
            <a:ext cx="310896" cy="310896"/>
          </a:xfrm>
          <a:prstGeom prst="ellipse">
            <a:avLst/>
          </a:prstGeom>
          <a:solidFill>
            <a:srgbClr val="B06A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3</a:t>
            </a:r>
          </a:p>
        </p:txBody>
      </p:sp>
      <p:sp>
        <p:nvSpPr>
          <p:cNvPr id="41" name="Right Arrow 40"/>
          <p:cNvSpPr/>
          <p:nvPr/>
        </p:nvSpPr>
        <p:spPr>
          <a:xfrm>
            <a:off x="6004407" y="3447288"/>
            <a:ext cx="182880"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a:off x="6187287" y="2377440"/>
            <a:ext cx="1690573"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6187287" y="2377440"/>
            <a:ext cx="1690573" cy="91440"/>
          </a:xfrm>
          <a:prstGeom prst="rect">
            <a:avLst/>
          </a:prstGeom>
          <a:solidFill>
            <a:srgbClr val="8D9A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6657670" y="2660904"/>
            <a:ext cx="749808" cy="749808"/>
          </a:xfrm>
          <a:prstGeom prst="ellipse">
            <a:avLst/>
          </a:prstGeom>
          <a:solidFill>
            <a:srgbClr val="8D9A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Gear 6 44"/>
          <p:cNvSpPr/>
          <p:nvPr/>
        </p:nvSpPr>
        <p:spPr>
          <a:xfrm>
            <a:off x="6860118" y="2863352"/>
            <a:ext cx="344911" cy="344911"/>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223863" y="3511296"/>
            <a:ext cx="1617421" cy="365760"/>
          </a:xfrm>
          <a:prstGeom prst="rect">
            <a:avLst/>
          </a:prstGeom>
          <a:noFill/>
        </p:spPr>
        <p:txBody>
          <a:bodyPr wrap="square" anchor="t" lIns="0" rIns="0" tIns="0" bIns="0">
            <a:spAutoFit/>
          </a:bodyPr>
          <a:lstStyle/>
          <a:p>
            <a:pPr algn="ctr">
              <a:lnSpc>
                <a:spcPct val="100000"/>
              </a:lnSpc>
              <a:spcBef>
                <a:spcPts val="0"/>
              </a:spcBef>
              <a:spcAft>
                <a:spcPts val="200"/>
              </a:spcAft>
            </a:pPr>
            <a:r>
              <a:rPr sz="1200" b="1" i="0">
                <a:solidFill>
                  <a:srgbClr val="1B3139"/>
                </a:solidFill>
                <a:latin typeface="Segoe UI"/>
              </a:rPr>
              <a:t>Silver</a:t>
            </a:r>
          </a:p>
        </p:txBody>
      </p:sp>
      <p:sp>
        <p:nvSpPr>
          <p:cNvPr id="47" name="TextBox 46"/>
          <p:cNvSpPr txBox="1"/>
          <p:nvPr/>
        </p:nvSpPr>
        <p:spPr>
          <a:xfrm>
            <a:off x="6223863" y="3877056"/>
            <a:ext cx="1617421" cy="731520"/>
          </a:xfrm>
          <a:prstGeom prst="rect">
            <a:avLst/>
          </a:prstGeom>
          <a:noFill/>
        </p:spPr>
        <p:txBody>
          <a:bodyPr wrap="square" anchor="t" lIns="0" rIns="0" tIns="0" bIns="0">
            <a:spAutoFit/>
          </a:bodyPr>
          <a:lstStyle/>
          <a:p>
            <a:pPr algn="ctr">
              <a:lnSpc>
                <a:spcPct val="100000"/>
              </a:lnSpc>
              <a:spcBef>
                <a:spcPts val="0"/>
              </a:spcBef>
              <a:spcAft>
                <a:spcPts val="200"/>
              </a:spcAft>
            </a:pPr>
            <a:r>
              <a:rPr sz="860" b="0" i="0">
                <a:solidFill>
                  <a:srgbClr val="6B777C"/>
                </a:solidFill>
                <a:latin typeface="Segoe UI"/>
              </a:rPr>
              <a:t>Cleansed &amp;
conformed</a:t>
            </a:r>
          </a:p>
        </p:txBody>
      </p:sp>
      <p:sp>
        <p:nvSpPr>
          <p:cNvPr id="48" name="Oval 47"/>
          <p:cNvSpPr/>
          <p:nvPr/>
        </p:nvSpPr>
        <p:spPr>
          <a:xfrm>
            <a:off x="6269583" y="2459736"/>
            <a:ext cx="310896" cy="310896"/>
          </a:xfrm>
          <a:prstGeom prst="ellipse">
            <a:avLst/>
          </a:prstGeom>
          <a:solidFill>
            <a:srgbClr val="8D9A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4</a:t>
            </a:r>
          </a:p>
        </p:txBody>
      </p:sp>
      <p:sp>
        <p:nvSpPr>
          <p:cNvPr id="49" name="Right Arrow 48"/>
          <p:cNvSpPr/>
          <p:nvPr/>
        </p:nvSpPr>
        <p:spPr>
          <a:xfrm>
            <a:off x="7877860" y="3447288"/>
            <a:ext cx="182880"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ounded Rectangle 49"/>
          <p:cNvSpPr/>
          <p:nvPr/>
        </p:nvSpPr>
        <p:spPr>
          <a:xfrm>
            <a:off x="8060740" y="2377440"/>
            <a:ext cx="1690573"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8060740" y="2377440"/>
            <a:ext cx="1690573" cy="91440"/>
          </a:xfrm>
          <a:prstGeom prst="rect">
            <a:avLst/>
          </a:prstGeom>
          <a:solidFill>
            <a:srgbClr val="D8A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Oval 51"/>
          <p:cNvSpPr/>
          <p:nvPr/>
        </p:nvSpPr>
        <p:spPr>
          <a:xfrm>
            <a:off x="8531123" y="2660904"/>
            <a:ext cx="749808" cy="749808"/>
          </a:xfrm>
          <a:prstGeom prst="ellipse">
            <a:avLst/>
          </a:prstGeom>
          <a:solidFill>
            <a:srgbClr val="D8A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Diamond 52"/>
          <p:cNvSpPr/>
          <p:nvPr/>
        </p:nvSpPr>
        <p:spPr>
          <a:xfrm>
            <a:off x="8747368" y="2863352"/>
            <a:ext cx="317318" cy="344911"/>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8097316" y="3511296"/>
            <a:ext cx="1617421" cy="365760"/>
          </a:xfrm>
          <a:prstGeom prst="rect">
            <a:avLst/>
          </a:prstGeom>
          <a:noFill/>
        </p:spPr>
        <p:txBody>
          <a:bodyPr wrap="square" anchor="t" lIns="0" rIns="0" tIns="0" bIns="0">
            <a:spAutoFit/>
          </a:bodyPr>
          <a:lstStyle/>
          <a:p>
            <a:pPr algn="ctr">
              <a:lnSpc>
                <a:spcPct val="100000"/>
              </a:lnSpc>
              <a:spcBef>
                <a:spcPts val="0"/>
              </a:spcBef>
              <a:spcAft>
                <a:spcPts val="200"/>
              </a:spcAft>
            </a:pPr>
            <a:r>
              <a:rPr sz="1200" b="1" i="0">
                <a:solidFill>
                  <a:srgbClr val="1B3139"/>
                </a:solidFill>
                <a:latin typeface="Segoe UI"/>
              </a:rPr>
              <a:t>Gold</a:t>
            </a:r>
          </a:p>
        </p:txBody>
      </p:sp>
      <p:sp>
        <p:nvSpPr>
          <p:cNvPr id="55" name="TextBox 54"/>
          <p:cNvSpPr txBox="1"/>
          <p:nvPr/>
        </p:nvSpPr>
        <p:spPr>
          <a:xfrm>
            <a:off x="8097316" y="3877056"/>
            <a:ext cx="1617421" cy="731520"/>
          </a:xfrm>
          <a:prstGeom prst="rect">
            <a:avLst/>
          </a:prstGeom>
          <a:noFill/>
        </p:spPr>
        <p:txBody>
          <a:bodyPr wrap="square" anchor="t" lIns="0" rIns="0" tIns="0" bIns="0">
            <a:spAutoFit/>
          </a:bodyPr>
          <a:lstStyle/>
          <a:p>
            <a:pPr algn="ctr">
              <a:lnSpc>
                <a:spcPct val="100000"/>
              </a:lnSpc>
              <a:spcBef>
                <a:spcPts val="0"/>
              </a:spcBef>
              <a:spcAft>
                <a:spcPts val="200"/>
              </a:spcAft>
            </a:pPr>
            <a:r>
              <a:rPr sz="860" b="0" i="0">
                <a:solidFill>
                  <a:srgbClr val="6B777C"/>
                </a:solidFill>
                <a:latin typeface="Segoe UI"/>
              </a:rPr>
              <a:t>Aggregates &amp;
ML features</a:t>
            </a:r>
          </a:p>
        </p:txBody>
      </p:sp>
      <p:sp>
        <p:nvSpPr>
          <p:cNvPr id="56" name="Oval 55"/>
          <p:cNvSpPr/>
          <p:nvPr/>
        </p:nvSpPr>
        <p:spPr>
          <a:xfrm>
            <a:off x="8143036" y="2459736"/>
            <a:ext cx="310896" cy="310896"/>
          </a:xfrm>
          <a:prstGeom prst="ellipse">
            <a:avLst/>
          </a:prstGeom>
          <a:solidFill>
            <a:srgbClr val="D8A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5</a:t>
            </a:r>
          </a:p>
        </p:txBody>
      </p:sp>
      <p:sp>
        <p:nvSpPr>
          <p:cNvPr id="57" name="Right Arrow 56"/>
          <p:cNvSpPr/>
          <p:nvPr/>
        </p:nvSpPr>
        <p:spPr>
          <a:xfrm>
            <a:off x="9751314" y="3447288"/>
            <a:ext cx="182880"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ounded Rectangle 57"/>
          <p:cNvSpPr/>
          <p:nvPr/>
        </p:nvSpPr>
        <p:spPr>
          <a:xfrm>
            <a:off x="9934194" y="2377440"/>
            <a:ext cx="1690573"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9934194" y="2377440"/>
            <a:ext cx="1690573" cy="91440"/>
          </a:xfrm>
          <a:prstGeom prst="rect">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Oval 59"/>
          <p:cNvSpPr/>
          <p:nvPr/>
        </p:nvSpPr>
        <p:spPr>
          <a:xfrm>
            <a:off x="10404576" y="2660904"/>
            <a:ext cx="749808" cy="749808"/>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ounded Rectangle 60"/>
          <p:cNvSpPr/>
          <p:nvPr/>
        </p:nvSpPr>
        <p:spPr>
          <a:xfrm>
            <a:off x="10634617" y="3035808"/>
            <a:ext cx="68982" cy="172455"/>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ounded Rectangle 61"/>
          <p:cNvSpPr/>
          <p:nvPr/>
        </p:nvSpPr>
        <p:spPr>
          <a:xfrm>
            <a:off x="10744989" y="2939232"/>
            <a:ext cx="68982" cy="269031"/>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ounded Rectangle 62"/>
          <p:cNvSpPr/>
          <p:nvPr/>
        </p:nvSpPr>
        <p:spPr>
          <a:xfrm>
            <a:off x="10855361" y="2863352"/>
            <a:ext cx="68982" cy="344911"/>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9970770" y="3511296"/>
            <a:ext cx="1617421" cy="365760"/>
          </a:xfrm>
          <a:prstGeom prst="rect">
            <a:avLst/>
          </a:prstGeom>
          <a:noFill/>
        </p:spPr>
        <p:txBody>
          <a:bodyPr wrap="square" anchor="t" lIns="0" rIns="0" tIns="0" bIns="0">
            <a:spAutoFit/>
          </a:bodyPr>
          <a:lstStyle/>
          <a:p>
            <a:pPr algn="ctr">
              <a:lnSpc>
                <a:spcPct val="100000"/>
              </a:lnSpc>
              <a:spcBef>
                <a:spcPts val="0"/>
              </a:spcBef>
              <a:spcAft>
                <a:spcPts val="200"/>
              </a:spcAft>
            </a:pPr>
            <a:r>
              <a:rPr sz="1200" b="1" i="0">
                <a:solidFill>
                  <a:srgbClr val="1B3139"/>
                </a:solidFill>
                <a:latin typeface="Segoe UI"/>
              </a:rPr>
              <a:t>Consume</a:t>
            </a:r>
          </a:p>
        </p:txBody>
      </p:sp>
      <p:sp>
        <p:nvSpPr>
          <p:cNvPr id="65" name="TextBox 64"/>
          <p:cNvSpPr txBox="1"/>
          <p:nvPr/>
        </p:nvSpPr>
        <p:spPr>
          <a:xfrm>
            <a:off x="9970770" y="3877056"/>
            <a:ext cx="1617421" cy="731520"/>
          </a:xfrm>
          <a:prstGeom prst="rect">
            <a:avLst/>
          </a:prstGeom>
          <a:noFill/>
        </p:spPr>
        <p:txBody>
          <a:bodyPr wrap="square" anchor="t" lIns="0" rIns="0" tIns="0" bIns="0">
            <a:spAutoFit/>
          </a:bodyPr>
          <a:lstStyle/>
          <a:p>
            <a:pPr algn="ctr">
              <a:lnSpc>
                <a:spcPct val="100000"/>
              </a:lnSpc>
              <a:spcBef>
                <a:spcPts val="0"/>
              </a:spcBef>
              <a:spcAft>
                <a:spcPts val="200"/>
              </a:spcAft>
            </a:pPr>
            <a:r>
              <a:rPr sz="860" b="0" i="0">
                <a:solidFill>
                  <a:srgbClr val="6B777C"/>
                </a:solidFill>
                <a:latin typeface="Segoe UI"/>
              </a:rPr>
              <a:t>BI · Genie
ML · GenAI · apps</a:t>
            </a:r>
          </a:p>
        </p:txBody>
      </p:sp>
      <p:sp>
        <p:nvSpPr>
          <p:cNvPr id="66" name="Oval 65"/>
          <p:cNvSpPr/>
          <p:nvPr/>
        </p:nvSpPr>
        <p:spPr>
          <a:xfrm>
            <a:off x="10016490" y="2459736"/>
            <a:ext cx="310896" cy="310896"/>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6</a:t>
            </a:r>
          </a:p>
        </p:txBody>
      </p:sp>
      <p:sp>
        <p:nvSpPr>
          <p:cNvPr id="67" name="Rounded Rectangle 66"/>
          <p:cNvSpPr/>
          <p:nvPr/>
        </p:nvSpPr>
        <p:spPr>
          <a:xfrm>
            <a:off x="566928" y="4892040"/>
            <a:ext cx="11057839" cy="658368"/>
          </a:xfrm>
          <a:prstGeom prst="roundRect">
            <a:avLst>
              <a:gd name="adj" fmla="val 20000"/>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Right Arrow 67"/>
          <p:cNvSpPr/>
          <p:nvPr/>
        </p:nvSpPr>
        <p:spPr>
          <a:xfrm>
            <a:off x="859536" y="5133441"/>
            <a:ext cx="292608" cy="175564"/>
          </a:xfrm>
          <a:prstGeom prst="rightArrow">
            <a:avLst/>
          </a:prstGeom>
          <a:solidFill>
            <a:srgbClr val="4A9F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1389888" y="4892040"/>
            <a:ext cx="10051999" cy="658368"/>
          </a:xfrm>
          <a:prstGeom prst="rect">
            <a:avLst/>
          </a:prstGeom>
          <a:noFill/>
        </p:spPr>
        <p:txBody>
          <a:bodyPr wrap="square" anchor="ctr" lIns="0" rIns="0" tIns="0" bIns="0">
            <a:spAutoFit/>
          </a:bodyPr>
          <a:lstStyle/>
          <a:p>
            <a:pPr algn="l">
              <a:lnSpc>
                <a:spcPct val="100000"/>
              </a:lnSpc>
              <a:spcBef>
                <a:spcPts val="0"/>
              </a:spcBef>
              <a:spcAft>
                <a:spcPts val="200"/>
              </a:spcAft>
            </a:pPr>
            <a:r>
              <a:rPr sz="1150" b="1" i="0">
                <a:solidFill>
                  <a:srgbClr val="4A9FE0"/>
                </a:solidFill>
                <a:latin typeface="Segoe UI"/>
              </a:rPr>
              <a:t>Workflows</a:t>
            </a:r>
            <a:r>
              <a:rPr sz="1100" b="0" i="0">
                <a:solidFill>
                  <a:srgbClr val="FFFFFF"/>
                </a:solidFill>
                <a:latin typeface="Segoe UI"/>
              </a:rPr>
              <a:t>  orchestrate every step        </a:t>
            </a:r>
            <a:r>
              <a:rPr sz="1150" b="1" i="0">
                <a:solidFill>
                  <a:srgbClr val="FF6B57"/>
                </a:solidFill>
                <a:latin typeface="Segoe UI"/>
              </a:rPr>
              <a:t>Unity Catalog</a:t>
            </a:r>
            <a:r>
              <a:rPr sz="1100" b="0" i="0">
                <a:solidFill>
                  <a:srgbClr val="FFFFFF"/>
                </a:solidFill>
                <a:latin typeface="Segoe UI"/>
              </a:rPr>
              <a:t>  governs data &amp; AI end to end</a:t>
            </a:r>
          </a:p>
        </p:txBody>
      </p:sp>
      <p:sp>
        <p:nvSpPr>
          <p:cNvPr id="70" name="TextBox 69"/>
          <p:cNvSpPr txBox="1"/>
          <p:nvPr/>
        </p:nvSpPr>
        <p:spPr>
          <a:xfrm>
            <a:off x="566928" y="5669280"/>
            <a:ext cx="11057839" cy="365760"/>
          </a:xfrm>
          <a:prstGeom prst="rect">
            <a:avLst/>
          </a:prstGeom>
          <a:noFill/>
        </p:spPr>
        <p:txBody>
          <a:bodyPr wrap="square" anchor="t" lIns="0" rIns="0" tIns="0" bIns="0">
            <a:spAutoFit/>
          </a:bodyPr>
          <a:lstStyle/>
          <a:p>
            <a:pPr algn="ctr">
              <a:lnSpc>
                <a:spcPct val="100000"/>
              </a:lnSpc>
              <a:spcBef>
                <a:spcPts val="0"/>
              </a:spcBef>
              <a:spcAft>
                <a:spcPts val="200"/>
              </a:spcAft>
            </a:pPr>
            <a:r>
              <a:rPr sz="1150" b="0" i="1">
                <a:solidFill>
                  <a:srgbClr val="6B777C"/>
                </a:solidFill>
                <a:latin typeface="Segoe UI"/>
              </a:rPr>
              <a:t>Spark + Photon execute every stage · Delta stores it · Workflows run it · Unity Catalog governs it.</a:t>
            </a:r>
          </a:p>
        </p:txBody>
      </p:sp>
      <p:sp>
        <p:nvSpPr>
          <p:cNvPr id="71" name="TextBox 70"/>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72" name="TextBox 71"/>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LAKEHOUSE ARCHITECTURE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Benefits of the Lakehouse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855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Spark</a:t>
            </a:r>
          </a:p>
        </p:txBody>
      </p:sp>
      <p:sp>
        <p:nvSpPr>
          <p:cNvPr id="9" name="Oval 8"/>
          <p:cNvSpPr/>
          <p:nvPr/>
        </p:nvSpPr>
        <p:spPr>
          <a:xfrm>
            <a:off x="94644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Workspace</a:t>
            </a:r>
          </a:p>
        </p:txBody>
      </p:sp>
      <p:sp>
        <p:nvSpPr>
          <p:cNvPr id="11" name="Oval 10"/>
          <p:cNvSpPr/>
          <p:nvPr/>
        </p:nvSpPr>
        <p:spPr>
          <a:xfrm>
            <a:off x="10527487"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Lakehouse</a:t>
            </a:r>
          </a:p>
        </p:txBody>
      </p:sp>
      <p:sp>
        <p:nvSpPr>
          <p:cNvPr id="13" name="Rounded Rectangle 12"/>
          <p:cNvSpPr/>
          <p:nvPr/>
        </p:nvSpPr>
        <p:spPr>
          <a:xfrm>
            <a:off x="56692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66928" y="1828800"/>
            <a:ext cx="91440" cy="1929384"/>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40664" y="1975104"/>
            <a:ext cx="658368" cy="65836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Hexagon 15"/>
          <p:cNvSpPr/>
          <p:nvPr/>
        </p:nvSpPr>
        <p:spPr>
          <a:xfrm>
            <a:off x="918423" y="2168005"/>
            <a:ext cx="302849" cy="272564"/>
          </a:xfrm>
          <a:prstGeom prst="hexago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49961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Unified</a:t>
            </a:r>
          </a:p>
        </p:txBody>
      </p:sp>
      <p:sp>
        <p:nvSpPr>
          <p:cNvPr id="18" name="TextBox 17"/>
          <p:cNvSpPr txBox="1"/>
          <p:nvPr/>
        </p:nvSpPr>
        <p:spPr>
          <a:xfrm>
            <a:off x="841247"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One platform for ETL, BI, streaming, data science &amp; AI.</a:t>
            </a:r>
          </a:p>
        </p:txBody>
      </p:sp>
      <p:sp>
        <p:nvSpPr>
          <p:cNvPr id="19" name="Rounded Rectangle 18"/>
          <p:cNvSpPr/>
          <p:nvPr/>
        </p:nvSpPr>
        <p:spPr>
          <a:xfrm>
            <a:off x="433821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4338218" y="1828800"/>
            <a:ext cx="91440" cy="1929384"/>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4511954" y="1975104"/>
            <a:ext cx="658368" cy="658368"/>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Cube 21"/>
          <p:cNvSpPr/>
          <p:nvPr/>
        </p:nvSpPr>
        <p:spPr>
          <a:xfrm>
            <a:off x="4712427" y="2175577"/>
            <a:ext cx="257421" cy="257421"/>
          </a:xfrm>
          <a:prstGeom prst="cub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27090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Open</a:t>
            </a:r>
          </a:p>
        </p:txBody>
      </p:sp>
      <p:sp>
        <p:nvSpPr>
          <p:cNvPr id="24" name="TextBox 23"/>
          <p:cNvSpPr txBox="1"/>
          <p:nvPr/>
        </p:nvSpPr>
        <p:spPr>
          <a:xfrm>
            <a:off x="461253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Delta &amp; Parquet open formats on your storage — zero lock-in.</a:t>
            </a:r>
          </a:p>
        </p:txBody>
      </p:sp>
      <p:sp>
        <p:nvSpPr>
          <p:cNvPr id="25" name="Rounded Rectangle 24"/>
          <p:cNvSpPr/>
          <p:nvPr/>
        </p:nvSpPr>
        <p:spPr>
          <a:xfrm>
            <a:off x="810950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8109508" y="1828800"/>
            <a:ext cx="91440" cy="1929384"/>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8283244" y="1975104"/>
            <a:ext cx="658368" cy="658368"/>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rot="2700000">
            <a:off x="8527631" y="2310344"/>
            <a:ext cx="90854" cy="4845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rot="18480000">
            <a:off x="8594257" y="2243718"/>
            <a:ext cx="175652" cy="4845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04219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Reliable</a:t>
            </a:r>
          </a:p>
        </p:txBody>
      </p:sp>
      <p:sp>
        <p:nvSpPr>
          <p:cNvPr id="31" name="TextBox 30"/>
          <p:cNvSpPr txBox="1"/>
          <p:nvPr/>
        </p:nvSpPr>
        <p:spPr>
          <a:xfrm>
            <a:off x="838382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ACID transactions and schema enforcement on the lake.</a:t>
            </a:r>
          </a:p>
        </p:txBody>
      </p:sp>
      <p:sp>
        <p:nvSpPr>
          <p:cNvPr id="32" name="Rounded Rectangle 31"/>
          <p:cNvSpPr/>
          <p:nvPr/>
        </p:nvSpPr>
        <p:spPr>
          <a:xfrm>
            <a:off x="56692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566928" y="4014215"/>
            <a:ext cx="91440" cy="192938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740664" y="4160520"/>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Lightning Bolt 34"/>
          <p:cNvSpPr/>
          <p:nvPr/>
        </p:nvSpPr>
        <p:spPr>
          <a:xfrm>
            <a:off x="963850" y="4338279"/>
            <a:ext cx="211994" cy="302849"/>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49961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Performant</a:t>
            </a:r>
          </a:p>
        </p:txBody>
      </p:sp>
      <p:sp>
        <p:nvSpPr>
          <p:cNvPr id="37" name="TextBox 36"/>
          <p:cNvSpPr txBox="1"/>
          <p:nvPr/>
        </p:nvSpPr>
        <p:spPr>
          <a:xfrm>
            <a:off x="841247"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Photon and Delta optimizations deliver warehouse-class speed.</a:t>
            </a:r>
          </a:p>
        </p:txBody>
      </p:sp>
      <p:sp>
        <p:nvSpPr>
          <p:cNvPr id="38" name="Rounded Rectangle 37"/>
          <p:cNvSpPr/>
          <p:nvPr/>
        </p:nvSpPr>
        <p:spPr>
          <a:xfrm>
            <a:off x="433821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4338218" y="4014215"/>
            <a:ext cx="91440" cy="1929384"/>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4511954" y="4160520"/>
            <a:ext cx="658368" cy="658368"/>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4738169" y="4474561"/>
            <a:ext cx="205937" cy="151424"/>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Block Arc 41"/>
          <p:cNvSpPr/>
          <p:nvPr/>
        </p:nvSpPr>
        <p:spPr>
          <a:xfrm>
            <a:off x="4768454" y="4338279"/>
            <a:ext cx="145367" cy="151424"/>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27090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Governed</a:t>
            </a:r>
          </a:p>
        </p:txBody>
      </p:sp>
      <p:sp>
        <p:nvSpPr>
          <p:cNvPr id="44" name="TextBox 43"/>
          <p:cNvSpPr txBox="1"/>
          <p:nvPr/>
        </p:nvSpPr>
        <p:spPr>
          <a:xfrm>
            <a:off x="461253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One security &amp; lineage model for all data and AI assets.</a:t>
            </a:r>
          </a:p>
        </p:txBody>
      </p:sp>
      <p:sp>
        <p:nvSpPr>
          <p:cNvPr id="45" name="Rounded Rectangle 44"/>
          <p:cNvSpPr/>
          <p:nvPr/>
        </p:nvSpPr>
        <p:spPr>
          <a:xfrm>
            <a:off x="810950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8109508" y="4014215"/>
            <a:ext cx="91440" cy="1929384"/>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Oval 46"/>
          <p:cNvSpPr/>
          <p:nvPr/>
        </p:nvSpPr>
        <p:spPr>
          <a:xfrm>
            <a:off x="8283244" y="4160520"/>
            <a:ext cx="658368" cy="658368"/>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Diamond 47"/>
          <p:cNvSpPr/>
          <p:nvPr/>
        </p:nvSpPr>
        <p:spPr>
          <a:xfrm>
            <a:off x="8473118" y="4338279"/>
            <a:ext cx="278621" cy="302849"/>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904219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Cost-Effective</a:t>
            </a:r>
          </a:p>
        </p:txBody>
      </p:sp>
      <p:sp>
        <p:nvSpPr>
          <p:cNvPr id="50" name="TextBox 49"/>
          <p:cNvSpPr txBox="1"/>
          <p:nvPr/>
        </p:nvSpPr>
        <p:spPr>
          <a:xfrm>
            <a:off x="838382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One copy of data, elastic compute — no duplicate systems.</a:t>
            </a:r>
          </a:p>
        </p:txBody>
      </p:sp>
      <p:sp>
        <p:nvSpPr>
          <p:cNvPr id="51" name="TextBox 50"/>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2" name="TextBox 51"/>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LAKEHOUSE ARCHITECTURE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Real-World Example — Omni-Channel Retailer</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3855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21447"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Spark</a:t>
            </a:r>
          </a:p>
        </p:txBody>
      </p:sp>
      <p:sp>
        <p:nvSpPr>
          <p:cNvPr id="9" name="Oval 8"/>
          <p:cNvSpPr/>
          <p:nvPr/>
        </p:nvSpPr>
        <p:spPr>
          <a:xfrm>
            <a:off x="9464497"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000439"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Workspace</a:t>
            </a:r>
          </a:p>
        </p:txBody>
      </p:sp>
      <p:sp>
        <p:nvSpPr>
          <p:cNvPr id="11" name="Oval 10"/>
          <p:cNvSpPr/>
          <p:nvPr/>
        </p:nvSpPr>
        <p:spPr>
          <a:xfrm>
            <a:off x="10527487"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79431" y="1417320"/>
            <a:ext cx="100584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Lakehouse</a:t>
            </a:r>
          </a:p>
        </p:txBody>
      </p:sp>
      <p:sp>
        <p:nvSpPr>
          <p:cNvPr id="13" name="Rounded Rectangle 12"/>
          <p:cNvSpPr/>
          <p:nvPr/>
        </p:nvSpPr>
        <p:spPr>
          <a:xfrm>
            <a:off x="566928" y="1874519"/>
            <a:ext cx="6126480" cy="40233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86968" y="2048256"/>
            <a:ext cx="5486400" cy="27432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FF3621"/>
                </a:solidFill>
                <a:latin typeface="Segoe UI Semibold"/>
              </a:rPr>
              <a:t>THE PIPELINE</a:t>
            </a:r>
          </a:p>
        </p:txBody>
      </p:sp>
      <p:sp>
        <p:nvSpPr>
          <p:cNvPr id="15" name="Rounded Rectangle 14"/>
          <p:cNvSpPr/>
          <p:nvPr/>
        </p:nvSpPr>
        <p:spPr>
          <a:xfrm>
            <a:off x="886968" y="2432304"/>
            <a:ext cx="5486400" cy="603504"/>
          </a:xfrm>
          <a:prstGeom prst="roundRect">
            <a:avLst>
              <a:gd name="adj" fmla="val 14000"/>
            </a:avLst>
          </a:prstGeom>
          <a:solidFill>
            <a:srgbClr val="EFECE6"/>
          </a:solidFill>
          <a:ln w="17780">
            <a:solidFill>
              <a:srgbClr val="27444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86968" y="2432304"/>
            <a:ext cx="82296" cy="603504"/>
          </a:xfrm>
          <a:prstGeom prst="rect">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133856" y="2523744"/>
            <a:ext cx="420624" cy="420624"/>
          </a:xfrm>
          <a:prstGeom prst="ellipse">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1255163" y="2645051"/>
            <a:ext cx="178008" cy="178008"/>
          </a:xfrm>
          <a:prstGeom prst="ellipse">
            <a:avLst/>
          </a:prstGeom>
          <a:noFill/>
          <a:ln w="21498">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1309340" y="2645051"/>
            <a:ext cx="69655" cy="178008"/>
          </a:xfrm>
          <a:prstGeom prst="ellipse">
            <a:avLst/>
          </a:prstGeom>
          <a:noFill/>
          <a:ln w="16123">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255163" y="2728251"/>
            <a:ext cx="178008" cy="1160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709928" y="2432304"/>
            <a:ext cx="4572000"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1" i="0">
                <a:solidFill>
                  <a:srgbClr val="1B3139"/>
                </a:solidFill>
                <a:latin typeface="Segoe UI"/>
              </a:rPr>
              <a:t>POS · Web · Mobile · Inventory feeds</a:t>
            </a:r>
          </a:p>
        </p:txBody>
      </p:sp>
      <p:sp>
        <p:nvSpPr>
          <p:cNvPr id="22" name="Down Arrow 21"/>
          <p:cNvSpPr/>
          <p:nvPr/>
        </p:nvSpPr>
        <p:spPr>
          <a:xfrm>
            <a:off x="1481328" y="3035808"/>
            <a:ext cx="146304" cy="146304"/>
          </a:xfrm>
          <a:prstGeom prst="down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886968" y="3218688"/>
            <a:ext cx="5486400" cy="603504"/>
          </a:xfrm>
          <a:prstGeom prst="roundRect">
            <a:avLst>
              <a:gd name="adj" fmla="val 14000"/>
            </a:avLst>
          </a:prstGeom>
          <a:solidFill>
            <a:srgbClr val="EFECE6"/>
          </a:solidFill>
          <a:ln w="17780">
            <a:solidFill>
              <a:srgbClr val="0E8C9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86968" y="3218688"/>
            <a:ext cx="82296" cy="603504"/>
          </a:xfrm>
          <a:prstGeom prst="rect">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1133856" y="3310128"/>
            <a:ext cx="420624" cy="420624"/>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Down Arrow 25"/>
          <p:cNvSpPr/>
          <p:nvPr/>
        </p:nvSpPr>
        <p:spPr>
          <a:xfrm>
            <a:off x="1284187" y="3423696"/>
            <a:ext cx="119961" cy="193487"/>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709928" y="3218688"/>
            <a:ext cx="4572000"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1" i="0">
                <a:solidFill>
                  <a:srgbClr val="1B3139"/>
                </a:solidFill>
                <a:latin typeface="Segoe UI"/>
              </a:rPr>
              <a:t>Auto Loader ingests streams + batch</a:t>
            </a:r>
          </a:p>
        </p:txBody>
      </p:sp>
      <p:sp>
        <p:nvSpPr>
          <p:cNvPr id="28" name="Down Arrow 27"/>
          <p:cNvSpPr/>
          <p:nvPr/>
        </p:nvSpPr>
        <p:spPr>
          <a:xfrm>
            <a:off x="1481328" y="3822191"/>
            <a:ext cx="146304" cy="146304"/>
          </a:xfrm>
          <a:prstGeom prst="down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886968" y="4005072"/>
            <a:ext cx="5486400" cy="603504"/>
          </a:xfrm>
          <a:prstGeom prst="roundRect">
            <a:avLst>
              <a:gd name="adj" fmla="val 14000"/>
            </a:avLst>
          </a:prstGeom>
          <a:solidFill>
            <a:srgbClr val="EFECE6"/>
          </a:solidFill>
          <a:ln w="17780">
            <a:solidFill>
              <a:srgbClr val="FF36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886968" y="4005072"/>
            <a:ext cx="82296" cy="603504"/>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1133856" y="4096511"/>
            <a:ext cx="420624" cy="420624"/>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Isosceles Triangle 31"/>
          <p:cNvSpPr/>
          <p:nvPr/>
        </p:nvSpPr>
        <p:spPr>
          <a:xfrm>
            <a:off x="1247424" y="4219754"/>
            <a:ext cx="193487" cy="174138"/>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709928" y="4005072"/>
            <a:ext cx="4572000"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1" i="0">
                <a:solidFill>
                  <a:srgbClr val="1B3139"/>
                </a:solidFill>
                <a:latin typeface="Segoe UI"/>
              </a:rPr>
              <a:t>Bronze → Silver → Gold (Delta)</a:t>
            </a:r>
          </a:p>
        </p:txBody>
      </p:sp>
      <p:sp>
        <p:nvSpPr>
          <p:cNvPr id="34" name="Down Arrow 33"/>
          <p:cNvSpPr/>
          <p:nvPr/>
        </p:nvSpPr>
        <p:spPr>
          <a:xfrm>
            <a:off x="1481328" y="4608576"/>
            <a:ext cx="146304" cy="146304"/>
          </a:xfrm>
          <a:prstGeom prst="down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86968" y="4791456"/>
            <a:ext cx="5486400" cy="603504"/>
          </a:xfrm>
          <a:prstGeom prst="roundRect">
            <a:avLst>
              <a:gd name="adj" fmla="val 14000"/>
            </a:avLst>
          </a:prstGeom>
          <a:solidFill>
            <a:srgbClr val="EFECE6"/>
          </a:solidFill>
          <a:ln w="17780">
            <a:solidFill>
              <a:srgbClr val="7C5C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886968" y="4791456"/>
            <a:ext cx="82296" cy="603504"/>
          </a:xfrm>
          <a:prstGeom prst="rect">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1133856" y="4882896"/>
            <a:ext cx="420624" cy="420624"/>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1262903" y="5093208"/>
            <a:ext cx="38697" cy="96743"/>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1324819" y="5039031"/>
            <a:ext cx="38697" cy="15091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1386735" y="4996464"/>
            <a:ext cx="38697" cy="193487"/>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709928" y="4791456"/>
            <a:ext cx="4572000" cy="603504"/>
          </a:xfrm>
          <a:prstGeom prst="rect">
            <a:avLst/>
          </a:prstGeom>
          <a:noFill/>
        </p:spPr>
        <p:txBody>
          <a:bodyPr wrap="square" anchor="ctr" lIns="0" rIns="0" tIns="0" bIns="0">
            <a:spAutoFit/>
          </a:bodyPr>
          <a:lstStyle/>
          <a:p>
            <a:pPr algn="l">
              <a:lnSpc>
                <a:spcPct val="100000"/>
              </a:lnSpc>
              <a:spcBef>
                <a:spcPts val="0"/>
              </a:spcBef>
              <a:spcAft>
                <a:spcPts val="200"/>
              </a:spcAft>
            </a:pPr>
            <a:r>
              <a:rPr sz="1100" b="1" i="0">
                <a:solidFill>
                  <a:srgbClr val="1B3139"/>
                </a:solidFill>
                <a:latin typeface="Segoe UI"/>
              </a:rPr>
              <a:t>Genie BI · personalization ML · GenAI</a:t>
            </a:r>
          </a:p>
        </p:txBody>
      </p:sp>
      <p:sp>
        <p:nvSpPr>
          <p:cNvPr id="42" name="TextBox 41"/>
          <p:cNvSpPr txBox="1"/>
          <p:nvPr/>
        </p:nvSpPr>
        <p:spPr>
          <a:xfrm>
            <a:off x="6858000" y="2048256"/>
            <a:ext cx="4572000" cy="27432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057A55"/>
                </a:solidFill>
                <a:latin typeface="Segoe UI Semibold"/>
              </a:rPr>
              <a:t>THE OUTCOMES</a:t>
            </a:r>
          </a:p>
        </p:txBody>
      </p:sp>
      <p:sp>
        <p:nvSpPr>
          <p:cNvPr id="43" name="Rounded Rectangle 42"/>
          <p:cNvSpPr/>
          <p:nvPr/>
        </p:nvSpPr>
        <p:spPr>
          <a:xfrm>
            <a:off x="6858000" y="2432304"/>
            <a:ext cx="2255367" cy="168706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6858000" y="2432304"/>
            <a:ext cx="91440" cy="1687068"/>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095744" y="2578608"/>
            <a:ext cx="1889607" cy="457200"/>
          </a:xfrm>
          <a:prstGeom prst="rect">
            <a:avLst/>
          </a:prstGeom>
          <a:noFill/>
        </p:spPr>
        <p:txBody>
          <a:bodyPr wrap="square" anchor="t" lIns="0" rIns="0" tIns="0" bIns="0">
            <a:spAutoFit/>
          </a:bodyPr>
          <a:lstStyle/>
          <a:p>
            <a:pPr algn="l">
              <a:lnSpc>
                <a:spcPct val="100000"/>
              </a:lnSpc>
              <a:spcBef>
                <a:spcPts val="0"/>
              </a:spcBef>
              <a:spcAft>
                <a:spcPts val="200"/>
              </a:spcAft>
            </a:pPr>
            <a:r>
              <a:rPr sz="2000" b="1" i="0">
                <a:solidFill>
                  <a:srgbClr val="FF3621"/>
                </a:solidFill>
                <a:latin typeface="Segoe UI"/>
              </a:rPr>
              <a:t>10x</a:t>
            </a:r>
          </a:p>
        </p:txBody>
      </p:sp>
      <p:sp>
        <p:nvSpPr>
          <p:cNvPr id="46" name="TextBox 45"/>
          <p:cNvSpPr txBox="1"/>
          <p:nvPr/>
        </p:nvSpPr>
        <p:spPr>
          <a:xfrm>
            <a:off x="7114032" y="3035808"/>
            <a:ext cx="1843887" cy="822960"/>
          </a:xfrm>
          <a:prstGeom prst="rect">
            <a:avLst/>
          </a:prstGeom>
          <a:noFill/>
        </p:spPr>
        <p:txBody>
          <a:bodyPr wrap="square" anchor="t" lIns="0" rIns="0" tIns="0" bIns="0">
            <a:spAutoFit/>
          </a:bodyPr>
          <a:lstStyle/>
          <a:p>
            <a:pPr algn="l">
              <a:lnSpc>
                <a:spcPct val="105000"/>
              </a:lnSpc>
              <a:spcBef>
                <a:spcPts val="0"/>
              </a:spcBef>
              <a:spcAft>
                <a:spcPts val="200"/>
              </a:spcAft>
            </a:pPr>
            <a:r>
              <a:rPr sz="1000" b="0" i="0">
                <a:solidFill>
                  <a:srgbClr val="465257"/>
                </a:solidFill>
                <a:latin typeface="Segoe UI"/>
              </a:rPr>
              <a:t>faster pipelines vs the legacy warehouse + lake</a:t>
            </a:r>
          </a:p>
        </p:txBody>
      </p:sp>
      <p:sp>
        <p:nvSpPr>
          <p:cNvPr id="47" name="Rounded Rectangle 46"/>
          <p:cNvSpPr/>
          <p:nvPr/>
        </p:nvSpPr>
        <p:spPr>
          <a:xfrm>
            <a:off x="9369399" y="2432304"/>
            <a:ext cx="2255367" cy="168706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9369399" y="2432304"/>
            <a:ext cx="91440" cy="1687068"/>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9607143" y="2578608"/>
            <a:ext cx="1889607" cy="457200"/>
          </a:xfrm>
          <a:prstGeom prst="rect">
            <a:avLst/>
          </a:prstGeom>
          <a:noFill/>
        </p:spPr>
        <p:txBody>
          <a:bodyPr wrap="square" anchor="t" lIns="0" rIns="0" tIns="0" bIns="0">
            <a:spAutoFit/>
          </a:bodyPr>
          <a:lstStyle/>
          <a:p>
            <a:pPr algn="l">
              <a:lnSpc>
                <a:spcPct val="100000"/>
              </a:lnSpc>
              <a:spcBef>
                <a:spcPts val="0"/>
              </a:spcBef>
              <a:spcAft>
                <a:spcPts val="200"/>
              </a:spcAft>
            </a:pPr>
            <a:r>
              <a:rPr sz="2000" b="1" i="0">
                <a:solidFill>
                  <a:srgbClr val="2272B4"/>
                </a:solidFill>
                <a:latin typeface="Segoe UI"/>
              </a:rPr>
              <a:t>Real-time</a:t>
            </a:r>
          </a:p>
        </p:txBody>
      </p:sp>
      <p:sp>
        <p:nvSpPr>
          <p:cNvPr id="50" name="TextBox 49"/>
          <p:cNvSpPr txBox="1"/>
          <p:nvPr/>
        </p:nvSpPr>
        <p:spPr>
          <a:xfrm>
            <a:off x="9625431" y="3035808"/>
            <a:ext cx="1843887" cy="822960"/>
          </a:xfrm>
          <a:prstGeom prst="rect">
            <a:avLst/>
          </a:prstGeom>
          <a:noFill/>
        </p:spPr>
        <p:txBody>
          <a:bodyPr wrap="square" anchor="t" lIns="0" rIns="0" tIns="0" bIns="0">
            <a:spAutoFit/>
          </a:bodyPr>
          <a:lstStyle/>
          <a:p>
            <a:pPr algn="l">
              <a:lnSpc>
                <a:spcPct val="105000"/>
              </a:lnSpc>
              <a:spcBef>
                <a:spcPts val="0"/>
              </a:spcBef>
              <a:spcAft>
                <a:spcPts val="200"/>
              </a:spcAft>
            </a:pPr>
            <a:r>
              <a:rPr sz="1000" b="0" i="0">
                <a:solidFill>
                  <a:srgbClr val="465257"/>
                </a:solidFill>
                <a:latin typeface="Segoe UI"/>
              </a:rPr>
              <a:t>personalization &amp; inventory visibility</a:t>
            </a:r>
          </a:p>
        </p:txBody>
      </p:sp>
      <p:sp>
        <p:nvSpPr>
          <p:cNvPr id="51" name="Rounded Rectangle 50"/>
          <p:cNvSpPr/>
          <p:nvPr/>
        </p:nvSpPr>
        <p:spPr>
          <a:xfrm>
            <a:off x="6858000" y="4357116"/>
            <a:ext cx="2255367" cy="168706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6858000" y="4357116"/>
            <a:ext cx="91440" cy="1687068"/>
          </a:xfrm>
          <a:prstGeom prst="rect">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7095744" y="4503420"/>
            <a:ext cx="1889607" cy="457200"/>
          </a:xfrm>
          <a:prstGeom prst="rect">
            <a:avLst/>
          </a:prstGeom>
          <a:noFill/>
        </p:spPr>
        <p:txBody>
          <a:bodyPr wrap="square" anchor="t" lIns="0" rIns="0" tIns="0" bIns="0">
            <a:spAutoFit/>
          </a:bodyPr>
          <a:lstStyle/>
          <a:p>
            <a:pPr algn="l">
              <a:lnSpc>
                <a:spcPct val="100000"/>
              </a:lnSpc>
              <a:spcBef>
                <a:spcPts val="0"/>
              </a:spcBef>
              <a:spcAft>
                <a:spcPts val="200"/>
              </a:spcAft>
            </a:pPr>
            <a:r>
              <a:rPr sz="2000" b="1" i="0">
                <a:solidFill>
                  <a:srgbClr val="00A972"/>
                </a:solidFill>
                <a:latin typeface="Segoe UI"/>
              </a:rPr>
              <a:t>1 copy</a:t>
            </a:r>
          </a:p>
        </p:txBody>
      </p:sp>
      <p:sp>
        <p:nvSpPr>
          <p:cNvPr id="54" name="TextBox 53"/>
          <p:cNvSpPr txBox="1"/>
          <p:nvPr/>
        </p:nvSpPr>
        <p:spPr>
          <a:xfrm>
            <a:off x="7114032" y="4960620"/>
            <a:ext cx="1843887" cy="822960"/>
          </a:xfrm>
          <a:prstGeom prst="rect">
            <a:avLst/>
          </a:prstGeom>
          <a:noFill/>
        </p:spPr>
        <p:txBody>
          <a:bodyPr wrap="square" anchor="t" lIns="0" rIns="0" tIns="0" bIns="0">
            <a:spAutoFit/>
          </a:bodyPr>
          <a:lstStyle/>
          <a:p>
            <a:pPr algn="l">
              <a:lnSpc>
                <a:spcPct val="105000"/>
              </a:lnSpc>
              <a:spcBef>
                <a:spcPts val="0"/>
              </a:spcBef>
              <a:spcAft>
                <a:spcPts val="200"/>
              </a:spcAft>
            </a:pPr>
            <a:r>
              <a:rPr sz="1000" b="0" i="0">
                <a:solidFill>
                  <a:srgbClr val="465257"/>
                </a:solidFill>
                <a:latin typeface="Segoe UI"/>
              </a:rPr>
              <a:t>of governed data for BI, ML and GenAI</a:t>
            </a:r>
          </a:p>
        </p:txBody>
      </p:sp>
      <p:sp>
        <p:nvSpPr>
          <p:cNvPr id="55" name="Rounded Rectangle 54"/>
          <p:cNvSpPr/>
          <p:nvPr/>
        </p:nvSpPr>
        <p:spPr>
          <a:xfrm>
            <a:off x="9369399" y="4357116"/>
            <a:ext cx="2255367" cy="168706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9369399" y="4357116"/>
            <a:ext cx="91440" cy="1687068"/>
          </a:xfrm>
          <a:prstGeom prst="rect">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9607143" y="4503420"/>
            <a:ext cx="1889607" cy="457200"/>
          </a:xfrm>
          <a:prstGeom prst="rect">
            <a:avLst/>
          </a:prstGeom>
          <a:noFill/>
        </p:spPr>
        <p:txBody>
          <a:bodyPr wrap="square" anchor="t" lIns="0" rIns="0" tIns="0" bIns="0">
            <a:spAutoFit/>
          </a:bodyPr>
          <a:lstStyle/>
          <a:p>
            <a:pPr algn="l">
              <a:lnSpc>
                <a:spcPct val="100000"/>
              </a:lnSpc>
              <a:spcBef>
                <a:spcPts val="0"/>
              </a:spcBef>
              <a:spcAft>
                <a:spcPts val="200"/>
              </a:spcAft>
            </a:pPr>
            <a:r>
              <a:rPr sz="2000" b="1" i="0">
                <a:solidFill>
                  <a:srgbClr val="7C5CCF"/>
                </a:solidFill>
                <a:latin typeface="Segoe UI"/>
              </a:rPr>
              <a:t>~50%</a:t>
            </a:r>
          </a:p>
        </p:txBody>
      </p:sp>
      <p:sp>
        <p:nvSpPr>
          <p:cNvPr id="58" name="TextBox 57"/>
          <p:cNvSpPr txBox="1"/>
          <p:nvPr/>
        </p:nvSpPr>
        <p:spPr>
          <a:xfrm>
            <a:off x="9625431" y="4960620"/>
            <a:ext cx="1843887" cy="822960"/>
          </a:xfrm>
          <a:prstGeom prst="rect">
            <a:avLst/>
          </a:prstGeom>
          <a:noFill/>
        </p:spPr>
        <p:txBody>
          <a:bodyPr wrap="square" anchor="t" lIns="0" rIns="0" tIns="0" bIns="0">
            <a:spAutoFit/>
          </a:bodyPr>
          <a:lstStyle/>
          <a:p>
            <a:pPr algn="l">
              <a:lnSpc>
                <a:spcPct val="105000"/>
              </a:lnSpc>
              <a:spcBef>
                <a:spcPts val="0"/>
              </a:spcBef>
              <a:spcAft>
                <a:spcPts val="200"/>
              </a:spcAft>
            </a:pPr>
            <a:r>
              <a:rPr sz="1000" b="0" i="0">
                <a:solidFill>
                  <a:srgbClr val="465257"/>
                </a:solidFill>
                <a:latin typeface="Segoe UI"/>
              </a:rPr>
              <a:t>lower total cost of ownership</a:t>
            </a:r>
          </a:p>
        </p:txBody>
      </p:sp>
      <p:sp>
        <p:nvSpPr>
          <p:cNvPr id="59" name="TextBox 58"/>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60" name="TextBox 59"/>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WRAP-UP</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Day 2 — Key Takeaways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28800"/>
            <a:ext cx="3472586" cy="25603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828800"/>
            <a:ext cx="3472586" cy="109728"/>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768095" y="2075688"/>
            <a:ext cx="603504" cy="603504"/>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Segoe UI Semibold"/>
              </a:rPr>
              <a:t>1</a:t>
            </a:r>
          </a:p>
        </p:txBody>
      </p:sp>
      <p:sp>
        <p:nvSpPr>
          <p:cNvPr id="10" name="TextBox 9"/>
          <p:cNvSpPr txBox="1"/>
          <p:nvPr/>
        </p:nvSpPr>
        <p:spPr>
          <a:xfrm>
            <a:off x="1527048" y="2103120"/>
            <a:ext cx="2375306" cy="548640"/>
          </a:xfrm>
          <a:prstGeom prst="rect">
            <a:avLst/>
          </a:prstGeom>
          <a:noFill/>
        </p:spPr>
        <p:txBody>
          <a:bodyPr wrap="square" anchor="ctr" lIns="0" rIns="0" tIns="0" bIns="0">
            <a:spAutoFit/>
          </a:bodyPr>
          <a:lstStyle/>
          <a:p>
            <a:pPr algn="l">
              <a:lnSpc>
                <a:spcPct val="95000"/>
              </a:lnSpc>
              <a:spcBef>
                <a:spcPts val="0"/>
              </a:spcBef>
              <a:spcAft>
                <a:spcPts val="200"/>
              </a:spcAft>
            </a:pPr>
            <a:r>
              <a:rPr sz="1450" b="1" i="0">
                <a:solidFill>
                  <a:srgbClr val="1B3139"/>
                </a:solidFill>
                <a:latin typeface="Segoe UI"/>
              </a:rPr>
              <a:t>Apache Spark</a:t>
            </a:r>
          </a:p>
        </p:txBody>
      </p:sp>
      <p:sp>
        <p:nvSpPr>
          <p:cNvPr id="11" name="TextBox 10"/>
          <p:cNvSpPr txBox="1"/>
          <p:nvPr/>
        </p:nvSpPr>
        <p:spPr>
          <a:xfrm>
            <a:off x="859536" y="2907792"/>
            <a:ext cx="2923946" cy="1371600"/>
          </a:xfrm>
          <a:prstGeom prst="rect">
            <a:avLst/>
          </a:prstGeom>
          <a:noFill/>
        </p:spPr>
        <p:txBody>
          <a:bodyPr wrap="square" anchor="t" lIns="0" rIns="0" tIns="0" bIns="0">
            <a:spAutoFit/>
          </a:bodyPr>
          <a:lstStyle/>
          <a:p>
            <a:pPr marL="274320" indent="-274320">
              <a:lnSpc>
                <a:spcPct val="112000"/>
              </a:lnSpc>
              <a:spcBef>
                <a:spcPts val="0"/>
              </a:spcBef>
              <a:spcAft>
                <a:spcPts val="900"/>
              </a:spcAft>
            </a:pPr>
            <a:r>
              <a:rPr sz="1130" b="1">
                <a:solidFill>
                  <a:srgbClr val="2272B4"/>
                </a:solidFill>
                <a:latin typeface="Segoe UI"/>
              </a:rPr>
              <a:t>▪   </a:t>
            </a:r>
            <a:r>
              <a:rPr sz="1130">
                <a:solidFill>
                  <a:srgbClr val="465257"/>
                </a:solidFill>
                <a:latin typeface="Segoe UI"/>
              </a:rPr>
              <a:t>Unified, in-memory, distributed engine</a:t>
            </a:r>
          </a:p>
          <a:p>
            <a:pPr marL="274320" indent="-274320">
              <a:lnSpc>
                <a:spcPct val="112000"/>
              </a:lnSpc>
              <a:spcBef>
                <a:spcPts val="0"/>
              </a:spcBef>
              <a:spcAft>
                <a:spcPts val="900"/>
              </a:spcAft>
            </a:pPr>
            <a:r>
              <a:rPr sz="1130" b="1">
                <a:solidFill>
                  <a:srgbClr val="2272B4"/>
                </a:solidFill>
                <a:latin typeface="Segoe UI"/>
              </a:rPr>
              <a:t>▪   </a:t>
            </a:r>
            <a:r>
              <a:rPr sz="1130">
                <a:solidFill>
                  <a:srgbClr val="465257"/>
                </a:solidFill>
                <a:latin typeface="Segoe UI"/>
              </a:rPr>
              <a:t>Driver → Cluster Mgr → Executors → Tasks</a:t>
            </a:r>
          </a:p>
          <a:p>
            <a:pPr marL="274320" indent="-274320">
              <a:lnSpc>
                <a:spcPct val="112000"/>
              </a:lnSpc>
              <a:spcBef>
                <a:spcPts val="0"/>
              </a:spcBef>
              <a:spcAft>
                <a:spcPts val="900"/>
              </a:spcAft>
            </a:pPr>
            <a:r>
              <a:rPr sz="1130" b="1">
                <a:solidFill>
                  <a:srgbClr val="2272B4"/>
                </a:solidFill>
                <a:latin typeface="Segoe UI"/>
              </a:rPr>
              <a:t>▪   </a:t>
            </a:r>
            <a:r>
              <a:rPr sz="1130">
                <a:solidFill>
                  <a:srgbClr val="465257"/>
                </a:solidFill>
                <a:latin typeface="Segoe UI"/>
              </a:rPr>
              <a:t>Lazy DAG; one core for SQL/stream/ML</a:t>
            </a:r>
          </a:p>
        </p:txBody>
      </p:sp>
      <p:sp>
        <p:nvSpPr>
          <p:cNvPr id="12" name="Rounded Rectangle 11"/>
          <p:cNvSpPr/>
          <p:nvPr/>
        </p:nvSpPr>
        <p:spPr>
          <a:xfrm>
            <a:off x="4359554" y="1828800"/>
            <a:ext cx="3472586" cy="25603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359554" y="1828800"/>
            <a:ext cx="3472586" cy="109728"/>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4560722" y="2075688"/>
            <a:ext cx="603504" cy="603504"/>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Segoe UI Semibold"/>
              </a:rPr>
              <a:t>2</a:t>
            </a:r>
          </a:p>
        </p:txBody>
      </p:sp>
      <p:sp>
        <p:nvSpPr>
          <p:cNvPr id="15" name="TextBox 14"/>
          <p:cNvSpPr txBox="1"/>
          <p:nvPr/>
        </p:nvSpPr>
        <p:spPr>
          <a:xfrm>
            <a:off x="5319674" y="2103120"/>
            <a:ext cx="2375306" cy="548640"/>
          </a:xfrm>
          <a:prstGeom prst="rect">
            <a:avLst/>
          </a:prstGeom>
          <a:noFill/>
        </p:spPr>
        <p:txBody>
          <a:bodyPr wrap="square" anchor="ctr" lIns="0" rIns="0" tIns="0" bIns="0">
            <a:spAutoFit/>
          </a:bodyPr>
          <a:lstStyle/>
          <a:p>
            <a:pPr algn="l">
              <a:lnSpc>
                <a:spcPct val="95000"/>
              </a:lnSpc>
              <a:spcBef>
                <a:spcPts val="0"/>
              </a:spcBef>
              <a:spcAft>
                <a:spcPts val="200"/>
              </a:spcAft>
            </a:pPr>
            <a:r>
              <a:rPr sz="1450" b="1" i="0">
                <a:solidFill>
                  <a:srgbClr val="1B3139"/>
                </a:solidFill>
                <a:latin typeface="Segoe UI"/>
              </a:rPr>
              <a:t>Workspace</a:t>
            </a:r>
          </a:p>
        </p:txBody>
      </p:sp>
      <p:sp>
        <p:nvSpPr>
          <p:cNvPr id="16" name="TextBox 15"/>
          <p:cNvSpPr txBox="1"/>
          <p:nvPr/>
        </p:nvSpPr>
        <p:spPr>
          <a:xfrm>
            <a:off x="4652162" y="2907792"/>
            <a:ext cx="2923946" cy="1371600"/>
          </a:xfrm>
          <a:prstGeom prst="rect">
            <a:avLst/>
          </a:prstGeom>
          <a:noFill/>
        </p:spPr>
        <p:txBody>
          <a:bodyPr wrap="square" anchor="t" lIns="0" rIns="0" tIns="0" bIns="0">
            <a:spAutoFit/>
          </a:bodyPr>
          <a:lstStyle/>
          <a:p>
            <a:pPr marL="274320" indent="-274320">
              <a:lnSpc>
                <a:spcPct val="112000"/>
              </a:lnSpc>
              <a:spcBef>
                <a:spcPts val="0"/>
              </a:spcBef>
              <a:spcAft>
                <a:spcPts val="900"/>
              </a:spcAft>
            </a:pPr>
            <a:r>
              <a:rPr sz="1130" b="1">
                <a:solidFill>
                  <a:srgbClr val="FF3621"/>
                </a:solidFill>
                <a:latin typeface="Segoe UI"/>
              </a:rPr>
              <a:t>▪   </a:t>
            </a:r>
            <a:r>
              <a:rPr sz="1130">
                <a:solidFill>
                  <a:srgbClr val="465257"/>
                </a:solidFill>
                <a:latin typeface="Segoe UI"/>
              </a:rPr>
              <a:t>One collaborative, governed hub</a:t>
            </a:r>
          </a:p>
          <a:p>
            <a:pPr marL="274320" indent="-274320">
              <a:lnSpc>
                <a:spcPct val="112000"/>
              </a:lnSpc>
              <a:spcBef>
                <a:spcPts val="0"/>
              </a:spcBef>
              <a:spcAft>
                <a:spcPts val="900"/>
              </a:spcAft>
            </a:pPr>
            <a:r>
              <a:rPr sz="1130" b="1">
                <a:solidFill>
                  <a:srgbClr val="FF3621"/>
                </a:solidFill>
                <a:latin typeface="Segoe UI"/>
              </a:rPr>
              <a:t>▪   </a:t>
            </a:r>
            <a:r>
              <a:rPr sz="1130">
                <a:solidFill>
                  <a:srgbClr val="465257"/>
                </a:solidFill>
                <a:latin typeface="Segoe UI"/>
              </a:rPr>
              <a:t>Notebooks: exploration → production</a:t>
            </a:r>
          </a:p>
          <a:p>
            <a:pPr marL="274320" indent="-274320">
              <a:lnSpc>
                <a:spcPct val="112000"/>
              </a:lnSpc>
              <a:spcBef>
                <a:spcPts val="0"/>
              </a:spcBef>
              <a:spcAft>
                <a:spcPts val="900"/>
              </a:spcAft>
            </a:pPr>
            <a:r>
              <a:rPr sz="1130" b="1">
                <a:solidFill>
                  <a:srgbClr val="FF3621"/>
                </a:solidFill>
                <a:latin typeface="Segoe UI"/>
              </a:rPr>
              <a:t>▪   </a:t>
            </a:r>
            <a:r>
              <a:rPr sz="1130">
                <a:solidFill>
                  <a:srgbClr val="465257"/>
                </a:solidFill>
                <a:latin typeface="Segoe UI"/>
              </a:rPr>
              <a:t>Repos + Git; Unity Catalog governance</a:t>
            </a:r>
          </a:p>
        </p:txBody>
      </p:sp>
      <p:sp>
        <p:nvSpPr>
          <p:cNvPr id="17" name="Rounded Rectangle 16"/>
          <p:cNvSpPr/>
          <p:nvPr/>
        </p:nvSpPr>
        <p:spPr>
          <a:xfrm>
            <a:off x="8152180" y="1828800"/>
            <a:ext cx="3472586" cy="25603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152180" y="1828800"/>
            <a:ext cx="3472586" cy="109728"/>
          </a:xfrm>
          <a:prstGeom prst="rect">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353348" y="2075688"/>
            <a:ext cx="603504" cy="603504"/>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a:solidFill>
                  <a:srgbClr val="FFFFFF"/>
                </a:solidFill>
                <a:latin typeface="Segoe UI Semibold"/>
              </a:rPr>
              <a:t>3</a:t>
            </a:r>
          </a:p>
        </p:txBody>
      </p:sp>
      <p:sp>
        <p:nvSpPr>
          <p:cNvPr id="20" name="TextBox 19"/>
          <p:cNvSpPr txBox="1"/>
          <p:nvPr/>
        </p:nvSpPr>
        <p:spPr>
          <a:xfrm>
            <a:off x="9112300" y="2103120"/>
            <a:ext cx="2375306" cy="548640"/>
          </a:xfrm>
          <a:prstGeom prst="rect">
            <a:avLst/>
          </a:prstGeom>
          <a:noFill/>
        </p:spPr>
        <p:txBody>
          <a:bodyPr wrap="square" anchor="ctr" lIns="0" rIns="0" tIns="0" bIns="0">
            <a:spAutoFit/>
          </a:bodyPr>
          <a:lstStyle/>
          <a:p>
            <a:pPr algn="l">
              <a:lnSpc>
                <a:spcPct val="95000"/>
              </a:lnSpc>
              <a:spcBef>
                <a:spcPts val="0"/>
              </a:spcBef>
              <a:spcAft>
                <a:spcPts val="200"/>
              </a:spcAft>
            </a:pPr>
            <a:r>
              <a:rPr sz="1450" b="1" i="0">
                <a:solidFill>
                  <a:srgbClr val="1B3139"/>
                </a:solidFill>
                <a:latin typeface="Segoe UI"/>
              </a:rPr>
              <a:t>Lakehouse</a:t>
            </a:r>
          </a:p>
        </p:txBody>
      </p:sp>
      <p:sp>
        <p:nvSpPr>
          <p:cNvPr id="21" name="TextBox 20"/>
          <p:cNvSpPr txBox="1"/>
          <p:nvPr/>
        </p:nvSpPr>
        <p:spPr>
          <a:xfrm>
            <a:off x="8444788" y="2907792"/>
            <a:ext cx="2923946" cy="1371600"/>
          </a:xfrm>
          <a:prstGeom prst="rect">
            <a:avLst/>
          </a:prstGeom>
          <a:noFill/>
        </p:spPr>
        <p:txBody>
          <a:bodyPr wrap="square" anchor="t" lIns="0" rIns="0" tIns="0" bIns="0">
            <a:spAutoFit/>
          </a:bodyPr>
          <a:lstStyle/>
          <a:p>
            <a:pPr marL="274320" indent="-274320">
              <a:lnSpc>
                <a:spcPct val="112000"/>
              </a:lnSpc>
              <a:spcBef>
                <a:spcPts val="0"/>
              </a:spcBef>
              <a:spcAft>
                <a:spcPts val="900"/>
              </a:spcAft>
            </a:pPr>
            <a:r>
              <a:rPr sz="1130" b="1">
                <a:solidFill>
                  <a:srgbClr val="00A972"/>
                </a:solidFill>
                <a:latin typeface="Segoe UI"/>
              </a:rPr>
              <a:t>▪   </a:t>
            </a:r>
            <a:r>
              <a:rPr sz="1130">
                <a:solidFill>
                  <a:srgbClr val="465257"/>
                </a:solidFill>
                <a:latin typeface="Segoe UI"/>
              </a:rPr>
              <a:t>Delta + medallion = trusted data</a:t>
            </a:r>
          </a:p>
          <a:p>
            <a:pPr marL="274320" indent="-274320">
              <a:lnSpc>
                <a:spcPct val="112000"/>
              </a:lnSpc>
              <a:spcBef>
                <a:spcPts val="0"/>
              </a:spcBef>
              <a:spcAft>
                <a:spcPts val="900"/>
              </a:spcAft>
            </a:pPr>
            <a:r>
              <a:rPr sz="1130" b="1">
                <a:solidFill>
                  <a:srgbClr val="00A972"/>
                </a:solidFill>
                <a:latin typeface="Segoe UI"/>
              </a:rPr>
              <a:t>▪   </a:t>
            </a:r>
            <a:r>
              <a:rPr sz="1130">
                <a:solidFill>
                  <a:srgbClr val="465257"/>
                </a:solidFill>
                <a:latin typeface="Segoe UI"/>
              </a:rPr>
              <a:t>ACID, time travel on open storage</a:t>
            </a:r>
          </a:p>
          <a:p>
            <a:pPr marL="274320" indent="-274320">
              <a:lnSpc>
                <a:spcPct val="112000"/>
              </a:lnSpc>
              <a:spcBef>
                <a:spcPts val="0"/>
              </a:spcBef>
              <a:spcAft>
                <a:spcPts val="900"/>
              </a:spcAft>
            </a:pPr>
            <a:r>
              <a:rPr sz="1130" b="1">
                <a:solidFill>
                  <a:srgbClr val="00A972"/>
                </a:solidFill>
                <a:latin typeface="Segoe UI"/>
              </a:rPr>
              <a:t>▪   </a:t>
            </a:r>
            <a:r>
              <a:rPr sz="1130">
                <a:solidFill>
                  <a:srgbClr val="465257"/>
                </a:solidFill>
                <a:latin typeface="Segoe UI"/>
              </a:rPr>
              <a:t>Governed BI, ML &amp; GenAI, end to end</a:t>
            </a:r>
          </a:p>
        </p:txBody>
      </p:sp>
      <p:sp>
        <p:nvSpPr>
          <p:cNvPr id="22" name="Rounded Rectangle 21"/>
          <p:cNvSpPr/>
          <p:nvPr/>
        </p:nvSpPr>
        <p:spPr>
          <a:xfrm>
            <a:off x="566928" y="4553712"/>
            <a:ext cx="5391759" cy="74980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758952" y="4663440"/>
            <a:ext cx="530352" cy="530352"/>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Lightning Bolt 23"/>
          <p:cNvSpPr/>
          <p:nvPr/>
        </p:nvSpPr>
        <p:spPr>
          <a:xfrm>
            <a:off x="938741" y="4806635"/>
            <a:ext cx="170773" cy="243961"/>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435607" y="4553712"/>
            <a:ext cx="4385919" cy="749808"/>
          </a:xfrm>
          <a:prstGeom prst="rect">
            <a:avLst/>
          </a:prstGeom>
          <a:noFill/>
        </p:spPr>
        <p:txBody>
          <a:bodyPr wrap="square" anchor="ctr" lIns="0" rIns="0" tIns="0" bIns="0">
            <a:spAutoFit/>
          </a:bodyPr>
          <a:lstStyle/>
          <a:p>
            <a:pPr algn="l">
              <a:lnSpc>
                <a:spcPct val="105000"/>
              </a:lnSpc>
              <a:spcBef>
                <a:spcPts val="0"/>
              </a:spcBef>
              <a:spcAft>
                <a:spcPts val="200"/>
              </a:spcAft>
            </a:pPr>
            <a:r>
              <a:rPr sz="1150" b="0" i="0">
                <a:solidFill>
                  <a:srgbClr val="465257"/>
                </a:solidFill>
                <a:latin typeface="Segoe UI"/>
              </a:rPr>
              <a:t>Spark is the engine; Databricks makes it effortless and fast (Photon).</a:t>
            </a:r>
          </a:p>
        </p:txBody>
      </p:sp>
      <p:sp>
        <p:nvSpPr>
          <p:cNvPr id="26" name="Rounded Rectangle 25"/>
          <p:cNvSpPr/>
          <p:nvPr/>
        </p:nvSpPr>
        <p:spPr>
          <a:xfrm>
            <a:off x="6233007" y="4553712"/>
            <a:ext cx="5391759" cy="74980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6425031" y="4663440"/>
            <a:ext cx="530352" cy="530352"/>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6641415" y="4826151"/>
            <a:ext cx="97584" cy="975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6607260" y="4938374"/>
            <a:ext cx="165894" cy="10246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101687" y="4553712"/>
            <a:ext cx="4385919" cy="749808"/>
          </a:xfrm>
          <a:prstGeom prst="rect">
            <a:avLst/>
          </a:prstGeom>
          <a:noFill/>
        </p:spPr>
        <p:txBody>
          <a:bodyPr wrap="square" anchor="ctr" lIns="0" rIns="0" tIns="0" bIns="0">
            <a:spAutoFit/>
          </a:bodyPr>
          <a:lstStyle/>
          <a:p>
            <a:pPr algn="l">
              <a:lnSpc>
                <a:spcPct val="105000"/>
              </a:lnSpc>
              <a:spcBef>
                <a:spcPts val="0"/>
              </a:spcBef>
              <a:spcAft>
                <a:spcPts val="200"/>
              </a:spcAft>
            </a:pPr>
            <a:r>
              <a:rPr sz="1150" b="0" i="0">
                <a:solidFill>
                  <a:srgbClr val="465257"/>
                </a:solidFill>
                <a:latin typeface="Segoe UI"/>
              </a:rPr>
              <a:t>The Workspace unifies notebooks, compute, Git and governance in one hub.</a:t>
            </a:r>
          </a:p>
        </p:txBody>
      </p:sp>
      <p:sp>
        <p:nvSpPr>
          <p:cNvPr id="31" name="Rounded Rectangle 30"/>
          <p:cNvSpPr/>
          <p:nvPr/>
        </p:nvSpPr>
        <p:spPr>
          <a:xfrm>
            <a:off x="566928" y="5376672"/>
            <a:ext cx="5391759" cy="74980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58952" y="5486400"/>
            <a:ext cx="530352" cy="530352"/>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Isosceles Triangle 32"/>
          <p:cNvSpPr/>
          <p:nvPr/>
        </p:nvSpPr>
        <p:spPr>
          <a:xfrm>
            <a:off x="902147" y="5641793"/>
            <a:ext cx="243961" cy="219565"/>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435607" y="5376672"/>
            <a:ext cx="4385919" cy="749808"/>
          </a:xfrm>
          <a:prstGeom prst="rect">
            <a:avLst/>
          </a:prstGeom>
          <a:noFill/>
        </p:spPr>
        <p:txBody>
          <a:bodyPr wrap="square" anchor="ctr" lIns="0" rIns="0" tIns="0" bIns="0">
            <a:spAutoFit/>
          </a:bodyPr>
          <a:lstStyle/>
          <a:p>
            <a:pPr algn="l">
              <a:lnSpc>
                <a:spcPct val="105000"/>
              </a:lnSpc>
              <a:spcBef>
                <a:spcPts val="0"/>
              </a:spcBef>
              <a:spcAft>
                <a:spcPts val="200"/>
              </a:spcAft>
            </a:pPr>
            <a:r>
              <a:rPr sz="1150" b="0" i="0">
                <a:solidFill>
                  <a:srgbClr val="465257"/>
                </a:solidFill>
                <a:latin typeface="Segoe UI"/>
              </a:rPr>
              <a:t>Delta Lake + medallion turn raw files into reliable, governed tables.</a:t>
            </a:r>
          </a:p>
        </p:txBody>
      </p:sp>
      <p:sp>
        <p:nvSpPr>
          <p:cNvPr id="35" name="Rounded Rectangle 34"/>
          <p:cNvSpPr/>
          <p:nvPr/>
        </p:nvSpPr>
        <p:spPr>
          <a:xfrm>
            <a:off x="6233007" y="5376672"/>
            <a:ext cx="5391759" cy="74980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6425031" y="5486400"/>
            <a:ext cx="530352" cy="530352"/>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5-Point Star 36"/>
          <p:cNvSpPr/>
          <p:nvPr/>
        </p:nvSpPr>
        <p:spPr>
          <a:xfrm>
            <a:off x="6568226" y="5629595"/>
            <a:ext cx="243961" cy="243961"/>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101687" y="5376672"/>
            <a:ext cx="4385919" cy="749808"/>
          </a:xfrm>
          <a:prstGeom prst="rect">
            <a:avLst/>
          </a:prstGeom>
          <a:noFill/>
        </p:spPr>
        <p:txBody>
          <a:bodyPr wrap="square" anchor="ctr" lIns="0" rIns="0" tIns="0" bIns="0">
            <a:spAutoFit/>
          </a:bodyPr>
          <a:lstStyle/>
          <a:p>
            <a:pPr algn="l">
              <a:lnSpc>
                <a:spcPct val="105000"/>
              </a:lnSpc>
              <a:spcBef>
                <a:spcPts val="0"/>
              </a:spcBef>
              <a:spcAft>
                <a:spcPts val="200"/>
              </a:spcAft>
            </a:pPr>
            <a:r>
              <a:rPr sz="1150" b="0" i="0">
                <a:solidFill>
                  <a:srgbClr val="465257"/>
                </a:solidFill>
                <a:latin typeface="Segoe UI"/>
              </a:rPr>
              <a:t>One platform, one governed copy of data — for analytics and AI alike.</a:t>
            </a:r>
          </a:p>
        </p:txBody>
      </p:sp>
      <p:sp>
        <p:nvSpPr>
          <p:cNvPr id="39" name="TextBox 38"/>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0" name="TextBox 39"/>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66928" y="2011680"/>
            <a:ext cx="82296" cy="137160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41247" y="1920240"/>
            <a:ext cx="9144000" cy="1005840"/>
          </a:xfrm>
          <a:prstGeom prst="rect">
            <a:avLst/>
          </a:prstGeom>
          <a:noFill/>
        </p:spPr>
        <p:txBody>
          <a:bodyPr wrap="square" anchor="t" lIns="0" rIns="0" tIns="0" bIns="0">
            <a:spAutoFit/>
          </a:bodyPr>
          <a:lstStyle/>
          <a:p>
            <a:pPr algn="l">
              <a:lnSpc>
                <a:spcPct val="100000"/>
              </a:lnSpc>
              <a:spcBef>
                <a:spcPts val="0"/>
              </a:spcBef>
              <a:spcAft>
                <a:spcPts val="200"/>
              </a:spcAft>
            </a:pPr>
            <a:r>
              <a:rPr sz="5400" b="1" i="0">
                <a:solidFill>
                  <a:srgbClr val="FFFFFF"/>
                </a:solidFill>
                <a:latin typeface="Segoe UI"/>
              </a:rPr>
              <a:t>Thank You</a:t>
            </a:r>
          </a:p>
        </p:txBody>
      </p:sp>
      <p:sp>
        <p:nvSpPr>
          <p:cNvPr id="10" name="TextBox 9"/>
          <p:cNvSpPr txBox="1"/>
          <p:nvPr/>
        </p:nvSpPr>
        <p:spPr>
          <a:xfrm>
            <a:off x="859536" y="3017520"/>
            <a:ext cx="9692640" cy="548640"/>
          </a:xfrm>
          <a:prstGeom prst="rect">
            <a:avLst/>
          </a:prstGeom>
          <a:noFill/>
        </p:spPr>
        <p:txBody>
          <a:bodyPr wrap="square" anchor="t" lIns="0" rIns="0" tIns="0" bIns="0">
            <a:spAutoFit/>
          </a:bodyPr>
          <a:lstStyle/>
          <a:p>
            <a:pPr algn="l">
              <a:lnSpc>
                <a:spcPct val="120000"/>
              </a:lnSpc>
              <a:spcBef>
                <a:spcPts val="0"/>
              </a:spcBef>
              <a:spcAft>
                <a:spcPts val="200"/>
              </a:spcAft>
            </a:pPr>
            <a:r>
              <a:rPr sz="1500" b="0" i="0">
                <a:solidFill>
                  <a:srgbClr val="C4D0D4"/>
                </a:solidFill>
                <a:latin typeface="Segoe UI"/>
              </a:rPr>
              <a:t>Day 2 complete — you can now read the engine, the workspace and the Lakehouse architecture end to end.</a:t>
            </a:r>
          </a:p>
        </p:txBody>
      </p:sp>
      <p:sp>
        <p:nvSpPr>
          <p:cNvPr id="11" name="TextBox 10"/>
          <p:cNvSpPr txBox="1"/>
          <p:nvPr/>
        </p:nvSpPr>
        <p:spPr>
          <a:xfrm>
            <a:off x="859536" y="3886200"/>
            <a:ext cx="7315200"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6B57"/>
                </a:solidFill>
                <a:latin typeface="Segoe UI Semibold"/>
              </a:rPr>
              <a:t>KEEP BUILDING</a:t>
            </a:r>
          </a:p>
        </p:txBody>
      </p:sp>
      <p:sp>
        <p:nvSpPr>
          <p:cNvPr id="12" name="Rounded Rectangle 11"/>
          <p:cNvSpPr/>
          <p:nvPr/>
        </p:nvSpPr>
        <p:spPr>
          <a:xfrm>
            <a:off x="859536" y="4224528"/>
            <a:ext cx="2116836"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FFFFFF"/>
                </a:solidFill>
                <a:latin typeface="Segoe UI Semibold"/>
              </a:rPr>
              <a:t>docs.databricks.com</a:t>
            </a:r>
          </a:p>
        </p:txBody>
      </p:sp>
      <p:sp>
        <p:nvSpPr>
          <p:cNvPr id="13" name="Rounded Rectangle 12"/>
          <p:cNvSpPr/>
          <p:nvPr/>
        </p:nvSpPr>
        <p:spPr>
          <a:xfrm>
            <a:off x="3177540" y="4224528"/>
            <a:ext cx="2020824"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FFFFFF"/>
                </a:solidFill>
                <a:latin typeface="Segoe UI Semibold"/>
              </a:rPr>
              <a:t>Databricks Academy</a:t>
            </a:r>
          </a:p>
        </p:txBody>
      </p:sp>
      <p:sp>
        <p:nvSpPr>
          <p:cNvPr id="14" name="Rounded Rectangle 13"/>
          <p:cNvSpPr/>
          <p:nvPr/>
        </p:nvSpPr>
        <p:spPr>
          <a:xfrm>
            <a:off x="5399532" y="4224528"/>
            <a:ext cx="2500884"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FFFFFF"/>
                </a:solidFill>
                <a:latin typeface="Segoe UI Semibold"/>
              </a:rPr>
              <a:t>Free Edition — hands-on</a:t>
            </a:r>
          </a:p>
        </p:txBody>
      </p:sp>
      <p:sp>
        <p:nvSpPr>
          <p:cNvPr id="15" name="Rounded Rectangle 14"/>
          <p:cNvSpPr/>
          <p:nvPr/>
        </p:nvSpPr>
        <p:spPr>
          <a:xfrm>
            <a:off x="8101583" y="4224528"/>
            <a:ext cx="2500884"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FFFFFF"/>
                </a:solidFill>
                <a:latin typeface="Segoe UI Semibold"/>
              </a:rPr>
              <a:t>Delta Lake &amp; Spark docs</a:t>
            </a:r>
          </a:p>
        </p:txBody>
      </p:sp>
      <p:sp>
        <p:nvSpPr>
          <p:cNvPr id="16" name="Oval 15"/>
          <p:cNvSpPr/>
          <p:nvPr/>
        </p:nvSpPr>
        <p:spPr>
          <a:xfrm>
            <a:off x="868679" y="4992624"/>
            <a:ext cx="713232" cy="713232"/>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Lightning Bolt 16"/>
          <p:cNvSpPr/>
          <p:nvPr/>
        </p:nvSpPr>
        <p:spPr>
          <a:xfrm>
            <a:off x="1110465" y="5185196"/>
            <a:ext cx="229660" cy="328086"/>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68096"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50" b="0" i="0">
                <a:solidFill>
                  <a:srgbClr val="C4D0D4"/>
                </a:solidFill>
                <a:latin typeface="Segoe UI"/>
              </a:rPr>
              <a:t>Spark</a:t>
            </a:r>
          </a:p>
        </p:txBody>
      </p:sp>
      <p:sp>
        <p:nvSpPr>
          <p:cNvPr id="19" name="Oval 18"/>
          <p:cNvSpPr/>
          <p:nvPr/>
        </p:nvSpPr>
        <p:spPr>
          <a:xfrm>
            <a:off x="1920239" y="4992624"/>
            <a:ext cx="713232" cy="713232"/>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Folded Corner 19"/>
          <p:cNvSpPr/>
          <p:nvPr/>
        </p:nvSpPr>
        <p:spPr>
          <a:xfrm>
            <a:off x="2171868" y="5211443"/>
            <a:ext cx="209975" cy="275592"/>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819655"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50" b="0" i="0">
                <a:solidFill>
                  <a:srgbClr val="C4D0D4"/>
                </a:solidFill>
                <a:latin typeface="Segoe UI"/>
              </a:rPr>
              <a:t>Workspace</a:t>
            </a:r>
          </a:p>
        </p:txBody>
      </p:sp>
      <p:sp>
        <p:nvSpPr>
          <p:cNvPr id="22" name="Oval 21"/>
          <p:cNvSpPr/>
          <p:nvPr/>
        </p:nvSpPr>
        <p:spPr>
          <a:xfrm>
            <a:off x="2971799" y="4992624"/>
            <a:ext cx="713232" cy="713232"/>
          </a:xfrm>
          <a:prstGeom prst="ellipse">
            <a:avLst/>
          </a:prstGeom>
          <a:solidFill>
            <a:srgbClr val="0E8C9C"/>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218178" y="5239002"/>
            <a:ext cx="89239" cy="89239"/>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3349413" y="5239002"/>
            <a:ext cx="89239" cy="89239"/>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3218178" y="5370237"/>
            <a:ext cx="89239" cy="89239"/>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3349413" y="5370237"/>
            <a:ext cx="89239" cy="89239"/>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871215"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50" b="0" i="0">
                <a:solidFill>
                  <a:srgbClr val="C4D0D4"/>
                </a:solidFill>
                <a:latin typeface="Segoe UI"/>
              </a:rPr>
              <a:t>Clusters</a:t>
            </a:r>
          </a:p>
        </p:txBody>
      </p:sp>
      <p:sp>
        <p:nvSpPr>
          <p:cNvPr id="28" name="Oval 27"/>
          <p:cNvSpPr/>
          <p:nvPr/>
        </p:nvSpPr>
        <p:spPr>
          <a:xfrm>
            <a:off x="4023360" y="4992624"/>
            <a:ext cx="713232" cy="713232"/>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Isosceles Triangle 28"/>
          <p:cNvSpPr/>
          <p:nvPr/>
        </p:nvSpPr>
        <p:spPr>
          <a:xfrm>
            <a:off x="4215932" y="5201600"/>
            <a:ext cx="328086" cy="295278"/>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922776"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50" b="0" i="0">
                <a:solidFill>
                  <a:srgbClr val="C4D0D4"/>
                </a:solidFill>
                <a:latin typeface="Segoe UI"/>
              </a:rPr>
              <a:t>Delta</a:t>
            </a:r>
          </a:p>
        </p:txBody>
      </p:sp>
      <p:sp>
        <p:nvSpPr>
          <p:cNvPr id="31" name="Oval 30"/>
          <p:cNvSpPr/>
          <p:nvPr/>
        </p:nvSpPr>
        <p:spPr>
          <a:xfrm>
            <a:off x="5074920" y="4992624"/>
            <a:ext cx="713232" cy="713232"/>
          </a:xfrm>
          <a:prstGeom prst="ellipse">
            <a:avLst/>
          </a:prstGeom>
          <a:solidFill>
            <a:srgbClr val="D8A32B"/>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Diamond 31"/>
          <p:cNvSpPr/>
          <p:nvPr/>
        </p:nvSpPr>
        <p:spPr>
          <a:xfrm>
            <a:off x="5280616" y="5185196"/>
            <a:ext cx="301839" cy="328086"/>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4974336"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50" b="0" i="0">
                <a:solidFill>
                  <a:srgbClr val="C4D0D4"/>
                </a:solidFill>
                <a:latin typeface="Segoe UI"/>
              </a:rPr>
              <a:t>Medallion</a:t>
            </a:r>
          </a:p>
        </p:txBody>
      </p:sp>
      <p:sp>
        <p:nvSpPr>
          <p:cNvPr id="34" name="Oval 33"/>
          <p:cNvSpPr/>
          <p:nvPr/>
        </p:nvSpPr>
        <p:spPr>
          <a:xfrm>
            <a:off x="6126480" y="4992624"/>
            <a:ext cx="713232" cy="713232"/>
          </a:xfrm>
          <a:prstGeom prst="ellipse">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6371546" y="5332835"/>
            <a:ext cx="223098" cy="164043"/>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Block Arc 35"/>
          <p:cNvSpPr/>
          <p:nvPr/>
        </p:nvSpPr>
        <p:spPr>
          <a:xfrm>
            <a:off x="6404355" y="5185196"/>
            <a:ext cx="157481" cy="164043"/>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025896"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50" b="0" i="0">
                <a:solidFill>
                  <a:srgbClr val="C4D0D4"/>
                </a:solidFill>
                <a:latin typeface="Segoe UI"/>
              </a:rPr>
              <a:t>Unity Catalog</a:t>
            </a:r>
          </a:p>
        </p:txBody>
      </p:sp>
      <p:sp>
        <p:nvSpPr>
          <p:cNvPr id="38" name="TextBox 37"/>
          <p:cNvSpPr txBox="1"/>
          <p:nvPr/>
        </p:nvSpPr>
        <p:spPr>
          <a:xfrm>
            <a:off x="7955279" y="5989320"/>
            <a:ext cx="3669487" cy="274320"/>
          </a:xfrm>
          <a:prstGeom prst="rect">
            <a:avLst/>
          </a:prstGeom>
          <a:noFill/>
        </p:spPr>
        <p:txBody>
          <a:bodyPr wrap="square" anchor="t" lIns="0" rIns="0" tIns="0" bIns="0">
            <a:spAutoFit/>
          </a:bodyPr>
          <a:lstStyle/>
          <a:p>
            <a:pPr algn="r">
              <a:lnSpc>
                <a:spcPct val="100000"/>
              </a:lnSpc>
              <a:spcBef>
                <a:spcPts val="0"/>
              </a:spcBef>
              <a:spcAft>
                <a:spcPts val="200"/>
              </a:spcAft>
            </a:pPr>
            <a:r>
              <a:rPr sz="1200" b="0" i="1">
                <a:solidFill>
                  <a:srgbClr val="9AA6AB"/>
                </a:solidFill>
                <a:latin typeface="Segoe UI"/>
              </a:rPr>
              <a:t>Next: hands-on lab &amp; Delta Live Tables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Databricks Day 2 — Spark, Workspace &amp; Lakehouse</dc:title>
  <dc:subject>Apache Spark Fundamentals · Workspace Components · Lakehouse Architecture</dc:subject>
  <dc:creator>Enterprise Data Platform Training Series</dc:creator>
  <cp:keywords>Databricks, Lakehouse, Delta Lake, Apache Spark, Big Data, Unity Catalog</cp:keywords>
  <dc:description>generated using python-pptx</dc:description>
  <cp:lastModifiedBy>Steve Canny</cp:lastModifiedBy>
  <cp:revision>1</cp:revision>
  <dcterms:created xsi:type="dcterms:W3CDTF">2013-01-27T09:14:16Z</dcterms:created>
  <dcterms:modified xsi:type="dcterms:W3CDTF">2013-01-27T09:15:58Z</dcterms:modified>
  <cp:category>Technical Training</cp:category>
</cp:coreProperties>
</file>