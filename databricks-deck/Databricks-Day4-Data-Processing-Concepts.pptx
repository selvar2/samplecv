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Day 4 — the conceptual backbone that ties the series together. Where earlier days covered specific technologies (Spark, the Workspace, Delta Lake), today is about the universal CONCEPTS of data processing: how raw data becomes trusted insight. We'll follow data left to right through five parts — sources &amp; types, ingestion, transformation and ETL/ELT, distributed processing &amp; pipelines, and finally quality &amp; storage — landing on the end-to-end Databricks flow. The concepts are vendor-neutral, but we'll always anchor them in how Databricks implements them. Aimed at beginner-to-intermediate practitioners.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'why' before the 'how'. Raw data on its own is noise — scattered across systems, inconsistent, and unusable for decisions. Processing is the act of turning that raw data into insight, and insight into business value. Use the three-step flow to make it concrete, then the four outcome cards to show why organizations invest: faster decisions, automation, innovation (ML/AI), and better customer experience. The takeaway: data processing isn't back-office plumbing — it's the engine that converts data into competitive advantage.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spine of the entire deck — the seven-stage data journey that every platform follows. Data is GENERATED by apps, sensors and events; COLLECTED via ingestion; PROCESSED (cleaned and transformed); STORED in a lake or lakehouse; ANALYZED with SQL, ML and statistics; VISUALIZED in dashboards; and finally acted upon — driving decisions and automation. Tell the audience this slide is the map: each subsequent section zooms into one or more of these stages. Keep it memorable — if they remember nothing else, they should remember this arc.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01: Data Sources &amp; Types. Transition slide — pause, then preview the four ideas listed. Use it to re-anchor the narrative and tell the audience what they'll be able to do by the end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Enterprises pull data from a sprawl of sources — and the variety is exactly what makes processing hard. Walk the six categories: transactional DATABASES (the structured core), APIs (internal services and SaaS like Salesforce), IoT &amp; SENSORS (high-velocity telemetry), APPLICATIONS (web/mobile event streams), LOGS &amp; FILES (semi-structured exports and machine logs), and SOCIAL &amp; WEB (clickstream and external feeds). The key teaching point: these sources differ in structure, speed and volume, so a platform must ingest and reconcile all of them — which sets up the next slide on data types and the whole ingestion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comes in three shapes, and the mix has shifted dramatically. STRUCTURED data fits neat rows and columns with a fixed schema — SQL tables, CSVs — and lives in warehouses; it's only about 20% of enterprise data today. SEMI-STRUCTURED data (JSON, XML, logs) carries its own flexible schema and is growing fast. UNSTRUCTURED data — text, images, audio, video — has no schema at all and is now roughly 80% of all data. The implication: traditional warehouses, built only for structured data, can't handle the modern mix — which is why lakes and lakehouses exist. (Percentages are common industry estimates.)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02: Data Ingestion. Transition slide — pause, then preview the four ideas listed. Use it to re-anchor the narrative and tell the audience what they'll be able to do by the end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ingestion simply: it's the process of getting data FROM source systems INTO your data platform. It's the first stage of every pipeline and the foundation everything else builds on. The ingestion layer connects to each source, extracts the data, and lands it (usually raw, in a Bronze layer). The hard parts — which the next slides cover — are doing this reliably (no lost or duplicated records) and choosing the right mode: batch (periodic) or streaming (continuous). On Databricks, Auto Loader and Lakeflow Connect handle both.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 ingestion loads data in scheduled chunks — for example, every night at 2am, or every few hours. Use the clock timeline to make the 'periodic' nature visceral. Batch is the workhorse of data engineering: it's simple, cheap, easy to reason about, and perfect for large historical loads and reports where some latency (minutes to hours) is fine. The trade-off is freshness — you only see data as recent as the last run. That limitation is exactly what streaming ingestion, on the next slide, solves. On Databricks, scheduled Jobs/Workflows and Auto Loader handle incremental batch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Streaming ingestion processes data continuously, as it arrives, rather than waiting for a schedule. Sources like Kafka, IoT devices and event streams feed a continuous ingestion layer that lands data in (for example) a Delta Bronze table within seconds. Use cases demand freshness: fraud detection, real-time monitoring, live operational dashboards, recommendations. The trade-off vs batch is more complexity and (often) cost. The good news on Databricks: Structured Streaming and Auto Loader let you write streaming ingestion with almost the same code as batch, and Delta tables safely accept continuous writes — so the gap between batch and streaming is small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choice concrete with a side-by-side. BATCH runs on a schedule with minutes-to-hours latency, handles large bounded chunks, is simpler and cheaper, and suits reports, historical loads and classic ETL. STREAMING runs continuously with sub-second latency over an unbounded flow of events, has more moving parts and higher always-on cost, and suits fraud detection, IoT and live dashboards. The modern reality: it's not either/or — many pipelines do both, and Delta Lake plus Structured Streaming let one table and nearly one codebase serve both, so teams pick the right mode per use case rather than maintaining two separate stacks.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03: Transformation · ETL &amp; ELT. Transition slide — pause, then preview the four ideas listed. Use it to re-anchor the narrative and tell the audience what they'll be able to do by the end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Transformation is where raw data becomes useful — the core of 'data processing.' Walk the arc: RAW data is messy and untrusted; CLEAN fixes nulls, wrong types, errors and duplicates; STANDARDIZE conforms formats, units and keys so data from different sources lines up; ENRICH joins reference data and derives new fields; and the result is PROCESSED, analytics-ready data. Crucially, this is exactly the medallion pattern from earlier days — Bronze (raw) → Silver (clean/standardized) → Gold (enriched/aggregated). On Databricks this runs as Spark/SQL transformations over Delta tables.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building blocks engineers combine in every pipeline. FILTERING keeps relevant rows. AGGREGATION rolls data up into sums, counts and averages (the basis of most reporting). JOINING combines datasets on keys — the workhorse of enrichment. SORTING orders data. DEDUPLICATION removes duplicates (critical after retries or streaming). VALIDATION enforces rules and types to guarantee quality. In Spark/SQL these are expressed declaratively — filter, groupBy, join, orderBy, dropDuplicates — and the engine optimizes how they run. Most real transformations are just compositions of these six.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ETL — Extract, Transform, Load — is the classic data-warehouse pattern. You EXTRACT from sources, TRANSFORM on a separate staging/ETL engine, and only then LOAD the clean, modelled result into the warehouse. The defining trait: transformation happens BEFORE loading, so the warehouse only ever holds polished data. This made sense when storage and warehouse compute were expensive — you didn't want raw data sitting in a costly warehouse. The downside is rigidity and a separate transformation tier. Contrast this with ELT on the next slide, which the cloud made possible.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ELT — Extract, Load, Transform — flips the last two steps and is the modern, cloud-native approach. You EXTRACT, LOAD raw data straight into cheap lake/lakehouse storage, and TRANSFORM it there using elastic compute like Spark. Why the flip works now: cloud storage is cheap (so keeping raw data is fine) and cloud compute is elastic and powerful (so transforming at scale in-place is easy). Benefits: you keep the raw data (great for reprocessing and ML), transformations are flexible, and there's no separate ETL tier. This is exactly the medallion pattern — load to Bronze, then transform to Silver and Gold. Databricks is built for ELT.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shift. The headline difference is ORDER — ETL transforms before loading, ELT loads then transforms. That cascades into everything else: ETL transforms on a separate engine and keeps only modelled data; ELT transforms in the lakehouse and keeps the full raw history (valuable for reprocessing and ML). ELT scales with elastic cloud compute and leans on cheap storage, while ETL carries more fixed infrastructure overhead. ETL was right for the on-prem warehouse era; ELT is the modern lakehouse standard. Be balanced — ETL still appears where strict pre-load governance is required — but the industry has shifted decisively to ELT, which is what Databricks is designed for.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04: Distributed Processing &amp; Pipelines. Transition slide — pause, then preview the four ideas listed. Use it to re-anchor the narrative and tell the audience what they'll be able to do by the end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fundamental shift behind all modern data processing. A SINGLE SERVER has a hard ceiling — you can only buy so big a machine (scale UP), it's a single point of failure, and at terabyte-plus scale it grinds to a halt. DISTRIBUTED / CLUSTER processing instead splits the work across many machines running in parallel (scale OUT) — add nodes for more capacity, partition data to handle petabytes, and tolerate failures because no single node is critical. This 'scale out, not up' principle is the foundation of Spark and every cloud data platform. It's why we can process data volumes that were impossible a decade ago.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(or recap, for those who saw Day 2) Spark's execution model — the canonical distributed engine. The DRIVER is the brain: it plans the job and coordinates. EXECUTORS are worker processes spread across the cluster that actually run the computation. TASKS are the atoms of work — each one processes a single partition of the data, and many run in parallel, which is where the speed comes from. Keep it crisp: driver coordinates, executors work, tasks run in parallel on partitions, all in memory. This is how a logical transformation becomes thousands of parallel operations across a cluster.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data's-eye view of a Spark job. READ loads the input. PARTITION splits it into chunks distributed across the cluster — this is the key step. TRANSFORM applies your operations to each partition independently. EXECUTE runs those as parallel tasks on the executors. WRITE persists the results. The teaching point: partitioning is what makes scale possible — a 1TB job becomes thousands of small partition-sized tasks that run simultaneously. Mention that Spark is lazy (it plans the whole DAG before running) and runs in memory, which is why it's fast. This connects the abstract 'distributed processing' idea to concrete mechanics.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 pipeline is an automated, repeatable sequence of steps that moves data from source to destination — ingest, process, store, serve. The keyword is AUTOMATED: instead of someone running scripts by hand, a pipeline runs on a schedule or continuously, reliably, with error handling and monitoring. Think of it as a factory assembly line for data. The next two slides break this into a concrete architecture and the orchestration that runs it. On Databricks, pipelines are built with Workflows, Delta Live Tables / Lakeflow Declarative Pipelines, and notebooks.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reference architecture every modern pipeline follows: SOURCES → INGESTION → PROCESSING → STORAGE → ANALYTICS, with governance and orchestration spanning all of it. It's the seven-stage data journey from the intro, compressed into the five engineering stages teams actually build. Note how it maps to Databricks: Auto Loader for ingestion, Spark for processing, Delta + medallion for storage, and SQL/BI/ML for analytics — all governed by Unity Catalog and run by Workflows. This slide is the bridge between the abstract concepts and a real platform.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Orchestration is the conductor that makes a pipeline production-grade. JOBS &amp; TASKS define the multi-step workflow — a DAG of work. SCHEDULING decides when it runs (cron, triggers, or continuous). DEPENDENCIES ensure tasks run in the correct order and that a failure halts the downstream steps instead of producing bad data. MONITORING tracks every run, sends alerts, retries transient failures, and surfaces lineage. Without orchestration you have scripts; with it you have a reliable, observable pipeline. On Databricks this is Workflows (orchestration) plus Lakeflow / Delta Live Tables for declarative pipelines. Tools like Airflow play the same role elsewhere.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05: Quality, Storage &amp; Databricks. Transition slide — pause, then preview the four ideas listed. Use it to re-anchor the narrative and tell the audience what they'll be able to do by the end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is the difference between a platform people trust and one they ignore. Walk the four consequences of poor quality: COSTLY MISTAKES (wrong data → wrong decisions → financial loss), BROKEN TRUST (one bad dashboard and stakeholders stop believing all of them), WASTED TIME (endless reconciliation), and COMPLIANCE RISK (inaccurate or unauditable data). The principle on the right — 'garbage in, garbage out' — is the heart of it: processing can clean and reshape data, but it can't invent correctness that wasn't there. That's why quality checks belong throughout the pipeline, which the next slide breaks into measurable dimensions.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quality isn't vague — it's measurable across six dimensions, shown here as a wheel. ACCURACY: does the data reflect reality? COMPLETENESS: are values present, not missing? CONSISTENCY: does it agree across systems and over time? TIMELINESS: is it fresh enough for its use? VALIDITY: does it conform to the rules, formats and ranges it should? UNIQUENESS: are there no unintended duplicates? Great pipelines measure and enforce these continuously — and Delta's schema enforcement, constraints and expectations (in Delta Live Tables / Lakeflow) automate many of them. Give the room a concrete example for each, e.g. a phone number that's valid in format but inaccurate in value.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 together the storage evolution the series has touched on. The DATA WAREHOUSE handles only structured data with fast SQL, but it's rigid, expensive to scale, and can't do ML or raw data. The DATA LAKE stores any data cheaply and is great for ML, but lacks reliability and governance and tends to become a swamp. The LAKEHOUSE (highlighted) combines both — all data on one open platform, ACID reliability on cheap storage, BI and ML together, fully governed. This is the architecture Databricks pioneered, and it's why we don't have to choose between a warehouse and a lake anymore. It sets up the medallion and end-to-end slides that close the day.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medallion architecture is the practical home for everything in this deck — it operationalizes the transformation arc, the quality dimensions and the storage layers all at once. BRONZE holds raw ingested data (full history, source of truth). SILVER is cleansed, de-duplicated, conformed and joined — trusted and queryable. GOLD is curated business aggregates, KPIs and ML features — consumption-ready. Quality rises at each hop. Because (on Databricks) every layer is a Delta table, each transformation is reliable and reversible. This pattern has appeared every day of the series; by now the audience should see it as the default shape of a data platform.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 every concept from the day realized on Databricks. SOURCES are ingested incrementally by AUTO LOADER into DELTA LAKE (reliable storage), processed by SPARK (distributed processing), organized as a medallion LAKEHOUSE, and served to BI and AI. Underneath, Unity Catalog governs every stage and Workflows orchestrate the pipeline. Walk it slowly and explicitly map each box to a concept covered today: ingestion (batch/streaming), processing (distributed Spark), transformation (medallion), storage (lakehouse), quality and governance. This single slide is the answer to 'how does Databricks do data processing?'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Distil the day into actionable habits. Prefer ELT and the medallion structure. Embed quality checks throughout the pipeline rather than discovering problems at the end. Choose batch or streaming deliberately based on the use case's latency needs. Make pipelines IDEMPOTENT — running them twice produces the same result — which is essential for safe retries (MERGE and Delta make this easy). Partition thoughtfully to avoid the small-file problem. Orchestrate properly with dependencies, retries and monitoring. And govern and document datasets from the start. These eight habits separate fragile, hand-run scripts from robust production data platforms.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concepts with industry proof points, each combining the day's ideas. Retail blends batch sales with supply data for forecasting. Banking runs streaming fraud detection. Telecom processes massive network telemetry in real time. Healthcare unifies structured records with unstructured imaging. Manufacturing builds IoT pipelines for predictive maintenance. E-commerce joins clickstream and orders for live recommendations. Pick the two closest to your audience and trace the full journey — sources, ingestion mode, transformations, storage, analytics — so they see the concepts working together. Every one of these runs on the same processing fundamentals.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arc. THE JOURNEY: data flows generate→…→act, turning raw signals into value. INGEST &amp; MOVE: choose batch vs streaming, and prefer ELT over ETL in the cloud. PROCESS AT SCALE: scale out, not up — Spark partitions work across a cluster. QUALITY &amp; STORE: measure the six quality dimensions and land data in a medallion on the Lakehouse. Quiz the room on the four banner statements. If they can sketch the data journey and explain why we scale out and prefer ELT, the day succeeded. Transition to Q&amp;A.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day and the conceptual track. Recap the six icons — the journey, ingestion, transformation, Spark, quality and the Lakehouse. Point to resources: the docs, Databricks Academy, the free edition for hands-on practice, and the Lakeflow / Delta Live Tables docs for building declarative pipelines. Preview the next session — a hands-on lab where they build an end-to-end medallion pipeline with ingestion, transformation and orchestration. Open the floor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8979408" y="2395728"/>
            <a:ext cx="146304" cy="146304"/>
          </a:xfrm>
          <a:prstGeom prst="ellipse">
            <a:avLst/>
          </a:prstGeom>
          <a:solidFill>
            <a:srgbClr val="3559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9518904" y="2368296"/>
            <a:ext cx="201168" cy="201168"/>
          </a:xfrm>
          <a:prstGeom prst="ellipse">
            <a:avLst/>
          </a:prstGeom>
          <a:solidFill>
            <a:srgbClr val="3559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10058400" y="2340864"/>
            <a:ext cx="256032" cy="256032"/>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10652760" y="2368296"/>
            <a:ext cx="201168" cy="201168"/>
          </a:xfrm>
          <a:prstGeom prst="ellipse">
            <a:avLst/>
          </a:prstGeom>
          <a:solidFill>
            <a:srgbClr val="3559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1247120" y="2395728"/>
            <a:ext cx="146304" cy="146304"/>
          </a:xfrm>
          <a:prstGeom prst="ellipse">
            <a:avLst/>
          </a:prstGeom>
          <a:solidFill>
            <a:srgbClr val="3559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ight Arrow 12"/>
          <p:cNvSpPr/>
          <p:nvPr/>
        </p:nvSpPr>
        <p:spPr>
          <a:xfrm>
            <a:off x="8869680" y="2926080"/>
            <a:ext cx="2743200" cy="310896"/>
          </a:xfrm>
          <a:prstGeom prst="rightArrow">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1325880"/>
            <a:ext cx="82296" cy="182880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41247" y="1280160"/>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50" b="1" i="0">
                <a:solidFill>
                  <a:srgbClr val="FF6B57"/>
                </a:solidFill>
                <a:latin typeface="Segoe UI Semibold"/>
              </a:rPr>
              <a:t>DATABRICKS ENABLEMENT  ·  DAY 4</a:t>
            </a:r>
          </a:p>
        </p:txBody>
      </p:sp>
      <p:sp>
        <p:nvSpPr>
          <p:cNvPr id="16" name="TextBox 15"/>
          <p:cNvSpPr txBox="1"/>
          <p:nvPr/>
        </p:nvSpPr>
        <p:spPr>
          <a:xfrm>
            <a:off x="813816" y="1664208"/>
            <a:ext cx="10424160" cy="1097280"/>
          </a:xfrm>
          <a:prstGeom prst="rect">
            <a:avLst/>
          </a:prstGeom>
          <a:noFill/>
        </p:spPr>
        <p:txBody>
          <a:bodyPr wrap="square" anchor="t" lIns="0" rIns="0" tIns="0" bIns="0">
            <a:spAutoFit/>
          </a:bodyPr>
          <a:lstStyle/>
          <a:p>
            <a:pPr algn="l">
              <a:lnSpc>
                <a:spcPct val="100000"/>
              </a:lnSpc>
              <a:spcBef>
                <a:spcPts val="0"/>
              </a:spcBef>
              <a:spcAft>
                <a:spcPts val="200"/>
              </a:spcAft>
            </a:pPr>
            <a:r>
              <a:rPr sz="4600" b="1" i="0">
                <a:solidFill>
                  <a:srgbClr val="FFFFFF"/>
                </a:solidFill>
                <a:latin typeface="Segoe UI"/>
              </a:rPr>
              <a:t>Data Processing Concepts</a:t>
            </a:r>
          </a:p>
        </p:txBody>
      </p:sp>
      <p:sp>
        <p:nvSpPr>
          <p:cNvPr id="17" name="TextBox 16"/>
          <p:cNvSpPr txBox="1"/>
          <p:nvPr/>
        </p:nvSpPr>
        <p:spPr>
          <a:xfrm>
            <a:off x="832103" y="2615184"/>
            <a:ext cx="10058400" cy="731520"/>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FF3621"/>
                </a:solidFill>
                <a:latin typeface="Segoe UI Light"/>
              </a:rPr>
              <a:t>From raw signals to enterprise insight</a:t>
            </a:r>
          </a:p>
        </p:txBody>
      </p:sp>
      <p:sp>
        <p:nvSpPr>
          <p:cNvPr id="18" name="TextBox 17"/>
          <p:cNvSpPr txBox="1"/>
          <p:nvPr/>
        </p:nvSpPr>
        <p:spPr>
          <a:xfrm>
            <a:off x="841247" y="3456432"/>
            <a:ext cx="7863840" cy="640080"/>
          </a:xfrm>
          <a:prstGeom prst="rect">
            <a:avLst/>
          </a:prstGeom>
          <a:noFill/>
        </p:spPr>
        <p:txBody>
          <a:bodyPr wrap="square" anchor="t" lIns="0" rIns="0" tIns="0" bIns="0">
            <a:spAutoFit/>
          </a:bodyPr>
          <a:lstStyle/>
          <a:p>
            <a:pPr algn="l">
              <a:lnSpc>
                <a:spcPct val="125000"/>
              </a:lnSpc>
              <a:spcBef>
                <a:spcPts val="0"/>
              </a:spcBef>
              <a:spcAft>
                <a:spcPts val="200"/>
              </a:spcAft>
            </a:pPr>
            <a:r>
              <a:rPr sz="1400" b="0" i="0">
                <a:solidFill>
                  <a:srgbClr val="C4D0D4"/>
                </a:solidFill>
                <a:latin typeface="Segoe UI"/>
              </a:rPr>
              <a:t>How modern data flows through a platform — sources, ingestion, transformation, distributed processing, pipelines, quality and storage.</a:t>
            </a:r>
          </a:p>
        </p:txBody>
      </p:sp>
      <p:sp>
        <p:nvSpPr>
          <p:cNvPr id="19" name="Rounded Rectangle 18"/>
          <p:cNvSpPr/>
          <p:nvPr/>
        </p:nvSpPr>
        <p:spPr>
          <a:xfrm>
            <a:off x="841247" y="4434840"/>
            <a:ext cx="1975104" cy="530352"/>
          </a:xfrm>
          <a:prstGeom prst="roundRect">
            <a:avLst>
              <a:gd name="adj" fmla="val 50000"/>
            </a:avLst>
          </a:prstGeom>
          <a:noFill/>
          <a:ln w="1524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69264" y="4434840"/>
            <a:ext cx="1792224" cy="530352"/>
          </a:xfrm>
          <a:prstGeom prst="rect">
            <a:avLst/>
          </a:prstGeom>
          <a:noFill/>
        </p:spPr>
        <p:txBody>
          <a:bodyPr wrap="square" anchor="ctr" lIns="0" rIns="0" tIns="0" bIns="0">
            <a:spAutoFit/>
          </a:bodyPr>
          <a:lstStyle/>
          <a:p>
            <a:pPr algn="ctr">
              <a:lnSpc>
                <a:spcPct val="100000"/>
              </a:lnSpc>
              <a:spcBef>
                <a:spcPts val="0"/>
              </a:spcBef>
              <a:spcAft>
                <a:spcPts val="200"/>
              </a:spcAft>
            </a:pPr>
            <a:r>
              <a:rPr sz="1050" b="1" i="0">
                <a:solidFill>
                  <a:srgbClr val="FF3621"/>
                </a:solidFill>
                <a:latin typeface="Segoe UI"/>
              </a:rPr>
              <a:t>01 </a:t>
            </a:r>
            <a:r>
              <a:rPr sz="930" b="1" i="0">
                <a:solidFill>
                  <a:srgbClr val="FFFFFF"/>
                </a:solidFill>
                <a:latin typeface="Segoe UI"/>
              </a:rPr>
              <a:t>Sources &amp; Types</a:t>
            </a:r>
          </a:p>
        </p:txBody>
      </p:sp>
      <p:sp>
        <p:nvSpPr>
          <p:cNvPr id="21" name="Rounded Rectangle 20"/>
          <p:cNvSpPr/>
          <p:nvPr/>
        </p:nvSpPr>
        <p:spPr>
          <a:xfrm>
            <a:off x="2953512" y="4434840"/>
            <a:ext cx="1975104" cy="530352"/>
          </a:xfrm>
          <a:prstGeom prst="roundRect">
            <a:avLst>
              <a:gd name="adj" fmla="val 50000"/>
            </a:avLst>
          </a:prstGeom>
          <a:noFill/>
          <a:ln w="1524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081528" y="4434840"/>
            <a:ext cx="1792224" cy="530352"/>
          </a:xfrm>
          <a:prstGeom prst="rect">
            <a:avLst/>
          </a:prstGeom>
          <a:noFill/>
        </p:spPr>
        <p:txBody>
          <a:bodyPr wrap="square" anchor="ctr" lIns="0" rIns="0" tIns="0" bIns="0">
            <a:spAutoFit/>
          </a:bodyPr>
          <a:lstStyle/>
          <a:p>
            <a:pPr algn="ctr">
              <a:lnSpc>
                <a:spcPct val="100000"/>
              </a:lnSpc>
              <a:spcBef>
                <a:spcPts val="0"/>
              </a:spcBef>
              <a:spcAft>
                <a:spcPts val="200"/>
              </a:spcAft>
            </a:pPr>
            <a:r>
              <a:rPr sz="1050" b="1" i="0">
                <a:solidFill>
                  <a:srgbClr val="FF3621"/>
                </a:solidFill>
                <a:latin typeface="Segoe UI"/>
              </a:rPr>
              <a:t>02 </a:t>
            </a:r>
            <a:r>
              <a:rPr sz="930" b="1" i="0">
                <a:solidFill>
                  <a:srgbClr val="FFFFFF"/>
                </a:solidFill>
                <a:latin typeface="Segoe UI"/>
              </a:rPr>
              <a:t>Ingestion</a:t>
            </a:r>
          </a:p>
        </p:txBody>
      </p:sp>
      <p:sp>
        <p:nvSpPr>
          <p:cNvPr id="23" name="Rounded Rectangle 22"/>
          <p:cNvSpPr/>
          <p:nvPr/>
        </p:nvSpPr>
        <p:spPr>
          <a:xfrm>
            <a:off x="5065776" y="4434840"/>
            <a:ext cx="1975104" cy="530352"/>
          </a:xfrm>
          <a:prstGeom prst="roundRect">
            <a:avLst>
              <a:gd name="adj" fmla="val 50000"/>
            </a:avLst>
          </a:prstGeom>
          <a:noFill/>
          <a:ln w="1524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93792" y="4434840"/>
            <a:ext cx="1792224" cy="530352"/>
          </a:xfrm>
          <a:prstGeom prst="rect">
            <a:avLst/>
          </a:prstGeom>
          <a:noFill/>
        </p:spPr>
        <p:txBody>
          <a:bodyPr wrap="square" anchor="ctr" lIns="0" rIns="0" tIns="0" bIns="0">
            <a:spAutoFit/>
          </a:bodyPr>
          <a:lstStyle/>
          <a:p>
            <a:pPr algn="ctr">
              <a:lnSpc>
                <a:spcPct val="100000"/>
              </a:lnSpc>
              <a:spcBef>
                <a:spcPts val="0"/>
              </a:spcBef>
              <a:spcAft>
                <a:spcPts val="200"/>
              </a:spcAft>
            </a:pPr>
            <a:r>
              <a:rPr sz="1050" b="1" i="0">
                <a:solidFill>
                  <a:srgbClr val="FF3621"/>
                </a:solidFill>
                <a:latin typeface="Segoe UI"/>
              </a:rPr>
              <a:t>03 </a:t>
            </a:r>
            <a:r>
              <a:rPr sz="930" b="1" i="0">
                <a:solidFill>
                  <a:srgbClr val="FFFFFF"/>
                </a:solidFill>
                <a:latin typeface="Segoe UI"/>
              </a:rPr>
              <a:t>Transform · ETL/ELT</a:t>
            </a:r>
          </a:p>
        </p:txBody>
      </p:sp>
      <p:sp>
        <p:nvSpPr>
          <p:cNvPr id="25" name="Rounded Rectangle 24"/>
          <p:cNvSpPr/>
          <p:nvPr/>
        </p:nvSpPr>
        <p:spPr>
          <a:xfrm>
            <a:off x="7178040" y="4434840"/>
            <a:ext cx="1975104" cy="530352"/>
          </a:xfrm>
          <a:prstGeom prst="roundRect">
            <a:avLst>
              <a:gd name="adj" fmla="val 50000"/>
            </a:avLst>
          </a:prstGeom>
          <a:noFill/>
          <a:ln w="1524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306055" y="4434840"/>
            <a:ext cx="1792224" cy="530352"/>
          </a:xfrm>
          <a:prstGeom prst="rect">
            <a:avLst/>
          </a:prstGeom>
          <a:noFill/>
        </p:spPr>
        <p:txBody>
          <a:bodyPr wrap="square" anchor="ctr" lIns="0" rIns="0" tIns="0" bIns="0">
            <a:spAutoFit/>
          </a:bodyPr>
          <a:lstStyle/>
          <a:p>
            <a:pPr algn="ctr">
              <a:lnSpc>
                <a:spcPct val="100000"/>
              </a:lnSpc>
              <a:spcBef>
                <a:spcPts val="0"/>
              </a:spcBef>
              <a:spcAft>
                <a:spcPts val="200"/>
              </a:spcAft>
            </a:pPr>
            <a:r>
              <a:rPr sz="1050" b="1" i="0">
                <a:solidFill>
                  <a:srgbClr val="FF3621"/>
                </a:solidFill>
                <a:latin typeface="Segoe UI"/>
              </a:rPr>
              <a:t>04 </a:t>
            </a:r>
            <a:r>
              <a:rPr sz="930" b="1" i="0">
                <a:solidFill>
                  <a:srgbClr val="FFFFFF"/>
                </a:solidFill>
                <a:latin typeface="Segoe UI"/>
              </a:rPr>
              <a:t>Processing &amp; Pipelines</a:t>
            </a:r>
          </a:p>
        </p:txBody>
      </p:sp>
      <p:sp>
        <p:nvSpPr>
          <p:cNvPr id="27" name="Rounded Rectangle 26"/>
          <p:cNvSpPr/>
          <p:nvPr/>
        </p:nvSpPr>
        <p:spPr>
          <a:xfrm>
            <a:off x="9290304" y="4434840"/>
            <a:ext cx="1975104" cy="530352"/>
          </a:xfrm>
          <a:prstGeom prst="roundRect">
            <a:avLst>
              <a:gd name="adj" fmla="val 50000"/>
            </a:avLst>
          </a:prstGeom>
          <a:noFill/>
          <a:ln w="1524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418320" y="4434840"/>
            <a:ext cx="1792224" cy="530352"/>
          </a:xfrm>
          <a:prstGeom prst="rect">
            <a:avLst/>
          </a:prstGeom>
          <a:noFill/>
        </p:spPr>
        <p:txBody>
          <a:bodyPr wrap="square" anchor="ctr" lIns="0" rIns="0" tIns="0" bIns="0">
            <a:spAutoFit/>
          </a:bodyPr>
          <a:lstStyle/>
          <a:p>
            <a:pPr algn="ctr">
              <a:lnSpc>
                <a:spcPct val="100000"/>
              </a:lnSpc>
              <a:spcBef>
                <a:spcPts val="0"/>
              </a:spcBef>
              <a:spcAft>
                <a:spcPts val="200"/>
              </a:spcAft>
            </a:pPr>
            <a:r>
              <a:rPr sz="1050" b="1" i="0">
                <a:solidFill>
                  <a:srgbClr val="FF3621"/>
                </a:solidFill>
                <a:latin typeface="Segoe UI"/>
              </a:rPr>
              <a:t>05 </a:t>
            </a:r>
            <a:r>
              <a:rPr sz="930" b="1" i="0">
                <a:solidFill>
                  <a:srgbClr val="FFFFFF"/>
                </a:solidFill>
                <a:latin typeface="Segoe UI"/>
              </a:rPr>
              <a:t>Quality · Storage</a:t>
            </a:r>
          </a:p>
        </p:txBody>
      </p:sp>
      <p:sp>
        <p:nvSpPr>
          <p:cNvPr id="29" name="Rectangle 28"/>
          <p:cNvSpPr/>
          <p:nvPr/>
        </p:nvSpPr>
        <p:spPr>
          <a:xfrm>
            <a:off x="841247" y="5532120"/>
            <a:ext cx="5943600" cy="18288"/>
          </a:xfrm>
          <a:prstGeom prst="rect">
            <a:avLst/>
          </a:prstGeom>
          <a:solidFill>
            <a:srgbClr val="3A53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41247" y="5687568"/>
            <a:ext cx="10058400" cy="365760"/>
          </a:xfrm>
          <a:prstGeom prst="rect">
            <a:avLst/>
          </a:prstGeom>
          <a:noFill/>
        </p:spPr>
        <p:txBody>
          <a:bodyPr wrap="square" anchor="t" lIns="0" rIns="0" tIns="0" bIns="0">
            <a:spAutoFit/>
          </a:bodyPr>
          <a:lstStyle/>
          <a:p>
            <a:pPr algn="l">
              <a:lnSpc>
                <a:spcPct val="100000"/>
              </a:lnSpc>
              <a:spcBef>
                <a:spcPts val="0"/>
              </a:spcBef>
              <a:spcAft>
                <a:spcPts val="200"/>
              </a:spcAft>
            </a:pPr>
            <a:r>
              <a:rPr sz="1150" b="0" i="0">
                <a:solidFill>
                  <a:srgbClr val="9AA6AB"/>
                </a:solidFill>
                <a:latin typeface="Segoe UI"/>
              </a:rPr>
              <a:t>Audience:  Data &amp; ETL Engineers · Analysts · Scientists · Cloud Engineers · Architects</a:t>
            </a:r>
          </a:p>
        </p:txBody>
      </p:sp>
      <p:sp>
        <p:nvSpPr>
          <p:cNvPr id="31" name="TextBox 30"/>
          <p:cNvSpPr txBox="1"/>
          <p:nvPr/>
        </p:nvSpPr>
        <p:spPr>
          <a:xfrm>
            <a:off x="841247" y="6053328"/>
            <a:ext cx="10058400" cy="365760"/>
          </a:xfrm>
          <a:prstGeom prst="rect">
            <a:avLst/>
          </a:prstGeom>
          <a:noFill/>
        </p:spPr>
        <p:txBody>
          <a:bodyPr wrap="square" anchor="t" lIns="0" rIns="0" tIns="0" bIns="0">
            <a:spAutoFit/>
          </a:bodyPr>
          <a:lstStyle/>
          <a:p>
            <a:pPr algn="l">
              <a:lnSpc>
                <a:spcPct val="100000"/>
              </a:lnSpc>
              <a:spcBef>
                <a:spcPts val="0"/>
              </a:spcBef>
              <a:spcAft>
                <a:spcPts val="200"/>
              </a:spcAft>
            </a:pPr>
            <a:r>
              <a:rPr sz="1150" b="0" i="1">
                <a:solidFill>
                  <a:srgbClr val="9AA6AB"/>
                </a:solidFill>
                <a:latin typeface="Segoe UI"/>
              </a:rPr>
              <a:t>Beginner → intermediate  ·  vendor-neutral concepts, shown in a Databricks context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INTRODUCTION</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Why Data Processing Matters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920240"/>
            <a:ext cx="3108960" cy="15544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818388" y="2263140"/>
            <a:ext cx="868680" cy="868680"/>
          </a:xfrm>
          <a:prstGeom prst="ellipse">
            <a:avLst/>
          </a:prstGeom>
          <a:solidFill>
            <a:srgbClr val="6B777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Can 8"/>
          <p:cNvSpPr/>
          <p:nvPr/>
        </p:nvSpPr>
        <p:spPr>
          <a:xfrm>
            <a:off x="1088894" y="2497683"/>
            <a:ext cx="327666" cy="399592"/>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801368" y="2194560"/>
            <a:ext cx="1737360" cy="411480"/>
          </a:xfrm>
          <a:prstGeom prst="rect">
            <a:avLst/>
          </a:prstGeom>
          <a:noFill/>
        </p:spPr>
        <p:txBody>
          <a:bodyPr wrap="square" anchor="t" lIns="0" rIns="0" tIns="0" bIns="0">
            <a:spAutoFit/>
          </a:bodyPr>
          <a:lstStyle/>
          <a:p>
            <a:pPr algn="l">
              <a:lnSpc>
                <a:spcPct val="100000"/>
              </a:lnSpc>
              <a:spcBef>
                <a:spcPts val="0"/>
              </a:spcBef>
              <a:spcAft>
                <a:spcPts val="200"/>
              </a:spcAft>
            </a:pPr>
            <a:r>
              <a:rPr sz="1450" b="1" i="0">
                <a:solidFill>
                  <a:srgbClr val="1B3139"/>
                </a:solidFill>
                <a:latin typeface="Segoe UI"/>
              </a:rPr>
              <a:t>Raw Data</a:t>
            </a:r>
          </a:p>
        </p:txBody>
      </p:sp>
      <p:sp>
        <p:nvSpPr>
          <p:cNvPr id="11" name="TextBox 10"/>
          <p:cNvSpPr txBox="1"/>
          <p:nvPr/>
        </p:nvSpPr>
        <p:spPr>
          <a:xfrm>
            <a:off x="1801368" y="2651760"/>
            <a:ext cx="1737360" cy="640080"/>
          </a:xfrm>
          <a:prstGeom prst="rect">
            <a:avLst/>
          </a:prstGeom>
          <a:noFill/>
        </p:spPr>
        <p:txBody>
          <a:bodyPr wrap="square" anchor="t" lIns="0" rIns="0" tIns="0" bIns="0">
            <a:spAutoFit/>
          </a:bodyPr>
          <a:lstStyle/>
          <a:p>
            <a:pPr algn="l">
              <a:lnSpc>
                <a:spcPct val="105000"/>
              </a:lnSpc>
              <a:spcBef>
                <a:spcPts val="0"/>
              </a:spcBef>
              <a:spcAft>
                <a:spcPts val="200"/>
              </a:spcAft>
            </a:pPr>
            <a:r>
              <a:rPr sz="1050" b="0" i="0">
                <a:solidFill>
                  <a:srgbClr val="6B777C"/>
                </a:solidFill>
                <a:latin typeface="Segoe UI"/>
              </a:rPr>
              <a:t>noisy, scattered, unusable</a:t>
            </a:r>
          </a:p>
        </p:txBody>
      </p:sp>
      <p:sp>
        <p:nvSpPr>
          <p:cNvPr id="12" name="Right Arrow 11"/>
          <p:cNvSpPr/>
          <p:nvPr/>
        </p:nvSpPr>
        <p:spPr>
          <a:xfrm>
            <a:off x="3730751" y="2587752"/>
            <a:ext cx="502920" cy="219456"/>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4270248" y="1920240"/>
            <a:ext cx="3108960" cy="15544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4521708" y="2263140"/>
            <a:ext cx="868680" cy="86868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772235" y="2513667"/>
            <a:ext cx="367625" cy="367625"/>
          </a:xfrm>
          <a:prstGeom prst="ellipse">
            <a:avLst/>
          </a:prstGeom>
          <a:noFill/>
          <a:ln w="38849">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rot="2520000">
            <a:off x="4940064" y="2569610"/>
            <a:ext cx="31967" cy="14385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930074" y="2671506"/>
            <a:ext cx="51947" cy="5194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504688" y="2194560"/>
            <a:ext cx="1737360" cy="411480"/>
          </a:xfrm>
          <a:prstGeom prst="rect">
            <a:avLst/>
          </a:prstGeom>
          <a:noFill/>
        </p:spPr>
        <p:txBody>
          <a:bodyPr wrap="square" anchor="t" lIns="0" rIns="0" tIns="0" bIns="0">
            <a:spAutoFit/>
          </a:bodyPr>
          <a:lstStyle/>
          <a:p>
            <a:pPr algn="l">
              <a:lnSpc>
                <a:spcPct val="100000"/>
              </a:lnSpc>
              <a:spcBef>
                <a:spcPts val="0"/>
              </a:spcBef>
              <a:spcAft>
                <a:spcPts val="200"/>
              </a:spcAft>
            </a:pPr>
            <a:r>
              <a:rPr sz="1450" b="1" i="0">
                <a:solidFill>
                  <a:srgbClr val="1B3139"/>
                </a:solidFill>
                <a:latin typeface="Segoe UI"/>
              </a:rPr>
              <a:t>Insights</a:t>
            </a:r>
          </a:p>
        </p:txBody>
      </p:sp>
      <p:sp>
        <p:nvSpPr>
          <p:cNvPr id="19" name="TextBox 18"/>
          <p:cNvSpPr txBox="1"/>
          <p:nvPr/>
        </p:nvSpPr>
        <p:spPr>
          <a:xfrm>
            <a:off x="5504688" y="2651760"/>
            <a:ext cx="1737360" cy="640080"/>
          </a:xfrm>
          <a:prstGeom prst="rect">
            <a:avLst/>
          </a:prstGeom>
          <a:noFill/>
        </p:spPr>
        <p:txBody>
          <a:bodyPr wrap="square" anchor="t" lIns="0" rIns="0" tIns="0" bIns="0">
            <a:spAutoFit/>
          </a:bodyPr>
          <a:lstStyle/>
          <a:p>
            <a:pPr algn="l">
              <a:lnSpc>
                <a:spcPct val="105000"/>
              </a:lnSpc>
              <a:spcBef>
                <a:spcPts val="0"/>
              </a:spcBef>
              <a:spcAft>
                <a:spcPts val="200"/>
              </a:spcAft>
            </a:pPr>
            <a:r>
              <a:rPr sz="1050" b="0" i="0">
                <a:solidFill>
                  <a:srgbClr val="6B777C"/>
                </a:solidFill>
                <a:latin typeface="Segoe UI"/>
              </a:rPr>
              <a:t>clean, modelled, trusted</a:t>
            </a:r>
          </a:p>
        </p:txBody>
      </p:sp>
      <p:sp>
        <p:nvSpPr>
          <p:cNvPr id="20" name="Right Arrow 19"/>
          <p:cNvSpPr/>
          <p:nvPr/>
        </p:nvSpPr>
        <p:spPr>
          <a:xfrm>
            <a:off x="7434072" y="2587752"/>
            <a:ext cx="502920" cy="219456"/>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7973567" y="1920240"/>
            <a:ext cx="3108960" cy="15544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25027" y="2263140"/>
            <a:ext cx="868680" cy="86868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8475555" y="2513667"/>
            <a:ext cx="367625" cy="367625"/>
          </a:xfrm>
          <a:prstGeom prst="ellipse">
            <a:avLst/>
          </a:prstGeom>
          <a:noFill/>
          <a:ln w="33299">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8555473" y="2593585"/>
            <a:ext cx="207788" cy="207788"/>
          </a:xfrm>
          <a:prstGeom prst="ellipse">
            <a:avLst/>
          </a:prstGeom>
          <a:noFill/>
          <a:ln w="33299">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8629398" y="2667510"/>
            <a:ext cx="59938" cy="5993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208007" y="2194560"/>
            <a:ext cx="1737360" cy="411480"/>
          </a:xfrm>
          <a:prstGeom prst="rect">
            <a:avLst/>
          </a:prstGeom>
          <a:noFill/>
        </p:spPr>
        <p:txBody>
          <a:bodyPr wrap="square" anchor="t" lIns="0" rIns="0" tIns="0" bIns="0">
            <a:spAutoFit/>
          </a:bodyPr>
          <a:lstStyle/>
          <a:p>
            <a:pPr algn="l">
              <a:lnSpc>
                <a:spcPct val="100000"/>
              </a:lnSpc>
              <a:spcBef>
                <a:spcPts val="0"/>
              </a:spcBef>
              <a:spcAft>
                <a:spcPts val="200"/>
              </a:spcAft>
            </a:pPr>
            <a:r>
              <a:rPr sz="1450" b="1" i="0">
                <a:solidFill>
                  <a:srgbClr val="1B3139"/>
                </a:solidFill>
                <a:latin typeface="Segoe UI"/>
              </a:rPr>
              <a:t>Business Value</a:t>
            </a:r>
          </a:p>
        </p:txBody>
      </p:sp>
      <p:sp>
        <p:nvSpPr>
          <p:cNvPr id="27" name="TextBox 26"/>
          <p:cNvSpPr txBox="1"/>
          <p:nvPr/>
        </p:nvSpPr>
        <p:spPr>
          <a:xfrm>
            <a:off x="9208007" y="2651760"/>
            <a:ext cx="1737360" cy="640080"/>
          </a:xfrm>
          <a:prstGeom prst="rect">
            <a:avLst/>
          </a:prstGeom>
          <a:noFill/>
        </p:spPr>
        <p:txBody>
          <a:bodyPr wrap="square" anchor="t" lIns="0" rIns="0" tIns="0" bIns="0">
            <a:spAutoFit/>
          </a:bodyPr>
          <a:lstStyle/>
          <a:p>
            <a:pPr algn="l">
              <a:lnSpc>
                <a:spcPct val="105000"/>
              </a:lnSpc>
              <a:spcBef>
                <a:spcPts val="0"/>
              </a:spcBef>
              <a:spcAft>
                <a:spcPts val="200"/>
              </a:spcAft>
            </a:pPr>
            <a:r>
              <a:rPr sz="1050" b="0" i="0">
                <a:solidFill>
                  <a:srgbClr val="6B777C"/>
                </a:solidFill>
                <a:latin typeface="Segoe UI"/>
              </a:rPr>
              <a:t>decisions &amp; outcomes</a:t>
            </a:r>
          </a:p>
        </p:txBody>
      </p:sp>
      <p:sp>
        <p:nvSpPr>
          <p:cNvPr id="28" name="Rounded Rectangle 27"/>
          <p:cNvSpPr/>
          <p:nvPr/>
        </p:nvSpPr>
        <p:spPr>
          <a:xfrm>
            <a:off x="566928" y="3794760"/>
            <a:ext cx="2593009" cy="21031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566928" y="3794760"/>
            <a:ext cx="91440" cy="210312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749808" y="3950208"/>
            <a:ext cx="640080" cy="640080"/>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Lightning Bolt 30"/>
          <p:cNvSpPr/>
          <p:nvPr/>
        </p:nvSpPr>
        <p:spPr>
          <a:xfrm>
            <a:off x="966795" y="4123029"/>
            <a:ext cx="206105" cy="294436"/>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1499616" y="3959352"/>
            <a:ext cx="1514017"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Faster Decisions</a:t>
            </a:r>
          </a:p>
        </p:txBody>
      </p:sp>
      <p:sp>
        <p:nvSpPr>
          <p:cNvPr id="33" name="TextBox 32"/>
          <p:cNvSpPr txBox="1"/>
          <p:nvPr/>
        </p:nvSpPr>
        <p:spPr>
          <a:xfrm>
            <a:off x="841247" y="4663440"/>
            <a:ext cx="2080945" cy="1142999"/>
          </a:xfrm>
          <a:prstGeom prst="rect">
            <a:avLst/>
          </a:prstGeom>
          <a:noFill/>
        </p:spPr>
        <p:txBody>
          <a:bodyPr wrap="square" anchor="t" lIns="0" rIns="0" tIns="0" bIns="0">
            <a:spAutoFit/>
          </a:bodyPr>
          <a:lstStyle/>
          <a:p>
            <a:pPr algn="l">
              <a:lnSpc>
                <a:spcPct val="108000"/>
              </a:lnSpc>
              <a:spcBef>
                <a:spcPts val="0"/>
              </a:spcBef>
              <a:spcAft>
                <a:spcPts val="200"/>
              </a:spcAft>
            </a:pPr>
            <a:r>
              <a:rPr sz="980" b="0" i="0">
                <a:solidFill>
                  <a:srgbClr val="6B777C"/>
                </a:solidFill>
                <a:latin typeface="Segoe UI"/>
              </a:rPr>
              <a:t>Timely, trustworthy data shortens the path from event to action.</a:t>
            </a:r>
          </a:p>
        </p:txBody>
      </p:sp>
      <p:sp>
        <p:nvSpPr>
          <p:cNvPr id="34" name="Rounded Rectangle 33"/>
          <p:cNvSpPr/>
          <p:nvPr/>
        </p:nvSpPr>
        <p:spPr>
          <a:xfrm>
            <a:off x="3388537" y="3794760"/>
            <a:ext cx="2593009" cy="21031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3388537" y="3794760"/>
            <a:ext cx="91440" cy="2103120"/>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3571417" y="3950208"/>
            <a:ext cx="640080" cy="640080"/>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Circular Arrow 36"/>
          <p:cNvSpPr/>
          <p:nvPr/>
        </p:nvSpPr>
        <p:spPr>
          <a:xfrm>
            <a:off x="3744239" y="4123029"/>
            <a:ext cx="294436" cy="294436"/>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321225" y="3959352"/>
            <a:ext cx="1514017"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Automation</a:t>
            </a:r>
          </a:p>
        </p:txBody>
      </p:sp>
      <p:sp>
        <p:nvSpPr>
          <p:cNvPr id="39" name="TextBox 38"/>
          <p:cNvSpPr txBox="1"/>
          <p:nvPr/>
        </p:nvSpPr>
        <p:spPr>
          <a:xfrm>
            <a:off x="3662857" y="4663440"/>
            <a:ext cx="2080945" cy="1142999"/>
          </a:xfrm>
          <a:prstGeom prst="rect">
            <a:avLst/>
          </a:prstGeom>
          <a:noFill/>
        </p:spPr>
        <p:txBody>
          <a:bodyPr wrap="square" anchor="t" lIns="0" rIns="0" tIns="0" bIns="0">
            <a:spAutoFit/>
          </a:bodyPr>
          <a:lstStyle/>
          <a:p>
            <a:pPr algn="l">
              <a:lnSpc>
                <a:spcPct val="108000"/>
              </a:lnSpc>
              <a:spcBef>
                <a:spcPts val="0"/>
              </a:spcBef>
              <a:spcAft>
                <a:spcPts val="200"/>
              </a:spcAft>
            </a:pPr>
            <a:r>
              <a:rPr sz="980" b="0" i="0">
                <a:solidFill>
                  <a:srgbClr val="6B777C"/>
                </a:solidFill>
                <a:latin typeface="Segoe UI"/>
              </a:rPr>
              <a:t>Processed data powers automated workflows &amp; operational systems.</a:t>
            </a:r>
          </a:p>
        </p:txBody>
      </p:sp>
      <p:sp>
        <p:nvSpPr>
          <p:cNvPr id="40" name="Rounded Rectangle 39"/>
          <p:cNvSpPr/>
          <p:nvPr/>
        </p:nvSpPr>
        <p:spPr>
          <a:xfrm>
            <a:off x="6210147" y="3794760"/>
            <a:ext cx="2593009" cy="21031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6210147" y="3794760"/>
            <a:ext cx="91440" cy="2103120"/>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6393027" y="3950208"/>
            <a:ext cx="640080" cy="640080"/>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6577626" y="4134807"/>
            <a:ext cx="270881" cy="270881"/>
          </a:xfrm>
          <a:prstGeom prst="ellipse">
            <a:avLst/>
          </a:prstGeom>
          <a:noFill/>
          <a:ln w="2453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6636514" y="4193694"/>
            <a:ext cx="153107" cy="153107"/>
          </a:xfrm>
          <a:prstGeom prst="ellipse">
            <a:avLst/>
          </a:prstGeom>
          <a:noFill/>
          <a:ln w="2453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6690984" y="4248165"/>
            <a:ext cx="44165" cy="4416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142835" y="3959352"/>
            <a:ext cx="1514017"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Innovation</a:t>
            </a:r>
          </a:p>
        </p:txBody>
      </p:sp>
      <p:sp>
        <p:nvSpPr>
          <p:cNvPr id="47" name="TextBox 46"/>
          <p:cNvSpPr txBox="1"/>
          <p:nvPr/>
        </p:nvSpPr>
        <p:spPr>
          <a:xfrm>
            <a:off x="6484467" y="4663440"/>
            <a:ext cx="2080945" cy="1142999"/>
          </a:xfrm>
          <a:prstGeom prst="rect">
            <a:avLst/>
          </a:prstGeom>
          <a:noFill/>
        </p:spPr>
        <p:txBody>
          <a:bodyPr wrap="square" anchor="t" lIns="0" rIns="0" tIns="0" bIns="0">
            <a:spAutoFit/>
          </a:bodyPr>
          <a:lstStyle/>
          <a:p>
            <a:pPr algn="l">
              <a:lnSpc>
                <a:spcPct val="108000"/>
              </a:lnSpc>
              <a:spcBef>
                <a:spcPts val="0"/>
              </a:spcBef>
              <a:spcAft>
                <a:spcPts val="200"/>
              </a:spcAft>
            </a:pPr>
            <a:r>
              <a:rPr sz="980" b="0" i="0">
                <a:solidFill>
                  <a:srgbClr val="6B777C"/>
                </a:solidFill>
                <a:latin typeface="Segoe UI"/>
              </a:rPr>
              <a:t>Clean data fuels ML, AI and new data-driven products.</a:t>
            </a:r>
          </a:p>
        </p:txBody>
      </p:sp>
      <p:sp>
        <p:nvSpPr>
          <p:cNvPr id="48" name="Rounded Rectangle 47"/>
          <p:cNvSpPr/>
          <p:nvPr/>
        </p:nvSpPr>
        <p:spPr>
          <a:xfrm>
            <a:off x="9031757" y="3794760"/>
            <a:ext cx="2593009" cy="21031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ounded Rectangle 48"/>
          <p:cNvSpPr/>
          <p:nvPr/>
        </p:nvSpPr>
        <p:spPr>
          <a:xfrm>
            <a:off x="9031757" y="3794760"/>
            <a:ext cx="91440" cy="2103120"/>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Oval 49"/>
          <p:cNvSpPr/>
          <p:nvPr/>
        </p:nvSpPr>
        <p:spPr>
          <a:xfrm>
            <a:off x="9214637" y="3950208"/>
            <a:ext cx="640080" cy="640080"/>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9475790" y="4146584"/>
            <a:ext cx="117774" cy="117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ounded Rectangle 51"/>
          <p:cNvSpPr/>
          <p:nvPr/>
        </p:nvSpPr>
        <p:spPr>
          <a:xfrm>
            <a:off x="9434568" y="4282025"/>
            <a:ext cx="200217" cy="12366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9964445" y="3959352"/>
            <a:ext cx="1514017"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Customer Experience</a:t>
            </a:r>
          </a:p>
        </p:txBody>
      </p:sp>
      <p:sp>
        <p:nvSpPr>
          <p:cNvPr id="54" name="TextBox 53"/>
          <p:cNvSpPr txBox="1"/>
          <p:nvPr/>
        </p:nvSpPr>
        <p:spPr>
          <a:xfrm>
            <a:off x="9306077" y="4663440"/>
            <a:ext cx="2080945" cy="1142999"/>
          </a:xfrm>
          <a:prstGeom prst="rect">
            <a:avLst/>
          </a:prstGeom>
          <a:noFill/>
        </p:spPr>
        <p:txBody>
          <a:bodyPr wrap="square" anchor="t" lIns="0" rIns="0" tIns="0" bIns="0">
            <a:spAutoFit/>
          </a:bodyPr>
          <a:lstStyle/>
          <a:p>
            <a:pPr algn="l">
              <a:lnSpc>
                <a:spcPct val="108000"/>
              </a:lnSpc>
              <a:spcBef>
                <a:spcPts val="0"/>
              </a:spcBef>
              <a:spcAft>
                <a:spcPts val="200"/>
              </a:spcAft>
            </a:pPr>
            <a:r>
              <a:rPr sz="980" b="0" i="0">
                <a:solidFill>
                  <a:srgbClr val="6B777C"/>
                </a:solidFill>
                <a:latin typeface="Segoe UI"/>
              </a:rPr>
              <a:t>Personalization &amp; real-time service depend on processed data.</a:t>
            </a:r>
          </a:p>
        </p:txBody>
      </p:sp>
      <p:sp>
        <p:nvSpPr>
          <p:cNvPr id="55" name="TextBox 5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6" name="TextBox 5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INTRODUCTION</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Data Journey — Seven Stages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2514600"/>
            <a:ext cx="1454287" cy="24688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2514600"/>
            <a:ext cx="1454287" cy="91440"/>
          </a:xfrm>
          <a:prstGeom prst="rect">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928311" y="2788920"/>
            <a:ext cx="731520" cy="731520"/>
          </a:xfrm>
          <a:prstGeom prst="ellipse">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1199852" y="3060460"/>
            <a:ext cx="188439" cy="188439"/>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245279" y="3006620"/>
            <a:ext cx="16824" cy="538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45279" y="3248899"/>
            <a:ext cx="16824" cy="538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326039" y="3006620"/>
            <a:ext cx="16824" cy="538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326039" y="3248899"/>
            <a:ext cx="16824" cy="538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146012" y="3105887"/>
            <a:ext cx="53839" cy="16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1388291" y="3105887"/>
            <a:ext cx="53839" cy="16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1146012" y="3186647"/>
            <a:ext cx="53839" cy="16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388291" y="3186647"/>
            <a:ext cx="53839" cy="16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03504" y="3630168"/>
            <a:ext cx="1381135"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Generate</a:t>
            </a:r>
          </a:p>
        </p:txBody>
      </p:sp>
      <p:sp>
        <p:nvSpPr>
          <p:cNvPr id="20" name="TextBox 19"/>
          <p:cNvSpPr txBox="1"/>
          <p:nvPr/>
        </p:nvSpPr>
        <p:spPr>
          <a:xfrm>
            <a:off x="603504" y="4032504"/>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19" b="0" i="0">
                <a:solidFill>
                  <a:srgbClr val="6B777C"/>
                </a:solidFill>
                <a:latin typeface="Segoe UI"/>
              </a:rPr>
              <a:t>apps · sensors
events</a:t>
            </a:r>
          </a:p>
        </p:txBody>
      </p:sp>
      <p:sp>
        <p:nvSpPr>
          <p:cNvPr id="21" name="Oval 20"/>
          <p:cNvSpPr/>
          <p:nvPr/>
        </p:nvSpPr>
        <p:spPr>
          <a:xfrm>
            <a:off x="649224" y="2596896"/>
            <a:ext cx="310896" cy="310896"/>
          </a:xfrm>
          <a:prstGeom prst="ellipse">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1</a:t>
            </a:r>
          </a:p>
        </p:txBody>
      </p:sp>
      <p:sp>
        <p:nvSpPr>
          <p:cNvPr id="22" name="Right Arrow 21"/>
          <p:cNvSpPr/>
          <p:nvPr/>
        </p:nvSpPr>
        <p:spPr>
          <a:xfrm>
            <a:off x="2021215" y="3675887"/>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2167519" y="2514600"/>
            <a:ext cx="1454287" cy="24688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67519" y="2514600"/>
            <a:ext cx="1454287" cy="91440"/>
          </a:xfrm>
          <a:prstGeom prst="rect">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2528903" y="2788920"/>
            <a:ext cx="731520" cy="731520"/>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rapezoid 25"/>
          <p:cNvSpPr/>
          <p:nvPr/>
        </p:nvSpPr>
        <p:spPr>
          <a:xfrm rot="10800000">
            <a:off x="2753334" y="3033540"/>
            <a:ext cx="282659" cy="134599"/>
          </a:xfrm>
          <a:prstGeom prst="trapezoi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874473" y="3168139"/>
            <a:ext cx="40379" cy="11440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204095" y="3630168"/>
            <a:ext cx="1381135"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Collect</a:t>
            </a:r>
          </a:p>
        </p:txBody>
      </p:sp>
      <p:sp>
        <p:nvSpPr>
          <p:cNvPr id="29" name="TextBox 28"/>
          <p:cNvSpPr txBox="1"/>
          <p:nvPr/>
        </p:nvSpPr>
        <p:spPr>
          <a:xfrm>
            <a:off x="2204095" y="4032504"/>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19" b="0" i="0">
                <a:solidFill>
                  <a:srgbClr val="6B777C"/>
                </a:solidFill>
                <a:latin typeface="Segoe UI"/>
              </a:rPr>
              <a:t>ingest from
sources</a:t>
            </a:r>
          </a:p>
        </p:txBody>
      </p:sp>
      <p:sp>
        <p:nvSpPr>
          <p:cNvPr id="30" name="Oval 29"/>
          <p:cNvSpPr/>
          <p:nvPr/>
        </p:nvSpPr>
        <p:spPr>
          <a:xfrm>
            <a:off x="2249815" y="2596896"/>
            <a:ext cx="310896" cy="310896"/>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2</a:t>
            </a:r>
          </a:p>
        </p:txBody>
      </p:sp>
      <p:sp>
        <p:nvSpPr>
          <p:cNvPr id="31" name="Right Arrow 30"/>
          <p:cNvSpPr/>
          <p:nvPr/>
        </p:nvSpPr>
        <p:spPr>
          <a:xfrm>
            <a:off x="3621807" y="3675887"/>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3768111" y="2514600"/>
            <a:ext cx="1454287" cy="24688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768111" y="2514600"/>
            <a:ext cx="1454287" cy="9144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4129495" y="2788920"/>
            <a:ext cx="731520" cy="731520"/>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Gear 6 34"/>
          <p:cNvSpPr/>
          <p:nvPr/>
        </p:nvSpPr>
        <p:spPr>
          <a:xfrm>
            <a:off x="4327006" y="2986430"/>
            <a:ext cx="336499" cy="336499"/>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804687" y="3630168"/>
            <a:ext cx="1381135"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Process</a:t>
            </a:r>
          </a:p>
        </p:txBody>
      </p:sp>
      <p:sp>
        <p:nvSpPr>
          <p:cNvPr id="37" name="TextBox 36"/>
          <p:cNvSpPr txBox="1"/>
          <p:nvPr/>
        </p:nvSpPr>
        <p:spPr>
          <a:xfrm>
            <a:off x="3804687" y="4032504"/>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19" b="0" i="0">
                <a:solidFill>
                  <a:srgbClr val="6B777C"/>
                </a:solidFill>
                <a:latin typeface="Segoe UI"/>
              </a:rPr>
              <a:t>clean &amp;
transform</a:t>
            </a:r>
          </a:p>
        </p:txBody>
      </p:sp>
      <p:sp>
        <p:nvSpPr>
          <p:cNvPr id="38" name="Oval 37"/>
          <p:cNvSpPr/>
          <p:nvPr/>
        </p:nvSpPr>
        <p:spPr>
          <a:xfrm>
            <a:off x="3850407" y="2596896"/>
            <a:ext cx="310896" cy="310896"/>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3</a:t>
            </a:r>
          </a:p>
        </p:txBody>
      </p:sp>
      <p:sp>
        <p:nvSpPr>
          <p:cNvPr id="39" name="Right Arrow 38"/>
          <p:cNvSpPr/>
          <p:nvPr/>
        </p:nvSpPr>
        <p:spPr>
          <a:xfrm>
            <a:off x="5222399" y="3675887"/>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5368703" y="2514600"/>
            <a:ext cx="1454287" cy="24688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5368703" y="2514600"/>
            <a:ext cx="1454287" cy="91440"/>
          </a:xfrm>
          <a:prstGeom prst="rect">
            <a:avLst/>
          </a:prstGeom>
          <a:solidFill>
            <a:srgbClr val="B06A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5730087" y="2788920"/>
            <a:ext cx="731520" cy="731520"/>
          </a:xfrm>
          <a:prstGeom prst="ellipse">
            <a:avLst/>
          </a:prstGeom>
          <a:solidFill>
            <a:srgbClr val="B06A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Can 42"/>
          <p:cNvSpPr/>
          <p:nvPr/>
        </p:nvSpPr>
        <p:spPr>
          <a:xfrm>
            <a:off x="5957882" y="2986430"/>
            <a:ext cx="275929" cy="336499"/>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405279" y="3630168"/>
            <a:ext cx="1381135"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Store</a:t>
            </a:r>
          </a:p>
        </p:txBody>
      </p:sp>
      <p:sp>
        <p:nvSpPr>
          <p:cNvPr id="45" name="TextBox 44"/>
          <p:cNvSpPr txBox="1"/>
          <p:nvPr/>
        </p:nvSpPr>
        <p:spPr>
          <a:xfrm>
            <a:off x="5405279" y="4032504"/>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19" b="0" i="0">
                <a:solidFill>
                  <a:srgbClr val="6B777C"/>
                </a:solidFill>
                <a:latin typeface="Segoe UI"/>
              </a:rPr>
              <a:t>lake / lakehouse
tables</a:t>
            </a:r>
          </a:p>
        </p:txBody>
      </p:sp>
      <p:sp>
        <p:nvSpPr>
          <p:cNvPr id="46" name="Oval 45"/>
          <p:cNvSpPr/>
          <p:nvPr/>
        </p:nvSpPr>
        <p:spPr>
          <a:xfrm>
            <a:off x="5450999" y="2596896"/>
            <a:ext cx="310896" cy="310896"/>
          </a:xfrm>
          <a:prstGeom prst="ellipse">
            <a:avLst/>
          </a:prstGeom>
          <a:solidFill>
            <a:srgbClr val="B06A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4</a:t>
            </a:r>
          </a:p>
        </p:txBody>
      </p:sp>
      <p:sp>
        <p:nvSpPr>
          <p:cNvPr id="47" name="Right Arrow 46"/>
          <p:cNvSpPr/>
          <p:nvPr/>
        </p:nvSpPr>
        <p:spPr>
          <a:xfrm>
            <a:off x="6822991" y="3675887"/>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6969295" y="2514600"/>
            <a:ext cx="1454287" cy="24688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6969295" y="2514600"/>
            <a:ext cx="1454287" cy="91440"/>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Oval 49"/>
          <p:cNvSpPr/>
          <p:nvPr/>
        </p:nvSpPr>
        <p:spPr>
          <a:xfrm>
            <a:off x="7330679" y="2788920"/>
            <a:ext cx="731520" cy="731520"/>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7541649" y="2999890"/>
            <a:ext cx="309579" cy="309579"/>
          </a:xfrm>
          <a:prstGeom prst="ellipse">
            <a:avLst/>
          </a:prstGeom>
          <a:noFill/>
          <a:ln w="3271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ounded Rectangle 51"/>
          <p:cNvSpPr/>
          <p:nvPr/>
        </p:nvSpPr>
        <p:spPr>
          <a:xfrm rot="2520000">
            <a:off x="7682979" y="3047000"/>
            <a:ext cx="26919" cy="12113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Oval 52"/>
          <p:cNvSpPr/>
          <p:nvPr/>
        </p:nvSpPr>
        <p:spPr>
          <a:xfrm>
            <a:off x="7674567" y="3132807"/>
            <a:ext cx="43744" cy="4374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7005871" y="3630168"/>
            <a:ext cx="1381135"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Analyze</a:t>
            </a:r>
          </a:p>
        </p:txBody>
      </p:sp>
      <p:sp>
        <p:nvSpPr>
          <p:cNvPr id="55" name="TextBox 54"/>
          <p:cNvSpPr txBox="1"/>
          <p:nvPr/>
        </p:nvSpPr>
        <p:spPr>
          <a:xfrm>
            <a:off x="7005871" y="4032504"/>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19" b="0" i="0">
                <a:solidFill>
                  <a:srgbClr val="6B777C"/>
                </a:solidFill>
                <a:latin typeface="Segoe UI"/>
              </a:rPr>
              <a:t>SQL · ML
statistics</a:t>
            </a:r>
          </a:p>
        </p:txBody>
      </p:sp>
      <p:sp>
        <p:nvSpPr>
          <p:cNvPr id="56" name="Oval 55"/>
          <p:cNvSpPr/>
          <p:nvPr/>
        </p:nvSpPr>
        <p:spPr>
          <a:xfrm>
            <a:off x="7051591" y="2596896"/>
            <a:ext cx="310896" cy="310896"/>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5</a:t>
            </a:r>
          </a:p>
        </p:txBody>
      </p:sp>
      <p:sp>
        <p:nvSpPr>
          <p:cNvPr id="57" name="Right Arrow 56"/>
          <p:cNvSpPr/>
          <p:nvPr/>
        </p:nvSpPr>
        <p:spPr>
          <a:xfrm>
            <a:off x="8423583" y="3675887"/>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ounded Rectangle 57"/>
          <p:cNvSpPr/>
          <p:nvPr/>
        </p:nvSpPr>
        <p:spPr>
          <a:xfrm>
            <a:off x="8569887" y="2514600"/>
            <a:ext cx="1454287" cy="24688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8569887" y="2514600"/>
            <a:ext cx="1454287" cy="91440"/>
          </a:xfrm>
          <a:prstGeom prst="rect">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Oval 59"/>
          <p:cNvSpPr/>
          <p:nvPr/>
        </p:nvSpPr>
        <p:spPr>
          <a:xfrm>
            <a:off x="8931271" y="2788920"/>
            <a:ext cx="731520" cy="731520"/>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ounded Rectangle 60"/>
          <p:cNvSpPr/>
          <p:nvPr/>
        </p:nvSpPr>
        <p:spPr>
          <a:xfrm>
            <a:off x="9155701" y="3154680"/>
            <a:ext cx="67299" cy="16824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ounded Rectangle 61"/>
          <p:cNvSpPr/>
          <p:nvPr/>
        </p:nvSpPr>
        <p:spPr>
          <a:xfrm>
            <a:off x="9263381" y="3060460"/>
            <a:ext cx="67299" cy="26246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ounded Rectangle 62"/>
          <p:cNvSpPr/>
          <p:nvPr/>
        </p:nvSpPr>
        <p:spPr>
          <a:xfrm>
            <a:off x="9371061" y="2986430"/>
            <a:ext cx="67299" cy="33649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8606463" y="3630168"/>
            <a:ext cx="1381135"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Visualize</a:t>
            </a:r>
          </a:p>
        </p:txBody>
      </p:sp>
      <p:sp>
        <p:nvSpPr>
          <p:cNvPr id="65" name="TextBox 64"/>
          <p:cNvSpPr txBox="1"/>
          <p:nvPr/>
        </p:nvSpPr>
        <p:spPr>
          <a:xfrm>
            <a:off x="8606463" y="4032504"/>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19" b="0" i="0">
                <a:solidFill>
                  <a:srgbClr val="6B777C"/>
                </a:solidFill>
                <a:latin typeface="Segoe UI"/>
              </a:rPr>
              <a:t>dashboards
&amp; reports</a:t>
            </a:r>
          </a:p>
        </p:txBody>
      </p:sp>
      <p:sp>
        <p:nvSpPr>
          <p:cNvPr id="66" name="Oval 65"/>
          <p:cNvSpPr/>
          <p:nvPr/>
        </p:nvSpPr>
        <p:spPr>
          <a:xfrm>
            <a:off x="8652183" y="2596896"/>
            <a:ext cx="310896" cy="310896"/>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6</a:t>
            </a:r>
          </a:p>
        </p:txBody>
      </p:sp>
      <p:sp>
        <p:nvSpPr>
          <p:cNvPr id="67" name="Right Arrow 66"/>
          <p:cNvSpPr/>
          <p:nvPr/>
        </p:nvSpPr>
        <p:spPr>
          <a:xfrm>
            <a:off x="10024175" y="3675887"/>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ounded Rectangle 67"/>
          <p:cNvSpPr/>
          <p:nvPr/>
        </p:nvSpPr>
        <p:spPr>
          <a:xfrm>
            <a:off x="10170479" y="2514600"/>
            <a:ext cx="1454287" cy="24688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ectangle 68"/>
          <p:cNvSpPr/>
          <p:nvPr/>
        </p:nvSpPr>
        <p:spPr>
          <a:xfrm>
            <a:off x="10170479" y="2514600"/>
            <a:ext cx="1454287" cy="91440"/>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Oval 69"/>
          <p:cNvSpPr/>
          <p:nvPr/>
        </p:nvSpPr>
        <p:spPr>
          <a:xfrm>
            <a:off x="10531863" y="2788920"/>
            <a:ext cx="731520" cy="731520"/>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Oval 70"/>
          <p:cNvSpPr/>
          <p:nvPr/>
        </p:nvSpPr>
        <p:spPr>
          <a:xfrm>
            <a:off x="10742833" y="2999890"/>
            <a:ext cx="309579" cy="309579"/>
          </a:xfrm>
          <a:prstGeom prst="ellipse">
            <a:avLst/>
          </a:prstGeom>
          <a:noFill/>
          <a:ln w="28041">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Oval 71"/>
          <p:cNvSpPr/>
          <p:nvPr/>
        </p:nvSpPr>
        <p:spPr>
          <a:xfrm>
            <a:off x="10810133" y="3067190"/>
            <a:ext cx="174979" cy="174979"/>
          </a:xfrm>
          <a:prstGeom prst="ellipse">
            <a:avLst/>
          </a:prstGeom>
          <a:noFill/>
          <a:ln w="28041">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Oval 72"/>
          <p:cNvSpPr/>
          <p:nvPr/>
        </p:nvSpPr>
        <p:spPr>
          <a:xfrm>
            <a:off x="10872385" y="3129442"/>
            <a:ext cx="50474" cy="504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10207055" y="3630168"/>
            <a:ext cx="1381135"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Act</a:t>
            </a:r>
          </a:p>
        </p:txBody>
      </p:sp>
      <p:sp>
        <p:nvSpPr>
          <p:cNvPr id="75" name="TextBox 74"/>
          <p:cNvSpPr txBox="1"/>
          <p:nvPr/>
        </p:nvSpPr>
        <p:spPr>
          <a:xfrm>
            <a:off x="10207055" y="4032504"/>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19" b="0" i="0">
                <a:solidFill>
                  <a:srgbClr val="6B777C"/>
                </a:solidFill>
                <a:latin typeface="Segoe UI"/>
              </a:rPr>
              <a:t>decisions &amp;
automation</a:t>
            </a:r>
          </a:p>
        </p:txBody>
      </p:sp>
      <p:sp>
        <p:nvSpPr>
          <p:cNvPr id="76" name="Oval 75"/>
          <p:cNvSpPr/>
          <p:nvPr/>
        </p:nvSpPr>
        <p:spPr>
          <a:xfrm>
            <a:off x="10252775" y="2596896"/>
            <a:ext cx="310896" cy="310896"/>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7</a:t>
            </a:r>
          </a:p>
        </p:txBody>
      </p:sp>
      <p:sp>
        <p:nvSpPr>
          <p:cNvPr id="77" name="Rounded Rectangle 76"/>
          <p:cNvSpPr/>
          <p:nvPr/>
        </p:nvSpPr>
        <p:spPr>
          <a:xfrm>
            <a:off x="566928" y="5257800"/>
            <a:ext cx="11057839" cy="86868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914400" y="5257800"/>
            <a:ext cx="10362895" cy="86868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Every data platform implements this same arc.  </a:t>
            </a:r>
            <a:r>
              <a:rPr sz="1250" b="0" i="0">
                <a:solidFill>
                  <a:srgbClr val="465257"/>
                </a:solidFill>
                <a:latin typeface="Segoe UI"/>
              </a:rPr>
              <a:t>The rest of today zooms into each stage — and shows how Databricks delivers it end to end.</a:t>
            </a:r>
          </a:p>
        </p:txBody>
      </p:sp>
      <p:sp>
        <p:nvSpPr>
          <p:cNvPr id="79" name="TextBox 78"/>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80" name="TextBox 79"/>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1463040"/>
            <a:ext cx="5486400" cy="2194560"/>
          </a:xfrm>
          <a:prstGeom prst="rect">
            <a:avLst/>
          </a:prstGeom>
          <a:noFill/>
        </p:spPr>
        <p:txBody>
          <a:bodyPr wrap="square" anchor="t" lIns="0" rIns="0" tIns="0" bIns="0">
            <a:spAutoFit/>
          </a:bodyPr>
          <a:lstStyle/>
          <a:p>
            <a:pPr algn="l">
              <a:lnSpc>
                <a:spcPct val="100000"/>
              </a:lnSpc>
              <a:spcBef>
                <a:spcPts val="0"/>
              </a:spcBef>
              <a:spcAft>
                <a:spcPts val="200"/>
              </a:spcAft>
            </a:pPr>
            <a:r>
              <a:rPr sz="20000" b="1" i="0">
                <a:solidFill>
                  <a:srgbClr val="27444F"/>
                </a:solidFill>
                <a:latin typeface="Segoe UI Light"/>
              </a:rPr>
              <a:t>01</a:t>
            </a:r>
          </a:p>
        </p:txBody>
      </p:sp>
      <p:sp>
        <p:nvSpPr>
          <p:cNvPr id="9" name="Rounded Rectangle 8"/>
          <p:cNvSpPr/>
          <p:nvPr/>
        </p:nvSpPr>
        <p:spPr>
          <a:xfrm>
            <a:off x="612648" y="3310128"/>
            <a:ext cx="777240" cy="9144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12648" y="2743200"/>
            <a:ext cx="7315200" cy="36576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FF3621"/>
                </a:solidFill>
                <a:latin typeface="Segoe UI Semibold"/>
              </a:rPr>
              <a:t>PART ONE</a:t>
            </a:r>
          </a:p>
        </p:txBody>
      </p:sp>
      <p:sp>
        <p:nvSpPr>
          <p:cNvPr id="11" name="TextBox 10"/>
          <p:cNvSpPr txBox="1"/>
          <p:nvPr/>
        </p:nvSpPr>
        <p:spPr>
          <a:xfrm>
            <a:off x="566928" y="3456432"/>
            <a:ext cx="7680960" cy="1097280"/>
          </a:xfrm>
          <a:prstGeom prst="rect">
            <a:avLst/>
          </a:prstGeom>
          <a:noFill/>
        </p:spPr>
        <p:txBody>
          <a:bodyPr wrap="square" anchor="t" lIns="0" rIns="0" tIns="0" bIns="0">
            <a:spAutoFit/>
          </a:bodyPr>
          <a:lstStyle/>
          <a:p>
            <a:pPr algn="l">
              <a:lnSpc>
                <a:spcPct val="98000"/>
              </a:lnSpc>
              <a:spcBef>
                <a:spcPts val="0"/>
              </a:spcBef>
              <a:spcAft>
                <a:spcPts val="200"/>
              </a:spcAft>
            </a:pPr>
            <a:r>
              <a:rPr sz="4000" b="1" i="0">
                <a:solidFill>
                  <a:srgbClr val="FFFFFF"/>
                </a:solidFill>
                <a:latin typeface="Segoe UI"/>
              </a:rPr>
              <a:t>Data Sources &amp; Types</a:t>
            </a:r>
          </a:p>
        </p:txBody>
      </p:sp>
      <p:sp>
        <p:nvSpPr>
          <p:cNvPr id="12" name="TextBox 11"/>
          <p:cNvSpPr txBox="1"/>
          <p:nvPr/>
        </p:nvSpPr>
        <p:spPr>
          <a:xfrm>
            <a:off x="612648" y="4754880"/>
            <a:ext cx="6949440" cy="1463040"/>
          </a:xfrm>
          <a:prstGeom prst="rect">
            <a:avLst/>
          </a:prstGeom>
          <a:noFill/>
        </p:spPr>
        <p:txBody>
          <a:bodyPr wrap="square" anchor="t" lIns="0" rIns="0" tIns="0" bIns="0">
            <a:spAutoFit/>
          </a:bodyPr>
          <a:lstStyle/>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Where enterprise data comes from</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Structured, semi &amp; unstructured data</a:t>
            </a:r>
          </a:p>
        </p:txBody>
      </p:sp>
      <p:sp>
        <p:nvSpPr>
          <p:cNvPr id="13" name="Oval 12"/>
          <p:cNvSpPr/>
          <p:nvPr/>
        </p:nvSpPr>
        <p:spPr>
          <a:xfrm>
            <a:off x="8641080" y="2423160"/>
            <a:ext cx="2286000" cy="2286000"/>
          </a:xfrm>
          <a:prstGeom prst="ellipse">
            <a:avLst/>
          </a:prstGeom>
          <a:solidFill>
            <a:srgbClr val="FF3621"/>
          </a:solidFill>
          <a:ln w="15240">
            <a:solidFill>
              <a:srgbClr val="FF8A78"/>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9300362" y="3082442"/>
            <a:ext cx="967435" cy="967435"/>
          </a:xfrm>
          <a:prstGeom prst="ellipse">
            <a:avLst/>
          </a:prstGeom>
          <a:noFill/>
          <a:ln w="1168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9594799" y="3082442"/>
            <a:ext cx="378561" cy="967435"/>
          </a:xfrm>
          <a:prstGeom prst="ellipse">
            <a:avLst/>
          </a:prstGeom>
          <a:noFill/>
          <a:ln w="8763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9300362" y="3534613"/>
            <a:ext cx="967435" cy="630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7E9199"/>
                </a:solidFill>
                <a:latin typeface="Segoe UI"/>
              </a:rPr>
              <a:t>Big Data &amp; Databricks  ·  Enterprise Training Series</a:t>
            </a:r>
          </a:p>
        </p:txBody>
      </p:sp>
      <p:sp>
        <p:nvSpPr>
          <p:cNvPr id="18" name="TextBox 17"/>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7E9199"/>
                </a:solidFill>
                <a:latin typeface="Segoe UI"/>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DATA SOURCES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Where Enterprise Data Comes From</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997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29873"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Platform</a:t>
            </a:r>
          </a:p>
        </p:txBody>
      </p:sp>
      <p:sp>
        <p:nvSpPr>
          <p:cNvPr id="17" name="Rounded Rectangle 16"/>
          <p:cNvSpPr/>
          <p:nvPr/>
        </p:nvSpPr>
        <p:spPr>
          <a:xfrm>
            <a:off x="56692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66928" y="1828800"/>
            <a:ext cx="91440" cy="1929384"/>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740664" y="1975104"/>
            <a:ext cx="658368" cy="658368"/>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Can 19"/>
          <p:cNvSpPr/>
          <p:nvPr/>
        </p:nvSpPr>
        <p:spPr>
          <a:xfrm>
            <a:off x="945679" y="2152863"/>
            <a:ext cx="248336" cy="302849"/>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49961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Databases</a:t>
            </a:r>
          </a:p>
        </p:txBody>
      </p:sp>
      <p:sp>
        <p:nvSpPr>
          <p:cNvPr id="22" name="TextBox 21"/>
          <p:cNvSpPr txBox="1"/>
          <p:nvPr/>
        </p:nvSpPr>
        <p:spPr>
          <a:xfrm>
            <a:off x="841247"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OLTP systems, ERP, CRM — structured records.</a:t>
            </a:r>
          </a:p>
        </p:txBody>
      </p:sp>
      <p:sp>
        <p:nvSpPr>
          <p:cNvPr id="23" name="Rounded Rectangle 22"/>
          <p:cNvSpPr/>
          <p:nvPr/>
        </p:nvSpPr>
        <p:spPr>
          <a:xfrm>
            <a:off x="433821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4338218" y="1828800"/>
            <a:ext cx="91440" cy="1929384"/>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4511954" y="1975104"/>
            <a:ext cx="658368" cy="65836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Chevron 25"/>
          <p:cNvSpPr/>
          <p:nvPr/>
        </p:nvSpPr>
        <p:spPr>
          <a:xfrm rot="10800000">
            <a:off x="4689713" y="2219490"/>
            <a:ext cx="90854" cy="169595"/>
          </a:xfrm>
          <a:prstGeom prst="chevr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Chevron 26"/>
          <p:cNvSpPr/>
          <p:nvPr/>
        </p:nvSpPr>
        <p:spPr>
          <a:xfrm>
            <a:off x="4901708" y="2219490"/>
            <a:ext cx="90854" cy="169595"/>
          </a:xfrm>
          <a:prstGeom prst="chevr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rot="1320000">
            <a:off x="4829024" y="2207376"/>
            <a:ext cx="24227" cy="19382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27090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APIs</a:t>
            </a:r>
          </a:p>
        </p:txBody>
      </p:sp>
      <p:sp>
        <p:nvSpPr>
          <p:cNvPr id="30" name="TextBox 29"/>
          <p:cNvSpPr txBox="1"/>
          <p:nvPr/>
        </p:nvSpPr>
        <p:spPr>
          <a:xfrm>
            <a:off x="461253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REST &amp; GraphQL endpoints from internal &amp; SaaS apps.</a:t>
            </a:r>
          </a:p>
        </p:txBody>
      </p:sp>
      <p:sp>
        <p:nvSpPr>
          <p:cNvPr id="31" name="Rounded Rectangle 30"/>
          <p:cNvSpPr/>
          <p:nvPr/>
        </p:nvSpPr>
        <p:spPr>
          <a:xfrm>
            <a:off x="810950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8109508" y="1828800"/>
            <a:ext cx="91440" cy="1929384"/>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Oval 32"/>
          <p:cNvSpPr/>
          <p:nvPr/>
        </p:nvSpPr>
        <p:spPr>
          <a:xfrm>
            <a:off x="8283244" y="1975104"/>
            <a:ext cx="658368" cy="658368"/>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8527631" y="2219490"/>
            <a:ext cx="169595" cy="169595"/>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568515" y="2171034"/>
            <a:ext cx="15142" cy="4845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8568515" y="2389085"/>
            <a:ext cx="15142" cy="4845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8641199" y="2171034"/>
            <a:ext cx="15142" cy="4845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8641199" y="2389085"/>
            <a:ext cx="15142" cy="4845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8479175" y="2260374"/>
            <a:ext cx="48455" cy="1514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8697226" y="2260374"/>
            <a:ext cx="48455" cy="1514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8479175" y="2333058"/>
            <a:ext cx="48455" cy="1514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8697226" y="2333058"/>
            <a:ext cx="48455" cy="1514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904219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IoT &amp; Sensors</a:t>
            </a:r>
          </a:p>
        </p:txBody>
      </p:sp>
      <p:sp>
        <p:nvSpPr>
          <p:cNvPr id="44" name="TextBox 43"/>
          <p:cNvSpPr txBox="1"/>
          <p:nvPr/>
        </p:nvSpPr>
        <p:spPr>
          <a:xfrm>
            <a:off x="838382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Devices and machines emitting telemetry streams.</a:t>
            </a:r>
          </a:p>
        </p:txBody>
      </p:sp>
      <p:sp>
        <p:nvSpPr>
          <p:cNvPr id="45" name="Rounded Rectangle 44"/>
          <p:cNvSpPr/>
          <p:nvPr/>
        </p:nvSpPr>
        <p:spPr>
          <a:xfrm>
            <a:off x="56692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566928" y="4014215"/>
            <a:ext cx="91440" cy="1929384"/>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740664" y="4160520"/>
            <a:ext cx="658368" cy="658368"/>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Oval 47"/>
          <p:cNvSpPr/>
          <p:nvPr/>
        </p:nvSpPr>
        <p:spPr>
          <a:xfrm>
            <a:off x="1009278" y="4362507"/>
            <a:ext cx="121139" cy="12113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ounded Rectangle 48"/>
          <p:cNvSpPr/>
          <p:nvPr/>
        </p:nvSpPr>
        <p:spPr>
          <a:xfrm>
            <a:off x="966879" y="4501817"/>
            <a:ext cx="205937" cy="1271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149961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Applications</a:t>
            </a:r>
          </a:p>
        </p:txBody>
      </p:sp>
      <p:sp>
        <p:nvSpPr>
          <p:cNvPr id="51" name="TextBox 50"/>
          <p:cNvSpPr txBox="1"/>
          <p:nvPr/>
        </p:nvSpPr>
        <p:spPr>
          <a:xfrm>
            <a:off x="841247"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Web &amp; mobile apps generating user events.</a:t>
            </a:r>
          </a:p>
        </p:txBody>
      </p:sp>
      <p:sp>
        <p:nvSpPr>
          <p:cNvPr id="52" name="Rounded Rectangle 51"/>
          <p:cNvSpPr/>
          <p:nvPr/>
        </p:nvSpPr>
        <p:spPr>
          <a:xfrm>
            <a:off x="433821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ounded Rectangle 52"/>
          <p:cNvSpPr/>
          <p:nvPr/>
        </p:nvSpPr>
        <p:spPr>
          <a:xfrm>
            <a:off x="4338218" y="4014215"/>
            <a:ext cx="91440" cy="1929384"/>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Oval 53"/>
          <p:cNvSpPr/>
          <p:nvPr/>
        </p:nvSpPr>
        <p:spPr>
          <a:xfrm>
            <a:off x="4511954" y="4160520"/>
            <a:ext cx="658368" cy="658368"/>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Folded Corner 54"/>
          <p:cNvSpPr/>
          <p:nvPr/>
        </p:nvSpPr>
        <p:spPr>
          <a:xfrm>
            <a:off x="4744226" y="4362507"/>
            <a:ext cx="193823" cy="254393"/>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527090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Logs &amp; Files</a:t>
            </a:r>
          </a:p>
        </p:txBody>
      </p:sp>
      <p:sp>
        <p:nvSpPr>
          <p:cNvPr id="57" name="TextBox 56"/>
          <p:cNvSpPr txBox="1"/>
          <p:nvPr/>
        </p:nvSpPr>
        <p:spPr>
          <a:xfrm>
            <a:off x="461253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Server logs, CSV/JSON files, exports &amp; dumps.</a:t>
            </a:r>
          </a:p>
        </p:txBody>
      </p:sp>
      <p:sp>
        <p:nvSpPr>
          <p:cNvPr id="58" name="Rounded Rectangle 57"/>
          <p:cNvSpPr/>
          <p:nvPr/>
        </p:nvSpPr>
        <p:spPr>
          <a:xfrm>
            <a:off x="810950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ounded Rectangle 58"/>
          <p:cNvSpPr/>
          <p:nvPr/>
        </p:nvSpPr>
        <p:spPr>
          <a:xfrm>
            <a:off x="8109508" y="4014215"/>
            <a:ext cx="91440" cy="192938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Oval 59"/>
          <p:cNvSpPr/>
          <p:nvPr/>
        </p:nvSpPr>
        <p:spPr>
          <a:xfrm>
            <a:off x="8283244" y="4160520"/>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Oval 60"/>
          <p:cNvSpPr/>
          <p:nvPr/>
        </p:nvSpPr>
        <p:spPr>
          <a:xfrm>
            <a:off x="8473118" y="4350393"/>
            <a:ext cx="278621" cy="278621"/>
          </a:xfrm>
          <a:prstGeom prst="ellipse">
            <a:avLst/>
          </a:prstGeom>
          <a:noFill/>
          <a:ln w="33649">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Oval 61"/>
          <p:cNvSpPr/>
          <p:nvPr/>
        </p:nvSpPr>
        <p:spPr>
          <a:xfrm>
            <a:off x="8557915" y="4350393"/>
            <a:ext cx="109025" cy="278621"/>
          </a:xfrm>
          <a:prstGeom prst="ellipse">
            <a:avLst/>
          </a:prstGeom>
          <a:noFill/>
          <a:ln w="25237">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8473118" y="4480618"/>
            <a:ext cx="278621" cy="181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904219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Social &amp; Web</a:t>
            </a:r>
          </a:p>
        </p:txBody>
      </p:sp>
      <p:sp>
        <p:nvSpPr>
          <p:cNvPr id="65" name="TextBox 64"/>
          <p:cNvSpPr txBox="1"/>
          <p:nvPr/>
        </p:nvSpPr>
        <p:spPr>
          <a:xfrm>
            <a:off x="838382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Clickstream, social feeds &amp; external data.</a:t>
            </a:r>
          </a:p>
        </p:txBody>
      </p:sp>
      <p:sp>
        <p:nvSpPr>
          <p:cNvPr id="66" name="TextBox 65"/>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7" name="TextBox 66"/>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DATA SOURCES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Structured vs. Semi vs. Unstructured</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997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29873"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Platform</a:t>
            </a:r>
          </a:p>
        </p:txBody>
      </p:sp>
      <p:sp>
        <p:nvSpPr>
          <p:cNvPr id="17" name="Rounded Rectangle 16"/>
          <p:cNvSpPr/>
          <p:nvPr/>
        </p:nvSpPr>
        <p:spPr>
          <a:xfrm>
            <a:off x="566928" y="1874519"/>
            <a:ext cx="3442106" cy="3977639"/>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66928" y="1874519"/>
            <a:ext cx="3442106" cy="713232"/>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930493" y="2096353"/>
            <a:ext cx="104607" cy="120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063264" y="2096353"/>
            <a:ext cx="104607" cy="120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196035" y="2096353"/>
            <a:ext cx="104607" cy="120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930493" y="2245217"/>
            <a:ext cx="104607" cy="120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063264" y="2245217"/>
            <a:ext cx="104607" cy="120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196035" y="2245217"/>
            <a:ext cx="104607" cy="120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527048" y="1874519"/>
            <a:ext cx="2436266" cy="713232"/>
          </a:xfrm>
          <a:prstGeom prst="rect">
            <a:avLst/>
          </a:prstGeom>
          <a:noFill/>
        </p:spPr>
        <p:txBody>
          <a:bodyPr wrap="square" anchor="ctr" lIns="0" rIns="0" tIns="0" bIns="0">
            <a:spAutoFit/>
          </a:bodyPr>
          <a:lstStyle/>
          <a:p>
            <a:pPr algn="l">
              <a:lnSpc>
                <a:spcPct val="92000"/>
              </a:lnSpc>
              <a:spcBef>
                <a:spcPts val="0"/>
              </a:spcBef>
              <a:spcAft>
                <a:spcPts val="200"/>
              </a:spcAft>
            </a:pPr>
            <a:r>
              <a:rPr sz="1450" b="1" i="0">
                <a:solidFill>
                  <a:srgbClr val="FFFFFF"/>
                </a:solidFill>
                <a:latin typeface="Segoe UI"/>
              </a:rPr>
              <a:t>Structured</a:t>
            </a:r>
          </a:p>
        </p:txBody>
      </p:sp>
      <p:sp>
        <p:nvSpPr>
          <p:cNvPr id="26" name="TextBox 25"/>
          <p:cNvSpPr txBox="1"/>
          <p:nvPr/>
        </p:nvSpPr>
        <p:spPr>
          <a:xfrm>
            <a:off x="859536" y="2788920"/>
            <a:ext cx="2893466" cy="274320"/>
          </a:xfrm>
          <a:prstGeom prst="rect">
            <a:avLst/>
          </a:prstGeom>
          <a:noFill/>
        </p:spPr>
        <p:txBody>
          <a:bodyPr wrap="square" anchor="t" lIns="0" rIns="0" tIns="0" bIns="0">
            <a:spAutoFit/>
          </a:bodyPr>
          <a:lstStyle/>
          <a:p>
            <a:pPr algn="l">
              <a:lnSpc>
                <a:spcPct val="100000"/>
              </a:lnSpc>
              <a:spcBef>
                <a:spcPts val="0"/>
              </a:spcBef>
              <a:spcAft>
                <a:spcPts val="200"/>
              </a:spcAft>
            </a:pPr>
            <a:r>
              <a:rPr sz="850" b="1" i="0">
                <a:solidFill>
                  <a:srgbClr val="2272B4"/>
                </a:solidFill>
                <a:latin typeface="Segoe UI Semibold"/>
              </a:rPr>
              <a:t>EXAMPLES</a:t>
            </a:r>
          </a:p>
        </p:txBody>
      </p:sp>
      <p:sp>
        <p:nvSpPr>
          <p:cNvPr id="27" name="TextBox 26"/>
          <p:cNvSpPr txBox="1"/>
          <p:nvPr/>
        </p:nvSpPr>
        <p:spPr>
          <a:xfrm>
            <a:off x="859536" y="3026663"/>
            <a:ext cx="2893466" cy="411480"/>
          </a:xfrm>
          <a:prstGeom prst="rect">
            <a:avLst/>
          </a:prstGeom>
          <a:noFill/>
        </p:spPr>
        <p:txBody>
          <a:bodyPr wrap="square" anchor="t" lIns="0" rIns="0" tIns="0" bIns="0">
            <a:spAutoFit/>
          </a:bodyPr>
          <a:lstStyle/>
          <a:p>
            <a:pPr algn="l">
              <a:lnSpc>
                <a:spcPct val="100000"/>
              </a:lnSpc>
              <a:spcBef>
                <a:spcPts val="0"/>
              </a:spcBef>
              <a:spcAft>
                <a:spcPts val="200"/>
              </a:spcAft>
            </a:pPr>
            <a:r>
              <a:rPr sz="1150" b="0" i="0">
                <a:solidFill>
                  <a:srgbClr val="465257"/>
                </a:solidFill>
                <a:latin typeface="Segoe UI"/>
              </a:rPr>
              <a:t>SQL tables, CSV</a:t>
            </a:r>
          </a:p>
        </p:txBody>
      </p:sp>
      <p:sp>
        <p:nvSpPr>
          <p:cNvPr id="28" name="Rectangle 27"/>
          <p:cNvSpPr/>
          <p:nvPr/>
        </p:nvSpPr>
        <p:spPr>
          <a:xfrm>
            <a:off x="859536" y="3465576"/>
            <a:ext cx="2856890"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59536" y="3538727"/>
            <a:ext cx="2893466" cy="274320"/>
          </a:xfrm>
          <a:prstGeom prst="rect">
            <a:avLst/>
          </a:prstGeom>
          <a:noFill/>
        </p:spPr>
        <p:txBody>
          <a:bodyPr wrap="square" anchor="t" lIns="0" rIns="0" tIns="0" bIns="0">
            <a:spAutoFit/>
          </a:bodyPr>
          <a:lstStyle/>
          <a:p>
            <a:pPr algn="l">
              <a:lnSpc>
                <a:spcPct val="100000"/>
              </a:lnSpc>
              <a:spcBef>
                <a:spcPts val="0"/>
              </a:spcBef>
              <a:spcAft>
                <a:spcPts val="200"/>
              </a:spcAft>
            </a:pPr>
            <a:r>
              <a:rPr sz="850" b="1" i="0">
                <a:solidFill>
                  <a:srgbClr val="2272B4"/>
                </a:solidFill>
                <a:latin typeface="Segoe UI Semibold"/>
              </a:rPr>
              <a:t>SCHEMA</a:t>
            </a:r>
          </a:p>
        </p:txBody>
      </p:sp>
      <p:sp>
        <p:nvSpPr>
          <p:cNvPr id="30" name="TextBox 29"/>
          <p:cNvSpPr txBox="1"/>
          <p:nvPr/>
        </p:nvSpPr>
        <p:spPr>
          <a:xfrm>
            <a:off x="859536" y="3776472"/>
            <a:ext cx="2893466" cy="411480"/>
          </a:xfrm>
          <a:prstGeom prst="rect">
            <a:avLst/>
          </a:prstGeom>
          <a:noFill/>
        </p:spPr>
        <p:txBody>
          <a:bodyPr wrap="square" anchor="t" lIns="0" rIns="0" tIns="0" bIns="0">
            <a:spAutoFit/>
          </a:bodyPr>
          <a:lstStyle/>
          <a:p>
            <a:pPr algn="l">
              <a:lnSpc>
                <a:spcPct val="100000"/>
              </a:lnSpc>
              <a:spcBef>
                <a:spcPts val="0"/>
              </a:spcBef>
              <a:spcAft>
                <a:spcPts val="200"/>
              </a:spcAft>
            </a:pPr>
            <a:r>
              <a:rPr sz="1150" b="0" i="0">
                <a:solidFill>
                  <a:srgbClr val="465257"/>
                </a:solidFill>
                <a:latin typeface="Segoe UI"/>
              </a:rPr>
              <a:t>Fixed, defined upfront</a:t>
            </a:r>
          </a:p>
        </p:txBody>
      </p:sp>
      <p:sp>
        <p:nvSpPr>
          <p:cNvPr id="31" name="Rectangle 30"/>
          <p:cNvSpPr/>
          <p:nvPr/>
        </p:nvSpPr>
        <p:spPr>
          <a:xfrm>
            <a:off x="859536" y="4215383"/>
            <a:ext cx="2856890"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59536" y="4288536"/>
            <a:ext cx="2893466" cy="274320"/>
          </a:xfrm>
          <a:prstGeom prst="rect">
            <a:avLst/>
          </a:prstGeom>
          <a:noFill/>
        </p:spPr>
        <p:txBody>
          <a:bodyPr wrap="square" anchor="t" lIns="0" rIns="0" tIns="0" bIns="0">
            <a:spAutoFit/>
          </a:bodyPr>
          <a:lstStyle/>
          <a:p>
            <a:pPr algn="l">
              <a:lnSpc>
                <a:spcPct val="100000"/>
              </a:lnSpc>
              <a:spcBef>
                <a:spcPts val="0"/>
              </a:spcBef>
              <a:spcAft>
                <a:spcPts val="200"/>
              </a:spcAft>
            </a:pPr>
            <a:r>
              <a:rPr sz="850" b="1" i="0">
                <a:solidFill>
                  <a:srgbClr val="2272B4"/>
                </a:solidFill>
                <a:latin typeface="Segoe UI Semibold"/>
              </a:rPr>
              <a:t>STORAGE</a:t>
            </a:r>
          </a:p>
        </p:txBody>
      </p:sp>
      <p:sp>
        <p:nvSpPr>
          <p:cNvPr id="33" name="TextBox 32"/>
          <p:cNvSpPr txBox="1"/>
          <p:nvPr/>
        </p:nvSpPr>
        <p:spPr>
          <a:xfrm>
            <a:off x="859536" y="4526279"/>
            <a:ext cx="2893466" cy="411480"/>
          </a:xfrm>
          <a:prstGeom prst="rect">
            <a:avLst/>
          </a:prstGeom>
          <a:noFill/>
        </p:spPr>
        <p:txBody>
          <a:bodyPr wrap="square" anchor="t" lIns="0" rIns="0" tIns="0" bIns="0">
            <a:spAutoFit/>
          </a:bodyPr>
          <a:lstStyle/>
          <a:p>
            <a:pPr algn="l">
              <a:lnSpc>
                <a:spcPct val="100000"/>
              </a:lnSpc>
              <a:spcBef>
                <a:spcPts val="0"/>
              </a:spcBef>
              <a:spcAft>
                <a:spcPts val="200"/>
              </a:spcAft>
            </a:pPr>
            <a:r>
              <a:rPr sz="1150" b="0" i="0">
                <a:solidFill>
                  <a:srgbClr val="465257"/>
                </a:solidFill>
                <a:latin typeface="Segoe UI"/>
              </a:rPr>
              <a:t>Warehouses, RDBMS</a:t>
            </a:r>
          </a:p>
        </p:txBody>
      </p:sp>
      <p:sp>
        <p:nvSpPr>
          <p:cNvPr id="34" name="Rectangle 33"/>
          <p:cNvSpPr/>
          <p:nvPr/>
        </p:nvSpPr>
        <p:spPr>
          <a:xfrm>
            <a:off x="859536" y="4965192"/>
            <a:ext cx="2856890"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59536" y="5038344"/>
            <a:ext cx="2893466" cy="274320"/>
          </a:xfrm>
          <a:prstGeom prst="rect">
            <a:avLst/>
          </a:prstGeom>
          <a:noFill/>
        </p:spPr>
        <p:txBody>
          <a:bodyPr wrap="square" anchor="t" lIns="0" rIns="0" tIns="0" bIns="0">
            <a:spAutoFit/>
          </a:bodyPr>
          <a:lstStyle/>
          <a:p>
            <a:pPr algn="l">
              <a:lnSpc>
                <a:spcPct val="100000"/>
              </a:lnSpc>
              <a:spcBef>
                <a:spcPts val="0"/>
              </a:spcBef>
              <a:spcAft>
                <a:spcPts val="200"/>
              </a:spcAft>
            </a:pPr>
            <a:r>
              <a:rPr sz="850" b="1" i="0">
                <a:solidFill>
                  <a:srgbClr val="2272B4"/>
                </a:solidFill>
                <a:latin typeface="Segoe UI Semibold"/>
              </a:rPr>
              <a:t>SHARE</a:t>
            </a:r>
          </a:p>
        </p:txBody>
      </p:sp>
      <p:sp>
        <p:nvSpPr>
          <p:cNvPr id="36" name="TextBox 35"/>
          <p:cNvSpPr txBox="1"/>
          <p:nvPr/>
        </p:nvSpPr>
        <p:spPr>
          <a:xfrm>
            <a:off x="859536" y="5276088"/>
            <a:ext cx="2893466" cy="411480"/>
          </a:xfrm>
          <a:prstGeom prst="rect">
            <a:avLst/>
          </a:prstGeom>
          <a:noFill/>
        </p:spPr>
        <p:txBody>
          <a:bodyPr wrap="square" anchor="t" lIns="0" rIns="0" tIns="0" bIns="0">
            <a:spAutoFit/>
          </a:bodyPr>
          <a:lstStyle/>
          <a:p>
            <a:pPr algn="l">
              <a:lnSpc>
                <a:spcPct val="100000"/>
              </a:lnSpc>
              <a:spcBef>
                <a:spcPts val="0"/>
              </a:spcBef>
              <a:spcAft>
                <a:spcPts val="200"/>
              </a:spcAft>
            </a:pPr>
            <a:r>
              <a:rPr sz="1150" b="0" i="0">
                <a:solidFill>
                  <a:srgbClr val="465257"/>
                </a:solidFill>
                <a:latin typeface="Segoe UI"/>
              </a:rPr>
              <a:t>~20% of data</a:t>
            </a:r>
          </a:p>
        </p:txBody>
      </p:sp>
      <p:sp>
        <p:nvSpPr>
          <p:cNvPr id="37" name="Rectangle 36"/>
          <p:cNvSpPr/>
          <p:nvPr/>
        </p:nvSpPr>
        <p:spPr>
          <a:xfrm>
            <a:off x="859536" y="5715000"/>
            <a:ext cx="2856890"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4374794" y="1874519"/>
            <a:ext cx="3442106" cy="3977639"/>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4374794" y="1874519"/>
            <a:ext cx="3442106" cy="713232"/>
          </a:xfrm>
          <a:prstGeom prst="rect">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Folded Corner 39"/>
          <p:cNvSpPr/>
          <p:nvPr/>
        </p:nvSpPr>
        <p:spPr>
          <a:xfrm>
            <a:off x="4794686" y="2062154"/>
            <a:ext cx="257495" cy="337962"/>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5334914" y="1874519"/>
            <a:ext cx="2436266" cy="713232"/>
          </a:xfrm>
          <a:prstGeom prst="rect">
            <a:avLst/>
          </a:prstGeom>
          <a:noFill/>
        </p:spPr>
        <p:txBody>
          <a:bodyPr wrap="square" anchor="ctr" lIns="0" rIns="0" tIns="0" bIns="0">
            <a:spAutoFit/>
          </a:bodyPr>
          <a:lstStyle/>
          <a:p>
            <a:pPr algn="l">
              <a:lnSpc>
                <a:spcPct val="92000"/>
              </a:lnSpc>
              <a:spcBef>
                <a:spcPts val="0"/>
              </a:spcBef>
              <a:spcAft>
                <a:spcPts val="200"/>
              </a:spcAft>
            </a:pPr>
            <a:r>
              <a:rPr sz="1450" b="1" i="0">
                <a:solidFill>
                  <a:srgbClr val="FFFFFF"/>
                </a:solidFill>
                <a:latin typeface="Segoe UI"/>
              </a:rPr>
              <a:t>Semi-Structured</a:t>
            </a:r>
          </a:p>
        </p:txBody>
      </p:sp>
      <p:sp>
        <p:nvSpPr>
          <p:cNvPr id="42" name="TextBox 41"/>
          <p:cNvSpPr txBox="1"/>
          <p:nvPr/>
        </p:nvSpPr>
        <p:spPr>
          <a:xfrm>
            <a:off x="4667402" y="2788920"/>
            <a:ext cx="2893466" cy="274320"/>
          </a:xfrm>
          <a:prstGeom prst="rect">
            <a:avLst/>
          </a:prstGeom>
          <a:noFill/>
        </p:spPr>
        <p:txBody>
          <a:bodyPr wrap="square" anchor="t" lIns="0" rIns="0" tIns="0" bIns="0">
            <a:spAutoFit/>
          </a:bodyPr>
          <a:lstStyle/>
          <a:p>
            <a:pPr algn="l">
              <a:lnSpc>
                <a:spcPct val="100000"/>
              </a:lnSpc>
              <a:spcBef>
                <a:spcPts val="0"/>
              </a:spcBef>
              <a:spcAft>
                <a:spcPts val="200"/>
              </a:spcAft>
            </a:pPr>
            <a:r>
              <a:rPr sz="850" b="1" i="0">
                <a:solidFill>
                  <a:srgbClr val="0E8C9C"/>
                </a:solidFill>
                <a:latin typeface="Segoe UI Semibold"/>
              </a:rPr>
              <a:t>EXAMPLES</a:t>
            </a:r>
          </a:p>
        </p:txBody>
      </p:sp>
      <p:sp>
        <p:nvSpPr>
          <p:cNvPr id="43" name="TextBox 42"/>
          <p:cNvSpPr txBox="1"/>
          <p:nvPr/>
        </p:nvSpPr>
        <p:spPr>
          <a:xfrm>
            <a:off x="4667402" y="3026663"/>
            <a:ext cx="2893466" cy="411480"/>
          </a:xfrm>
          <a:prstGeom prst="rect">
            <a:avLst/>
          </a:prstGeom>
          <a:noFill/>
        </p:spPr>
        <p:txBody>
          <a:bodyPr wrap="square" anchor="t" lIns="0" rIns="0" tIns="0" bIns="0">
            <a:spAutoFit/>
          </a:bodyPr>
          <a:lstStyle/>
          <a:p>
            <a:pPr algn="l">
              <a:lnSpc>
                <a:spcPct val="100000"/>
              </a:lnSpc>
              <a:spcBef>
                <a:spcPts val="0"/>
              </a:spcBef>
              <a:spcAft>
                <a:spcPts val="200"/>
              </a:spcAft>
            </a:pPr>
            <a:r>
              <a:rPr sz="1150" b="0" i="0">
                <a:solidFill>
                  <a:srgbClr val="465257"/>
                </a:solidFill>
                <a:latin typeface="Segoe UI"/>
              </a:rPr>
              <a:t>JSON, XML, logs</a:t>
            </a:r>
          </a:p>
        </p:txBody>
      </p:sp>
      <p:sp>
        <p:nvSpPr>
          <p:cNvPr id="44" name="Rectangle 43"/>
          <p:cNvSpPr/>
          <p:nvPr/>
        </p:nvSpPr>
        <p:spPr>
          <a:xfrm>
            <a:off x="4667402" y="3465576"/>
            <a:ext cx="2856890"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4667402" y="3538727"/>
            <a:ext cx="2893466" cy="274320"/>
          </a:xfrm>
          <a:prstGeom prst="rect">
            <a:avLst/>
          </a:prstGeom>
          <a:noFill/>
        </p:spPr>
        <p:txBody>
          <a:bodyPr wrap="square" anchor="t" lIns="0" rIns="0" tIns="0" bIns="0">
            <a:spAutoFit/>
          </a:bodyPr>
          <a:lstStyle/>
          <a:p>
            <a:pPr algn="l">
              <a:lnSpc>
                <a:spcPct val="100000"/>
              </a:lnSpc>
              <a:spcBef>
                <a:spcPts val="0"/>
              </a:spcBef>
              <a:spcAft>
                <a:spcPts val="200"/>
              </a:spcAft>
            </a:pPr>
            <a:r>
              <a:rPr sz="850" b="1" i="0">
                <a:solidFill>
                  <a:srgbClr val="0E8C9C"/>
                </a:solidFill>
                <a:latin typeface="Segoe UI Semibold"/>
              </a:rPr>
              <a:t>SCHEMA</a:t>
            </a:r>
          </a:p>
        </p:txBody>
      </p:sp>
      <p:sp>
        <p:nvSpPr>
          <p:cNvPr id="46" name="TextBox 45"/>
          <p:cNvSpPr txBox="1"/>
          <p:nvPr/>
        </p:nvSpPr>
        <p:spPr>
          <a:xfrm>
            <a:off x="4667402" y="3776472"/>
            <a:ext cx="2893466" cy="411480"/>
          </a:xfrm>
          <a:prstGeom prst="rect">
            <a:avLst/>
          </a:prstGeom>
          <a:noFill/>
        </p:spPr>
        <p:txBody>
          <a:bodyPr wrap="square" anchor="t" lIns="0" rIns="0" tIns="0" bIns="0">
            <a:spAutoFit/>
          </a:bodyPr>
          <a:lstStyle/>
          <a:p>
            <a:pPr algn="l">
              <a:lnSpc>
                <a:spcPct val="100000"/>
              </a:lnSpc>
              <a:spcBef>
                <a:spcPts val="0"/>
              </a:spcBef>
              <a:spcAft>
                <a:spcPts val="200"/>
              </a:spcAft>
            </a:pPr>
            <a:r>
              <a:rPr sz="1150" b="0" i="0">
                <a:solidFill>
                  <a:srgbClr val="465257"/>
                </a:solidFill>
                <a:latin typeface="Segoe UI"/>
              </a:rPr>
              <a:t>Flexible / self-describing</a:t>
            </a:r>
          </a:p>
        </p:txBody>
      </p:sp>
      <p:sp>
        <p:nvSpPr>
          <p:cNvPr id="47" name="Rectangle 46"/>
          <p:cNvSpPr/>
          <p:nvPr/>
        </p:nvSpPr>
        <p:spPr>
          <a:xfrm>
            <a:off x="4667402" y="4215383"/>
            <a:ext cx="2856890"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4667402" y="4288536"/>
            <a:ext cx="2893466" cy="274320"/>
          </a:xfrm>
          <a:prstGeom prst="rect">
            <a:avLst/>
          </a:prstGeom>
          <a:noFill/>
        </p:spPr>
        <p:txBody>
          <a:bodyPr wrap="square" anchor="t" lIns="0" rIns="0" tIns="0" bIns="0">
            <a:spAutoFit/>
          </a:bodyPr>
          <a:lstStyle/>
          <a:p>
            <a:pPr algn="l">
              <a:lnSpc>
                <a:spcPct val="100000"/>
              </a:lnSpc>
              <a:spcBef>
                <a:spcPts val="0"/>
              </a:spcBef>
              <a:spcAft>
                <a:spcPts val="200"/>
              </a:spcAft>
            </a:pPr>
            <a:r>
              <a:rPr sz="850" b="1" i="0">
                <a:solidFill>
                  <a:srgbClr val="0E8C9C"/>
                </a:solidFill>
                <a:latin typeface="Segoe UI Semibold"/>
              </a:rPr>
              <a:t>STORAGE</a:t>
            </a:r>
          </a:p>
        </p:txBody>
      </p:sp>
      <p:sp>
        <p:nvSpPr>
          <p:cNvPr id="49" name="TextBox 48"/>
          <p:cNvSpPr txBox="1"/>
          <p:nvPr/>
        </p:nvSpPr>
        <p:spPr>
          <a:xfrm>
            <a:off x="4667402" y="4526279"/>
            <a:ext cx="2893466" cy="411480"/>
          </a:xfrm>
          <a:prstGeom prst="rect">
            <a:avLst/>
          </a:prstGeom>
          <a:noFill/>
        </p:spPr>
        <p:txBody>
          <a:bodyPr wrap="square" anchor="t" lIns="0" rIns="0" tIns="0" bIns="0">
            <a:spAutoFit/>
          </a:bodyPr>
          <a:lstStyle/>
          <a:p>
            <a:pPr algn="l">
              <a:lnSpc>
                <a:spcPct val="100000"/>
              </a:lnSpc>
              <a:spcBef>
                <a:spcPts val="0"/>
              </a:spcBef>
              <a:spcAft>
                <a:spcPts val="200"/>
              </a:spcAft>
            </a:pPr>
            <a:r>
              <a:rPr sz="1150" b="0" i="0">
                <a:solidFill>
                  <a:srgbClr val="465257"/>
                </a:solidFill>
                <a:latin typeface="Segoe UI"/>
              </a:rPr>
              <a:t>Lakes, NoSQL</a:t>
            </a:r>
          </a:p>
        </p:txBody>
      </p:sp>
      <p:sp>
        <p:nvSpPr>
          <p:cNvPr id="50" name="Rectangle 49"/>
          <p:cNvSpPr/>
          <p:nvPr/>
        </p:nvSpPr>
        <p:spPr>
          <a:xfrm>
            <a:off x="4667402" y="4965192"/>
            <a:ext cx="2856890"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667402" y="5038344"/>
            <a:ext cx="2893466" cy="274320"/>
          </a:xfrm>
          <a:prstGeom prst="rect">
            <a:avLst/>
          </a:prstGeom>
          <a:noFill/>
        </p:spPr>
        <p:txBody>
          <a:bodyPr wrap="square" anchor="t" lIns="0" rIns="0" tIns="0" bIns="0">
            <a:spAutoFit/>
          </a:bodyPr>
          <a:lstStyle/>
          <a:p>
            <a:pPr algn="l">
              <a:lnSpc>
                <a:spcPct val="100000"/>
              </a:lnSpc>
              <a:spcBef>
                <a:spcPts val="0"/>
              </a:spcBef>
              <a:spcAft>
                <a:spcPts val="200"/>
              </a:spcAft>
            </a:pPr>
            <a:r>
              <a:rPr sz="850" b="1" i="0">
                <a:solidFill>
                  <a:srgbClr val="0E8C9C"/>
                </a:solidFill>
                <a:latin typeface="Segoe UI Semibold"/>
              </a:rPr>
              <a:t>SHARE</a:t>
            </a:r>
          </a:p>
        </p:txBody>
      </p:sp>
      <p:sp>
        <p:nvSpPr>
          <p:cNvPr id="52" name="TextBox 51"/>
          <p:cNvSpPr txBox="1"/>
          <p:nvPr/>
        </p:nvSpPr>
        <p:spPr>
          <a:xfrm>
            <a:off x="4667402" y="5276088"/>
            <a:ext cx="2893466" cy="411480"/>
          </a:xfrm>
          <a:prstGeom prst="rect">
            <a:avLst/>
          </a:prstGeom>
          <a:noFill/>
        </p:spPr>
        <p:txBody>
          <a:bodyPr wrap="square" anchor="t" lIns="0" rIns="0" tIns="0" bIns="0">
            <a:spAutoFit/>
          </a:bodyPr>
          <a:lstStyle/>
          <a:p>
            <a:pPr algn="l">
              <a:lnSpc>
                <a:spcPct val="100000"/>
              </a:lnSpc>
              <a:spcBef>
                <a:spcPts val="0"/>
              </a:spcBef>
              <a:spcAft>
                <a:spcPts val="200"/>
              </a:spcAft>
            </a:pPr>
            <a:r>
              <a:rPr sz="1150" b="0" i="0">
                <a:solidFill>
                  <a:srgbClr val="465257"/>
                </a:solidFill>
                <a:latin typeface="Segoe UI"/>
              </a:rPr>
              <a:t>Growing fast</a:t>
            </a:r>
          </a:p>
        </p:txBody>
      </p:sp>
      <p:sp>
        <p:nvSpPr>
          <p:cNvPr id="53" name="Rectangle 52"/>
          <p:cNvSpPr/>
          <p:nvPr/>
        </p:nvSpPr>
        <p:spPr>
          <a:xfrm>
            <a:off x="4667402" y="5715000"/>
            <a:ext cx="2856890"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ounded Rectangle 53"/>
          <p:cNvSpPr/>
          <p:nvPr/>
        </p:nvSpPr>
        <p:spPr>
          <a:xfrm>
            <a:off x="8182660" y="1874519"/>
            <a:ext cx="3442106" cy="3977639"/>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8182660" y="1874519"/>
            <a:ext cx="3442106" cy="713232"/>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8584287" y="2084122"/>
            <a:ext cx="125046" cy="12504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8753268" y="2084122"/>
            <a:ext cx="125046" cy="12504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Diamond 57"/>
          <p:cNvSpPr/>
          <p:nvPr/>
        </p:nvSpPr>
        <p:spPr>
          <a:xfrm>
            <a:off x="8584287" y="2253103"/>
            <a:ext cx="125046" cy="125046"/>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8753268" y="2253103"/>
            <a:ext cx="125046" cy="12504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9142780" y="1874519"/>
            <a:ext cx="2436266" cy="713232"/>
          </a:xfrm>
          <a:prstGeom prst="rect">
            <a:avLst/>
          </a:prstGeom>
          <a:noFill/>
        </p:spPr>
        <p:txBody>
          <a:bodyPr wrap="square" anchor="ctr" lIns="0" rIns="0" tIns="0" bIns="0">
            <a:spAutoFit/>
          </a:bodyPr>
          <a:lstStyle/>
          <a:p>
            <a:pPr algn="l">
              <a:lnSpc>
                <a:spcPct val="92000"/>
              </a:lnSpc>
              <a:spcBef>
                <a:spcPts val="0"/>
              </a:spcBef>
              <a:spcAft>
                <a:spcPts val="200"/>
              </a:spcAft>
            </a:pPr>
            <a:r>
              <a:rPr sz="1450" b="1" i="0">
                <a:solidFill>
                  <a:srgbClr val="FFFFFF"/>
                </a:solidFill>
                <a:latin typeface="Segoe UI"/>
              </a:rPr>
              <a:t>Unstructured</a:t>
            </a:r>
          </a:p>
        </p:txBody>
      </p:sp>
      <p:sp>
        <p:nvSpPr>
          <p:cNvPr id="61" name="TextBox 60"/>
          <p:cNvSpPr txBox="1"/>
          <p:nvPr/>
        </p:nvSpPr>
        <p:spPr>
          <a:xfrm>
            <a:off x="8475268" y="2788920"/>
            <a:ext cx="2893466" cy="274320"/>
          </a:xfrm>
          <a:prstGeom prst="rect">
            <a:avLst/>
          </a:prstGeom>
          <a:noFill/>
        </p:spPr>
        <p:txBody>
          <a:bodyPr wrap="square" anchor="t" lIns="0" rIns="0" tIns="0" bIns="0">
            <a:spAutoFit/>
          </a:bodyPr>
          <a:lstStyle/>
          <a:p>
            <a:pPr algn="l">
              <a:lnSpc>
                <a:spcPct val="100000"/>
              </a:lnSpc>
              <a:spcBef>
                <a:spcPts val="0"/>
              </a:spcBef>
              <a:spcAft>
                <a:spcPts val="200"/>
              </a:spcAft>
            </a:pPr>
            <a:r>
              <a:rPr sz="850" b="1" i="0">
                <a:solidFill>
                  <a:srgbClr val="FF3621"/>
                </a:solidFill>
                <a:latin typeface="Segoe UI Semibold"/>
              </a:rPr>
              <a:t>EXAMPLES</a:t>
            </a:r>
          </a:p>
        </p:txBody>
      </p:sp>
      <p:sp>
        <p:nvSpPr>
          <p:cNvPr id="62" name="TextBox 61"/>
          <p:cNvSpPr txBox="1"/>
          <p:nvPr/>
        </p:nvSpPr>
        <p:spPr>
          <a:xfrm>
            <a:off x="8475268" y="3026663"/>
            <a:ext cx="2893466" cy="411480"/>
          </a:xfrm>
          <a:prstGeom prst="rect">
            <a:avLst/>
          </a:prstGeom>
          <a:noFill/>
        </p:spPr>
        <p:txBody>
          <a:bodyPr wrap="square" anchor="t" lIns="0" rIns="0" tIns="0" bIns="0">
            <a:spAutoFit/>
          </a:bodyPr>
          <a:lstStyle/>
          <a:p>
            <a:pPr algn="l">
              <a:lnSpc>
                <a:spcPct val="100000"/>
              </a:lnSpc>
              <a:spcBef>
                <a:spcPts val="0"/>
              </a:spcBef>
              <a:spcAft>
                <a:spcPts val="200"/>
              </a:spcAft>
            </a:pPr>
            <a:r>
              <a:rPr sz="1150" b="0" i="0">
                <a:solidFill>
                  <a:srgbClr val="465257"/>
                </a:solidFill>
                <a:latin typeface="Segoe UI"/>
              </a:rPr>
              <a:t>Text, images, video</a:t>
            </a:r>
          </a:p>
        </p:txBody>
      </p:sp>
      <p:sp>
        <p:nvSpPr>
          <p:cNvPr id="63" name="Rectangle 62"/>
          <p:cNvSpPr/>
          <p:nvPr/>
        </p:nvSpPr>
        <p:spPr>
          <a:xfrm>
            <a:off x="8475268" y="3465576"/>
            <a:ext cx="2856890"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8475268" y="3538727"/>
            <a:ext cx="2893466" cy="274320"/>
          </a:xfrm>
          <a:prstGeom prst="rect">
            <a:avLst/>
          </a:prstGeom>
          <a:noFill/>
        </p:spPr>
        <p:txBody>
          <a:bodyPr wrap="square" anchor="t" lIns="0" rIns="0" tIns="0" bIns="0">
            <a:spAutoFit/>
          </a:bodyPr>
          <a:lstStyle/>
          <a:p>
            <a:pPr algn="l">
              <a:lnSpc>
                <a:spcPct val="100000"/>
              </a:lnSpc>
              <a:spcBef>
                <a:spcPts val="0"/>
              </a:spcBef>
              <a:spcAft>
                <a:spcPts val="200"/>
              </a:spcAft>
            </a:pPr>
            <a:r>
              <a:rPr sz="850" b="1" i="0">
                <a:solidFill>
                  <a:srgbClr val="FF3621"/>
                </a:solidFill>
                <a:latin typeface="Segoe UI Semibold"/>
              </a:rPr>
              <a:t>SCHEMA</a:t>
            </a:r>
          </a:p>
        </p:txBody>
      </p:sp>
      <p:sp>
        <p:nvSpPr>
          <p:cNvPr id="65" name="TextBox 64"/>
          <p:cNvSpPr txBox="1"/>
          <p:nvPr/>
        </p:nvSpPr>
        <p:spPr>
          <a:xfrm>
            <a:off x="8475268" y="3776472"/>
            <a:ext cx="2893466" cy="411480"/>
          </a:xfrm>
          <a:prstGeom prst="rect">
            <a:avLst/>
          </a:prstGeom>
          <a:noFill/>
        </p:spPr>
        <p:txBody>
          <a:bodyPr wrap="square" anchor="t" lIns="0" rIns="0" tIns="0" bIns="0">
            <a:spAutoFit/>
          </a:bodyPr>
          <a:lstStyle/>
          <a:p>
            <a:pPr algn="l">
              <a:lnSpc>
                <a:spcPct val="100000"/>
              </a:lnSpc>
              <a:spcBef>
                <a:spcPts val="0"/>
              </a:spcBef>
              <a:spcAft>
                <a:spcPts val="200"/>
              </a:spcAft>
            </a:pPr>
            <a:r>
              <a:rPr sz="1150" b="0" i="0">
                <a:solidFill>
                  <a:srgbClr val="465257"/>
                </a:solidFill>
                <a:latin typeface="Segoe UI"/>
              </a:rPr>
              <a:t>None — raw content</a:t>
            </a:r>
          </a:p>
        </p:txBody>
      </p:sp>
      <p:sp>
        <p:nvSpPr>
          <p:cNvPr id="66" name="Rectangle 65"/>
          <p:cNvSpPr/>
          <p:nvPr/>
        </p:nvSpPr>
        <p:spPr>
          <a:xfrm>
            <a:off x="8475268" y="4215383"/>
            <a:ext cx="2856890"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8475268" y="4288536"/>
            <a:ext cx="2893466" cy="274320"/>
          </a:xfrm>
          <a:prstGeom prst="rect">
            <a:avLst/>
          </a:prstGeom>
          <a:noFill/>
        </p:spPr>
        <p:txBody>
          <a:bodyPr wrap="square" anchor="t" lIns="0" rIns="0" tIns="0" bIns="0">
            <a:spAutoFit/>
          </a:bodyPr>
          <a:lstStyle/>
          <a:p>
            <a:pPr algn="l">
              <a:lnSpc>
                <a:spcPct val="100000"/>
              </a:lnSpc>
              <a:spcBef>
                <a:spcPts val="0"/>
              </a:spcBef>
              <a:spcAft>
                <a:spcPts val="200"/>
              </a:spcAft>
            </a:pPr>
            <a:r>
              <a:rPr sz="850" b="1" i="0">
                <a:solidFill>
                  <a:srgbClr val="FF3621"/>
                </a:solidFill>
                <a:latin typeface="Segoe UI Semibold"/>
              </a:rPr>
              <a:t>STORAGE</a:t>
            </a:r>
          </a:p>
        </p:txBody>
      </p:sp>
      <p:sp>
        <p:nvSpPr>
          <p:cNvPr id="68" name="TextBox 67"/>
          <p:cNvSpPr txBox="1"/>
          <p:nvPr/>
        </p:nvSpPr>
        <p:spPr>
          <a:xfrm>
            <a:off x="8475268" y="4526279"/>
            <a:ext cx="2893466" cy="411480"/>
          </a:xfrm>
          <a:prstGeom prst="rect">
            <a:avLst/>
          </a:prstGeom>
          <a:noFill/>
        </p:spPr>
        <p:txBody>
          <a:bodyPr wrap="square" anchor="t" lIns="0" rIns="0" tIns="0" bIns="0">
            <a:spAutoFit/>
          </a:bodyPr>
          <a:lstStyle/>
          <a:p>
            <a:pPr algn="l">
              <a:lnSpc>
                <a:spcPct val="100000"/>
              </a:lnSpc>
              <a:spcBef>
                <a:spcPts val="0"/>
              </a:spcBef>
              <a:spcAft>
                <a:spcPts val="200"/>
              </a:spcAft>
            </a:pPr>
            <a:r>
              <a:rPr sz="1150" b="0" i="0">
                <a:solidFill>
                  <a:srgbClr val="465257"/>
                </a:solidFill>
                <a:latin typeface="Segoe UI"/>
              </a:rPr>
              <a:t>Object storage / lake</a:t>
            </a:r>
          </a:p>
        </p:txBody>
      </p:sp>
      <p:sp>
        <p:nvSpPr>
          <p:cNvPr id="69" name="Rectangle 68"/>
          <p:cNvSpPr/>
          <p:nvPr/>
        </p:nvSpPr>
        <p:spPr>
          <a:xfrm>
            <a:off x="8475268" y="4965192"/>
            <a:ext cx="2856890"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8475268" y="5038344"/>
            <a:ext cx="2893466" cy="274320"/>
          </a:xfrm>
          <a:prstGeom prst="rect">
            <a:avLst/>
          </a:prstGeom>
          <a:noFill/>
        </p:spPr>
        <p:txBody>
          <a:bodyPr wrap="square" anchor="t" lIns="0" rIns="0" tIns="0" bIns="0">
            <a:spAutoFit/>
          </a:bodyPr>
          <a:lstStyle/>
          <a:p>
            <a:pPr algn="l">
              <a:lnSpc>
                <a:spcPct val="100000"/>
              </a:lnSpc>
              <a:spcBef>
                <a:spcPts val="0"/>
              </a:spcBef>
              <a:spcAft>
                <a:spcPts val="200"/>
              </a:spcAft>
            </a:pPr>
            <a:r>
              <a:rPr sz="850" b="1" i="0">
                <a:solidFill>
                  <a:srgbClr val="FF3621"/>
                </a:solidFill>
                <a:latin typeface="Segoe UI Semibold"/>
              </a:rPr>
              <a:t>SHARE</a:t>
            </a:r>
          </a:p>
        </p:txBody>
      </p:sp>
      <p:sp>
        <p:nvSpPr>
          <p:cNvPr id="71" name="TextBox 70"/>
          <p:cNvSpPr txBox="1"/>
          <p:nvPr/>
        </p:nvSpPr>
        <p:spPr>
          <a:xfrm>
            <a:off x="8475268" y="5276088"/>
            <a:ext cx="2893466" cy="411480"/>
          </a:xfrm>
          <a:prstGeom prst="rect">
            <a:avLst/>
          </a:prstGeom>
          <a:noFill/>
        </p:spPr>
        <p:txBody>
          <a:bodyPr wrap="square" anchor="t" lIns="0" rIns="0" tIns="0" bIns="0">
            <a:spAutoFit/>
          </a:bodyPr>
          <a:lstStyle/>
          <a:p>
            <a:pPr algn="l">
              <a:lnSpc>
                <a:spcPct val="100000"/>
              </a:lnSpc>
              <a:spcBef>
                <a:spcPts val="0"/>
              </a:spcBef>
              <a:spcAft>
                <a:spcPts val="200"/>
              </a:spcAft>
            </a:pPr>
            <a:r>
              <a:rPr sz="1150" b="0" i="0">
                <a:solidFill>
                  <a:srgbClr val="465257"/>
                </a:solidFill>
                <a:latin typeface="Segoe UI"/>
              </a:rPr>
              <a:t>~80% of data</a:t>
            </a:r>
          </a:p>
        </p:txBody>
      </p:sp>
      <p:sp>
        <p:nvSpPr>
          <p:cNvPr id="72" name="Rectangle 71"/>
          <p:cNvSpPr/>
          <p:nvPr/>
        </p:nvSpPr>
        <p:spPr>
          <a:xfrm>
            <a:off x="8475268" y="5715000"/>
            <a:ext cx="2856890"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74" name="TextBox 73"/>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1463040"/>
            <a:ext cx="5486400" cy="2194560"/>
          </a:xfrm>
          <a:prstGeom prst="rect">
            <a:avLst/>
          </a:prstGeom>
          <a:noFill/>
        </p:spPr>
        <p:txBody>
          <a:bodyPr wrap="square" anchor="t" lIns="0" rIns="0" tIns="0" bIns="0">
            <a:spAutoFit/>
          </a:bodyPr>
          <a:lstStyle/>
          <a:p>
            <a:pPr algn="l">
              <a:lnSpc>
                <a:spcPct val="100000"/>
              </a:lnSpc>
              <a:spcBef>
                <a:spcPts val="0"/>
              </a:spcBef>
              <a:spcAft>
                <a:spcPts val="200"/>
              </a:spcAft>
            </a:pPr>
            <a:r>
              <a:rPr sz="20000" b="1" i="0">
                <a:solidFill>
                  <a:srgbClr val="27444F"/>
                </a:solidFill>
                <a:latin typeface="Segoe UI Light"/>
              </a:rPr>
              <a:t>02</a:t>
            </a:r>
          </a:p>
        </p:txBody>
      </p:sp>
      <p:sp>
        <p:nvSpPr>
          <p:cNvPr id="9" name="Rounded Rectangle 8"/>
          <p:cNvSpPr/>
          <p:nvPr/>
        </p:nvSpPr>
        <p:spPr>
          <a:xfrm>
            <a:off x="612648" y="3310128"/>
            <a:ext cx="777240" cy="9144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12648" y="2743200"/>
            <a:ext cx="7315200" cy="36576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FF3621"/>
                </a:solidFill>
                <a:latin typeface="Segoe UI Semibold"/>
              </a:rPr>
              <a:t>PART TWO</a:t>
            </a:r>
          </a:p>
        </p:txBody>
      </p:sp>
      <p:sp>
        <p:nvSpPr>
          <p:cNvPr id="11" name="TextBox 10"/>
          <p:cNvSpPr txBox="1"/>
          <p:nvPr/>
        </p:nvSpPr>
        <p:spPr>
          <a:xfrm>
            <a:off x="566928" y="3456432"/>
            <a:ext cx="7680960" cy="1097280"/>
          </a:xfrm>
          <a:prstGeom prst="rect">
            <a:avLst/>
          </a:prstGeom>
          <a:noFill/>
        </p:spPr>
        <p:txBody>
          <a:bodyPr wrap="square" anchor="t" lIns="0" rIns="0" tIns="0" bIns="0">
            <a:spAutoFit/>
          </a:bodyPr>
          <a:lstStyle/>
          <a:p>
            <a:pPr algn="l">
              <a:lnSpc>
                <a:spcPct val="98000"/>
              </a:lnSpc>
              <a:spcBef>
                <a:spcPts val="0"/>
              </a:spcBef>
              <a:spcAft>
                <a:spcPts val="200"/>
              </a:spcAft>
            </a:pPr>
            <a:r>
              <a:rPr sz="4000" b="1" i="0">
                <a:solidFill>
                  <a:srgbClr val="FFFFFF"/>
                </a:solidFill>
                <a:latin typeface="Segoe UI"/>
              </a:rPr>
              <a:t>Data Ingestion</a:t>
            </a:r>
          </a:p>
        </p:txBody>
      </p:sp>
      <p:sp>
        <p:nvSpPr>
          <p:cNvPr id="12" name="TextBox 11"/>
          <p:cNvSpPr txBox="1"/>
          <p:nvPr/>
        </p:nvSpPr>
        <p:spPr>
          <a:xfrm>
            <a:off x="612648" y="4754880"/>
            <a:ext cx="6949440" cy="1463040"/>
          </a:xfrm>
          <a:prstGeom prst="rect">
            <a:avLst/>
          </a:prstGeom>
          <a:noFill/>
        </p:spPr>
        <p:txBody>
          <a:bodyPr wrap="square" anchor="t" lIns="0" rIns="0" tIns="0" bIns="0">
            <a:spAutoFit/>
          </a:bodyPr>
          <a:lstStyle/>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What ingestion is · batch &amp; streaming</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Choosing the right mode</a:t>
            </a:r>
          </a:p>
        </p:txBody>
      </p:sp>
      <p:sp>
        <p:nvSpPr>
          <p:cNvPr id="13" name="Oval 12"/>
          <p:cNvSpPr/>
          <p:nvPr/>
        </p:nvSpPr>
        <p:spPr>
          <a:xfrm>
            <a:off x="8641080" y="2423160"/>
            <a:ext cx="2286000" cy="2286000"/>
          </a:xfrm>
          <a:prstGeom prst="ellipse">
            <a:avLst/>
          </a:prstGeom>
          <a:solidFill>
            <a:srgbClr val="FF3621"/>
          </a:solidFill>
          <a:ln w="15240">
            <a:solidFill>
              <a:srgbClr val="FF8A78"/>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rapezoid 13"/>
          <p:cNvSpPr/>
          <p:nvPr/>
        </p:nvSpPr>
        <p:spPr>
          <a:xfrm rot="10800000">
            <a:off x="9342424" y="3187598"/>
            <a:ext cx="883310" cy="420624"/>
          </a:xfrm>
          <a:prstGeom prst="trapezoi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9720986" y="3608222"/>
            <a:ext cx="126187" cy="3575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7E9199"/>
                </a:solidFill>
                <a:latin typeface="Segoe UI"/>
              </a:rPr>
              <a:t>Big Data &amp; Databricks  ·  Enterprise Training Series</a:t>
            </a:r>
          </a:p>
        </p:txBody>
      </p:sp>
      <p:sp>
        <p:nvSpPr>
          <p:cNvPr id="17" name="TextBox 16"/>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7E9199"/>
                </a:solidFill>
                <a:latin typeface="Segoe UI"/>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DATA INGESTION</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What Is Data Ingestion?</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76895"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29873"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Platform</a:t>
            </a:r>
          </a:p>
        </p:txBody>
      </p:sp>
      <p:sp>
        <p:nvSpPr>
          <p:cNvPr id="17" name="Rounded Rectangle 16"/>
          <p:cNvSpPr/>
          <p:nvPr/>
        </p:nvSpPr>
        <p:spPr>
          <a:xfrm>
            <a:off x="566928" y="2286000"/>
            <a:ext cx="3478682" cy="960120"/>
          </a:xfrm>
          <a:prstGeom prst="roundRect">
            <a:avLst>
              <a:gd name="adj" fmla="val 14000"/>
            </a:avLst>
          </a:prstGeom>
          <a:solidFill>
            <a:srgbClr val="27444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699698" y="2606222"/>
            <a:ext cx="319674" cy="319674"/>
          </a:xfrm>
          <a:prstGeom prst="ellipse">
            <a:avLst/>
          </a:prstGeom>
          <a:noFill/>
          <a:ln w="38608">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796991" y="2606222"/>
            <a:ext cx="125089" cy="319674"/>
          </a:xfrm>
          <a:prstGeom prst="ellipse">
            <a:avLst/>
          </a:prstGeom>
          <a:noFill/>
          <a:ln w="2895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99698" y="2755635"/>
            <a:ext cx="319674" cy="208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42416" y="2286000"/>
            <a:ext cx="2911754" cy="960120"/>
          </a:xfrm>
          <a:prstGeom prst="rect">
            <a:avLst/>
          </a:prstGeom>
          <a:noFill/>
        </p:spPr>
        <p:txBody>
          <a:bodyPr wrap="square" anchor="ctr" lIns="0" rIns="0" tIns="0" bIns="0">
            <a:spAutoFit/>
          </a:bodyPr>
          <a:lstStyle/>
          <a:p>
            <a:pPr algn="ctr">
              <a:lnSpc>
                <a:spcPct val="92000"/>
              </a:lnSpc>
              <a:spcBef>
                <a:spcPts val="0"/>
              </a:spcBef>
              <a:spcAft>
                <a:spcPts val="200"/>
              </a:spcAft>
            </a:pPr>
            <a:r>
              <a:rPr sz="1250" b="1" i="0">
                <a:solidFill>
                  <a:srgbClr val="FFFFFF"/>
                </a:solidFill>
                <a:latin typeface="Segoe UI"/>
              </a:rPr>
              <a:t>Sources</a:t>
            </a:r>
          </a:p>
        </p:txBody>
      </p:sp>
      <p:sp>
        <p:nvSpPr>
          <p:cNvPr id="22" name="Rounded Rectangle 21"/>
          <p:cNvSpPr/>
          <p:nvPr/>
        </p:nvSpPr>
        <p:spPr>
          <a:xfrm>
            <a:off x="566928" y="3410712"/>
            <a:ext cx="3478682" cy="12801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31520" y="3557015"/>
            <a:ext cx="3167786" cy="1005839"/>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1000" b="1">
                <a:solidFill>
                  <a:srgbClr val="27444F"/>
                </a:solidFill>
                <a:latin typeface="Segoe UI"/>
              </a:rPr>
              <a:t>▪   </a:t>
            </a:r>
            <a:r>
              <a:rPr sz="1000">
                <a:solidFill>
                  <a:srgbClr val="465257"/>
                </a:solidFill>
                <a:latin typeface="Segoe UI"/>
              </a:rPr>
              <a:t>Databases</a:t>
            </a:r>
          </a:p>
          <a:p>
            <a:pPr marL="274320" indent="-274320">
              <a:lnSpc>
                <a:spcPct val="105000"/>
              </a:lnSpc>
              <a:spcBef>
                <a:spcPts val="0"/>
              </a:spcBef>
              <a:spcAft>
                <a:spcPts val="400"/>
              </a:spcAft>
            </a:pPr>
            <a:r>
              <a:rPr sz="1000" b="1">
                <a:solidFill>
                  <a:srgbClr val="27444F"/>
                </a:solidFill>
                <a:latin typeface="Segoe UI"/>
              </a:rPr>
              <a:t>▪   </a:t>
            </a:r>
            <a:r>
              <a:rPr sz="1000">
                <a:solidFill>
                  <a:srgbClr val="465257"/>
                </a:solidFill>
                <a:latin typeface="Segoe UI"/>
              </a:rPr>
              <a:t>APIs · IoT</a:t>
            </a:r>
          </a:p>
          <a:p>
            <a:pPr marL="274320" indent="-274320">
              <a:lnSpc>
                <a:spcPct val="105000"/>
              </a:lnSpc>
              <a:spcBef>
                <a:spcPts val="0"/>
              </a:spcBef>
              <a:spcAft>
                <a:spcPts val="400"/>
              </a:spcAft>
            </a:pPr>
            <a:r>
              <a:rPr sz="1000" b="1">
                <a:solidFill>
                  <a:srgbClr val="27444F"/>
                </a:solidFill>
                <a:latin typeface="Segoe UI"/>
              </a:rPr>
              <a:t>▪   </a:t>
            </a:r>
            <a:r>
              <a:rPr sz="1000">
                <a:solidFill>
                  <a:srgbClr val="465257"/>
                </a:solidFill>
                <a:latin typeface="Segoe UI"/>
              </a:rPr>
              <a:t>Files · logs</a:t>
            </a:r>
          </a:p>
        </p:txBody>
      </p:sp>
      <p:sp>
        <p:nvSpPr>
          <p:cNvPr id="24" name="Right Arrow 23"/>
          <p:cNvSpPr/>
          <p:nvPr/>
        </p:nvSpPr>
        <p:spPr>
          <a:xfrm>
            <a:off x="4063898" y="2688336"/>
            <a:ext cx="256032" cy="155448"/>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56506" y="2286000"/>
            <a:ext cx="3478682" cy="960120"/>
          </a:xfrm>
          <a:prstGeom prst="roundRect">
            <a:avLst>
              <a:gd name="adj" fmla="val 14000"/>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rapezoid 25"/>
          <p:cNvSpPr/>
          <p:nvPr/>
        </p:nvSpPr>
        <p:spPr>
          <a:xfrm rot="10800000">
            <a:off x="4503176" y="2640970"/>
            <a:ext cx="291876" cy="138988"/>
          </a:xfrm>
          <a:prstGeom prst="trapezoi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628266" y="2779958"/>
            <a:ext cx="41696" cy="1181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831994" y="2286000"/>
            <a:ext cx="2911754" cy="960120"/>
          </a:xfrm>
          <a:prstGeom prst="rect">
            <a:avLst/>
          </a:prstGeom>
          <a:noFill/>
        </p:spPr>
        <p:txBody>
          <a:bodyPr wrap="square" anchor="ctr" lIns="0" rIns="0" tIns="0" bIns="0">
            <a:spAutoFit/>
          </a:bodyPr>
          <a:lstStyle/>
          <a:p>
            <a:pPr algn="ctr">
              <a:lnSpc>
                <a:spcPct val="92000"/>
              </a:lnSpc>
              <a:spcBef>
                <a:spcPts val="0"/>
              </a:spcBef>
              <a:spcAft>
                <a:spcPts val="200"/>
              </a:spcAft>
            </a:pPr>
            <a:r>
              <a:rPr sz="1250" b="1" i="0">
                <a:solidFill>
                  <a:srgbClr val="FFFFFF"/>
                </a:solidFill>
                <a:latin typeface="Segoe UI"/>
              </a:rPr>
              <a:t>Ingestion Layer</a:t>
            </a:r>
          </a:p>
        </p:txBody>
      </p:sp>
      <p:sp>
        <p:nvSpPr>
          <p:cNvPr id="29" name="Rounded Rectangle 28"/>
          <p:cNvSpPr/>
          <p:nvPr/>
        </p:nvSpPr>
        <p:spPr>
          <a:xfrm>
            <a:off x="4356506" y="3410712"/>
            <a:ext cx="3478682" cy="12801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521098" y="3557015"/>
            <a:ext cx="3167786" cy="1005839"/>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1000" b="1">
                <a:solidFill>
                  <a:srgbClr val="FF3621"/>
                </a:solidFill>
                <a:latin typeface="Segoe UI"/>
              </a:rPr>
              <a:t>▪   </a:t>
            </a:r>
            <a:r>
              <a:rPr sz="1000">
                <a:solidFill>
                  <a:srgbClr val="465257"/>
                </a:solidFill>
                <a:latin typeface="Segoe UI"/>
              </a:rPr>
              <a:t>Connect</a:t>
            </a:r>
          </a:p>
          <a:p>
            <a:pPr marL="274320" indent="-274320">
              <a:lnSpc>
                <a:spcPct val="105000"/>
              </a:lnSpc>
              <a:spcBef>
                <a:spcPts val="0"/>
              </a:spcBef>
              <a:spcAft>
                <a:spcPts val="400"/>
              </a:spcAft>
            </a:pPr>
            <a:r>
              <a:rPr sz="1000" b="1">
                <a:solidFill>
                  <a:srgbClr val="FF3621"/>
                </a:solidFill>
                <a:latin typeface="Segoe UI"/>
              </a:rPr>
              <a:t>▪   </a:t>
            </a:r>
            <a:r>
              <a:rPr sz="1000">
                <a:solidFill>
                  <a:srgbClr val="465257"/>
                </a:solidFill>
                <a:latin typeface="Segoe UI"/>
              </a:rPr>
              <a:t>Extract</a:t>
            </a:r>
          </a:p>
          <a:p>
            <a:pPr marL="274320" indent="-274320">
              <a:lnSpc>
                <a:spcPct val="105000"/>
              </a:lnSpc>
              <a:spcBef>
                <a:spcPts val="0"/>
              </a:spcBef>
              <a:spcAft>
                <a:spcPts val="400"/>
              </a:spcAft>
            </a:pPr>
            <a:r>
              <a:rPr sz="1000" b="1">
                <a:solidFill>
                  <a:srgbClr val="FF3621"/>
                </a:solidFill>
                <a:latin typeface="Segoe UI"/>
              </a:rPr>
              <a:t>▪   </a:t>
            </a:r>
            <a:r>
              <a:rPr sz="1000">
                <a:solidFill>
                  <a:srgbClr val="465257"/>
                </a:solidFill>
                <a:latin typeface="Segoe UI"/>
              </a:rPr>
              <a:t>Land raw data</a:t>
            </a:r>
          </a:p>
        </p:txBody>
      </p:sp>
      <p:sp>
        <p:nvSpPr>
          <p:cNvPr id="31" name="Right Arrow 30"/>
          <p:cNvSpPr/>
          <p:nvPr/>
        </p:nvSpPr>
        <p:spPr>
          <a:xfrm>
            <a:off x="7853476" y="2688336"/>
            <a:ext cx="256032" cy="155448"/>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8146084" y="2286000"/>
            <a:ext cx="3478682" cy="960120"/>
          </a:xfrm>
          <a:prstGeom prst="roundRect">
            <a:avLst>
              <a:gd name="adj" fmla="val 14000"/>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Can 32"/>
          <p:cNvSpPr/>
          <p:nvPr/>
        </p:nvSpPr>
        <p:spPr>
          <a:xfrm>
            <a:off x="8296229" y="2592324"/>
            <a:ext cx="284927" cy="347472"/>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621572" y="2286000"/>
            <a:ext cx="2911754" cy="960120"/>
          </a:xfrm>
          <a:prstGeom prst="rect">
            <a:avLst/>
          </a:prstGeom>
          <a:noFill/>
        </p:spPr>
        <p:txBody>
          <a:bodyPr wrap="square" anchor="ctr" lIns="0" rIns="0" tIns="0" bIns="0">
            <a:spAutoFit/>
          </a:bodyPr>
          <a:lstStyle/>
          <a:p>
            <a:pPr algn="ctr">
              <a:lnSpc>
                <a:spcPct val="92000"/>
              </a:lnSpc>
              <a:spcBef>
                <a:spcPts val="0"/>
              </a:spcBef>
              <a:spcAft>
                <a:spcPts val="200"/>
              </a:spcAft>
            </a:pPr>
            <a:r>
              <a:rPr sz="1250" b="1" i="0">
                <a:solidFill>
                  <a:srgbClr val="FFFFFF"/>
                </a:solidFill>
                <a:latin typeface="Segoe UI"/>
              </a:rPr>
              <a:t>Storage</a:t>
            </a:r>
          </a:p>
        </p:txBody>
      </p:sp>
      <p:sp>
        <p:nvSpPr>
          <p:cNvPr id="35" name="Rounded Rectangle 34"/>
          <p:cNvSpPr/>
          <p:nvPr/>
        </p:nvSpPr>
        <p:spPr>
          <a:xfrm>
            <a:off x="8146084" y="3410712"/>
            <a:ext cx="3478682" cy="12801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310676" y="3557015"/>
            <a:ext cx="3167786" cy="1005839"/>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1000" b="1">
                <a:solidFill>
                  <a:srgbClr val="2272B4"/>
                </a:solidFill>
                <a:latin typeface="Segoe UI"/>
              </a:rPr>
              <a:t>▪   </a:t>
            </a:r>
            <a:r>
              <a:rPr sz="1000">
                <a:solidFill>
                  <a:srgbClr val="465257"/>
                </a:solidFill>
                <a:latin typeface="Segoe UI"/>
              </a:rPr>
              <a:t>Data lake</a:t>
            </a:r>
          </a:p>
          <a:p>
            <a:pPr marL="274320" indent="-274320">
              <a:lnSpc>
                <a:spcPct val="105000"/>
              </a:lnSpc>
              <a:spcBef>
                <a:spcPts val="0"/>
              </a:spcBef>
              <a:spcAft>
                <a:spcPts val="400"/>
              </a:spcAft>
            </a:pPr>
            <a:r>
              <a:rPr sz="1000" b="1">
                <a:solidFill>
                  <a:srgbClr val="2272B4"/>
                </a:solidFill>
                <a:latin typeface="Segoe UI"/>
              </a:rPr>
              <a:t>▪   </a:t>
            </a:r>
            <a:r>
              <a:rPr sz="1000">
                <a:solidFill>
                  <a:srgbClr val="465257"/>
                </a:solidFill>
                <a:latin typeface="Segoe UI"/>
              </a:rPr>
              <a:t>Bronze tables</a:t>
            </a:r>
          </a:p>
          <a:p>
            <a:pPr marL="274320" indent="-274320">
              <a:lnSpc>
                <a:spcPct val="105000"/>
              </a:lnSpc>
              <a:spcBef>
                <a:spcPts val="0"/>
              </a:spcBef>
              <a:spcAft>
                <a:spcPts val="400"/>
              </a:spcAft>
            </a:pPr>
            <a:r>
              <a:rPr sz="1000" b="1">
                <a:solidFill>
                  <a:srgbClr val="2272B4"/>
                </a:solidFill>
                <a:latin typeface="Segoe UI"/>
              </a:rPr>
              <a:t>▪   </a:t>
            </a:r>
            <a:r>
              <a:rPr sz="1000">
                <a:solidFill>
                  <a:srgbClr val="465257"/>
                </a:solidFill>
                <a:latin typeface="Segoe UI"/>
              </a:rPr>
              <a:t>Object storage</a:t>
            </a:r>
          </a:p>
        </p:txBody>
      </p:sp>
      <p:sp>
        <p:nvSpPr>
          <p:cNvPr id="37" name="Rounded Rectangle 36"/>
          <p:cNvSpPr/>
          <p:nvPr/>
        </p:nvSpPr>
        <p:spPr>
          <a:xfrm>
            <a:off x="566928" y="4937760"/>
            <a:ext cx="11057839" cy="91440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14400" y="4937760"/>
            <a:ext cx="10362895" cy="91440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Ingestion is step one of every pipeline.  </a:t>
            </a:r>
            <a:r>
              <a:rPr sz="1250" b="0" i="0">
                <a:solidFill>
                  <a:srgbClr val="465257"/>
                </a:solidFill>
                <a:latin typeface="Segoe UI"/>
              </a:rPr>
              <a:t>It connects to source systems and moves their data into the platform — reliably, and without losing or duplicating records.</a:t>
            </a:r>
          </a:p>
        </p:txBody>
      </p:sp>
      <p:sp>
        <p:nvSpPr>
          <p:cNvPr id="39" name="TextBox 38"/>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0" name="TextBox 39"/>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DATA INGESTION</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Batch Ingestion</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76895"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29873"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Platform</a:t>
            </a:r>
          </a:p>
        </p:txBody>
      </p:sp>
      <p:sp>
        <p:nvSpPr>
          <p:cNvPr id="17" name="Rectangle 16"/>
          <p:cNvSpPr/>
          <p:nvPr/>
        </p:nvSpPr>
        <p:spPr>
          <a:xfrm>
            <a:off x="749808" y="3641140"/>
            <a:ext cx="10692079" cy="32918"/>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080831" y="3346704"/>
            <a:ext cx="10972" cy="1170432"/>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1583397" y="2176272"/>
            <a:ext cx="1005840" cy="310896"/>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02:00</a:t>
            </a:r>
          </a:p>
        </p:txBody>
      </p:sp>
      <p:sp>
        <p:nvSpPr>
          <p:cNvPr id="20" name="TextBox 19"/>
          <p:cNvSpPr txBox="1"/>
          <p:nvPr/>
        </p:nvSpPr>
        <p:spPr>
          <a:xfrm>
            <a:off x="1034757" y="2542032"/>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Nightly Load</a:t>
            </a:r>
          </a:p>
        </p:txBody>
      </p:sp>
      <p:sp>
        <p:nvSpPr>
          <p:cNvPr id="21" name="TextBox 20"/>
          <p:cNvSpPr txBox="1"/>
          <p:nvPr/>
        </p:nvSpPr>
        <p:spPr>
          <a:xfrm>
            <a:off x="989037" y="2852928"/>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Yesterday's data ingested in bulk</a:t>
            </a:r>
          </a:p>
        </p:txBody>
      </p:sp>
      <p:sp>
        <p:nvSpPr>
          <p:cNvPr id="22" name="Oval 21"/>
          <p:cNvSpPr/>
          <p:nvPr/>
        </p:nvSpPr>
        <p:spPr>
          <a:xfrm>
            <a:off x="1985733" y="3557016"/>
            <a:ext cx="201168" cy="201168"/>
          </a:xfrm>
          <a:prstGeom prst="ellipse">
            <a:avLst/>
          </a:prstGeom>
          <a:solidFill>
            <a:srgbClr val="2272B4"/>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4753851" y="3657600"/>
            <a:ext cx="10972" cy="274320"/>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4256417" y="3968496"/>
            <a:ext cx="1005840" cy="310896"/>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06:00</a:t>
            </a:r>
          </a:p>
        </p:txBody>
      </p:sp>
      <p:sp>
        <p:nvSpPr>
          <p:cNvPr id="25" name="TextBox 24"/>
          <p:cNvSpPr txBox="1"/>
          <p:nvPr/>
        </p:nvSpPr>
        <p:spPr>
          <a:xfrm>
            <a:off x="3707777" y="4352544"/>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Morning Batch</a:t>
            </a:r>
          </a:p>
        </p:txBody>
      </p:sp>
      <p:sp>
        <p:nvSpPr>
          <p:cNvPr id="26" name="TextBox 25"/>
          <p:cNvSpPr txBox="1"/>
          <p:nvPr/>
        </p:nvSpPr>
        <p:spPr>
          <a:xfrm>
            <a:off x="3662057" y="4663440"/>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Incremental files picked up</a:t>
            </a:r>
          </a:p>
        </p:txBody>
      </p:sp>
      <p:sp>
        <p:nvSpPr>
          <p:cNvPr id="27" name="Oval 26"/>
          <p:cNvSpPr/>
          <p:nvPr/>
        </p:nvSpPr>
        <p:spPr>
          <a:xfrm>
            <a:off x="4658753" y="3557016"/>
            <a:ext cx="201168" cy="201168"/>
          </a:xfrm>
          <a:prstGeom prst="ellipse">
            <a:avLst/>
          </a:prstGeom>
          <a:solidFill>
            <a:srgbClr val="0E8C9C"/>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7426871" y="3346704"/>
            <a:ext cx="10972" cy="1170432"/>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6929437" y="2176272"/>
            <a:ext cx="1005840" cy="31089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12:00</a:t>
            </a:r>
          </a:p>
        </p:txBody>
      </p:sp>
      <p:sp>
        <p:nvSpPr>
          <p:cNvPr id="30" name="TextBox 29"/>
          <p:cNvSpPr txBox="1"/>
          <p:nvPr/>
        </p:nvSpPr>
        <p:spPr>
          <a:xfrm>
            <a:off x="6380797" y="2542032"/>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Midday Run</a:t>
            </a:r>
          </a:p>
        </p:txBody>
      </p:sp>
      <p:sp>
        <p:nvSpPr>
          <p:cNvPr id="31" name="TextBox 30"/>
          <p:cNvSpPr txBox="1"/>
          <p:nvPr/>
        </p:nvSpPr>
        <p:spPr>
          <a:xfrm>
            <a:off x="6335077" y="2852928"/>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Scheduled API &amp; DB extract</a:t>
            </a:r>
          </a:p>
        </p:txBody>
      </p:sp>
      <p:sp>
        <p:nvSpPr>
          <p:cNvPr id="32" name="Oval 31"/>
          <p:cNvSpPr/>
          <p:nvPr/>
        </p:nvSpPr>
        <p:spPr>
          <a:xfrm>
            <a:off x="7331773" y="3557016"/>
            <a:ext cx="201168" cy="201168"/>
          </a:xfrm>
          <a:prstGeom prst="ellipse">
            <a:avLst/>
          </a:prstGeom>
          <a:solidFill>
            <a:srgbClr val="FF3621"/>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10099890" y="3657600"/>
            <a:ext cx="10972" cy="274320"/>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9602457" y="3968496"/>
            <a:ext cx="1005840" cy="310896"/>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18:00</a:t>
            </a:r>
          </a:p>
        </p:txBody>
      </p:sp>
      <p:sp>
        <p:nvSpPr>
          <p:cNvPr id="35" name="TextBox 34"/>
          <p:cNvSpPr txBox="1"/>
          <p:nvPr/>
        </p:nvSpPr>
        <p:spPr>
          <a:xfrm>
            <a:off x="9053817" y="4352544"/>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Evening Batch</a:t>
            </a:r>
          </a:p>
        </p:txBody>
      </p:sp>
      <p:sp>
        <p:nvSpPr>
          <p:cNvPr id="36" name="TextBox 35"/>
          <p:cNvSpPr txBox="1"/>
          <p:nvPr/>
        </p:nvSpPr>
        <p:spPr>
          <a:xfrm>
            <a:off x="9008097" y="4663440"/>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End-of-day reconciliation</a:t>
            </a:r>
          </a:p>
        </p:txBody>
      </p:sp>
      <p:sp>
        <p:nvSpPr>
          <p:cNvPr id="37" name="Oval 36"/>
          <p:cNvSpPr/>
          <p:nvPr/>
        </p:nvSpPr>
        <p:spPr>
          <a:xfrm>
            <a:off x="10004793" y="3557016"/>
            <a:ext cx="201168" cy="201168"/>
          </a:xfrm>
          <a:prstGeom prst="ellipse">
            <a:avLst/>
          </a:prstGeom>
          <a:solidFill>
            <a:srgbClr val="7C5CCF"/>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566928" y="5120640"/>
            <a:ext cx="11057839" cy="82296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14400" y="5120640"/>
            <a:ext cx="10362895" cy="82296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Batch = data ingested on a schedule, in chunks.  </a:t>
            </a:r>
            <a:r>
              <a:rPr sz="1250" b="0" i="0">
                <a:solidFill>
                  <a:srgbClr val="465257"/>
                </a:solidFill>
                <a:latin typeface="Segoe UI"/>
              </a:rPr>
              <a:t>Simple, cost-efficient and ideal for large historical loads where minutes or hours of latency are acceptable.</a:t>
            </a:r>
          </a:p>
        </p:txBody>
      </p:sp>
      <p:sp>
        <p:nvSpPr>
          <p:cNvPr id="40" name="TextBox 39"/>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1" name="TextBox 40"/>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DATA INGESTION</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Streaming Ingestion</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76895"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29873"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Platform</a:t>
            </a:r>
          </a:p>
        </p:txBody>
      </p:sp>
      <p:sp>
        <p:nvSpPr>
          <p:cNvPr id="17" name="Rounded Rectangle 16"/>
          <p:cNvSpPr/>
          <p:nvPr/>
        </p:nvSpPr>
        <p:spPr>
          <a:xfrm>
            <a:off x="566928" y="2103120"/>
            <a:ext cx="2743200" cy="10515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813815" y="2322575"/>
            <a:ext cx="603504" cy="603504"/>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Chevron 18"/>
          <p:cNvSpPr/>
          <p:nvPr/>
        </p:nvSpPr>
        <p:spPr>
          <a:xfrm>
            <a:off x="987866" y="2529939"/>
            <a:ext cx="83283" cy="188776"/>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Chevron 19"/>
          <p:cNvSpPr/>
          <p:nvPr/>
        </p:nvSpPr>
        <p:spPr>
          <a:xfrm>
            <a:off x="1082254" y="2529939"/>
            <a:ext cx="83283" cy="188776"/>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Chevron 20"/>
          <p:cNvSpPr/>
          <p:nvPr/>
        </p:nvSpPr>
        <p:spPr>
          <a:xfrm>
            <a:off x="1176642" y="2529939"/>
            <a:ext cx="83283" cy="188776"/>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572768" y="2103120"/>
            <a:ext cx="1737360" cy="105156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Kafka</a:t>
            </a:r>
          </a:p>
        </p:txBody>
      </p:sp>
      <p:cxnSp>
        <p:nvCxnSpPr>
          <p:cNvPr id="23" name="Connector 22"/>
          <p:cNvCxnSpPr/>
          <p:nvPr/>
        </p:nvCxnSpPr>
        <p:spPr>
          <a:xfrm>
            <a:off x="3310128" y="2624327"/>
            <a:ext cx="1719072" cy="1033273"/>
          </a:xfrm>
          <a:prstGeom prst="line">
            <a:avLst/>
          </a:prstGeom>
          <a:ln w="22860">
            <a:solidFill>
              <a:srgbClr val="9AA6A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66928" y="3383279"/>
            <a:ext cx="2743200" cy="10515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813815" y="3602735"/>
            <a:ext cx="603504" cy="603504"/>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1037836" y="3826756"/>
            <a:ext cx="155462" cy="15546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075314" y="3782338"/>
            <a:ext cx="13880" cy="4441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1075314" y="3982219"/>
            <a:ext cx="13880" cy="4441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1141941" y="3782338"/>
            <a:ext cx="13880" cy="4441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1141941" y="3982219"/>
            <a:ext cx="13880" cy="4441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993418" y="3864234"/>
            <a:ext cx="44417" cy="13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1193299" y="3864234"/>
            <a:ext cx="44417" cy="13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993418" y="3930861"/>
            <a:ext cx="44417" cy="13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1193299" y="3930861"/>
            <a:ext cx="44417" cy="13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1572768" y="3383279"/>
            <a:ext cx="1737360" cy="105156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IoT Devices</a:t>
            </a:r>
          </a:p>
        </p:txBody>
      </p:sp>
      <p:cxnSp>
        <p:nvCxnSpPr>
          <p:cNvPr id="36" name="Connector 35"/>
          <p:cNvCxnSpPr/>
          <p:nvPr/>
        </p:nvCxnSpPr>
        <p:spPr>
          <a:xfrm flipV="1">
            <a:off x="3310128" y="3657600"/>
            <a:ext cx="1719072" cy="246887"/>
          </a:xfrm>
          <a:prstGeom prst="line">
            <a:avLst/>
          </a:prstGeom>
          <a:ln w="22860">
            <a:solidFill>
              <a:srgbClr val="9AA6AB"/>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66928" y="4663440"/>
            <a:ext cx="2743200" cy="10515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813815" y="4882896"/>
            <a:ext cx="603504" cy="603504"/>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Circular Arrow 38"/>
          <p:cNvSpPr/>
          <p:nvPr/>
        </p:nvSpPr>
        <p:spPr>
          <a:xfrm>
            <a:off x="976762" y="5045842"/>
            <a:ext cx="277611" cy="277611"/>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572768" y="4663440"/>
            <a:ext cx="1737360" cy="105156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Event Streams</a:t>
            </a:r>
          </a:p>
        </p:txBody>
      </p:sp>
      <p:cxnSp>
        <p:nvCxnSpPr>
          <p:cNvPr id="41" name="Connector 40"/>
          <p:cNvCxnSpPr/>
          <p:nvPr/>
        </p:nvCxnSpPr>
        <p:spPr>
          <a:xfrm flipV="1">
            <a:off x="3310128" y="3657600"/>
            <a:ext cx="1719072" cy="1527048"/>
          </a:xfrm>
          <a:prstGeom prst="line">
            <a:avLst/>
          </a:prstGeom>
          <a:ln w="22860">
            <a:solidFill>
              <a:srgbClr val="9AA6AB"/>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5120640" y="2926080"/>
            <a:ext cx="1463040" cy="1463040"/>
          </a:xfrm>
          <a:prstGeom prst="ellipse">
            <a:avLst/>
          </a:prstGeom>
          <a:solidFill>
            <a:srgbClr val="FF3621"/>
          </a:solidFill>
          <a:ln w="3810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Chevron 42"/>
          <p:cNvSpPr/>
          <p:nvPr/>
        </p:nvSpPr>
        <p:spPr>
          <a:xfrm>
            <a:off x="5620816" y="3230575"/>
            <a:ext cx="150876" cy="341985"/>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Chevron 43"/>
          <p:cNvSpPr/>
          <p:nvPr/>
        </p:nvSpPr>
        <p:spPr>
          <a:xfrm>
            <a:off x="5791809" y="3230575"/>
            <a:ext cx="150876" cy="341985"/>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Chevron 44"/>
          <p:cNvSpPr/>
          <p:nvPr/>
        </p:nvSpPr>
        <p:spPr>
          <a:xfrm>
            <a:off x="5962802" y="3230575"/>
            <a:ext cx="150876" cy="341985"/>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5120640" y="3703320"/>
            <a:ext cx="1463040" cy="548640"/>
          </a:xfrm>
          <a:prstGeom prst="rect">
            <a:avLst/>
          </a:prstGeom>
          <a:noFill/>
        </p:spPr>
        <p:txBody>
          <a:bodyPr wrap="square" anchor="ctr" lIns="0" rIns="0" tIns="0" bIns="0">
            <a:spAutoFit/>
          </a:bodyPr>
          <a:lstStyle/>
          <a:p>
            <a:pPr algn="ctr">
              <a:lnSpc>
                <a:spcPct val="95000"/>
              </a:lnSpc>
              <a:spcBef>
                <a:spcPts val="0"/>
              </a:spcBef>
              <a:spcAft>
                <a:spcPts val="200"/>
              </a:spcAft>
            </a:pPr>
            <a:r>
              <a:rPr sz="1200" b="1" i="0">
                <a:solidFill>
                  <a:srgbClr val="FFFFFF"/>
                </a:solidFill>
                <a:latin typeface="Segoe UI"/>
              </a:rPr>
              <a:t>Continuous
ingest</a:t>
            </a:r>
          </a:p>
        </p:txBody>
      </p:sp>
      <p:sp>
        <p:nvSpPr>
          <p:cNvPr id="47" name="Right Arrow 46"/>
          <p:cNvSpPr/>
          <p:nvPr/>
        </p:nvSpPr>
        <p:spPr>
          <a:xfrm>
            <a:off x="7223760" y="3493008"/>
            <a:ext cx="1097280" cy="329184"/>
          </a:xfrm>
          <a:prstGeom prst="right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8503920" y="2926080"/>
            <a:ext cx="3120847" cy="146304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Oval 48"/>
          <p:cNvSpPr/>
          <p:nvPr/>
        </p:nvSpPr>
        <p:spPr>
          <a:xfrm>
            <a:off x="8778240" y="3291840"/>
            <a:ext cx="731520" cy="731520"/>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Can 49"/>
          <p:cNvSpPr/>
          <p:nvPr/>
        </p:nvSpPr>
        <p:spPr>
          <a:xfrm>
            <a:off x="9006035" y="3489350"/>
            <a:ext cx="275929" cy="336499"/>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9646920" y="3154680"/>
            <a:ext cx="2194560" cy="457200"/>
          </a:xfrm>
          <a:prstGeom prst="rect">
            <a:avLst/>
          </a:prstGeom>
          <a:noFill/>
        </p:spPr>
        <p:txBody>
          <a:bodyPr wrap="square" anchor="t" lIns="0" rIns="0" tIns="0" bIns="0">
            <a:spAutoFit/>
          </a:bodyPr>
          <a:lstStyle/>
          <a:p>
            <a:pPr algn="l">
              <a:lnSpc>
                <a:spcPct val="100000"/>
              </a:lnSpc>
              <a:spcBef>
                <a:spcPts val="0"/>
              </a:spcBef>
              <a:spcAft>
                <a:spcPts val="200"/>
              </a:spcAft>
            </a:pPr>
            <a:r>
              <a:rPr sz="1400" b="1" i="0">
                <a:solidFill>
                  <a:srgbClr val="FFFFFF"/>
                </a:solidFill>
                <a:latin typeface="Segoe UI"/>
              </a:rPr>
              <a:t>Delta Lake</a:t>
            </a:r>
          </a:p>
        </p:txBody>
      </p:sp>
      <p:sp>
        <p:nvSpPr>
          <p:cNvPr id="52" name="TextBox 51"/>
          <p:cNvSpPr txBox="1"/>
          <p:nvPr/>
        </p:nvSpPr>
        <p:spPr>
          <a:xfrm>
            <a:off x="9646920" y="3566160"/>
            <a:ext cx="2286000" cy="640080"/>
          </a:xfrm>
          <a:prstGeom prst="rect">
            <a:avLst/>
          </a:prstGeom>
          <a:noFill/>
        </p:spPr>
        <p:txBody>
          <a:bodyPr wrap="square" anchor="t" lIns="0" rIns="0" tIns="0" bIns="0">
            <a:spAutoFit/>
          </a:bodyPr>
          <a:lstStyle/>
          <a:p>
            <a:pPr algn="l">
              <a:lnSpc>
                <a:spcPct val="105000"/>
              </a:lnSpc>
              <a:spcBef>
                <a:spcPts val="0"/>
              </a:spcBef>
              <a:spcAft>
                <a:spcPts val="200"/>
              </a:spcAft>
            </a:pPr>
            <a:r>
              <a:rPr sz="950" b="0" i="0">
                <a:solidFill>
                  <a:srgbClr val="C4D0D4"/>
                </a:solidFill>
                <a:latin typeface="Segoe UI"/>
              </a:rPr>
              <a:t>Real-time Bronze table, processed within seconds</a:t>
            </a:r>
          </a:p>
        </p:txBody>
      </p:sp>
      <p:sp>
        <p:nvSpPr>
          <p:cNvPr id="53" name="Rounded Rectangle 52"/>
          <p:cNvSpPr/>
          <p:nvPr/>
        </p:nvSpPr>
        <p:spPr>
          <a:xfrm>
            <a:off x="566928" y="5120640"/>
            <a:ext cx="11057839" cy="82296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914400" y="5120640"/>
            <a:ext cx="10362895" cy="822960"/>
          </a:xfrm>
          <a:prstGeom prst="rect">
            <a:avLst/>
          </a:prstGeom>
          <a:noFill/>
        </p:spPr>
        <p:txBody>
          <a:bodyPr wrap="square" anchor="ctr" lIns="0" rIns="0" tIns="0" bIns="0">
            <a:spAutoFit/>
          </a:bodyPr>
          <a:lstStyle/>
          <a:p>
            <a:pPr algn="l">
              <a:lnSpc>
                <a:spcPct val="125000"/>
              </a:lnSpc>
              <a:spcBef>
                <a:spcPts val="0"/>
              </a:spcBef>
              <a:spcAft>
                <a:spcPts val="200"/>
              </a:spcAft>
            </a:pPr>
            <a:r>
              <a:rPr sz="1200" b="1" i="0">
                <a:solidFill>
                  <a:srgbClr val="1B3139"/>
                </a:solidFill>
                <a:latin typeface="Segoe UI"/>
              </a:rPr>
              <a:t>Streaming = data ingested continuously, in real time.  </a:t>
            </a:r>
            <a:r>
              <a:rPr sz="1200" b="0" i="0">
                <a:solidFill>
                  <a:srgbClr val="465257"/>
                </a:solidFill>
                <a:latin typeface="Segoe UI"/>
              </a:rPr>
              <a:t>Events flow in as they happen — powering fraud detection, monitoring and live dashboards.</a:t>
            </a:r>
          </a:p>
        </p:txBody>
      </p:sp>
      <p:sp>
        <p:nvSpPr>
          <p:cNvPr id="55" name="TextBox 5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6" name="TextBox 5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DATA INGESTION</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Batch vs. Streaming</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76895"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29873"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Platform</a:t>
            </a:r>
          </a:p>
        </p:txBody>
      </p:sp>
      <p:sp>
        <p:nvSpPr>
          <p:cNvPr id="17" name="Rounded Rectangle 16"/>
          <p:cNvSpPr/>
          <p:nvPr/>
        </p:nvSpPr>
        <p:spPr>
          <a:xfrm>
            <a:off x="566928" y="1828800"/>
            <a:ext cx="2562441" cy="512064"/>
          </a:xfrm>
          <a:prstGeom prst="roundRect">
            <a:avLst>
              <a:gd name="adj" fmla="val 16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50" b="1">
                <a:solidFill>
                  <a:srgbClr val="FFFFFF"/>
                </a:solidFill>
                <a:latin typeface="Segoe UI Semibold"/>
              </a:rPr>
              <a:t>Aspect</a:t>
            </a:r>
          </a:p>
        </p:txBody>
      </p:sp>
      <p:sp>
        <p:nvSpPr>
          <p:cNvPr id="18" name="Rounded Rectangle 17"/>
          <p:cNvSpPr/>
          <p:nvPr/>
        </p:nvSpPr>
        <p:spPr>
          <a:xfrm>
            <a:off x="3220809" y="1828800"/>
            <a:ext cx="4110538" cy="512064"/>
          </a:xfrm>
          <a:prstGeom prst="roundRect">
            <a:avLst>
              <a:gd name="adj" fmla="val 16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50" b="1">
                <a:solidFill>
                  <a:srgbClr val="FFFFFF"/>
                </a:solidFill>
                <a:latin typeface="Segoe UI Semibold"/>
              </a:rPr>
              <a:t>Batch</a:t>
            </a:r>
          </a:p>
        </p:txBody>
      </p:sp>
      <p:sp>
        <p:nvSpPr>
          <p:cNvPr id="19" name="Rounded Rectangle 18"/>
          <p:cNvSpPr/>
          <p:nvPr/>
        </p:nvSpPr>
        <p:spPr>
          <a:xfrm>
            <a:off x="7422788" y="1828800"/>
            <a:ext cx="4110538" cy="512064"/>
          </a:xfrm>
          <a:prstGeom prst="roundRect">
            <a:avLst>
              <a:gd name="adj" fmla="val 16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50" b="1">
                <a:solidFill>
                  <a:srgbClr val="FFFFFF"/>
                </a:solidFill>
                <a:latin typeface="Segoe UI Semibold"/>
              </a:rPr>
              <a:t>Streaming</a:t>
            </a:r>
          </a:p>
        </p:txBody>
      </p:sp>
      <p:sp>
        <p:nvSpPr>
          <p:cNvPr id="20" name="Rectangle 19"/>
          <p:cNvSpPr/>
          <p:nvPr/>
        </p:nvSpPr>
        <p:spPr>
          <a:xfrm>
            <a:off x="566928" y="2432304"/>
            <a:ext cx="11057839" cy="60350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6656" y="2432304"/>
            <a:ext cx="2434425"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Timing</a:t>
            </a:r>
          </a:p>
        </p:txBody>
      </p:sp>
      <p:sp>
        <p:nvSpPr>
          <p:cNvPr id="22" name="TextBox 21"/>
          <p:cNvSpPr txBox="1"/>
          <p:nvPr/>
        </p:nvSpPr>
        <p:spPr>
          <a:xfrm>
            <a:off x="3348825" y="2432304"/>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Scheduled, periodic</a:t>
            </a:r>
          </a:p>
        </p:txBody>
      </p:sp>
      <p:sp>
        <p:nvSpPr>
          <p:cNvPr id="23" name="TextBox 22"/>
          <p:cNvSpPr txBox="1"/>
          <p:nvPr/>
        </p:nvSpPr>
        <p:spPr>
          <a:xfrm>
            <a:off x="7550804" y="2432304"/>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Continuous, real-time</a:t>
            </a:r>
          </a:p>
        </p:txBody>
      </p:sp>
      <p:sp>
        <p:nvSpPr>
          <p:cNvPr id="24" name="TextBox 23"/>
          <p:cNvSpPr txBox="1"/>
          <p:nvPr/>
        </p:nvSpPr>
        <p:spPr>
          <a:xfrm>
            <a:off x="676656" y="3035808"/>
            <a:ext cx="2434425"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Latency</a:t>
            </a:r>
          </a:p>
        </p:txBody>
      </p:sp>
      <p:sp>
        <p:nvSpPr>
          <p:cNvPr id="25" name="TextBox 24"/>
          <p:cNvSpPr txBox="1"/>
          <p:nvPr/>
        </p:nvSpPr>
        <p:spPr>
          <a:xfrm>
            <a:off x="3348825" y="3035808"/>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Minutes to hours</a:t>
            </a:r>
          </a:p>
        </p:txBody>
      </p:sp>
      <p:sp>
        <p:nvSpPr>
          <p:cNvPr id="26" name="TextBox 25"/>
          <p:cNvSpPr txBox="1"/>
          <p:nvPr/>
        </p:nvSpPr>
        <p:spPr>
          <a:xfrm>
            <a:off x="7550804" y="3035808"/>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Seconds or less</a:t>
            </a:r>
          </a:p>
        </p:txBody>
      </p:sp>
      <p:sp>
        <p:nvSpPr>
          <p:cNvPr id="27" name="Rectangle 26"/>
          <p:cNvSpPr/>
          <p:nvPr/>
        </p:nvSpPr>
        <p:spPr>
          <a:xfrm>
            <a:off x="566928" y="3639312"/>
            <a:ext cx="11057839" cy="60350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76656" y="3639312"/>
            <a:ext cx="2434425"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Data Size</a:t>
            </a:r>
          </a:p>
        </p:txBody>
      </p:sp>
      <p:sp>
        <p:nvSpPr>
          <p:cNvPr id="29" name="TextBox 28"/>
          <p:cNvSpPr txBox="1"/>
          <p:nvPr/>
        </p:nvSpPr>
        <p:spPr>
          <a:xfrm>
            <a:off x="3348825" y="3639312"/>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Large bounded chunks</a:t>
            </a:r>
          </a:p>
        </p:txBody>
      </p:sp>
      <p:sp>
        <p:nvSpPr>
          <p:cNvPr id="30" name="TextBox 29"/>
          <p:cNvSpPr txBox="1"/>
          <p:nvPr/>
        </p:nvSpPr>
        <p:spPr>
          <a:xfrm>
            <a:off x="7550804" y="3639312"/>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Unbounded event flow</a:t>
            </a:r>
          </a:p>
        </p:txBody>
      </p:sp>
      <p:sp>
        <p:nvSpPr>
          <p:cNvPr id="31" name="TextBox 30"/>
          <p:cNvSpPr txBox="1"/>
          <p:nvPr/>
        </p:nvSpPr>
        <p:spPr>
          <a:xfrm>
            <a:off x="676656" y="4242816"/>
            <a:ext cx="2434425"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Complexity</a:t>
            </a:r>
          </a:p>
        </p:txBody>
      </p:sp>
      <p:sp>
        <p:nvSpPr>
          <p:cNvPr id="32" name="TextBox 31"/>
          <p:cNvSpPr txBox="1"/>
          <p:nvPr/>
        </p:nvSpPr>
        <p:spPr>
          <a:xfrm>
            <a:off x="3348825" y="4242816"/>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Simpler to build &amp; operate</a:t>
            </a:r>
          </a:p>
        </p:txBody>
      </p:sp>
      <p:sp>
        <p:nvSpPr>
          <p:cNvPr id="33" name="TextBox 32"/>
          <p:cNvSpPr txBox="1"/>
          <p:nvPr/>
        </p:nvSpPr>
        <p:spPr>
          <a:xfrm>
            <a:off x="7550804" y="4242816"/>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More moving parts</a:t>
            </a:r>
          </a:p>
        </p:txBody>
      </p:sp>
      <p:sp>
        <p:nvSpPr>
          <p:cNvPr id="34" name="Rectangle 33"/>
          <p:cNvSpPr/>
          <p:nvPr/>
        </p:nvSpPr>
        <p:spPr>
          <a:xfrm>
            <a:off x="566928" y="4846320"/>
            <a:ext cx="11057839" cy="60350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76656" y="4846320"/>
            <a:ext cx="2434425"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Cost</a:t>
            </a:r>
          </a:p>
        </p:txBody>
      </p:sp>
      <p:sp>
        <p:nvSpPr>
          <p:cNvPr id="36" name="TextBox 35"/>
          <p:cNvSpPr txBox="1"/>
          <p:nvPr/>
        </p:nvSpPr>
        <p:spPr>
          <a:xfrm>
            <a:off x="3348825" y="4846320"/>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Lower, predictable</a:t>
            </a:r>
          </a:p>
        </p:txBody>
      </p:sp>
      <p:sp>
        <p:nvSpPr>
          <p:cNvPr id="37" name="TextBox 36"/>
          <p:cNvSpPr txBox="1"/>
          <p:nvPr/>
        </p:nvSpPr>
        <p:spPr>
          <a:xfrm>
            <a:off x="7550804" y="4846320"/>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Higher, always-on</a:t>
            </a:r>
          </a:p>
        </p:txBody>
      </p:sp>
      <p:sp>
        <p:nvSpPr>
          <p:cNvPr id="38" name="TextBox 37"/>
          <p:cNvSpPr txBox="1"/>
          <p:nvPr/>
        </p:nvSpPr>
        <p:spPr>
          <a:xfrm>
            <a:off x="676656" y="5449824"/>
            <a:ext cx="2434425"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Best For</a:t>
            </a:r>
          </a:p>
        </p:txBody>
      </p:sp>
      <p:sp>
        <p:nvSpPr>
          <p:cNvPr id="39" name="TextBox 38"/>
          <p:cNvSpPr txBox="1"/>
          <p:nvPr/>
        </p:nvSpPr>
        <p:spPr>
          <a:xfrm>
            <a:off x="3348825" y="5449824"/>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Reports, history, ETL</a:t>
            </a:r>
          </a:p>
        </p:txBody>
      </p:sp>
      <p:sp>
        <p:nvSpPr>
          <p:cNvPr id="40" name="TextBox 39"/>
          <p:cNvSpPr txBox="1"/>
          <p:nvPr/>
        </p:nvSpPr>
        <p:spPr>
          <a:xfrm>
            <a:off x="7550804" y="5449824"/>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Fraud, IoT, live dashboards</a:t>
            </a:r>
          </a:p>
        </p:txBody>
      </p:sp>
      <p:sp>
        <p:nvSpPr>
          <p:cNvPr id="41" name="TextBox 40"/>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2" name="TextBox 41"/>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1463040"/>
            <a:ext cx="5486400" cy="2194560"/>
          </a:xfrm>
          <a:prstGeom prst="rect">
            <a:avLst/>
          </a:prstGeom>
          <a:noFill/>
        </p:spPr>
        <p:txBody>
          <a:bodyPr wrap="square" anchor="t" lIns="0" rIns="0" tIns="0" bIns="0">
            <a:spAutoFit/>
          </a:bodyPr>
          <a:lstStyle/>
          <a:p>
            <a:pPr algn="l">
              <a:lnSpc>
                <a:spcPct val="100000"/>
              </a:lnSpc>
              <a:spcBef>
                <a:spcPts val="0"/>
              </a:spcBef>
              <a:spcAft>
                <a:spcPts val="200"/>
              </a:spcAft>
            </a:pPr>
            <a:r>
              <a:rPr sz="20000" b="1" i="0">
                <a:solidFill>
                  <a:srgbClr val="27444F"/>
                </a:solidFill>
                <a:latin typeface="Segoe UI Light"/>
              </a:rPr>
              <a:t>03</a:t>
            </a:r>
          </a:p>
        </p:txBody>
      </p:sp>
      <p:sp>
        <p:nvSpPr>
          <p:cNvPr id="9" name="Rounded Rectangle 8"/>
          <p:cNvSpPr/>
          <p:nvPr/>
        </p:nvSpPr>
        <p:spPr>
          <a:xfrm>
            <a:off x="612648" y="3310128"/>
            <a:ext cx="777240" cy="9144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12648" y="2743200"/>
            <a:ext cx="7315200" cy="36576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FF3621"/>
                </a:solidFill>
                <a:latin typeface="Segoe UI Semibold"/>
              </a:rPr>
              <a:t>PART THREE</a:t>
            </a:r>
          </a:p>
        </p:txBody>
      </p:sp>
      <p:sp>
        <p:nvSpPr>
          <p:cNvPr id="11" name="TextBox 10"/>
          <p:cNvSpPr txBox="1"/>
          <p:nvPr/>
        </p:nvSpPr>
        <p:spPr>
          <a:xfrm>
            <a:off x="566928" y="3456432"/>
            <a:ext cx="7680960" cy="1097280"/>
          </a:xfrm>
          <a:prstGeom prst="rect">
            <a:avLst/>
          </a:prstGeom>
          <a:noFill/>
        </p:spPr>
        <p:txBody>
          <a:bodyPr wrap="square" anchor="t" lIns="0" rIns="0" tIns="0" bIns="0">
            <a:spAutoFit/>
          </a:bodyPr>
          <a:lstStyle/>
          <a:p>
            <a:pPr algn="l">
              <a:lnSpc>
                <a:spcPct val="98000"/>
              </a:lnSpc>
              <a:spcBef>
                <a:spcPts val="0"/>
              </a:spcBef>
              <a:spcAft>
                <a:spcPts val="200"/>
              </a:spcAft>
            </a:pPr>
            <a:r>
              <a:rPr sz="4000" b="1" i="0">
                <a:solidFill>
                  <a:srgbClr val="FFFFFF"/>
                </a:solidFill>
                <a:latin typeface="Segoe UI"/>
              </a:rPr>
              <a:t>Transformation · ETL &amp; ELT</a:t>
            </a:r>
          </a:p>
        </p:txBody>
      </p:sp>
      <p:sp>
        <p:nvSpPr>
          <p:cNvPr id="12" name="TextBox 11"/>
          <p:cNvSpPr txBox="1"/>
          <p:nvPr/>
        </p:nvSpPr>
        <p:spPr>
          <a:xfrm>
            <a:off x="612648" y="4754880"/>
            <a:ext cx="6949440" cy="1463040"/>
          </a:xfrm>
          <a:prstGeom prst="rect">
            <a:avLst/>
          </a:prstGeom>
          <a:noFill/>
        </p:spPr>
        <p:txBody>
          <a:bodyPr wrap="square" anchor="t" lIns="0" rIns="0" tIns="0" bIns="0">
            <a:spAutoFit/>
          </a:bodyPr>
          <a:lstStyle/>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Cleaning, standardizing &amp; enriching data</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ETL vs ELT in the cloud</a:t>
            </a:r>
          </a:p>
        </p:txBody>
      </p:sp>
      <p:sp>
        <p:nvSpPr>
          <p:cNvPr id="13" name="Oval 12"/>
          <p:cNvSpPr/>
          <p:nvPr/>
        </p:nvSpPr>
        <p:spPr>
          <a:xfrm>
            <a:off x="8641080" y="2423160"/>
            <a:ext cx="2286000" cy="2286000"/>
          </a:xfrm>
          <a:prstGeom prst="ellipse">
            <a:avLst/>
          </a:prstGeom>
          <a:solidFill>
            <a:srgbClr val="FF3621"/>
          </a:solidFill>
          <a:ln w="15240">
            <a:solidFill>
              <a:srgbClr val="FF8A78"/>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Gear 6 13"/>
          <p:cNvSpPr/>
          <p:nvPr/>
        </p:nvSpPr>
        <p:spPr>
          <a:xfrm>
            <a:off x="9258300" y="3040379"/>
            <a:ext cx="1051560" cy="1051560"/>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7E9199"/>
                </a:solidFill>
                <a:latin typeface="Segoe UI"/>
              </a:rPr>
              <a:t>Big Data &amp; Databricks  ·  Enterprise Training Series</a:t>
            </a:r>
          </a:p>
        </p:txBody>
      </p:sp>
      <p:sp>
        <p:nvSpPr>
          <p:cNvPr id="16" name="TextBox 1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7E9199"/>
                </a:solidFill>
                <a:latin typeface="Segoe U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TRANSFORMATION</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What Is Data Transformation?</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55887"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29873"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Platform</a:t>
            </a:r>
          </a:p>
        </p:txBody>
      </p:sp>
      <p:sp>
        <p:nvSpPr>
          <p:cNvPr id="17" name="Rounded Rectangle 16"/>
          <p:cNvSpPr/>
          <p:nvPr/>
        </p:nvSpPr>
        <p:spPr>
          <a:xfrm>
            <a:off x="566928" y="214884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66928" y="2148840"/>
            <a:ext cx="1918959" cy="109728"/>
          </a:xfrm>
          <a:prstGeom prst="roundRect">
            <a:avLst>
              <a:gd name="adj" fmla="val 50000"/>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069207" y="2350008"/>
            <a:ext cx="914400" cy="914400"/>
          </a:xfrm>
          <a:prstGeom prst="ellipse">
            <a:avLst/>
          </a:prstGeom>
          <a:solidFill>
            <a:srgbClr val="27444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Can 19"/>
          <p:cNvSpPr/>
          <p:nvPr/>
        </p:nvSpPr>
        <p:spPr>
          <a:xfrm>
            <a:off x="1353952" y="2596896"/>
            <a:ext cx="344911" cy="420624"/>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199211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1</a:t>
            </a:r>
          </a:p>
        </p:txBody>
      </p:sp>
      <p:sp>
        <p:nvSpPr>
          <p:cNvPr id="22" name="TextBox 21"/>
          <p:cNvSpPr txBox="1"/>
          <p:nvPr/>
        </p:nvSpPr>
        <p:spPr>
          <a:xfrm>
            <a:off x="676656"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Raw Data</a:t>
            </a:r>
          </a:p>
        </p:txBody>
      </p:sp>
      <p:sp>
        <p:nvSpPr>
          <p:cNvPr id="23" name="TextBox 22"/>
          <p:cNvSpPr txBox="1"/>
          <p:nvPr/>
        </p:nvSpPr>
        <p:spPr>
          <a:xfrm>
            <a:off x="713232" y="359359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As-ingested — messy, mixed, untrusted.</a:t>
            </a:r>
          </a:p>
        </p:txBody>
      </p:sp>
      <p:sp>
        <p:nvSpPr>
          <p:cNvPr id="24" name="Right Arrow 23"/>
          <p:cNvSpPr/>
          <p:nvPr/>
        </p:nvSpPr>
        <p:spPr>
          <a:xfrm>
            <a:off x="2522463" y="32095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2851647" y="214884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2851647" y="2148840"/>
            <a:ext cx="1918959" cy="109728"/>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3353927" y="2350008"/>
            <a:ext cx="914400" cy="914400"/>
          </a:xfrm>
          <a:prstGeom prst="ellipse">
            <a:avLst/>
          </a:prstGeom>
          <a:solidFill>
            <a:srgbClr val="0E8C9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rapezoid 27"/>
          <p:cNvSpPr/>
          <p:nvPr/>
        </p:nvSpPr>
        <p:spPr>
          <a:xfrm rot="10800000">
            <a:off x="3634465" y="2655783"/>
            <a:ext cx="353324" cy="168249"/>
          </a:xfrm>
          <a:prstGeom prst="trapezoi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785890" y="2824032"/>
            <a:ext cx="50474" cy="1430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27683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2</a:t>
            </a:r>
          </a:p>
        </p:txBody>
      </p:sp>
      <p:sp>
        <p:nvSpPr>
          <p:cNvPr id="31" name="TextBox 30"/>
          <p:cNvSpPr txBox="1"/>
          <p:nvPr/>
        </p:nvSpPr>
        <p:spPr>
          <a:xfrm>
            <a:off x="296137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Clean</a:t>
            </a:r>
          </a:p>
        </p:txBody>
      </p:sp>
      <p:sp>
        <p:nvSpPr>
          <p:cNvPr id="32" name="TextBox 31"/>
          <p:cNvSpPr txBox="1"/>
          <p:nvPr/>
        </p:nvSpPr>
        <p:spPr>
          <a:xfrm>
            <a:off x="2997951" y="359359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Fix nulls, types, errors &amp; duplicates.</a:t>
            </a:r>
          </a:p>
        </p:txBody>
      </p:sp>
      <p:sp>
        <p:nvSpPr>
          <p:cNvPr id="33" name="Right Arrow 32"/>
          <p:cNvSpPr/>
          <p:nvPr/>
        </p:nvSpPr>
        <p:spPr>
          <a:xfrm>
            <a:off x="4807183" y="32095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5136367" y="214884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5136367" y="2148840"/>
            <a:ext cx="1918959" cy="109728"/>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5638647" y="2350008"/>
            <a:ext cx="914400" cy="91440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5919185" y="2664195"/>
            <a:ext cx="353324" cy="6309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5919185" y="2790383"/>
            <a:ext cx="252374" cy="6309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5919185" y="2916570"/>
            <a:ext cx="151424" cy="6309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656155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3</a:t>
            </a:r>
          </a:p>
        </p:txBody>
      </p:sp>
      <p:sp>
        <p:nvSpPr>
          <p:cNvPr id="41" name="TextBox 40"/>
          <p:cNvSpPr txBox="1"/>
          <p:nvPr/>
        </p:nvSpPr>
        <p:spPr>
          <a:xfrm>
            <a:off x="524609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Standardize</a:t>
            </a:r>
          </a:p>
        </p:txBody>
      </p:sp>
      <p:sp>
        <p:nvSpPr>
          <p:cNvPr id="42" name="TextBox 41"/>
          <p:cNvSpPr txBox="1"/>
          <p:nvPr/>
        </p:nvSpPr>
        <p:spPr>
          <a:xfrm>
            <a:off x="5282671" y="359359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Conform formats, units &amp; keys.</a:t>
            </a:r>
          </a:p>
        </p:txBody>
      </p:sp>
      <p:sp>
        <p:nvSpPr>
          <p:cNvPr id="43" name="Right Arrow 42"/>
          <p:cNvSpPr/>
          <p:nvPr/>
        </p:nvSpPr>
        <p:spPr>
          <a:xfrm>
            <a:off x="7091903" y="32095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7421087" y="214884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7421087" y="2148840"/>
            <a:ext cx="1918959" cy="109728"/>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Oval 45"/>
          <p:cNvSpPr/>
          <p:nvPr/>
        </p:nvSpPr>
        <p:spPr>
          <a:xfrm>
            <a:off x="7923367" y="2350008"/>
            <a:ext cx="914400" cy="914400"/>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7" name="Connector 46"/>
          <p:cNvCxnSpPr/>
          <p:nvPr/>
        </p:nvCxnSpPr>
        <p:spPr>
          <a:xfrm>
            <a:off x="8212317" y="2638958"/>
            <a:ext cx="168250" cy="193487"/>
          </a:xfrm>
          <a:prstGeom prst="line">
            <a:avLst/>
          </a:prstGeom>
          <a:ln w="35052">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8380567" y="2638958"/>
            <a:ext cx="168250" cy="193487"/>
          </a:xfrm>
          <a:prstGeom prst="line">
            <a:avLst/>
          </a:prstGeom>
          <a:ln w="35052">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380567" y="2832445"/>
            <a:ext cx="0" cy="100950"/>
          </a:xfrm>
          <a:prstGeom prst="line">
            <a:avLst/>
          </a:prstGeom>
          <a:ln w="35052">
            <a:solidFill>
              <a:srgbClr val="FFFFFF"/>
            </a:solidFill>
          </a:ln>
        </p:spPr>
        <p:style>
          <a:lnRef idx="2">
            <a:schemeClr val="accent1"/>
          </a:lnRef>
          <a:fillRef idx="0">
            <a:schemeClr val="accent1"/>
          </a:fillRef>
          <a:effectRef idx="1">
            <a:schemeClr val="accent1"/>
          </a:effectRef>
          <a:fontRef idx="minor">
            <a:schemeClr val="tx1"/>
          </a:fontRef>
        </p:style>
      </p:cxnSp>
      <p:sp>
        <p:nvSpPr>
          <p:cNvPr id="50" name="Isosceles Triangle 49"/>
          <p:cNvSpPr/>
          <p:nvPr/>
        </p:nvSpPr>
        <p:spPr>
          <a:xfrm rot="10800000">
            <a:off x="8325886" y="2924982"/>
            <a:ext cx="109362" cy="7571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8176564" y="2603205"/>
            <a:ext cx="71506" cy="7150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Oval 51"/>
          <p:cNvSpPr/>
          <p:nvPr/>
        </p:nvSpPr>
        <p:spPr>
          <a:xfrm>
            <a:off x="8513064" y="2603205"/>
            <a:ext cx="71506" cy="7150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Oval 52"/>
          <p:cNvSpPr/>
          <p:nvPr/>
        </p:nvSpPr>
        <p:spPr>
          <a:xfrm>
            <a:off x="884627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4</a:t>
            </a:r>
          </a:p>
        </p:txBody>
      </p:sp>
      <p:sp>
        <p:nvSpPr>
          <p:cNvPr id="54" name="TextBox 53"/>
          <p:cNvSpPr txBox="1"/>
          <p:nvPr/>
        </p:nvSpPr>
        <p:spPr>
          <a:xfrm>
            <a:off x="753081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Enrich</a:t>
            </a:r>
          </a:p>
        </p:txBody>
      </p:sp>
      <p:sp>
        <p:nvSpPr>
          <p:cNvPr id="55" name="TextBox 54"/>
          <p:cNvSpPr txBox="1"/>
          <p:nvPr/>
        </p:nvSpPr>
        <p:spPr>
          <a:xfrm>
            <a:off x="7567391" y="359359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Join reference data &amp; derive fields.</a:t>
            </a:r>
          </a:p>
        </p:txBody>
      </p:sp>
      <p:sp>
        <p:nvSpPr>
          <p:cNvPr id="56" name="Right Arrow 55"/>
          <p:cNvSpPr/>
          <p:nvPr/>
        </p:nvSpPr>
        <p:spPr>
          <a:xfrm>
            <a:off x="9376623" y="32095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ounded Rectangle 56"/>
          <p:cNvSpPr/>
          <p:nvPr/>
        </p:nvSpPr>
        <p:spPr>
          <a:xfrm>
            <a:off x="9705807" y="214884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ounded Rectangle 57"/>
          <p:cNvSpPr/>
          <p:nvPr/>
        </p:nvSpPr>
        <p:spPr>
          <a:xfrm>
            <a:off x="9705807" y="2148840"/>
            <a:ext cx="1918959" cy="109728"/>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Oval 58"/>
          <p:cNvSpPr/>
          <p:nvPr/>
        </p:nvSpPr>
        <p:spPr>
          <a:xfrm>
            <a:off x="10208087" y="2350008"/>
            <a:ext cx="914400" cy="914400"/>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ounded Rectangle 59"/>
          <p:cNvSpPr/>
          <p:nvPr/>
        </p:nvSpPr>
        <p:spPr>
          <a:xfrm rot="2700000">
            <a:off x="10547512" y="2815620"/>
            <a:ext cx="126187" cy="6729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ounded Rectangle 60"/>
          <p:cNvSpPr/>
          <p:nvPr/>
        </p:nvSpPr>
        <p:spPr>
          <a:xfrm rot="18480000">
            <a:off x="10640049" y="2723083"/>
            <a:ext cx="243961" cy="6729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Oval 61"/>
          <p:cNvSpPr/>
          <p:nvPr/>
        </p:nvSpPr>
        <p:spPr>
          <a:xfrm>
            <a:off x="1113099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5</a:t>
            </a:r>
          </a:p>
        </p:txBody>
      </p:sp>
      <p:sp>
        <p:nvSpPr>
          <p:cNvPr id="63" name="TextBox 62"/>
          <p:cNvSpPr txBox="1"/>
          <p:nvPr/>
        </p:nvSpPr>
        <p:spPr>
          <a:xfrm>
            <a:off x="981553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Processed</a:t>
            </a:r>
          </a:p>
        </p:txBody>
      </p:sp>
      <p:sp>
        <p:nvSpPr>
          <p:cNvPr id="64" name="TextBox 63"/>
          <p:cNvSpPr txBox="1"/>
          <p:nvPr/>
        </p:nvSpPr>
        <p:spPr>
          <a:xfrm>
            <a:off x="9852111" y="359359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Trusted, analytics-ready data.</a:t>
            </a:r>
          </a:p>
        </p:txBody>
      </p:sp>
      <p:sp>
        <p:nvSpPr>
          <p:cNvPr id="65" name="Rounded Rectangle 64"/>
          <p:cNvSpPr/>
          <p:nvPr/>
        </p:nvSpPr>
        <p:spPr>
          <a:xfrm>
            <a:off x="566928" y="4800600"/>
            <a:ext cx="11057839" cy="91440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914400" y="4800600"/>
            <a:ext cx="10362895" cy="91440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Transformation turns raw data into trustworthy data.  </a:t>
            </a:r>
            <a:r>
              <a:rPr sz="1250" b="0" i="0">
                <a:solidFill>
                  <a:srgbClr val="465257"/>
                </a:solidFill>
                <a:latin typeface="Segoe UI"/>
              </a:rPr>
              <a:t>It's the heart of processing — and maps directly onto the Bronze → Silver → Gold medallion layers.</a:t>
            </a:r>
          </a:p>
        </p:txBody>
      </p:sp>
      <p:sp>
        <p:nvSpPr>
          <p:cNvPr id="67" name="TextBox 66"/>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8" name="TextBox 67"/>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TRANSFORMATION</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Common Transformations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55887"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29873"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Platform</a:t>
            </a:r>
          </a:p>
        </p:txBody>
      </p:sp>
      <p:sp>
        <p:nvSpPr>
          <p:cNvPr id="17" name="Rounded Rectangle 16"/>
          <p:cNvSpPr/>
          <p:nvPr/>
        </p:nvSpPr>
        <p:spPr>
          <a:xfrm>
            <a:off x="56692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66928" y="1828800"/>
            <a:ext cx="91440" cy="1929384"/>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740664" y="1975104"/>
            <a:ext cx="658368" cy="65836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rapezoid 19"/>
          <p:cNvSpPr/>
          <p:nvPr/>
        </p:nvSpPr>
        <p:spPr>
          <a:xfrm rot="10800000">
            <a:off x="942651" y="2195262"/>
            <a:ext cx="254393" cy="121139"/>
          </a:xfrm>
          <a:prstGeom prst="trapezoi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51677" y="2316401"/>
            <a:ext cx="36341" cy="1029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49961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Filtering</a:t>
            </a:r>
          </a:p>
        </p:txBody>
      </p:sp>
      <p:sp>
        <p:nvSpPr>
          <p:cNvPr id="23" name="TextBox 22"/>
          <p:cNvSpPr txBox="1"/>
          <p:nvPr/>
        </p:nvSpPr>
        <p:spPr>
          <a:xfrm>
            <a:off x="841247"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Keep only the rows that matter (WHERE).</a:t>
            </a:r>
          </a:p>
        </p:txBody>
      </p:sp>
      <p:sp>
        <p:nvSpPr>
          <p:cNvPr id="24" name="Rounded Rectangle 23"/>
          <p:cNvSpPr/>
          <p:nvPr/>
        </p:nvSpPr>
        <p:spPr>
          <a:xfrm>
            <a:off x="433821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38218" y="1828800"/>
            <a:ext cx="91440" cy="1929384"/>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4511954" y="1975104"/>
            <a:ext cx="658368" cy="658368"/>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7" name="Connector 26"/>
          <p:cNvCxnSpPr/>
          <p:nvPr/>
        </p:nvCxnSpPr>
        <p:spPr>
          <a:xfrm>
            <a:off x="4719998" y="2183148"/>
            <a:ext cx="121140" cy="139310"/>
          </a:xfrm>
          <a:prstGeom prst="line">
            <a:avLst/>
          </a:prstGeom>
          <a:ln w="25237">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4841138" y="2183148"/>
            <a:ext cx="121140" cy="139310"/>
          </a:xfrm>
          <a:prstGeom prst="line">
            <a:avLst/>
          </a:prstGeom>
          <a:ln w="25237">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841138" y="2322458"/>
            <a:ext cx="0" cy="72684"/>
          </a:xfrm>
          <a:prstGeom prst="line">
            <a:avLst/>
          </a:prstGeom>
          <a:ln w="25237">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10800000">
            <a:off x="4801767" y="2389085"/>
            <a:ext cx="78740" cy="5451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694256" y="2157406"/>
            <a:ext cx="51484" cy="514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4936535" y="2157406"/>
            <a:ext cx="51484" cy="514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27090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Aggregation</a:t>
            </a:r>
          </a:p>
        </p:txBody>
      </p:sp>
      <p:sp>
        <p:nvSpPr>
          <p:cNvPr id="34" name="TextBox 33"/>
          <p:cNvSpPr txBox="1"/>
          <p:nvPr/>
        </p:nvSpPr>
        <p:spPr>
          <a:xfrm>
            <a:off x="461253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Summarize with sums, counts &amp; averages.</a:t>
            </a:r>
          </a:p>
        </p:txBody>
      </p:sp>
      <p:sp>
        <p:nvSpPr>
          <p:cNvPr id="35" name="Rounded Rectangle 34"/>
          <p:cNvSpPr/>
          <p:nvPr/>
        </p:nvSpPr>
        <p:spPr>
          <a:xfrm>
            <a:off x="810950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8109508" y="1828800"/>
            <a:ext cx="91440" cy="1929384"/>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8283244" y="1975104"/>
            <a:ext cx="658368" cy="658368"/>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8491289" y="2249775"/>
            <a:ext cx="133253" cy="109025"/>
          </a:xfrm>
          <a:prstGeom prst="roundRect">
            <a:avLst>
              <a:gd name="adj" fmla="val 50000"/>
            </a:avLst>
          </a:prstGeom>
          <a:noFill/>
          <a:ln w="3785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8600314" y="2249775"/>
            <a:ext cx="133253" cy="109025"/>
          </a:xfrm>
          <a:prstGeom prst="roundRect">
            <a:avLst>
              <a:gd name="adj" fmla="val 50000"/>
            </a:avLst>
          </a:prstGeom>
          <a:noFill/>
          <a:ln w="3785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904219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Joining</a:t>
            </a:r>
          </a:p>
        </p:txBody>
      </p:sp>
      <p:sp>
        <p:nvSpPr>
          <p:cNvPr id="41" name="TextBox 40"/>
          <p:cNvSpPr txBox="1"/>
          <p:nvPr/>
        </p:nvSpPr>
        <p:spPr>
          <a:xfrm>
            <a:off x="838382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Combine datasets on shared keys.</a:t>
            </a:r>
          </a:p>
        </p:txBody>
      </p:sp>
      <p:sp>
        <p:nvSpPr>
          <p:cNvPr id="42" name="Rounded Rectangle 41"/>
          <p:cNvSpPr/>
          <p:nvPr/>
        </p:nvSpPr>
        <p:spPr>
          <a:xfrm>
            <a:off x="56692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a:off x="566928" y="4014215"/>
            <a:ext cx="91440" cy="1929384"/>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740664" y="4160520"/>
            <a:ext cx="658368" cy="658368"/>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942651" y="4386735"/>
            <a:ext cx="254393" cy="4542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942651" y="4477590"/>
            <a:ext cx="181709" cy="4542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942651" y="4568444"/>
            <a:ext cx="109025" cy="4542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149961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Sorting</a:t>
            </a:r>
          </a:p>
        </p:txBody>
      </p:sp>
      <p:sp>
        <p:nvSpPr>
          <p:cNvPr id="49" name="TextBox 48"/>
          <p:cNvSpPr txBox="1"/>
          <p:nvPr/>
        </p:nvSpPr>
        <p:spPr>
          <a:xfrm>
            <a:off x="841247"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Order data by one or more columns.</a:t>
            </a:r>
          </a:p>
        </p:txBody>
      </p:sp>
      <p:sp>
        <p:nvSpPr>
          <p:cNvPr id="50" name="Rounded Rectangle 49"/>
          <p:cNvSpPr/>
          <p:nvPr/>
        </p:nvSpPr>
        <p:spPr>
          <a:xfrm>
            <a:off x="433821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ounded Rectangle 50"/>
          <p:cNvSpPr/>
          <p:nvPr/>
        </p:nvSpPr>
        <p:spPr>
          <a:xfrm>
            <a:off x="4338218" y="4014215"/>
            <a:ext cx="91440" cy="192938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Oval 51"/>
          <p:cNvSpPr/>
          <p:nvPr/>
        </p:nvSpPr>
        <p:spPr>
          <a:xfrm>
            <a:off x="4511954" y="4160520"/>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Oval 52"/>
          <p:cNvSpPr/>
          <p:nvPr/>
        </p:nvSpPr>
        <p:spPr>
          <a:xfrm>
            <a:off x="4730477" y="4379042"/>
            <a:ext cx="94125" cy="9412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4857673" y="4379042"/>
            <a:ext cx="94125" cy="941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Diamond 54"/>
          <p:cNvSpPr/>
          <p:nvPr/>
        </p:nvSpPr>
        <p:spPr>
          <a:xfrm>
            <a:off x="4730477" y="4506239"/>
            <a:ext cx="94125" cy="94125"/>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4857673" y="4506239"/>
            <a:ext cx="94125" cy="941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527090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Deduplication</a:t>
            </a:r>
          </a:p>
        </p:txBody>
      </p:sp>
      <p:sp>
        <p:nvSpPr>
          <p:cNvPr id="58" name="TextBox 57"/>
          <p:cNvSpPr txBox="1"/>
          <p:nvPr/>
        </p:nvSpPr>
        <p:spPr>
          <a:xfrm>
            <a:off x="461253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Remove duplicate records safely.</a:t>
            </a:r>
          </a:p>
        </p:txBody>
      </p:sp>
      <p:sp>
        <p:nvSpPr>
          <p:cNvPr id="59" name="Rounded Rectangle 58"/>
          <p:cNvSpPr/>
          <p:nvPr/>
        </p:nvSpPr>
        <p:spPr>
          <a:xfrm>
            <a:off x="810950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ounded Rectangle 59"/>
          <p:cNvSpPr/>
          <p:nvPr/>
        </p:nvSpPr>
        <p:spPr>
          <a:xfrm>
            <a:off x="8109508" y="4014215"/>
            <a:ext cx="91440" cy="1929384"/>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Oval 60"/>
          <p:cNvSpPr/>
          <p:nvPr/>
        </p:nvSpPr>
        <p:spPr>
          <a:xfrm>
            <a:off x="8283244" y="4160520"/>
            <a:ext cx="658368" cy="658368"/>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Pentagon 61"/>
          <p:cNvSpPr/>
          <p:nvPr/>
        </p:nvSpPr>
        <p:spPr>
          <a:xfrm rot="5400000">
            <a:off x="8485232" y="4344336"/>
            <a:ext cx="254393" cy="278621"/>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904219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Validation</a:t>
            </a:r>
          </a:p>
        </p:txBody>
      </p:sp>
      <p:sp>
        <p:nvSpPr>
          <p:cNvPr id="64" name="TextBox 63"/>
          <p:cNvSpPr txBox="1"/>
          <p:nvPr/>
        </p:nvSpPr>
        <p:spPr>
          <a:xfrm>
            <a:off x="838382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Enforce rules, types &amp; quality checks.</a:t>
            </a:r>
          </a:p>
        </p:txBody>
      </p:sp>
      <p:sp>
        <p:nvSpPr>
          <p:cNvPr id="65" name="TextBox 6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6" name="TextBox 6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ETL &amp; ELT</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ETL — Extract, Transform, Load</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55887"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29873"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Platform</a:t>
            </a:r>
          </a:p>
        </p:txBody>
      </p:sp>
      <p:sp>
        <p:nvSpPr>
          <p:cNvPr id="17" name="Rounded Rectangle 16"/>
          <p:cNvSpPr/>
          <p:nvPr/>
        </p:nvSpPr>
        <p:spPr>
          <a:xfrm>
            <a:off x="566928" y="2194560"/>
            <a:ext cx="3442106"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66928" y="2194560"/>
            <a:ext cx="3442106" cy="109728"/>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807921" y="2372868"/>
            <a:ext cx="960120" cy="96012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rapezoid 19"/>
          <p:cNvSpPr/>
          <p:nvPr/>
        </p:nvSpPr>
        <p:spPr>
          <a:xfrm rot="10800000">
            <a:off x="2102486" y="2693932"/>
            <a:ext cx="370990" cy="176662"/>
          </a:xfrm>
          <a:prstGeom prst="trapezoi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2261481" y="2870594"/>
            <a:ext cx="52998" cy="1501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3515258" y="232257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1</a:t>
            </a:r>
          </a:p>
        </p:txBody>
      </p:sp>
      <p:sp>
        <p:nvSpPr>
          <p:cNvPr id="23" name="TextBox 22"/>
          <p:cNvSpPr txBox="1"/>
          <p:nvPr/>
        </p:nvSpPr>
        <p:spPr>
          <a:xfrm>
            <a:off x="676656" y="3328415"/>
            <a:ext cx="3222650"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Extract</a:t>
            </a:r>
          </a:p>
        </p:txBody>
      </p:sp>
      <p:sp>
        <p:nvSpPr>
          <p:cNvPr id="24" name="TextBox 23"/>
          <p:cNvSpPr txBox="1"/>
          <p:nvPr/>
        </p:nvSpPr>
        <p:spPr>
          <a:xfrm>
            <a:off x="713232" y="3639312"/>
            <a:ext cx="3149498" cy="85039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Pull data from source systems.</a:t>
            </a:r>
          </a:p>
        </p:txBody>
      </p:sp>
      <p:sp>
        <p:nvSpPr>
          <p:cNvPr id="25" name="Right Arrow 24"/>
          <p:cNvSpPr/>
          <p:nvPr/>
        </p:nvSpPr>
        <p:spPr>
          <a:xfrm>
            <a:off x="4045610" y="327812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4374794" y="2194560"/>
            <a:ext cx="3442106"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4374794" y="2194560"/>
            <a:ext cx="3442106" cy="109728"/>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5615787" y="2372868"/>
            <a:ext cx="960120" cy="96012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Gear 6 28"/>
          <p:cNvSpPr/>
          <p:nvPr/>
        </p:nvSpPr>
        <p:spPr>
          <a:xfrm>
            <a:off x="5875020" y="2632100"/>
            <a:ext cx="441655" cy="441655"/>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7323124" y="232257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2</a:t>
            </a:r>
          </a:p>
        </p:txBody>
      </p:sp>
      <p:sp>
        <p:nvSpPr>
          <p:cNvPr id="31" name="TextBox 30"/>
          <p:cNvSpPr txBox="1"/>
          <p:nvPr/>
        </p:nvSpPr>
        <p:spPr>
          <a:xfrm>
            <a:off x="4484522" y="3328415"/>
            <a:ext cx="3222650"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Transform</a:t>
            </a:r>
          </a:p>
        </p:txBody>
      </p:sp>
      <p:sp>
        <p:nvSpPr>
          <p:cNvPr id="32" name="TextBox 31"/>
          <p:cNvSpPr txBox="1"/>
          <p:nvPr/>
        </p:nvSpPr>
        <p:spPr>
          <a:xfrm>
            <a:off x="4521098" y="3639312"/>
            <a:ext cx="3149498" cy="85039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Clean &amp; reshape on a staging engine — before loading.</a:t>
            </a:r>
          </a:p>
        </p:txBody>
      </p:sp>
      <p:sp>
        <p:nvSpPr>
          <p:cNvPr id="33" name="Right Arrow 32"/>
          <p:cNvSpPr/>
          <p:nvPr/>
        </p:nvSpPr>
        <p:spPr>
          <a:xfrm>
            <a:off x="7853476" y="327812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8182660" y="2194560"/>
            <a:ext cx="3442106"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182660" y="2194560"/>
            <a:ext cx="3442106" cy="109728"/>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9423653" y="2372868"/>
            <a:ext cx="960120" cy="960120"/>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Can 36"/>
          <p:cNvSpPr/>
          <p:nvPr/>
        </p:nvSpPr>
        <p:spPr>
          <a:xfrm>
            <a:off x="9722635" y="2632100"/>
            <a:ext cx="362157" cy="441655"/>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11130991" y="232257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3</a:t>
            </a:r>
          </a:p>
        </p:txBody>
      </p:sp>
      <p:sp>
        <p:nvSpPr>
          <p:cNvPr id="39" name="TextBox 38"/>
          <p:cNvSpPr txBox="1"/>
          <p:nvPr/>
        </p:nvSpPr>
        <p:spPr>
          <a:xfrm>
            <a:off x="8292388" y="3328415"/>
            <a:ext cx="3222650"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Load</a:t>
            </a:r>
          </a:p>
        </p:txBody>
      </p:sp>
      <p:sp>
        <p:nvSpPr>
          <p:cNvPr id="40" name="TextBox 39"/>
          <p:cNvSpPr txBox="1"/>
          <p:nvPr/>
        </p:nvSpPr>
        <p:spPr>
          <a:xfrm>
            <a:off x="8328964" y="3639312"/>
            <a:ext cx="3149498" cy="85039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Write the finished data into the warehouse.</a:t>
            </a:r>
          </a:p>
        </p:txBody>
      </p:sp>
      <p:sp>
        <p:nvSpPr>
          <p:cNvPr id="41" name="Rounded Rectangle 40"/>
          <p:cNvSpPr/>
          <p:nvPr/>
        </p:nvSpPr>
        <p:spPr>
          <a:xfrm>
            <a:off x="566928" y="4846320"/>
            <a:ext cx="11057839" cy="86868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14400" y="4846320"/>
            <a:ext cx="10362895" cy="86868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ETL transforms data BEFORE loading.  </a:t>
            </a:r>
            <a:r>
              <a:rPr sz="1250" b="0" i="0">
                <a:solidFill>
                  <a:srgbClr val="465257"/>
                </a:solidFill>
                <a:latin typeface="Segoe UI"/>
              </a:rPr>
              <a:t>The classic warehouse approach — transformation happens on a separate engine, so only clean, modelled data lands in the target.</a:t>
            </a:r>
          </a:p>
        </p:txBody>
      </p:sp>
      <p:sp>
        <p:nvSpPr>
          <p:cNvPr id="43" name="TextBox 42"/>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4" name="TextBox 43"/>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ETL &amp; ELT</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ELT — Extract, Load, Transform</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55887"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29873"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Platform</a:t>
            </a:r>
          </a:p>
        </p:txBody>
      </p:sp>
      <p:sp>
        <p:nvSpPr>
          <p:cNvPr id="17" name="Rounded Rectangle 16"/>
          <p:cNvSpPr/>
          <p:nvPr/>
        </p:nvSpPr>
        <p:spPr>
          <a:xfrm>
            <a:off x="566928" y="2194560"/>
            <a:ext cx="3442106"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66928" y="2194560"/>
            <a:ext cx="3442106" cy="109728"/>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807921" y="2372868"/>
            <a:ext cx="960120" cy="96012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rapezoid 19"/>
          <p:cNvSpPr/>
          <p:nvPr/>
        </p:nvSpPr>
        <p:spPr>
          <a:xfrm rot="10800000">
            <a:off x="2102486" y="2693932"/>
            <a:ext cx="370990" cy="176662"/>
          </a:xfrm>
          <a:prstGeom prst="trapezoi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2261481" y="2870594"/>
            <a:ext cx="52998" cy="1501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3515258" y="232257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1</a:t>
            </a:r>
          </a:p>
        </p:txBody>
      </p:sp>
      <p:sp>
        <p:nvSpPr>
          <p:cNvPr id="23" name="TextBox 22"/>
          <p:cNvSpPr txBox="1"/>
          <p:nvPr/>
        </p:nvSpPr>
        <p:spPr>
          <a:xfrm>
            <a:off x="676656" y="3328415"/>
            <a:ext cx="3222650"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Extract</a:t>
            </a:r>
          </a:p>
        </p:txBody>
      </p:sp>
      <p:sp>
        <p:nvSpPr>
          <p:cNvPr id="24" name="TextBox 23"/>
          <p:cNvSpPr txBox="1"/>
          <p:nvPr/>
        </p:nvSpPr>
        <p:spPr>
          <a:xfrm>
            <a:off x="713232" y="3639312"/>
            <a:ext cx="3149498" cy="85039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Pull raw data from source systems.</a:t>
            </a:r>
          </a:p>
        </p:txBody>
      </p:sp>
      <p:sp>
        <p:nvSpPr>
          <p:cNvPr id="25" name="Right Arrow 24"/>
          <p:cNvSpPr/>
          <p:nvPr/>
        </p:nvSpPr>
        <p:spPr>
          <a:xfrm>
            <a:off x="4045610" y="327812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4374794" y="2194560"/>
            <a:ext cx="3442106"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4374794" y="2194560"/>
            <a:ext cx="3442106" cy="109728"/>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5615787" y="2372868"/>
            <a:ext cx="960120" cy="960120"/>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Can 28"/>
          <p:cNvSpPr/>
          <p:nvPr/>
        </p:nvSpPr>
        <p:spPr>
          <a:xfrm>
            <a:off x="5914768" y="2632100"/>
            <a:ext cx="362157" cy="441655"/>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7323124" y="232257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2</a:t>
            </a:r>
          </a:p>
        </p:txBody>
      </p:sp>
      <p:sp>
        <p:nvSpPr>
          <p:cNvPr id="31" name="TextBox 30"/>
          <p:cNvSpPr txBox="1"/>
          <p:nvPr/>
        </p:nvSpPr>
        <p:spPr>
          <a:xfrm>
            <a:off x="4484522" y="3328415"/>
            <a:ext cx="3222650"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Load</a:t>
            </a:r>
          </a:p>
        </p:txBody>
      </p:sp>
      <p:sp>
        <p:nvSpPr>
          <p:cNvPr id="32" name="TextBox 31"/>
          <p:cNvSpPr txBox="1"/>
          <p:nvPr/>
        </p:nvSpPr>
        <p:spPr>
          <a:xfrm>
            <a:off x="4521098" y="3639312"/>
            <a:ext cx="3149498" cy="85039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Land raw data straight into the lake/lakehouse.</a:t>
            </a:r>
          </a:p>
        </p:txBody>
      </p:sp>
      <p:sp>
        <p:nvSpPr>
          <p:cNvPr id="33" name="Right Arrow 32"/>
          <p:cNvSpPr/>
          <p:nvPr/>
        </p:nvSpPr>
        <p:spPr>
          <a:xfrm>
            <a:off x="7853476" y="327812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8182660" y="2194560"/>
            <a:ext cx="3442106"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182660" y="2194560"/>
            <a:ext cx="3442106" cy="109728"/>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9423653" y="2372868"/>
            <a:ext cx="960120" cy="96012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Gear 6 36"/>
          <p:cNvSpPr/>
          <p:nvPr/>
        </p:nvSpPr>
        <p:spPr>
          <a:xfrm>
            <a:off x="9682886" y="2632100"/>
            <a:ext cx="441655" cy="441655"/>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11130991" y="232257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3</a:t>
            </a:r>
          </a:p>
        </p:txBody>
      </p:sp>
      <p:sp>
        <p:nvSpPr>
          <p:cNvPr id="39" name="TextBox 38"/>
          <p:cNvSpPr txBox="1"/>
          <p:nvPr/>
        </p:nvSpPr>
        <p:spPr>
          <a:xfrm>
            <a:off x="8292388" y="3328415"/>
            <a:ext cx="3222650"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Transform</a:t>
            </a:r>
          </a:p>
        </p:txBody>
      </p:sp>
      <p:sp>
        <p:nvSpPr>
          <p:cNvPr id="40" name="TextBox 39"/>
          <p:cNvSpPr txBox="1"/>
          <p:nvPr/>
        </p:nvSpPr>
        <p:spPr>
          <a:xfrm>
            <a:off x="8328964" y="3639312"/>
            <a:ext cx="3149498" cy="85039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Transform in-place with scalable cloud compute.</a:t>
            </a:r>
          </a:p>
        </p:txBody>
      </p:sp>
      <p:sp>
        <p:nvSpPr>
          <p:cNvPr id="41" name="Rounded Rectangle 40"/>
          <p:cNvSpPr/>
          <p:nvPr/>
        </p:nvSpPr>
        <p:spPr>
          <a:xfrm>
            <a:off x="566928" y="4846320"/>
            <a:ext cx="11057839" cy="86868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14400" y="4846320"/>
            <a:ext cx="10362895" cy="86868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ELT loads first, then transforms in place.  </a:t>
            </a:r>
            <a:r>
              <a:rPr sz="1250" b="0" i="0">
                <a:solidFill>
                  <a:srgbClr val="465257"/>
                </a:solidFill>
                <a:latin typeface="Segoe UI"/>
              </a:rPr>
              <a:t>The modern cloud approach — cheap storage keeps raw data, and elastic compute (Spark) transforms it on demand. This is the Lakehouse / medallion model.</a:t>
            </a:r>
          </a:p>
        </p:txBody>
      </p:sp>
      <p:sp>
        <p:nvSpPr>
          <p:cNvPr id="43" name="TextBox 42"/>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4" name="TextBox 43"/>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ETL &amp; ELT</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ETL vs. ELT</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55887"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29873"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Platform</a:t>
            </a:r>
          </a:p>
        </p:txBody>
      </p:sp>
      <p:sp>
        <p:nvSpPr>
          <p:cNvPr id="17" name="Rounded Rectangle 16"/>
          <p:cNvSpPr/>
          <p:nvPr/>
        </p:nvSpPr>
        <p:spPr>
          <a:xfrm>
            <a:off x="566928" y="1828800"/>
            <a:ext cx="2562441" cy="512064"/>
          </a:xfrm>
          <a:prstGeom prst="roundRect">
            <a:avLst>
              <a:gd name="adj" fmla="val 16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50" b="1">
                <a:solidFill>
                  <a:srgbClr val="FFFFFF"/>
                </a:solidFill>
                <a:latin typeface="Segoe UI Semibold"/>
              </a:rPr>
              <a:t>Aspect</a:t>
            </a:r>
          </a:p>
        </p:txBody>
      </p:sp>
      <p:sp>
        <p:nvSpPr>
          <p:cNvPr id="18" name="Rounded Rectangle 17"/>
          <p:cNvSpPr/>
          <p:nvPr/>
        </p:nvSpPr>
        <p:spPr>
          <a:xfrm>
            <a:off x="3220809" y="1828800"/>
            <a:ext cx="4110538" cy="512064"/>
          </a:xfrm>
          <a:prstGeom prst="roundRect">
            <a:avLst>
              <a:gd name="adj" fmla="val 16000"/>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50" b="1">
                <a:solidFill>
                  <a:srgbClr val="FFFFFF"/>
                </a:solidFill>
                <a:latin typeface="Segoe UI Semibold"/>
              </a:rPr>
              <a:t>ETL</a:t>
            </a:r>
          </a:p>
        </p:txBody>
      </p:sp>
      <p:sp>
        <p:nvSpPr>
          <p:cNvPr id="19" name="Rounded Rectangle 18"/>
          <p:cNvSpPr/>
          <p:nvPr/>
        </p:nvSpPr>
        <p:spPr>
          <a:xfrm>
            <a:off x="7422788" y="1828800"/>
            <a:ext cx="4110538" cy="512064"/>
          </a:xfrm>
          <a:prstGeom prst="roundRect">
            <a:avLst>
              <a:gd name="adj" fmla="val 16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50" b="1">
                <a:solidFill>
                  <a:srgbClr val="FFFFFF"/>
                </a:solidFill>
                <a:latin typeface="Segoe UI Semibold"/>
              </a:rPr>
              <a:t>ELT</a:t>
            </a:r>
          </a:p>
        </p:txBody>
      </p:sp>
      <p:sp>
        <p:nvSpPr>
          <p:cNvPr id="20" name="Rectangle 19"/>
          <p:cNvSpPr/>
          <p:nvPr/>
        </p:nvSpPr>
        <p:spPr>
          <a:xfrm>
            <a:off x="566928" y="2432304"/>
            <a:ext cx="11057839" cy="60350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6656" y="2432304"/>
            <a:ext cx="2434425"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Order</a:t>
            </a:r>
          </a:p>
        </p:txBody>
      </p:sp>
      <p:sp>
        <p:nvSpPr>
          <p:cNvPr id="22" name="TextBox 21"/>
          <p:cNvSpPr txBox="1"/>
          <p:nvPr/>
        </p:nvSpPr>
        <p:spPr>
          <a:xfrm>
            <a:off x="3348825" y="2432304"/>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Transform → Load</a:t>
            </a:r>
          </a:p>
        </p:txBody>
      </p:sp>
      <p:sp>
        <p:nvSpPr>
          <p:cNvPr id="23" name="TextBox 22"/>
          <p:cNvSpPr txBox="1"/>
          <p:nvPr/>
        </p:nvSpPr>
        <p:spPr>
          <a:xfrm>
            <a:off x="7550804" y="2432304"/>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Load → Transform</a:t>
            </a:r>
          </a:p>
        </p:txBody>
      </p:sp>
      <p:sp>
        <p:nvSpPr>
          <p:cNvPr id="24" name="TextBox 23"/>
          <p:cNvSpPr txBox="1"/>
          <p:nvPr/>
        </p:nvSpPr>
        <p:spPr>
          <a:xfrm>
            <a:off x="676656" y="3035808"/>
            <a:ext cx="2434425"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Transform Where</a:t>
            </a:r>
          </a:p>
        </p:txBody>
      </p:sp>
      <p:sp>
        <p:nvSpPr>
          <p:cNvPr id="25" name="TextBox 24"/>
          <p:cNvSpPr txBox="1"/>
          <p:nvPr/>
        </p:nvSpPr>
        <p:spPr>
          <a:xfrm>
            <a:off x="3348825" y="3035808"/>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Separate ETL engine</a:t>
            </a:r>
          </a:p>
        </p:txBody>
      </p:sp>
      <p:sp>
        <p:nvSpPr>
          <p:cNvPr id="26" name="TextBox 25"/>
          <p:cNvSpPr txBox="1"/>
          <p:nvPr/>
        </p:nvSpPr>
        <p:spPr>
          <a:xfrm>
            <a:off x="7550804" y="3035808"/>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In the lake/lakehouse</a:t>
            </a:r>
          </a:p>
        </p:txBody>
      </p:sp>
      <p:sp>
        <p:nvSpPr>
          <p:cNvPr id="27" name="Rectangle 26"/>
          <p:cNvSpPr/>
          <p:nvPr/>
        </p:nvSpPr>
        <p:spPr>
          <a:xfrm>
            <a:off x="566928" y="3639312"/>
            <a:ext cx="11057839" cy="60350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76656" y="3639312"/>
            <a:ext cx="2434425"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Raw Data Kept</a:t>
            </a:r>
          </a:p>
        </p:txBody>
      </p:sp>
      <p:sp>
        <p:nvSpPr>
          <p:cNvPr id="29" name="TextBox 28"/>
          <p:cNvSpPr txBox="1"/>
          <p:nvPr/>
        </p:nvSpPr>
        <p:spPr>
          <a:xfrm>
            <a:off x="3348825" y="3639312"/>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No — only modelled data</a:t>
            </a:r>
          </a:p>
        </p:txBody>
      </p:sp>
      <p:sp>
        <p:nvSpPr>
          <p:cNvPr id="30" name="TextBox 29"/>
          <p:cNvSpPr txBox="1"/>
          <p:nvPr/>
        </p:nvSpPr>
        <p:spPr>
          <a:xfrm>
            <a:off x="7550804" y="3639312"/>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Yes — full raw history</a:t>
            </a:r>
          </a:p>
        </p:txBody>
      </p:sp>
      <p:sp>
        <p:nvSpPr>
          <p:cNvPr id="31" name="TextBox 30"/>
          <p:cNvSpPr txBox="1"/>
          <p:nvPr/>
        </p:nvSpPr>
        <p:spPr>
          <a:xfrm>
            <a:off x="676656" y="4242816"/>
            <a:ext cx="2434425"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Speed &amp; Scale</a:t>
            </a:r>
          </a:p>
        </p:txBody>
      </p:sp>
      <p:sp>
        <p:nvSpPr>
          <p:cNvPr id="32" name="TextBox 31"/>
          <p:cNvSpPr txBox="1"/>
          <p:nvPr/>
        </p:nvSpPr>
        <p:spPr>
          <a:xfrm>
            <a:off x="3348825" y="4242816"/>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Limited by ETL tier</a:t>
            </a:r>
          </a:p>
        </p:txBody>
      </p:sp>
      <p:sp>
        <p:nvSpPr>
          <p:cNvPr id="33" name="TextBox 32"/>
          <p:cNvSpPr txBox="1"/>
          <p:nvPr/>
        </p:nvSpPr>
        <p:spPr>
          <a:xfrm>
            <a:off x="7550804" y="4242816"/>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Elastic cloud compute</a:t>
            </a:r>
          </a:p>
        </p:txBody>
      </p:sp>
      <p:sp>
        <p:nvSpPr>
          <p:cNvPr id="34" name="Rectangle 33"/>
          <p:cNvSpPr/>
          <p:nvPr/>
        </p:nvSpPr>
        <p:spPr>
          <a:xfrm>
            <a:off x="566928" y="4846320"/>
            <a:ext cx="11057839" cy="60350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76656" y="4846320"/>
            <a:ext cx="2434425"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Cost</a:t>
            </a:r>
          </a:p>
        </p:txBody>
      </p:sp>
      <p:sp>
        <p:nvSpPr>
          <p:cNvPr id="36" name="TextBox 35"/>
          <p:cNvSpPr txBox="1"/>
          <p:nvPr/>
        </p:nvSpPr>
        <p:spPr>
          <a:xfrm>
            <a:off x="3348825" y="4846320"/>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Higher infra overhead</a:t>
            </a:r>
          </a:p>
        </p:txBody>
      </p:sp>
      <p:sp>
        <p:nvSpPr>
          <p:cNvPr id="37" name="TextBox 36"/>
          <p:cNvSpPr txBox="1"/>
          <p:nvPr/>
        </p:nvSpPr>
        <p:spPr>
          <a:xfrm>
            <a:off x="7550804" y="4846320"/>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Cheap storage + on-demand</a:t>
            </a:r>
          </a:p>
        </p:txBody>
      </p:sp>
      <p:sp>
        <p:nvSpPr>
          <p:cNvPr id="38" name="TextBox 37"/>
          <p:cNvSpPr txBox="1"/>
          <p:nvPr/>
        </p:nvSpPr>
        <p:spPr>
          <a:xfrm>
            <a:off x="676656" y="5449824"/>
            <a:ext cx="2434425"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Cloud-Native</a:t>
            </a:r>
          </a:p>
        </p:txBody>
      </p:sp>
      <p:sp>
        <p:nvSpPr>
          <p:cNvPr id="39" name="TextBox 38"/>
          <p:cNvSpPr txBox="1"/>
          <p:nvPr/>
        </p:nvSpPr>
        <p:spPr>
          <a:xfrm>
            <a:off x="3348825" y="5449824"/>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Legacy warehouse era</a:t>
            </a:r>
          </a:p>
        </p:txBody>
      </p:sp>
      <p:sp>
        <p:nvSpPr>
          <p:cNvPr id="40" name="TextBox 39"/>
          <p:cNvSpPr txBox="1"/>
          <p:nvPr/>
        </p:nvSpPr>
        <p:spPr>
          <a:xfrm>
            <a:off x="7550804" y="5449824"/>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Modern Lakehouse standard</a:t>
            </a:r>
          </a:p>
        </p:txBody>
      </p:sp>
      <p:sp>
        <p:nvSpPr>
          <p:cNvPr id="41" name="TextBox 40"/>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2" name="TextBox 41"/>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1463040"/>
            <a:ext cx="5486400" cy="2194560"/>
          </a:xfrm>
          <a:prstGeom prst="rect">
            <a:avLst/>
          </a:prstGeom>
          <a:noFill/>
        </p:spPr>
        <p:txBody>
          <a:bodyPr wrap="square" anchor="t" lIns="0" rIns="0" tIns="0" bIns="0">
            <a:spAutoFit/>
          </a:bodyPr>
          <a:lstStyle/>
          <a:p>
            <a:pPr algn="l">
              <a:lnSpc>
                <a:spcPct val="100000"/>
              </a:lnSpc>
              <a:spcBef>
                <a:spcPts val="0"/>
              </a:spcBef>
              <a:spcAft>
                <a:spcPts val="200"/>
              </a:spcAft>
            </a:pPr>
            <a:r>
              <a:rPr sz="20000" b="1" i="0">
                <a:solidFill>
                  <a:srgbClr val="27444F"/>
                </a:solidFill>
                <a:latin typeface="Segoe UI Light"/>
              </a:rPr>
              <a:t>04</a:t>
            </a:r>
          </a:p>
        </p:txBody>
      </p:sp>
      <p:sp>
        <p:nvSpPr>
          <p:cNvPr id="9" name="Rounded Rectangle 8"/>
          <p:cNvSpPr/>
          <p:nvPr/>
        </p:nvSpPr>
        <p:spPr>
          <a:xfrm>
            <a:off x="612648" y="3310128"/>
            <a:ext cx="777240" cy="9144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12648" y="2743200"/>
            <a:ext cx="7315200" cy="36576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FF3621"/>
                </a:solidFill>
                <a:latin typeface="Segoe UI Semibold"/>
              </a:rPr>
              <a:t>PART FOUR</a:t>
            </a:r>
          </a:p>
        </p:txBody>
      </p:sp>
      <p:sp>
        <p:nvSpPr>
          <p:cNvPr id="11" name="TextBox 10"/>
          <p:cNvSpPr txBox="1"/>
          <p:nvPr/>
        </p:nvSpPr>
        <p:spPr>
          <a:xfrm>
            <a:off x="566928" y="3456432"/>
            <a:ext cx="7680960" cy="1097280"/>
          </a:xfrm>
          <a:prstGeom prst="rect">
            <a:avLst/>
          </a:prstGeom>
          <a:noFill/>
        </p:spPr>
        <p:txBody>
          <a:bodyPr wrap="square" anchor="t" lIns="0" rIns="0" tIns="0" bIns="0">
            <a:spAutoFit/>
          </a:bodyPr>
          <a:lstStyle/>
          <a:p>
            <a:pPr algn="l">
              <a:lnSpc>
                <a:spcPct val="98000"/>
              </a:lnSpc>
              <a:spcBef>
                <a:spcPts val="0"/>
              </a:spcBef>
              <a:spcAft>
                <a:spcPts val="200"/>
              </a:spcAft>
            </a:pPr>
            <a:r>
              <a:rPr sz="4000" b="1" i="0">
                <a:solidFill>
                  <a:srgbClr val="FFFFFF"/>
                </a:solidFill>
                <a:latin typeface="Segoe UI"/>
              </a:rPr>
              <a:t>Distributed Processing &amp; Pipelines</a:t>
            </a:r>
          </a:p>
        </p:txBody>
      </p:sp>
      <p:sp>
        <p:nvSpPr>
          <p:cNvPr id="12" name="TextBox 11"/>
          <p:cNvSpPr txBox="1"/>
          <p:nvPr/>
        </p:nvSpPr>
        <p:spPr>
          <a:xfrm>
            <a:off x="612648" y="4754880"/>
            <a:ext cx="6949440" cy="1463040"/>
          </a:xfrm>
          <a:prstGeom prst="rect">
            <a:avLst/>
          </a:prstGeom>
          <a:noFill/>
        </p:spPr>
        <p:txBody>
          <a:bodyPr wrap="square" anchor="t" lIns="0" rIns="0" tIns="0" bIns="0">
            <a:spAutoFit/>
          </a:bodyPr>
          <a:lstStyle/>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Why scale out · the Spark model</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Pipelines &amp; orchestration</a:t>
            </a:r>
          </a:p>
        </p:txBody>
      </p:sp>
      <p:sp>
        <p:nvSpPr>
          <p:cNvPr id="13" name="Oval 12"/>
          <p:cNvSpPr/>
          <p:nvPr/>
        </p:nvSpPr>
        <p:spPr>
          <a:xfrm>
            <a:off x="8641080" y="2423160"/>
            <a:ext cx="2286000" cy="2286000"/>
          </a:xfrm>
          <a:prstGeom prst="ellipse">
            <a:avLst/>
          </a:prstGeom>
          <a:solidFill>
            <a:srgbClr val="FF3621"/>
          </a:solidFill>
          <a:ln w="15240">
            <a:solidFill>
              <a:srgbClr val="FF8A78"/>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9430755" y="3212835"/>
            <a:ext cx="286024" cy="286024"/>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9851379" y="3212835"/>
            <a:ext cx="286024" cy="286024"/>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9430755" y="3633459"/>
            <a:ext cx="286024" cy="286024"/>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9851379" y="3633459"/>
            <a:ext cx="286024" cy="286024"/>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7E9199"/>
                </a:solidFill>
                <a:latin typeface="Segoe UI"/>
              </a:rPr>
              <a:t>Big Data &amp; Databricks  ·  Enterprise Training Series</a:t>
            </a:r>
          </a:p>
        </p:txBody>
      </p:sp>
      <p:sp>
        <p:nvSpPr>
          <p:cNvPr id="19" name="TextBox 18"/>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7E9199"/>
                </a:solidFill>
                <a:latin typeface="Segoe U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PROCESSING</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Why Distributed Processing?</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34879"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Processing</a:t>
            </a:r>
          </a:p>
        </p:txBody>
      </p:sp>
      <p:sp>
        <p:nvSpPr>
          <p:cNvPr id="15" name="Oval 14"/>
          <p:cNvSpPr/>
          <p:nvPr/>
        </p:nvSpPr>
        <p:spPr>
          <a:xfrm>
            <a:off x="11329873"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Platform</a:t>
            </a:r>
          </a:p>
        </p:txBody>
      </p:sp>
      <p:sp>
        <p:nvSpPr>
          <p:cNvPr id="17" name="Rounded Rectangle 16"/>
          <p:cNvSpPr/>
          <p:nvPr/>
        </p:nvSpPr>
        <p:spPr>
          <a:xfrm>
            <a:off x="566928" y="1874519"/>
            <a:ext cx="5208879" cy="32004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66928" y="1874519"/>
            <a:ext cx="5208879" cy="566928"/>
          </a:xfrm>
          <a:prstGeom prst="rect">
            <a:avLst/>
          </a:prstGeom>
          <a:solidFill>
            <a:srgbClr val="C426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Isosceles Triangle 18"/>
          <p:cNvSpPr/>
          <p:nvPr/>
        </p:nvSpPr>
        <p:spPr>
          <a:xfrm>
            <a:off x="822960" y="2021189"/>
            <a:ext cx="310896" cy="273588"/>
          </a:xfrm>
          <a:prstGeom prst="triangle">
            <a:avLst/>
          </a:prstGeom>
          <a:noFill/>
          <a:ln w="3022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962863" y="2133112"/>
            <a:ext cx="31089" cy="8083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965194" y="2231821"/>
            <a:ext cx="26426" cy="264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316736" y="1874519"/>
            <a:ext cx="4385919" cy="566928"/>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FFFFFF"/>
                </a:solidFill>
                <a:latin typeface="Segoe UI Semibold"/>
              </a:rPr>
              <a:t>Single Server</a:t>
            </a:r>
          </a:p>
        </p:txBody>
      </p:sp>
      <p:sp>
        <p:nvSpPr>
          <p:cNvPr id="23" name="TextBox 22"/>
          <p:cNvSpPr txBox="1"/>
          <p:nvPr/>
        </p:nvSpPr>
        <p:spPr>
          <a:xfrm>
            <a:off x="914400" y="2660903"/>
            <a:ext cx="4550511" cy="2286000"/>
          </a:xfrm>
          <a:prstGeom prst="rect">
            <a:avLst/>
          </a:prstGeom>
          <a:noFill/>
        </p:spPr>
        <p:txBody>
          <a:bodyPr wrap="square" anchor="t" lIns="0" rIns="0" tIns="0" bIns="0">
            <a:spAutoFit/>
          </a:bodyPr>
          <a:lstStyle/>
          <a:p>
            <a:pPr marL="274320" indent="-274320">
              <a:lnSpc>
                <a:spcPct val="112000"/>
              </a:lnSpc>
              <a:spcBef>
                <a:spcPts val="0"/>
              </a:spcBef>
              <a:spcAft>
                <a:spcPts val="1000"/>
              </a:spcAft>
            </a:pPr>
            <a:r>
              <a:rPr sz="1250" b="1">
                <a:solidFill>
                  <a:srgbClr val="C42618"/>
                </a:solidFill>
                <a:latin typeface="Segoe UI"/>
              </a:rPr>
              <a:t>▪   </a:t>
            </a:r>
            <a:r>
              <a:rPr sz="1250">
                <a:solidFill>
                  <a:srgbClr val="465257"/>
                </a:solidFill>
                <a:latin typeface="Segoe UI"/>
              </a:rPr>
              <a:t>One machine — a hard capacity ceiling</a:t>
            </a:r>
          </a:p>
          <a:p>
            <a:pPr marL="274320" indent="-274320">
              <a:lnSpc>
                <a:spcPct val="112000"/>
              </a:lnSpc>
              <a:spcBef>
                <a:spcPts val="0"/>
              </a:spcBef>
              <a:spcAft>
                <a:spcPts val="1000"/>
              </a:spcAft>
            </a:pPr>
            <a:r>
              <a:rPr sz="1250" b="1">
                <a:solidFill>
                  <a:srgbClr val="C42618"/>
                </a:solidFill>
                <a:latin typeface="Segoe UI"/>
              </a:rPr>
              <a:t>▪   </a:t>
            </a:r>
            <a:r>
              <a:rPr sz="1250">
                <a:solidFill>
                  <a:srgbClr val="465257"/>
                </a:solidFill>
                <a:latin typeface="Segoe UI"/>
              </a:rPr>
              <a:t>Scales UP (bigger, pricier box)</a:t>
            </a:r>
          </a:p>
          <a:p>
            <a:pPr marL="274320" indent="-274320">
              <a:lnSpc>
                <a:spcPct val="112000"/>
              </a:lnSpc>
              <a:spcBef>
                <a:spcPts val="0"/>
              </a:spcBef>
              <a:spcAft>
                <a:spcPts val="1000"/>
              </a:spcAft>
            </a:pPr>
            <a:r>
              <a:rPr sz="1250" b="1">
                <a:solidFill>
                  <a:srgbClr val="C42618"/>
                </a:solidFill>
                <a:latin typeface="Segoe UI"/>
              </a:rPr>
              <a:t>▪   </a:t>
            </a:r>
            <a:r>
              <a:rPr sz="1250">
                <a:solidFill>
                  <a:srgbClr val="465257"/>
                </a:solidFill>
                <a:latin typeface="Segoe UI"/>
              </a:rPr>
              <a:t>Slows to a crawl at TB+ scale</a:t>
            </a:r>
          </a:p>
          <a:p>
            <a:pPr marL="274320" indent="-274320">
              <a:lnSpc>
                <a:spcPct val="112000"/>
              </a:lnSpc>
              <a:spcBef>
                <a:spcPts val="0"/>
              </a:spcBef>
              <a:spcAft>
                <a:spcPts val="1000"/>
              </a:spcAft>
            </a:pPr>
            <a:r>
              <a:rPr sz="1250" b="1">
                <a:solidFill>
                  <a:srgbClr val="C42618"/>
                </a:solidFill>
                <a:latin typeface="Segoe UI"/>
              </a:rPr>
              <a:t>▪   </a:t>
            </a:r>
            <a:r>
              <a:rPr sz="1250">
                <a:solidFill>
                  <a:srgbClr val="465257"/>
                </a:solidFill>
                <a:latin typeface="Segoe UI"/>
              </a:rPr>
              <a:t>A single point of failure</a:t>
            </a:r>
          </a:p>
        </p:txBody>
      </p:sp>
      <p:sp>
        <p:nvSpPr>
          <p:cNvPr id="24" name="Rounded Rectangle 23"/>
          <p:cNvSpPr/>
          <p:nvPr/>
        </p:nvSpPr>
        <p:spPr>
          <a:xfrm>
            <a:off x="6415887" y="1874519"/>
            <a:ext cx="5208879" cy="320040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415887" y="1874519"/>
            <a:ext cx="5208879" cy="566928"/>
          </a:xfrm>
          <a:prstGeom prst="rect">
            <a:avLst/>
          </a:prstGeom>
          <a:solidFill>
            <a:srgbClr val="057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722906" y="2053522"/>
            <a:ext cx="84563" cy="84563"/>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6847264" y="2053522"/>
            <a:ext cx="84563" cy="84563"/>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722906" y="2177881"/>
            <a:ext cx="84563" cy="84563"/>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6847264" y="2177881"/>
            <a:ext cx="84563" cy="84563"/>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165695" y="1874519"/>
            <a:ext cx="4385919" cy="566928"/>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FFFFFF"/>
                </a:solidFill>
                <a:latin typeface="Segoe UI Semibold"/>
              </a:rPr>
              <a:t>Cluster Processing</a:t>
            </a:r>
          </a:p>
        </p:txBody>
      </p:sp>
      <p:sp>
        <p:nvSpPr>
          <p:cNvPr id="31" name="TextBox 30"/>
          <p:cNvSpPr txBox="1"/>
          <p:nvPr/>
        </p:nvSpPr>
        <p:spPr>
          <a:xfrm>
            <a:off x="6763359" y="2660903"/>
            <a:ext cx="4550511" cy="2286000"/>
          </a:xfrm>
          <a:prstGeom prst="rect">
            <a:avLst/>
          </a:prstGeom>
          <a:noFill/>
        </p:spPr>
        <p:txBody>
          <a:bodyPr wrap="square" anchor="t" lIns="0" rIns="0" tIns="0" bIns="0">
            <a:spAutoFit/>
          </a:bodyPr>
          <a:lstStyle/>
          <a:p>
            <a:pPr marL="274320" indent="-274320">
              <a:lnSpc>
                <a:spcPct val="112000"/>
              </a:lnSpc>
              <a:spcBef>
                <a:spcPts val="0"/>
              </a:spcBef>
              <a:spcAft>
                <a:spcPts val="1000"/>
              </a:spcAft>
            </a:pPr>
            <a:r>
              <a:rPr sz="1250" b="1">
                <a:solidFill>
                  <a:srgbClr val="00A972"/>
                </a:solidFill>
                <a:latin typeface="Segoe UI"/>
              </a:rPr>
              <a:t>▪   </a:t>
            </a:r>
            <a:r>
              <a:rPr sz="1250">
                <a:solidFill>
                  <a:srgbClr val="D6DEE1"/>
                </a:solidFill>
                <a:latin typeface="Segoe UI"/>
              </a:rPr>
              <a:t>Many machines working in parallel</a:t>
            </a:r>
          </a:p>
          <a:p>
            <a:pPr marL="274320" indent="-274320">
              <a:lnSpc>
                <a:spcPct val="112000"/>
              </a:lnSpc>
              <a:spcBef>
                <a:spcPts val="0"/>
              </a:spcBef>
              <a:spcAft>
                <a:spcPts val="1000"/>
              </a:spcAft>
            </a:pPr>
            <a:r>
              <a:rPr sz="1250" b="1">
                <a:solidFill>
                  <a:srgbClr val="00A972"/>
                </a:solidFill>
                <a:latin typeface="Segoe UI"/>
              </a:rPr>
              <a:t>▪   </a:t>
            </a:r>
            <a:r>
              <a:rPr sz="1250">
                <a:solidFill>
                  <a:srgbClr val="D6DEE1"/>
                </a:solidFill>
                <a:latin typeface="Segoe UI"/>
              </a:rPr>
              <a:t>Scales OUT — just add nodes</a:t>
            </a:r>
          </a:p>
          <a:p>
            <a:pPr marL="274320" indent="-274320">
              <a:lnSpc>
                <a:spcPct val="112000"/>
              </a:lnSpc>
              <a:spcBef>
                <a:spcPts val="0"/>
              </a:spcBef>
              <a:spcAft>
                <a:spcPts val="1000"/>
              </a:spcAft>
            </a:pPr>
            <a:r>
              <a:rPr sz="1250" b="1">
                <a:solidFill>
                  <a:srgbClr val="00A972"/>
                </a:solidFill>
                <a:latin typeface="Segoe UI"/>
              </a:rPr>
              <a:t>▪   </a:t>
            </a:r>
            <a:r>
              <a:rPr sz="1250">
                <a:solidFill>
                  <a:srgbClr val="D6DEE1"/>
                </a:solidFill>
                <a:latin typeface="Segoe UI"/>
              </a:rPr>
              <a:t>Handles petabytes by partitioning</a:t>
            </a:r>
          </a:p>
          <a:p>
            <a:pPr marL="274320" indent="-274320">
              <a:lnSpc>
                <a:spcPct val="112000"/>
              </a:lnSpc>
              <a:spcBef>
                <a:spcPts val="0"/>
              </a:spcBef>
              <a:spcAft>
                <a:spcPts val="1000"/>
              </a:spcAft>
            </a:pPr>
            <a:r>
              <a:rPr sz="1250" b="1">
                <a:solidFill>
                  <a:srgbClr val="00A972"/>
                </a:solidFill>
                <a:latin typeface="Segoe UI"/>
              </a:rPr>
              <a:t>▪   </a:t>
            </a:r>
            <a:r>
              <a:rPr sz="1250">
                <a:solidFill>
                  <a:srgbClr val="D6DEE1"/>
                </a:solidFill>
                <a:latin typeface="Segoe UI"/>
              </a:rPr>
              <a:t>Fault-tolerant — survives node loss</a:t>
            </a:r>
          </a:p>
        </p:txBody>
      </p:sp>
      <p:sp>
        <p:nvSpPr>
          <p:cNvPr id="32" name="Oval 31"/>
          <p:cNvSpPr/>
          <p:nvPr/>
        </p:nvSpPr>
        <p:spPr>
          <a:xfrm>
            <a:off x="5757519" y="3136391"/>
            <a:ext cx="676656" cy="676656"/>
          </a:xfrm>
          <a:prstGeom prst="ellipse">
            <a:avLst/>
          </a:prstGeom>
          <a:solidFill>
            <a:srgbClr val="FF3621"/>
          </a:solidFill>
          <a:ln w="3810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730087" y="3273551"/>
            <a:ext cx="731520" cy="402336"/>
          </a:xfrm>
          <a:prstGeom prst="rect">
            <a:avLst/>
          </a:prstGeom>
          <a:noFill/>
        </p:spPr>
        <p:txBody>
          <a:bodyPr wrap="square" anchor="ctr" lIns="0" rIns="0" tIns="0" bIns="0">
            <a:spAutoFit/>
          </a:bodyPr>
          <a:lstStyle/>
          <a:p>
            <a:pPr algn="ctr">
              <a:lnSpc>
                <a:spcPct val="100000"/>
              </a:lnSpc>
              <a:spcBef>
                <a:spcPts val="0"/>
              </a:spcBef>
              <a:spcAft>
                <a:spcPts val="200"/>
              </a:spcAft>
            </a:pPr>
            <a:r>
              <a:rPr sz="1600" b="1" i="0">
                <a:solidFill>
                  <a:srgbClr val="FFFFFF"/>
                </a:solidFill>
                <a:latin typeface="Segoe UI"/>
              </a:rPr>
              <a:t>VS</a:t>
            </a:r>
          </a:p>
        </p:txBody>
      </p:sp>
      <p:sp>
        <p:nvSpPr>
          <p:cNvPr id="34" name="Rounded Rectangle 33"/>
          <p:cNvSpPr/>
          <p:nvPr/>
        </p:nvSpPr>
        <p:spPr>
          <a:xfrm>
            <a:off x="566928" y="5349240"/>
            <a:ext cx="11057839" cy="77724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14400" y="5349240"/>
            <a:ext cx="10362895" cy="77724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Big data outgrew the single machine.  </a:t>
            </a:r>
            <a:r>
              <a:rPr sz="1250" b="0" i="0">
                <a:solidFill>
                  <a:srgbClr val="465257"/>
                </a:solidFill>
                <a:latin typeface="Segoe UI"/>
              </a:rPr>
              <a:t>Distributed processing splits work across a cluster — the core idea behind Spark and every modern data platform.</a:t>
            </a:r>
          </a:p>
        </p:txBody>
      </p:sp>
      <p:sp>
        <p:nvSpPr>
          <p:cNvPr id="36" name="TextBox 35"/>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37" name="TextBox 36"/>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PROCESSING</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Apache Spark Processing Model</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34879"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Processing</a:t>
            </a:r>
          </a:p>
        </p:txBody>
      </p:sp>
      <p:sp>
        <p:nvSpPr>
          <p:cNvPr id="15" name="Oval 14"/>
          <p:cNvSpPr/>
          <p:nvPr/>
        </p:nvSpPr>
        <p:spPr>
          <a:xfrm>
            <a:off x="11329873"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Platform</a:t>
            </a:r>
          </a:p>
        </p:txBody>
      </p:sp>
      <p:sp>
        <p:nvSpPr>
          <p:cNvPr id="17" name="Rounded Rectangle 16"/>
          <p:cNvSpPr/>
          <p:nvPr/>
        </p:nvSpPr>
        <p:spPr>
          <a:xfrm>
            <a:off x="566928" y="2194560"/>
            <a:ext cx="3442106"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66928" y="2194560"/>
            <a:ext cx="3442106" cy="109728"/>
          </a:xfrm>
          <a:prstGeom prst="roundRect">
            <a:avLst>
              <a:gd name="adj" fmla="val 50000"/>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807921" y="2372868"/>
            <a:ext cx="960120" cy="960120"/>
          </a:xfrm>
          <a:prstGeom prst="ellipse">
            <a:avLst/>
          </a:prstGeom>
          <a:solidFill>
            <a:srgbClr val="27444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Gear 6 19"/>
          <p:cNvSpPr/>
          <p:nvPr/>
        </p:nvSpPr>
        <p:spPr>
          <a:xfrm>
            <a:off x="2067153" y="2632100"/>
            <a:ext cx="441655" cy="441655"/>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3515258" y="232257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1</a:t>
            </a:r>
          </a:p>
        </p:txBody>
      </p:sp>
      <p:sp>
        <p:nvSpPr>
          <p:cNvPr id="22" name="TextBox 21"/>
          <p:cNvSpPr txBox="1"/>
          <p:nvPr/>
        </p:nvSpPr>
        <p:spPr>
          <a:xfrm>
            <a:off x="676656" y="3328415"/>
            <a:ext cx="3222650"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Driver</a:t>
            </a:r>
          </a:p>
        </p:txBody>
      </p:sp>
      <p:sp>
        <p:nvSpPr>
          <p:cNvPr id="23" name="TextBox 22"/>
          <p:cNvSpPr txBox="1"/>
          <p:nvPr/>
        </p:nvSpPr>
        <p:spPr>
          <a:xfrm>
            <a:off x="713232" y="3639312"/>
            <a:ext cx="3149498" cy="85039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Plans the job and coordinates the cluster.</a:t>
            </a:r>
          </a:p>
        </p:txBody>
      </p:sp>
      <p:sp>
        <p:nvSpPr>
          <p:cNvPr id="24" name="Right Arrow 23"/>
          <p:cNvSpPr/>
          <p:nvPr/>
        </p:nvSpPr>
        <p:spPr>
          <a:xfrm>
            <a:off x="4045610" y="327812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74794" y="2194560"/>
            <a:ext cx="3442106"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4374794" y="2194560"/>
            <a:ext cx="3442106" cy="109728"/>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5615787" y="2372868"/>
            <a:ext cx="960120" cy="96012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5947451" y="2704531"/>
            <a:ext cx="120130" cy="12013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6124113" y="2704531"/>
            <a:ext cx="120130" cy="12013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5947451" y="2881193"/>
            <a:ext cx="120130" cy="12013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6124113" y="2881193"/>
            <a:ext cx="120130" cy="12013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323124" y="232257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2</a:t>
            </a:r>
          </a:p>
        </p:txBody>
      </p:sp>
      <p:sp>
        <p:nvSpPr>
          <p:cNvPr id="33" name="TextBox 32"/>
          <p:cNvSpPr txBox="1"/>
          <p:nvPr/>
        </p:nvSpPr>
        <p:spPr>
          <a:xfrm>
            <a:off x="4484522" y="3328415"/>
            <a:ext cx="3222650"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Executors</a:t>
            </a:r>
          </a:p>
        </p:txBody>
      </p:sp>
      <p:sp>
        <p:nvSpPr>
          <p:cNvPr id="34" name="TextBox 33"/>
          <p:cNvSpPr txBox="1"/>
          <p:nvPr/>
        </p:nvSpPr>
        <p:spPr>
          <a:xfrm>
            <a:off x="4521098" y="3639312"/>
            <a:ext cx="3149498" cy="85039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Worker processes that run tasks in parallel.</a:t>
            </a:r>
          </a:p>
        </p:txBody>
      </p:sp>
      <p:sp>
        <p:nvSpPr>
          <p:cNvPr id="35" name="Right Arrow 34"/>
          <p:cNvSpPr/>
          <p:nvPr/>
        </p:nvSpPr>
        <p:spPr>
          <a:xfrm>
            <a:off x="7853476" y="327812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8182660" y="2194560"/>
            <a:ext cx="3442106"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8182660" y="2194560"/>
            <a:ext cx="3442106" cy="109728"/>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9423653" y="2372868"/>
            <a:ext cx="960120" cy="96012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Lightning Bolt 38"/>
          <p:cNvSpPr/>
          <p:nvPr/>
        </p:nvSpPr>
        <p:spPr>
          <a:xfrm>
            <a:off x="9749134" y="2632100"/>
            <a:ext cx="309158" cy="441655"/>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11130991" y="232257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3</a:t>
            </a:r>
          </a:p>
        </p:txBody>
      </p:sp>
      <p:sp>
        <p:nvSpPr>
          <p:cNvPr id="41" name="TextBox 40"/>
          <p:cNvSpPr txBox="1"/>
          <p:nvPr/>
        </p:nvSpPr>
        <p:spPr>
          <a:xfrm>
            <a:off x="8292388" y="3328415"/>
            <a:ext cx="3222650"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Tasks</a:t>
            </a:r>
          </a:p>
        </p:txBody>
      </p:sp>
      <p:sp>
        <p:nvSpPr>
          <p:cNvPr id="42" name="TextBox 41"/>
          <p:cNvSpPr txBox="1"/>
          <p:nvPr/>
        </p:nvSpPr>
        <p:spPr>
          <a:xfrm>
            <a:off x="8328964" y="3639312"/>
            <a:ext cx="3149498" cy="85039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Units of work — one per data partition.</a:t>
            </a:r>
          </a:p>
        </p:txBody>
      </p:sp>
      <p:sp>
        <p:nvSpPr>
          <p:cNvPr id="43" name="Rounded Rectangle 42"/>
          <p:cNvSpPr/>
          <p:nvPr/>
        </p:nvSpPr>
        <p:spPr>
          <a:xfrm>
            <a:off x="566928" y="4846320"/>
            <a:ext cx="11057839" cy="86868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14400" y="4846320"/>
            <a:ext cx="10362895" cy="86868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Spark is the engine of distributed processing.  </a:t>
            </a:r>
            <a:r>
              <a:rPr sz="1250" b="0" i="0">
                <a:solidFill>
                  <a:srgbClr val="465257"/>
                </a:solidFill>
                <a:latin typeface="Segoe UI"/>
              </a:rPr>
              <a:t>A Driver breaks work into Tasks that Executors run in parallel across the cluster — in memory, and fault-tolerant.</a:t>
            </a:r>
          </a:p>
        </p:txBody>
      </p:sp>
      <p:sp>
        <p:nvSpPr>
          <p:cNvPr id="45" name="TextBox 4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6" name="TextBox 4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PROCESSING</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How Spark Processes Data</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34879"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Processing</a:t>
            </a:r>
          </a:p>
        </p:txBody>
      </p:sp>
      <p:sp>
        <p:nvSpPr>
          <p:cNvPr id="15" name="Oval 14"/>
          <p:cNvSpPr/>
          <p:nvPr/>
        </p:nvSpPr>
        <p:spPr>
          <a:xfrm>
            <a:off x="11329873"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Platform</a:t>
            </a:r>
          </a:p>
        </p:txBody>
      </p:sp>
      <p:sp>
        <p:nvSpPr>
          <p:cNvPr id="17" name="Rounded Rectangle 16"/>
          <p:cNvSpPr/>
          <p:nvPr/>
        </p:nvSpPr>
        <p:spPr>
          <a:xfrm>
            <a:off x="566928" y="214884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66928" y="2148840"/>
            <a:ext cx="1918959" cy="109728"/>
          </a:xfrm>
          <a:prstGeom prst="roundRect">
            <a:avLst>
              <a:gd name="adj" fmla="val 50000"/>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069207" y="2350008"/>
            <a:ext cx="914400" cy="914400"/>
          </a:xfrm>
          <a:prstGeom prst="ellipse">
            <a:avLst/>
          </a:prstGeom>
          <a:solidFill>
            <a:srgbClr val="27444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rapezoid 19"/>
          <p:cNvSpPr/>
          <p:nvPr/>
        </p:nvSpPr>
        <p:spPr>
          <a:xfrm rot="10800000">
            <a:off x="1349745" y="2655783"/>
            <a:ext cx="353324" cy="168249"/>
          </a:xfrm>
          <a:prstGeom prst="trapezoi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501170" y="2824032"/>
            <a:ext cx="50474" cy="1430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199211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1</a:t>
            </a:r>
          </a:p>
        </p:txBody>
      </p:sp>
      <p:sp>
        <p:nvSpPr>
          <p:cNvPr id="23" name="TextBox 22"/>
          <p:cNvSpPr txBox="1"/>
          <p:nvPr/>
        </p:nvSpPr>
        <p:spPr>
          <a:xfrm>
            <a:off x="676656"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Read</a:t>
            </a:r>
          </a:p>
        </p:txBody>
      </p:sp>
      <p:sp>
        <p:nvSpPr>
          <p:cNvPr id="24" name="TextBox 23"/>
          <p:cNvSpPr txBox="1"/>
          <p:nvPr/>
        </p:nvSpPr>
        <p:spPr>
          <a:xfrm>
            <a:off x="713232" y="359359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Load data from the source or table.</a:t>
            </a:r>
          </a:p>
        </p:txBody>
      </p:sp>
      <p:sp>
        <p:nvSpPr>
          <p:cNvPr id="25" name="Right Arrow 24"/>
          <p:cNvSpPr/>
          <p:nvPr/>
        </p:nvSpPr>
        <p:spPr>
          <a:xfrm>
            <a:off x="2522463" y="32095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2851647" y="214884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2851647" y="2148840"/>
            <a:ext cx="1918959" cy="109728"/>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3353927" y="2350008"/>
            <a:ext cx="914400" cy="91440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3657431" y="2653511"/>
            <a:ext cx="130729" cy="13072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834093" y="2653511"/>
            <a:ext cx="130729" cy="13072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Diamond 30"/>
          <p:cNvSpPr/>
          <p:nvPr/>
        </p:nvSpPr>
        <p:spPr>
          <a:xfrm>
            <a:off x="3657431" y="2830174"/>
            <a:ext cx="130729" cy="130729"/>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834093" y="2830174"/>
            <a:ext cx="130729" cy="13072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Oval 32"/>
          <p:cNvSpPr/>
          <p:nvPr/>
        </p:nvSpPr>
        <p:spPr>
          <a:xfrm>
            <a:off x="427683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2</a:t>
            </a:r>
          </a:p>
        </p:txBody>
      </p:sp>
      <p:sp>
        <p:nvSpPr>
          <p:cNvPr id="34" name="TextBox 33"/>
          <p:cNvSpPr txBox="1"/>
          <p:nvPr/>
        </p:nvSpPr>
        <p:spPr>
          <a:xfrm>
            <a:off x="296137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Partition</a:t>
            </a:r>
          </a:p>
        </p:txBody>
      </p:sp>
      <p:sp>
        <p:nvSpPr>
          <p:cNvPr id="35" name="TextBox 34"/>
          <p:cNvSpPr txBox="1"/>
          <p:nvPr/>
        </p:nvSpPr>
        <p:spPr>
          <a:xfrm>
            <a:off x="2997951" y="359359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Split into chunks across the cluster.</a:t>
            </a:r>
          </a:p>
        </p:txBody>
      </p:sp>
      <p:sp>
        <p:nvSpPr>
          <p:cNvPr id="36" name="Right Arrow 35"/>
          <p:cNvSpPr/>
          <p:nvPr/>
        </p:nvSpPr>
        <p:spPr>
          <a:xfrm>
            <a:off x="4807183" y="32095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5136367" y="214884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5136367" y="2148840"/>
            <a:ext cx="1918959" cy="109728"/>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5638647" y="2350008"/>
            <a:ext cx="914400" cy="914400"/>
          </a:xfrm>
          <a:prstGeom prst="ellipse">
            <a:avLst/>
          </a:prstGeom>
          <a:solidFill>
            <a:srgbClr val="0E8C9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Gear 6 39"/>
          <p:cNvSpPr/>
          <p:nvPr/>
        </p:nvSpPr>
        <p:spPr>
          <a:xfrm>
            <a:off x="5885535" y="2596896"/>
            <a:ext cx="420624" cy="420624"/>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656155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3</a:t>
            </a:r>
          </a:p>
        </p:txBody>
      </p:sp>
      <p:sp>
        <p:nvSpPr>
          <p:cNvPr id="42" name="TextBox 41"/>
          <p:cNvSpPr txBox="1"/>
          <p:nvPr/>
        </p:nvSpPr>
        <p:spPr>
          <a:xfrm>
            <a:off x="524609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Transform</a:t>
            </a:r>
          </a:p>
        </p:txBody>
      </p:sp>
      <p:sp>
        <p:nvSpPr>
          <p:cNvPr id="43" name="TextBox 42"/>
          <p:cNvSpPr txBox="1"/>
          <p:nvPr/>
        </p:nvSpPr>
        <p:spPr>
          <a:xfrm>
            <a:off x="5282671" y="359359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Apply operations to each partition.</a:t>
            </a:r>
          </a:p>
        </p:txBody>
      </p:sp>
      <p:sp>
        <p:nvSpPr>
          <p:cNvPr id="44" name="Right Arrow 43"/>
          <p:cNvSpPr/>
          <p:nvPr/>
        </p:nvSpPr>
        <p:spPr>
          <a:xfrm>
            <a:off x="7091903" y="32095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7421087" y="214884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7421087" y="2148840"/>
            <a:ext cx="1918959" cy="109728"/>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7923367" y="2350008"/>
            <a:ext cx="914400" cy="91440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Lightning Bolt 47"/>
          <p:cNvSpPr/>
          <p:nvPr/>
        </p:nvSpPr>
        <p:spPr>
          <a:xfrm>
            <a:off x="8233349" y="2596896"/>
            <a:ext cx="294436" cy="420624"/>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Oval 48"/>
          <p:cNvSpPr/>
          <p:nvPr/>
        </p:nvSpPr>
        <p:spPr>
          <a:xfrm>
            <a:off x="884627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4</a:t>
            </a:r>
          </a:p>
        </p:txBody>
      </p:sp>
      <p:sp>
        <p:nvSpPr>
          <p:cNvPr id="50" name="TextBox 49"/>
          <p:cNvSpPr txBox="1"/>
          <p:nvPr/>
        </p:nvSpPr>
        <p:spPr>
          <a:xfrm>
            <a:off x="753081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Execute</a:t>
            </a:r>
          </a:p>
        </p:txBody>
      </p:sp>
      <p:sp>
        <p:nvSpPr>
          <p:cNvPr id="51" name="TextBox 50"/>
          <p:cNvSpPr txBox="1"/>
          <p:nvPr/>
        </p:nvSpPr>
        <p:spPr>
          <a:xfrm>
            <a:off x="7567391" y="359359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Run tasks in parallel on executors.</a:t>
            </a:r>
          </a:p>
        </p:txBody>
      </p:sp>
      <p:sp>
        <p:nvSpPr>
          <p:cNvPr id="52" name="Right Arrow 51"/>
          <p:cNvSpPr/>
          <p:nvPr/>
        </p:nvSpPr>
        <p:spPr>
          <a:xfrm>
            <a:off x="9376623" y="32095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ounded Rectangle 52"/>
          <p:cNvSpPr/>
          <p:nvPr/>
        </p:nvSpPr>
        <p:spPr>
          <a:xfrm>
            <a:off x="9705807" y="214884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ounded Rectangle 53"/>
          <p:cNvSpPr/>
          <p:nvPr/>
        </p:nvSpPr>
        <p:spPr>
          <a:xfrm>
            <a:off x="9705807" y="2148840"/>
            <a:ext cx="1918959" cy="109728"/>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Oval 54"/>
          <p:cNvSpPr/>
          <p:nvPr/>
        </p:nvSpPr>
        <p:spPr>
          <a:xfrm>
            <a:off x="10208087" y="2350008"/>
            <a:ext cx="914400" cy="914400"/>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Can 55"/>
          <p:cNvSpPr/>
          <p:nvPr/>
        </p:nvSpPr>
        <p:spPr>
          <a:xfrm>
            <a:off x="10492831" y="2596896"/>
            <a:ext cx="344911" cy="420624"/>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Oval 56"/>
          <p:cNvSpPr/>
          <p:nvPr/>
        </p:nvSpPr>
        <p:spPr>
          <a:xfrm>
            <a:off x="1113099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5</a:t>
            </a:r>
          </a:p>
        </p:txBody>
      </p:sp>
      <p:sp>
        <p:nvSpPr>
          <p:cNvPr id="58" name="TextBox 57"/>
          <p:cNvSpPr txBox="1"/>
          <p:nvPr/>
        </p:nvSpPr>
        <p:spPr>
          <a:xfrm>
            <a:off x="981553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Write</a:t>
            </a:r>
          </a:p>
        </p:txBody>
      </p:sp>
      <p:sp>
        <p:nvSpPr>
          <p:cNvPr id="59" name="TextBox 58"/>
          <p:cNvSpPr txBox="1"/>
          <p:nvPr/>
        </p:nvSpPr>
        <p:spPr>
          <a:xfrm>
            <a:off x="9852111" y="359359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Persist results back to storage.</a:t>
            </a:r>
          </a:p>
        </p:txBody>
      </p:sp>
      <p:sp>
        <p:nvSpPr>
          <p:cNvPr id="60" name="Rounded Rectangle 59"/>
          <p:cNvSpPr/>
          <p:nvPr/>
        </p:nvSpPr>
        <p:spPr>
          <a:xfrm>
            <a:off x="566928" y="4800600"/>
            <a:ext cx="11057839" cy="91440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914400" y="4800600"/>
            <a:ext cx="10362895" cy="91440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Partitioning is the secret to scale.  </a:t>
            </a:r>
            <a:r>
              <a:rPr sz="1250" b="0" i="0">
                <a:solidFill>
                  <a:srgbClr val="465257"/>
                </a:solidFill>
                <a:latin typeface="Segoe UI"/>
              </a:rPr>
              <a:t>By splitting data into partitions and processing them in parallel, Spark turns a huge job into many small ones that finish fast.</a:t>
            </a:r>
          </a:p>
        </p:txBody>
      </p:sp>
      <p:sp>
        <p:nvSpPr>
          <p:cNvPr id="62" name="TextBox 61"/>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3" name="TextBox 62"/>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PIPELINES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What Is a Data Pipeline?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34879"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Processing</a:t>
            </a:r>
          </a:p>
        </p:txBody>
      </p:sp>
      <p:sp>
        <p:nvSpPr>
          <p:cNvPr id="15" name="Oval 14"/>
          <p:cNvSpPr/>
          <p:nvPr/>
        </p:nvSpPr>
        <p:spPr>
          <a:xfrm>
            <a:off x="11329873"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Platform</a:t>
            </a:r>
          </a:p>
        </p:txBody>
      </p:sp>
      <p:sp>
        <p:nvSpPr>
          <p:cNvPr id="17" name="Rounded Rectangle 16"/>
          <p:cNvSpPr/>
          <p:nvPr/>
        </p:nvSpPr>
        <p:spPr>
          <a:xfrm>
            <a:off x="566928" y="2286000"/>
            <a:ext cx="2531287" cy="914400"/>
          </a:xfrm>
          <a:prstGeom prst="roundRect">
            <a:avLst>
              <a:gd name="adj" fmla="val 14000"/>
            </a:avLst>
          </a:prstGeom>
          <a:solidFill>
            <a:srgbClr val="0E8C9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rapezoid 17"/>
          <p:cNvSpPr/>
          <p:nvPr/>
        </p:nvSpPr>
        <p:spPr>
          <a:xfrm rot="10800000">
            <a:off x="713597" y="2618110"/>
            <a:ext cx="291876" cy="138988"/>
          </a:xfrm>
          <a:prstGeom prst="trapezoi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38687" y="2757098"/>
            <a:ext cx="41696" cy="1181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42416" y="2286000"/>
            <a:ext cx="1964359" cy="914400"/>
          </a:xfrm>
          <a:prstGeom prst="rect">
            <a:avLst/>
          </a:prstGeom>
          <a:noFill/>
        </p:spPr>
        <p:txBody>
          <a:bodyPr wrap="square" anchor="ctr" lIns="0" rIns="0" tIns="0" bIns="0">
            <a:spAutoFit/>
          </a:bodyPr>
          <a:lstStyle/>
          <a:p>
            <a:pPr algn="ctr">
              <a:lnSpc>
                <a:spcPct val="92000"/>
              </a:lnSpc>
              <a:spcBef>
                <a:spcPts val="0"/>
              </a:spcBef>
              <a:spcAft>
                <a:spcPts val="200"/>
              </a:spcAft>
            </a:pPr>
            <a:r>
              <a:rPr sz="1250" b="1" i="0">
                <a:solidFill>
                  <a:srgbClr val="FFFFFF"/>
                </a:solidFill>
                <a:latin typeface="Segoe UI"/>
              </a:rPr>
              <a:t>Ingest</a:t>
            </a:r>
          </a:p>
        </p:txBody>
      </p:sp>
      <p:sp>
        <p:nvSpPr>
          <p:cNvPr id="21" name="Rounded Rectangle 20"/>
          <p:cNvSpPr/>
          <p:nvPr/>
        </p:nvSpPr>
        <p:spPr>
          <a:xfrm>
            <a:off x="566928" y="3364992"/>
            <a:ext cx="2531287" cy="1143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31520" y="3511296"/>
            <a:ext cx="2220391" cy="868680"/>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1000" b="1">
                <a:solidFill>
                  <a:srgbClr val="0E8C9C"/>
                </a:solidFill>
                <a:latin typeface="Segoe UI"/>
              </a:rPr>
              <a:t>▪   </a:t>
            </a:r>
            <a:r>
              <a:rPr sz="1000">
                <a:solidFill>
                  <a:srgbClr val="465257"/>
                </a:solidFill>
                <a:latin typeface="Segoe UI"/>
              </a:rPr>
              <a:t>Auto Loader</a:t>
            </a:r>
          </a:p>
          <a:p>
            <a:pPr marL="274320" indent="-274320">
              <a:lnSpc>
                <a:spcPct val="105000"/>
              </a:lnSpc>
              <a:spcBef>
                <a:spcPts val="0"/>
              </a:spcBef>
              <a:spcAft>
                <a:spcPts val="400"/>
              </a:spcAft>
            </a:pPr>
            <a:r>
              <a:rPr sz="1000" b="1">
                <a:solidFill>
                  <a:srgbClr val="0E8C9C"/>
                </a:solidFill>
                <a:latin typeface="Segoe UI"/>
              </a:rPr>
              <a:t>▪   </a:t>
            </a:r>
            <a:r>
              <a:rPr sz="1000">
                <a:solidFill>
                  <a:srgbClr val="465257"/>
                </a:solidFill>
                <a:latin typeface="Segoe UI"/>
              </a:rPr>
              <a:t>Connectors</a:t>
            </a:r>
          </a:p>
        </p:txBody>
      </p:sp>
      <p:sp>
        <p:nvSpPr>
          <p:cNvPr id="23" name="Right Arrow 22"/>
          <p:cNvSpPr/>
          <p:nvPr/>
        </p:nvSpPr>
        <p:spPr>
          <a:xfrm>
            <a:off x="3116503" y="2665476"/>
            <a:ext cx="256032" cy="155448"/>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3409111" y="2286000"/>
            <a:ext cx="2531287" cy="914400"/>
          </a:xfrm>
          <a:prstGeom prst="roundRect">
            <a:avLst>
              <a:gd name="adj" fmla="val 14000"/>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Gear 6 24"/>
          <p:cNvSpPr/>
          <p:nvPr/>
        </p:nvSpPr>
        <p:spPr>
          <a:xfrm>
            <a:off x="3527983" y="2569464"/>
            <a:ext cx="347472" cy="347472"/>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884599" y="2286000"/>
            <a:ext cx="1964359" cy="914400"/>
          </a:xfrm>
          <a:prstGeom prst="rect">
            <a:avLst/>
          </a:prstGeom>
          <a:noFill/>
        </p:spPr>
        <p:txBody>
          <a:bodyPr wrap="square" anchor="ctr" lIns="0" rIns="0" tIns="0" bIns="0">
            <a:spAutoFit/>
          </a:bodyPr>
          <a:lstStyle/>
          <a:p>
            <a:pPr algn="ctr">
              <a:lnSpc>
                <a:spcPct val="92000"/>
              </a:lnSpc>
              <a:spcBef>
                <a:spcPts val="0"/>
              </a:spcBef>
              <a:spcAft>
                <a:spcPts val="200"/>
              </a:spcAft>
            </a:pPr>
            <a:r>
              <a:rPr sz="1250" b="1" i="0">
                <a:solidFill>
                  <a:srgbClr val="FFFFFF"/>
                </a:solidFill>
                <a:latin typeface="Segoe UI"/>
              </a:rPr>
              <a:t>Process</a:t>
            </a:r>
          </a:p>
        </p:txBody>
      </p:sp>
      <p:sp>
        <p:nvSpPr>
          <p:cNvPr id="27" name="Rounded Rectangle 26"/>
          <p:cNvSpPr/>
          <p:nvPr/>
        </p:nvSpPr>
        <p:spPr>
          <a:xfrm>
            <a:off x="3409111" y="3364992"/>
            <a:ext cx="2531287" cy="1143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573703" y="3511296"/>
            <a:ext cx="2220391" cy="868680"/>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1000" b="1">
                <a:solidFill>
                  <a:srgbClr val="FF3621"/>
                </a:solidFill>
                <a:latin typeface="Segoe UI"/>
              </a:rPr>
              <a:t>▪   </a:t>
            </a:r>
            <a:r>
              <a:rPr sz="1000">
                <a:solidFill>
                  <a:srgbClr val="465257"/>
                </a:solidFill>
                <a:latin typeface="Segoe UI"/>
              </a:rPr>
              <a:t>Clean</a:t>
            </a:r>
          </a:p>
          <a:p>
            <a:pPr marL="274320" indent="-274320">
              <a:lnSpc>
                <a:spcPct val="105000"/>
              </a:lnSpc>
              <a:spcBef>
                <a:spcPts val="0"/>
              </a:spcBef>
              <a:spcAft>
                <a:spcPts val="400"/>
              </a:spcAft>
            </a:pPr>
            <a:r>
              <a:rPr sz="1000" b="1">
                <a:solidFill>
                  <a:srgbClr val="FF3621"/>
                </a:solidFill>
                <a:latin typeface="Segoe UI"/>
              </a:rPr>
              <a:t>▪   </a:t>
            </a:r>
            <a:r>
              <a:rPr sz="1000">
                <a:solidFill>
                  <a:srgbClr val="465257"/>
                </a:solidFill>
                <a:latin typeface="Segoe UI"/>
              </a:rPr>
              <a:t>Transform</a:t>
            </a:r>
          </a:p>
        </p:txBody>
      </p:sp>
      <p:sp>
        <p:nvSpPr>
          <p:cNvPr id="29" name="Right Arrow 28"/>
          <p:cNvSpPr/>
          <p:nvPr/>
        </p:nvSpPr>
        <p:spPr>
          <a:xfrm>
            <a:off x="5958687" y="2665476"/>
            <a:ext cx="256032" cy="155448"/>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251295" y="2286000"/>
            <a:ext cx="2531287" cy="914400"/>
          </a:xfrm>
          <a:prstGeom prst="roundRect">
            <a:avLst>
              <a:gd name="adj" fmla="val 14000"/>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Can 30"/>
          <p:cNvSpPr/>
          <p:nvPr/>
        </p:nvSpPr>
        <p:spPr>
          <a:xfrm>
            <a:off x="6401440" y="2569464"/>
            <a:ext cx="284927" cy="347472"/>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726783" y="2286000"/>
            <a:ext cx="1964359" cy="914400"/>
          </a:xfrm>
          <a:prstGeom prst="rect">
            <a:avLst/>
          </a:prstGeom>
          <a:noFill/>
        </p:spPr>
        <p:txBody>
          <a:bodyPr wrap="square" anchor="ctr" lIns="0" rIns="0" tIns="0" bIns="0">
            <a:spAutoFit/>
          </a:bodyPr>
          <a:lstStyle/>
          <a:p>
            <a:pPr algn="ctr">
              <a:lnSpc>
                <a:spcPct val="92000"/>
              </a:lnSpc>
              <a:spcBef>
                <a:spcPts val="0"/>
              </a:spcBef>
              <a:spcAft>
                <a:spcPts val="200"/>
              </a:spcAft>
            </a:pPr>
            <a:r>
              <a:rPr sz="1250" b="1" i="0">
                <a:solidFill>
                  <a:srgbClr val="FFFFFF"/>
                </a:solidFill>
                <a:latin typeface="Segoe UI"/>
              </a:rPr>
              <a:t>Store</a:t>
            </a:r>
          </a:p>
        </p:txBody>
      </p:sp>
      <p:sp>
        <p:nvSpPr>
          <p:cNvPr id="33" name="Rounded Rectangle 32"/>
          <p:cNvSpPr/>
          <p:nvPr/>
        </p:nvSpPr>
        <p:spPr>
          <a:xfrm>
            <a:off x="6251295" y="3364992"/>
            <a:ext cx="2531287" cy="1143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15887" y="3511296"/>
            <a:ext cx="2220391" cy="868680"/>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1000" b="1">
                <a:solidFill>
                  <a:srgbClr val="2272B4"/>
                </a:solidFill>
                <a:latin typeface="Segoe UI"/>
              </a:rPr>
              <a:t>▪   </a:t>
            </a:r>
            <a:r>
              <a:rPr sz="1000">
                <a:solidFill>
                  <a:srgbClr val="465257"/>
                </a:solidFill>
                <a:latin typeface="Segoe UI"/>
              </a:rPr>
              <a:t>Delta tables</a:t>
            </a:r>
          </a:p>
          <a:p>
            <a:pPr marL="274320" indent="-274320">
              <a:lnSpc>
                <a:spcPct val="105000"/>
              </a:lnSpc>
              <a:spcBef>
                <a:spcPts val="0"/>
              </a:spcBef>
              <a:spcAft>
                <a:spcPts val="400"/>
              </a:spcAft>
            </a:pPr>
            <a:r>
              <a:rPr sz="1000" b="1">
                <a:solidFill>
                  <a:srgbClr val="2272B4"/>
                </a:solidFill>
                <a:latin typeface="Segoe UI"/>
              </a:rPr>
              <a:t>▪   </a:t>
            </a:r>
            <a:r>
              <a:rPr sz="1000">
                <a:solidFill>
                  <a:srgbClr val="465257"/>
                </a:solidFill>
                <a:latin typeface="Segoe UI"/>
              </a:rPr>
              <a:t>Medallion</a:t>
            </a:r>
          </a:p>
        </p:txBody>
      </p:sp>
      <p:sp>
        <p:nvSpPr>
          <p:cNvPr id="35" name="Right Arrow 34"/>
          <p:cNvSpPr/>
          <p:nvPr/>
        </p:nvSpPr>
        <p:spPr>
          <a:xfrm>
            <a:off x="8800871" y="2665476"/>
            <a:ext cx="256032" cy="155448"/>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9093479" y="2286000"/>
            <a:ext cx="2531287" cy="914400"/>
          </a:xfrm>
          <a:prstGeom prst="roundRect">
            <a:avLst>
              <a:gd name="adj" fmla="val 14000"/>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9240149" y="2743200"/>
            <a:ext cx="69494" cy="173736"/>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9351340" y="2645907"/>
            <a:ext cx="69494" cy="27102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9462531" y="2569464"/>
            <a:ext cx="69494" cy="347472"/>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9568967" y="2286000"/>
            <a:ext cx="1964359" cy="914400"/>
          </a:xfrm>
          <a:prstGeom prst="rect">
            <a:avLst/>
          </a:prstGeom>
          <a:noFill/>
        </p:spPr>
        <p:txBody>
          <a:bodyPr wrap="square" anchor="ctr" lIns="0" rIns="0" tIns="0" bIns="0">
            <a:spAutoFit/>
          </a:bodyPr>
          <a:lstStyle/>
          <a:p>
            <a:pPr algn="ctr">
              <a:lnSpc>
                <a:spcPct val="92000"/>
              </a:lnSpc>
              <a:spcBef>
                <a:spcPts val="0"/>
              </a:spcBef>
              <a:spcAft>
                <a:spcPts val="200"/>
              </a:spcAft>
            </a:pPr>
            <a:r>
              <a:rPr sz="1250" b="1" i="0">
                <a:solidFill>
                  <a:srgbClr val="FFFFFF"/>
                </a:solidFill>
                <a:latin typeface="Segoe UI"/>
              </a:rPr>
              <a:t>Serve</a:t>
            </a:r>
          </a:p>
        </p:txBody>
      </p:sp>
      <p:sp>
        <p:nvSpPr>
          <p:cNvPr id="41" name="Rounded Rectangle 40"/>
          <p:cNvSpPr/>
          <p:nvPr/>
        </p:nvSpPr>
        <p:spPr>
          <a:xfrm>
            <a:off x="9093479" y="3364992"/>
            <a:ext cx="2531287" cy="1143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258071" y="3511296"/>
            <a:ext cx="2220391" cy="868680"/>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1000" b="1">
                <a:solidFill>
                  <a:srgbClr val="7C5CCF"/>
                </a:solidFill>
                <a:latin typeface="Segoe UI"/>
              </a:rPr>
              <a:t>▪   </a:t>
            </a:r>
            <a:r>
              <a:rPr sz="1000">
                <a:solidFill>
                  <a:srgbClr val="465257"/>
                </a:solidFill>
                <a:latin typeface="Segoe UI"/>
              </a:rPr>
              <a:t>BI · ML</a:t>
            </a:r>
          </a:p>
          <a:p>
            <a:pPr marL="274320" indent="-274320">
              <a:lnSpc>
                <a:spcPct val="105000"/>
              </a:lnSpc>
              <a:spcBef>
                <a:spcPts val="0"/>
              </a:spcBef>
              <a:spcAft>
                <a:spcPts val="400"/>
              </a:spcAft>
            </a:pPr>
            <a:r>
              <a:rPr sz="1000" b="1">
                <a:solidFill>
                  <a:srgbClr val="7C5CCF"/>
                </a:solidFill>
                <a:latin typeface="Segoe UI"/>
              </a:rPr>
              <a:t>▪   </a:t>
            </a:r>
            <a:r>
              <a:rPr sz="1000">
                <a:solidFill>
                  <a:srgbClr val="465257"/>
                </a:solidFill>
                <a:latin typeface="Segoe UI"/>
              </a:rPr>
              <a:t>Apps</a:t>
            </a:r>
          </a:p>
        </p:txBody>
      </p:sp>
      <p:sp>
        <p:nvSpPr>
          <p:cNvPr id="43" name="Rounded Rectangle 42"/>
          <p:cNvSpPr/>
          <p:nvPr/>
        </p:nvSpPr>
        <p:spPr>
          <a:xfrm>
            <a:off x="566928" y="4800600"/>
            <a:ext cx="11057839" cy="91440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14400" y="4800600"/>
            <a:ext cx="10362895" cy="91440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A pipeline is an automated, repeatable data flow.  </a:t>
            </a:r>
            <a:r>
              <a:rPr sz="1250" b="0" i="0">
                <a:solidFill>
                  <a:srgbClr val="465257"/>
                </a:solidFill>
                <a:latin typeface="Segoe UI"/>
              </a:rPr>
              <a:t>It moves data through ingest → process → store → serve on a schedule or in real time — reliably, without manual steps.</a:t>
            </a:r>
          </a:p>
        </p:txBody>
      </p:sp>
      <p:sp>
        <p:nvSpPr>
          <p:cNvPr id="45" name="TextBox 4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6" name="TextBox 4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PIPELINES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Modern Data Pipeline Architecture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34879"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Processing</a:t>
            </a:r>
          </a:p>
        </p:txBody>
      </p:sp>
      <p:sp>
        <p:nvSpPr>
          <p:cNvPr id="15" name="Oval 14"/>
          <p:cNvSpPr/>
          <p:nvPr/>
        </p:nvSpPr>
        <p:spPr>
          <a:xfrm>
            <a:off x="11329873"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Platform</a:t>
            </a:r>
          </a:p>
        </p:txBody>
      </p:sp>
      <p:sp>
        <p:nvSpPr>
          <p:cNvPr id="17" name="Rounded Rectangle 16"/>
          <p:cNvSpPr/>
          <p:nvPr/>
        </p:nvSpPr>
        <p:spPr>
          <a:xfrm>
            <a:off x="566928" y="2423160"/>
            <a:ext cx="2094524"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66928" y="2423160"/>
            <a:ext cx="2094524" cy="91440"/>
          </a:xfrm>
          <a:prstGeom prst="rect">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248430" y="2697479"/>
            <a:ext cx="731520" cy="731520"/>
          </a:xfrm>
          <a:prstGeom prst="ellipse">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1459400" y="2908450"/>
            <a:ext cx="309579" cy="309579"/>
          </a:xfrm>
          <a:prstGeom prst="ellipse">
            <a:avLst/>
          </a:prstGeom>
          <a:noFill/>
          <a:ln w="37388">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1553620" y="2908450"/>
            <a:ext cx="121139" cy="309579"/>
          </a:xfrm>
          <a:prstGeom prst="ellipse">
            <a:avLst/>
          </a:prstGeom>
          <a:noFill/>
          <a:ln w="28041">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459400" y="3053145"/>
            <a:ext cx="309579" cy="2018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03504" y="3538728"/>
            <a:ext cx="2021372" cy="384048"/>
          </a:xfrm>
          <a:prstGeom prst="rect">
            <a:avLst/>
          </a:prstGeom>
          <a:noFill/>
        </p:spPr>
        <p:txBody>
          <a:bodyPr wrap="square" anchor="t" lIns="0" rIns="0" tIns="0" bIns="0">
            <a:spAutoFit/>
          </a:bodyPr>
          <a:lstStyle/>
          <a:p>
            <a:pPr algn="ctr">
              <a:lnSpc>
                <a:spcPct val="90000"/>
              </a:lnSpc>
              <a:spcBef>
                <a:spcPts val="0"/>
              </a:spcBef>
              <a:spcAft>
                <a:spcPts val="200"/>
              </a:spcAft>
            </a:pPr>
            <a:r>
              <a:rPr sz="1200" b="1" i="0">
                <a:solidFill>
                  <a:srgbClr val="1B3139"/>
                </a:solidFill>
                <a:latin typeface="Segoe UI"/>
              </a:rPr>
              <a:t>Sources</a:t>
            </a:r>
          </a:p>
        </p:txBody>
      </p:sp>
      <p:sp>
        <p:nvSpPr>
          <p:cNvPr id="24" name="TextBox 23"/>
          <p:cNvSpPr txBox="1"/>
          <p:nvPr/>
        </p:nvSpPr>
        <p:spPr>
          <a:xfrm>
            <a:off x="603504" y="3941063"/>
            <a:ext cx="2021372" cy="731520"/>
          </a:xfrm>
          <a:prstGeom prst="rect">
            <a:avLst/>
          </a:prstGeom>
          <a:noFill/>
        </p:spPr>
        <p:txBody>
          <a:bodyPr wrap="square" anchor="t" lIns="0" rIns="0" tIns="0" bIns="0">
            <a:spAutoFit/>
          </a:bodyPr>
          <a:lstStyle/>
          <a:p>
            <a:pPr algn="ctr">
              <a:lnSpc>
                <a:spcPct val="100000"/>
              </a:lnSpc>
              <a:spcBef>
                <a:spcPts val="0"/>
              </a:spcBef>
              <a:spcAft>
                <a:spcPts val="200"/>
              </a:spcAft>
            </a:pPr>
            <a:r>
              <a:rPr sz="860" b="0" i="0">
                <a:solidFill>
                  <a:srgbClr val="6B777C"/>
                </a:solidFill>
                <a:latin typeface="Segoe UI"/>
              </a:rPr>
              <a:t>DBs · APIs
IoT · files</a:t>
            </a:r>
          </a:p>
        </p:txBody>
      </p:sp>
      <p:sp>
        <p:nvSpPr>
          <p:cNvPr id="25" name="Oval 24"/>
          <p:cNvSpPr/>
          <p:nvPr/>
        </p:nvSpPr>
        <p:spPr>
          <a:xfrm>
            <a:off x="649224" y="2505456"/>
            <a:ext cx="310896" cy="310896"/>
          </a:xfrm>
          <a:prstGeom prst="ellipse">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1</a:t>
            </a:r>
          </a:p>
        </p:txBody>
      </p:sp>
      <p:sp>
        <p:nvSpPr>
          <p:cNvPr id="26" name="Right Arrow 25"/>
          <p:cNvSpPr/>
          <p:nvPr/>
        </p:nvSpPr>
        <p:spPr>
          <a:xfrm>
            <a:off x="2661452" y="351586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2807756" y="2423160"/>
            <a:ext cx="2094524"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807756" y="2423160"/>
            <a:ext cx="2094524" cy="91440"/>
          </a:xfrm>
          <a:prstGeom prst="rect">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3489258" y="2697479"/>
            <a:ext cx="731520" cy="731520"/>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rapezoid 29"/>
          <p:cNvSpPr/>
          <p:nvPr/>
        </p:nvSpPr>
        <p:spPr>
          <a:xfrm rot="10800000">
            <a:off x="3713689" y="2942100"/>
            <a:ext cx="282659" cy="134599"/>
          </a:xfrm>
          <a:prstGeom prst="trapezoi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834829" y="3076699"/>
            <a:ext cx="40379" cy="11440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844332" y="3538728"/>
            <a:ext cx="2021372" cy="384048"/>
          </a:xfrm>
          <a:prstGeom prst="rect">
            <a:avLst/>
          </a:prstGeom>
          <a:noFill/>
        </p:spPr>
        <p:txBody>
          <a:bodyPr wrap="square" anchor="t" lIns="0" rIns="0" tIns="0" bIns="0">
            <a:spAutoFit/>
          </a:bodyPr>
          <a:lstStyle/>
          <a:p>
            <a:pPr algn="ctr">
              <a:lnSpc>
                <a:spcPct val="90000"/>
              </a:lnSpc>
              <a:spcBef>
                <a:spcPts val="0"/>
              </a:spcBef>
              <a:spcAft>
                <a:spcPts val="200"/>
              </a:spcAft>
            </a:pPr>
            <a:r>
              <a:rPr sz="1200" b="1" i="0">
                <a:solidFill>
                  <a:srgbClr val="1B3139"/>
                </a:solidFill>
                <a:latin typeface="Segoe UI"/>
              </a:rPr>
              <a:t>Ingestion</a:t>
            </a:r>
          </a:p>
        </p:txBody>
      </p:sp>
      <p:sp>
        <p:nvSpPr>
          <p:cNvPr id="33" name="TextBox 32"/>
          <p:cNvSpPr txBox="1"/>
          <p:nvPr/>
        </p:nvSpPr>
        <p:spPr>
          <a:xfrm>
            <a:off x="2844332" y="3941063"/>
            <a:ext cx="2021372" cy="731520"/>
          </a:xfrm>
          <a:prstGeom prst="rect">
            <a:avLst/>
          </a:prstGeom>
          <a:noFill/>
        </p:spPr>
        <p:txBody>
          <a:bodyPr wrap="square" anchor="t" lIns="0" rIns="0" tIns="0" bIns="0">
            <a:spAutoFit/>
          </a:bodyPr>
          <a:lstStyle/>
          <a:p>
            <a:pPr algn="ctr">
              <a:lnSpc>
                <a:spcPct val="100000"/>
              </a:lnSpc>
              <a:spcBef>
                <a:spcPts val="0"/>
              </a:spcBef>
              <a:spcAft>
                <a:spcPts val="200"/>
              </a:spcAft>
            </a:pPr>
            <a:r>
              <a:rPr sz="860" b="0" i="0">
                <a:solidFill>
                  <a:srgbClr val="6B777C"/>
                </a:solidFill>
                <a:latin typeface="Segoe UI"/>
              </a:rPr>
              <a:t>Auto Loader
batch + stream</a:t>
            </a:r>
          </a:p>
        </p:txBody>
      </p:sp>
      <p:sp>
        <p:nvSpPr>
          <p:cNvPr id="34" name="Oval 33"/>
          <p:cNvSpPr/>
          <p:nvPr/>
        </p:nvSpPr>
        <p:spPr>
          <a:xfrm>
            <a:off x="2890052" y="2505456"/>
            <a:ext cx="310896" cy="310896"/>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2</a:t>
            </a:r>
          </a:p>
        </p:txBody>
      </p:sp>
      <p:sp>
        <p:nvSpPr>
          <p:cNvPr id="35" name="Right Arrow 34"/>
          <p:cNvSpPr/>
          <p:nvPr/>
        </p:nvSpPr>
        <p:spPr>
          <a:xfrm>
            <a:off x="4902281" y="351586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5048585" y="2423160"/>
            <a:ext cx="2094524"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5048585" y="2423160"/>
            <a:ext cx="2094524" cy="9144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5730087" y="2697479"/>
            <a:ext cx="731520" cy="731520"/>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Gear 6 38"/>
          <p:cNvSpPr/>
          <p:nvPr/>
        </p:nvSpPr>
        <p:spPr>
          <a:xfrm>
            <a:off x="5927598" y="2894990"/>
            <a:ext cx="336499" cy="336499"/>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085161" y="3538728"/>
            <a:ext cx="2021372" cy="384048"/>
          </a:xfrm>
          <a:prstGeom prst="rect">
            <a:avLst/>
          </a:prstGeom>
          <a:noFill/>
        </p:spPr>
        <p:txBody>
          <a:bodyPr wrap="square" anchor="t" lIns="0" rIns="0" tIns="0" bIns="0">
            <a:spAutoFit/>
          </a:bodyPr>
          <a:lstStyle/>
          <a:p>
            <a:pPr algn="ctr">
              <a:lnSpc>
                <a:spcPct val="90000"/>
              </a:lnSpc>
              <a:spcBef>
                <a:spcPts val="0"/>
              </a:spcBef>
              <a:spcAft>
                <a:spcPts val="200"/>
              </a:spcAft>
            </a:pPr>
            <a:r>
              <a:rPr sz="1200" b="1" i="0">
                <a:solidFill>
                  <a:srgbClr val="1B3139"/>
                </a:solidFill>
                <a:latin typeface="Segoe UI"/>
              </a:rPr>
              <a:t>Processing</a:t>
            </a:r>
          </a:p>
        </p:txBody>
      </p:sp>
      <p:sp>
        <p:nvSpPr>
          <p:cNvPr id="41" name="TextBox 40"/>
          <p:cNvSpPr txBox="1"/>
          <p:nvPr/>
        </p:nvSpPr>
        <p:spPr>
          <a:xfrm>
            <a:off x="5085161" y="3941063"/>
            <a:ext cx="2021372" cy="731520"/>
          </a:xfrm>
          <a:prstGeom prst="rect">
            <a:avLst/>
          </a:prstGeom>
          <a:noFill/>
        </p:spPr>
        <p:txBody>
          <a:bodyPr wrap="square" anchor="t" lIns="0" rIns="0" tIns="0" bIns="0">
            <a:spAutoFit/>
          </a:bodyPr>
          <a:lstStyle/>
          <a:p>
            <a:pPr algn="ctr">
              <a:lnSpc>
                <a:spcPct val="100000"/>
              </a:lnSpc>
              <a:spcBef>
                <a:spcPts val="0"/>
              </a:spcBef>
              <a:spcAft>
                <a:spcPts val="200"/>
              </a:spcAft>
            </a:pPr>
            <a:r>
              <a:rPr sz="860" b="0" i="0">
                <a:solidFill>
                  <a:srgbClr val="6B777C"/>
                </a:solidFill>
                <a:latin typeface="Segoe UI"/>
              </a:rPr>
              <a:t>Spark
transform</a:t>
            </a:r>
          </a:p>
        </p:txBody>
      </p:sp>
      <p:sp>
        <p:nvSpPr>
          <p:cNvPr id="42" name="Oval 41"/>
          <p:cNvSpPr/>
          <p:nvPr/>
        </p:nvSpPr>
        <p:spPr>
          <a:xfrm>
            <a:off x="5130881" y="2505456"/>
            <a:ext cx="310896" cy="310896"/>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3</a:t>
            </a:r>
          </a:p>
        </p:txBody>
      </p:sp>
      <p:sp>
        <p:nvSpPr>
          <p:cNvPr id="43" name="Right Arrow 42"/>
          <p:cNvSpPr/>
          <p:nvPr/>
        </p:nvSpPr>
        <p:spPr>
          <a:xfrm>
            <a:off x="7143109" y="351586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7289413" y="2423160"/>
            <a:ext cx="2094524"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7289413" y="2423160"/>
            <a:ext cx="2094524" cy="91440"/>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Oval 45"/>
          <p:cNvSpPr/>
          <p:nvPr/>
        </p:nvSpPr>
        <p:spPr>
          <a:xfrm>
            <a:off x="7970916" y="2697479"/>
            <a:ext cx="731520" cy="731520"/>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Can 46"/>
          <p:cNvSpPr/>
          <p:nvPr/>
        </p:nvSpPr>
        <p:spPr>
          <a:xfrm>
            <a:off x="8198711" y="2894990"/>
            <a:ext cx="275929" cy="336499"/>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7325989" y="3538728"/>
            <a:ext cx="2021372" cy="384048"/>
          </a:xfrm>
          <a:prstGeom prst="rect">
            <a:avLst/>
          </a:prstGeom>
          <a:noFill/>
        </p:spPr>
        <p:txBody>
          <a:bodyPr wrap="square" anchor="t" lIns="0" rIns="0" tIns="0" bIns="0">
            <a:spAutoFit/>
          </a:bodyPr>
          <a:lstStyle/>
          <a:p>
            <a:pPr algn="ctr">
              <a:lnSpc>
                <a:spcPct val="90000"/>
              </a:lnSpc>
              <a:spcBef>
                <a:spcPts val="0"/>
              </a:spcBef>
              <a:spcAft>
                <a:spcPts val="200"/>
              </a:spcAft>
            </a:pPr>
            <a:r>
              <a:rPr sz="1200" b="1" i="0">
                <a:solidFill>
                  <a:srgbClr val="1B3139"/>
                </a:solidFill>
                <a:latin typeface="Segoe UI"/>
              </a:rPr>
              <a:t>Storage</a:t>
            </a:r>
          </a:p>
        </p:txBody>
      </p:sp>
      <p:sp>
        <p:nvSpPr>
          <p:cNvPr id="49" name="TextBox 48"/>
          <p:cNvSpPr txBox="1"/>
          <p:nvPr/>
        </p:nvSpPr>
        <p:spPr>
          <a:xfrm>
            <a:off x="7325989" y="3941063"/>
            <a:ext cx="2021372" cy="731520"/>
          </a:xfrm>
          <a:prstGeom prst="rect">
            <a:avLst/>
          </a:prstGeom>
          <a:noFill/>
        </p:spPr>
        <p:txBody>
          <a:bodyPr wrap="square" anchor="t" lIns="0" rIns="0" tIns="0" bIns="0">
            <a:spAutoFit/>
          </a:bodyPr>
          <a:lstStyle/>
          <a:p>
            <a:pPr algn="ctr">
              <a:lnSpc>
                <a:spcPct val="100000"/>
              </a:lnSpc>
              <a:spcBef>
                <a:spcPts val="0"/>
              </a:spcBef>
              <a:spcAft>
                <a:spcPts val="200"/>
              </a:spcAft>
            </a:pPr>
            <a:r>
              <a:rPr sz="860" b="0" i="0">
                <a:solidFill>
                  <a:srgbClr val="6B777C"/>
                </a:solidFill>
                <a:latin typeface="Segoe UI"/>
              </a:rPr>
              <a:t>Delta
medallion</a:t>
            </a:r>
          </a:p>
        </p:txBody>
      </p:sp>
      <p:sp>
        <p:nvSpPr>
          <p:cNvPr id="50" name="Oval 49"/>
          <p:cNvSpPr/>
          <p:nvPr/>
        </p:nvSpPr>
        <p:spPr>
          <a:xfrm>
            <a:off x="7371709" y="2505456"/>
            <a:ext cx="310896" cy="310896"/>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4</a:t>
            </a:r>
          </a:p>
        </p:txBody>
      </p:sp>
      <p:sp>
        <p:nvSpPr>
          <p:cNvPr id="51" name="Right Arrow 50"/>
          <p:cNvSpPr/>
          <p:nvPr/>
        </p:nvSpPr>
        <p:spPr>
          <a:xfrm>
            <a:off x="9383938" y="351586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ounded Rectangle 51"/>
          <p:cNvSpPr/>
          <p:nvPr/>
        </p:nvSpPr>
        <p:spPr>
          <a:xfrm>
            <a:off x="9530242" y="2423160"/>
            <a:ext cx="2094524"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9530242" y="2423160"/>
            <a:ext cx="2094524" cy="91440"/>
          </a:xfrm>
          <a:prstGeom prst="rect">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Oval 53"/>
          <p:cNvSpPr/>
          <p:nvPr/>
        </p:nvSpPr>
        <p:spPr>
          <a:xfrm>
            <a:off x="10211744" y="2697479"/>
            <a:ext cx="731520" cy="731520"/>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Oval 54"/>
          <p:cNvSpPr/>
          <p:nvPr/>
        </p:nvSpPr>
        <p:spPr>
          <a:xfrm>
            <a:off x="10422715" y="2908450"/>
            <a:ext cx="309579" cy="309579"/>
          </a:xfrm>
          <a:prstGeom prst="ellipse">
            <a:avLst/>
          </a:prstGeom>
          <a:noFill/>
          <a:ln w="3271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rot="2520000">
            <a:off x="10564044" y="2955560"/>
            <a:ext cx="26919" cy="12113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Oval 56"/>
          <p:cNvSpPr/>
          <p:nvPr/>
        </p:nvSpPr>
        <p:spPr>
          <a:xfrm>
            <a:off x="10555632" y="3041367"/>
            <a:ext cx="43744" cy="4374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9566818" y="3538728"/>
            <a:ext cx="2021372" cy="384048"/>
          </a:xfrm>
          <a:prstGeom prst="rect">
            <a:avLst/>
          </a:prstGeom>
          <a:noFill/>
        </p:spPr>
        <p:txBody>
          <a:bodyPr wrap="square" anchor="t" lIns="0" rIns="0" tIns="0" bIns="0">
            <a:spAutoFit/>
          </a:bodyPr>
          <a:lstStyle/>
          <a:p>
            <a:pPr algn="ctr">
              <a:lnSpc>
                <a:spcPct val="90000"/>
              </a:lnSpc>
              <a:spcBef>
                <a:spcPts val="0"/>
              </a:spcBef>
              <a:spcAft>
                <a:spcPts val="200"/>
              </a:spcAft>
            </a:pPr>
            <a:r>
              <a:rPr sz="1200" b="1" i="0">
                <a:solidFill>
                  <a:srgbClr val="1B3139"/>
                </a:solidFill>
                <a:latin typeface="Segoe UI"/>
              </a:rPr>
              <a:t>Analytics</a:t>
            </a:r>
          </a:p>
        </p:txBody>
      </p:sp>
      <p:sp>
        <p:nvSpPr>
          <p:cNvPr id="59" name="TextBox 58"/>
          <p:cNvSpPr txBox="1"/>
          <p:nvPr/>
        </p:nvSpPr>
        <p:spPr>
          <a:xfrm>
            <a:off x="9566818" y="3941063"/>
            <a:ext cx="2021372" cy="731520"/>
          </a:xfrm>
          <a:prstGeom prst="rect">
            <a:avLst/>
          </a:prstGeom>
          <a:noFill/>
        </p:spPr>
        <p:txBody>
          <a:bodyPr wrap="square" anchor="t" lIns="0" rIns="0" tIns="0" bIns="0">
            <a:spAutoFit/>
          </a:bodyPr>
          <a:lstStyle/>
          <a:p>
            <a:pPr algn="ctr">
              <a:lnSpc>
                <a:spcPct val="100000"/>
              </a:lnSpc>
              <a:spcBef>
                <a:spcPts val="0"/>
              </a:spcBef>
              <a:spcAft>
                <a:spcPts val="200"/>
              </a:spcAft>
            </a:pPr>
            <a:r>
              <a:rPr sz="860" b="0" i="0">
                <a:solidFill>
                  <a:srgbClr val="6B777C"/>
                </a:solidFill>
                <a:latin typeface="Segoe UI"/>
              </a:rPr>
              <a:t>BI · ML
GenAI</a:t>
            </a:r>
          </a:p>
        </p:txBody>
      </p:sp>
      <p:sp>
        <p:nvSpPr>
          <p:cNvPr id="60" name="Oval 59"/>
          <p:cNvSpPr/>
          <p:nvPr/>
        </p:nvSpPr>
        <p:spPr>
          <a:xfrm>
            <a:off x="9612538" y="2505456"/>
            <a:ext cx="310896" cy="310896"/>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5</a:t>
            </a:r>
          </a:p>
        </p:txBody>
      </p:sp>
      <p:sp>
        <p:nvSpPr>
          <p:cNvPr id="61" name="Rounded Rectangle 60"/>
          <p:cNvSpPr/>
          <p:nvPr/>
        </p:nvSpPr>
        <p:spPr>
          <a:xfrm>
            <a:off x="566928" y="4892040"/>
            <a:ext cx="11057839" cy="603504"/>
          </a:xfrm>
          <a:prstGeom prst="roundRect">
            <a:avLst>
              <a:gd name="adj" fmla="val 20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ounded Rectangle 61"/>
          <p:cNvSpPr/>
          <p:nvPr/>
        </p:nvSpPr>
        <p:spPr>
          <a:xfrm>
            <a:off x="912571" y="5180076"/>
            <a:ext cx="186537" cy="137160"/>
          </a:xfrm>
          <a:prstGeom prst="roundRect">
            <a:avLst>
              <a:gd name="adj" fmla="val 18000"/>
            </a:avLst>
          </a:prstGeom>
          <a:solidFill>
            <a:srgbClr val="FF6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Block Arc 62"/>
          <p:cNvSpPr/>
          <p:nvPr/>
        </p:nvSpPr>
        <p:spPr>
          <a:xfrm>
            <a:off x="940003" y="5056631"/>
            <a:ext cx="131673" cy="137160"/>
          </a:xfrm>
          <a:prstGeom prst="blockArc">
            <a:avLst>
              <a:gd name="adj1" fmla="val 314159"/>
              <a:gd name="adj2" fmla="val 0"/>
              <a:gd name="adj3" fmla="val 25000"/>
            </a:avLst>
          </a:prstGeom>
          <a:solidFill>
            <a:srgbClr val="FF6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1389888" y="4892040"/>
            <a:ext cx="10051999"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FF6B57"/>
                </a:solidFill>
                <a:latin typeface="Segoe UI"/>
              </a:rPr>
              <a:t>Governance &amp; orchestration</a:t>
            </a:r>
            <a:r>
              <a:rPr sz="1100" b="0" i="0">
                <a:solidFill>
                  <a:srgbClr val="FFFFFF"/>
                </a:solidFill>
                <a:latin typeface="Segoe UI"/>
              </a:rPr>
              <a:t>  span every stage — security, lineage, scheduling &amp; monitoring.</a:t>
            </a:r>
          </a:p>
        </p:txBody>
      </p:sp>
      <p:sp>
        <p:nvSpPr>
          <p:cNvPr id="65" name="TextBox 64"/>
          <p:cNvSpPr txBox="1"/>
          <p:nvPr/>
        </p:nvSpPr>
        <p:spPr>
          <a:xfrm>
            <a:off x="566928" y="5623560"/>
            <a:ext cx="11057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150" b="0" i="1">
                <a:solidFill>
                  <a:srgbClr val="6B777C"/>
                </a:solidFill>
                <a:latin typeface="Segoe UI"/>
              </a:rPr>
              <a:t>Five stages, one governed flow — the blueprint behind every production data platform.</a:t>
            </a:r>
          </a:p>
        </p:txBody>
      </p:sp>
      <p:sp>
        <p:nvSpPr>
          <p:cNvPr id="66" name="TextBox 65"/>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7" name="TextBox 66"/>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PIPELINES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Pipeline Orchestration</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34879"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Processing</a:t>
            </a:r>
          </a:p>
        </p:txBody>
      </p:sp>
      <p:sp>
        <p:nvSpPr>
          <p:cNvPr id="15" name="Oval 14"/>
          <p:cNvSpPr/>
          <p:nvPr/>
        </p:nvSpPr>
        <p:spPr>
          <a:xfrm>
            <a:off x="11329873"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Platform</a:t>
            </a:r>
          </a:p>
        </p:txBody>
      </p:sp>
      <p:sp>
        <p:nvSpPr>
          <p:cNvPr id="17" name="Rounded Rectangle 16"/>
          <p:cNvSpPr/>
          <p:nvPr/>
        </p:nvSpPr>
        <p:spPr>
          <a:xfrm>
            <a:off x="566928" y="1828800"/>
            <a:ext cx="5391759"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66928" y="1828800"/>
            <a:ext cx="91440" cy="189738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713231" y="1947672"/>
            <a:ext cx="713232" cy="713232"/>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ight Arrow 19"/>
          <p:cNvSpPr/>
          <p:nvPr/>
        </p:nvSpPr>
        <p:spPr>
          <a:xfrm>
            <a:off x="905804" y="2205861"/>
            <a:ext cx="328086" cy="196852"/>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499616" y="1993392"/>
            <a:ext cx="4312767"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Jobs &amp; Tasks</a:t>
            </a:r>
          </a:p>
        </p:txBody>
      </p:sp>
      <p:sp>
        <p:nvSpPr>
          <p:cNvPr id="22" name="TextBox 21"/>
          <p:cNvSpPr txBox="1"/>
          <p:nvPr/>
        </p:nvSpPr>
        <p:spPr>
          <a:xfrm>
            <a:off x="841247" y="2697480"/>
            <a:ext cx="4879695" cy="937260"/>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Define multi-step workflows with dependencies between tasks.</a:t>
            </a:r>
          </a:p>
        </p:txBody>
      </p:sp>
      <p:sp>
        <p:nvSpPr>
          <p:cNvPr id="23" name="Rounded Rectangle 22"/>
          <p:cNvSpPr/>
          <p:nvPr/>
        </p:nvSpPr>
        <p:spPr>
          <a:xfrm>
            <a:off x="6233007" y="1828800"/>
            <a:ext cx="5391759"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6233007" y="1828800"/>
            <a:ext cx="91440" cy="1897380"/>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6379311" y="1947672"/>
            <a:ext cx="713232" cy="713232"/>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6585007" y="2153368"/>
            <a:ext cx="301839" cy="301839"/>
          </a:xfrm>
          <a:prstGeom prst="ellipse">
            <a:avLst/>
          </a:prstGeom>
          <a:noFill/>
          <a:ln w="31897">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6724444" y="2205861"/>
            <a:ext cx="22966" cy="11154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729365" y="2292804"/>
            <a:ext cx="85302" cy="2296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7882" y="2286243"/>
            <a:ext cx="36089" cy="3608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165695" y="1993392"/>
            <a:ext cx="4312767"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Scheduling</a:t>
            </a:r>
          </a:p>
        </p:txBody>
      </p:sp>
      <p:sp>
        <p:nvSpPr>
          <p:cNvPr id="31" name="TextBox 30"/>
          <p:cNvSpPr txBox="1"/>
          <p:nvPr/>
        </p:nvSpPr>
        <p:spPr>
          <a:xfrm>
            <a:off x="6507327" y="2697480"/>
            <a:ext cx="4879695" cy="937260"/>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Run on a schedule, on a trigger, or continuously.</a:t>
            </a:r>
          </a:p>
        </p:txBody>
      </p:sp>
      <p:sp>
        <p:nvSpPr>
          <p:cNvPr id="32" name="Rounded Rectangle 31"/>
          <p:cNvSpPr/>
          <p:nvPr/>
        </p:nvSpPr>
        <p:spPr>
          <a:xfrm>
            <a:off x="566928" y="4000500"/>
            <a:ext cx="5391759"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566928" y="4000500"/>
            <a:ext cx="91440" cy="1897380"/>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713231" y="4119372"/>
            <a:ext cx="713232" cy="713232"/>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5" name="Connector 34"/>
          <p:cNvCxnSpPr/>
          <p:nvPr/>
        </p:nvCxnSpPr>
        <p:spPr>
          <a:xfrm>
            <a:off x="991107" y="4338191"/>
            <a:ext cx="0" cy="275593"/>
          </a:xfrm>
          <a:prstGeom prst="line">
            <a:avLst/>
          </a:prstGeom>
          <a:ln w="273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991107" y="4338191"/>
            <a:ext cx="164043" cy="137797"/>
          </a:xfrm>
          <a:prstGeom prst="line">
            <a:avLst/>
          </a:prstGeom>
          <a:ln w="27340">
            <a:solidFill>
              <a:srgbClr val="FFFFFF"/>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948455" y="4295540"/>
            <a:ext cx="85302" cy="8530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948455" y="4571133"/>
            <a:ext cx="85302" cy="8530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1112499" y="4295540"/>
            <a:ext cx="85302" cy="8530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499616" y="4165091"/>
            <a:ext cx="4312767"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Dependencies</a:t>
            </a:r>
          </a:p>
        </p:txBody>
      </p:sp>
      <p:sp>
        <p:nvSpPr>
          <p:cNvPr id="41" name="TextBox 40"/>
          <p:cNvSpPr txBox="1"/>
          <p:nvPr/>
        </p:nvSpPr>
        <p:spPr>
          <a:xfrm>
            <a:off x="841247" y="4869180"/>
            <a:ext cx="4879695" cy="937260"/>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Tasks run in the right order; failures stop downstream steps.</a:t>
            </a:r>
          </a:p>
        </p:txBody>
      </p:sp>
      <p:sp>
        <p:nvSpPr>
          <p:cNvPr id="42" name="Rounded Rectangle 41"/>
          <p:cNvSpPr/>
          <p:nvPr/>
        </p:nvSpPr>
        <p:spPr>
          <a:xfrm>
            <a:off x="6233007" y="4000500"/>
            <a:ext cx="5391759"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a:off x="6233007" y="4000500"/>
            <a:ext cx="91440" cy="1897380"/>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6379311" y="4119372"/>
            <a:ext cx="713232" cy="713232"/>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6585007" y="4325068"/>
            <a:ext cx="301839" cy="301839"/>
          </a:xfrm>
          <a:prstGeom prst="ellipse">
            <a:avLst/>
          </a:prstGeom>
          <a:noFill/>
          <a:ln w="31897">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rot="2520000">
            <a:off x="6722804" y="4371000"/>
            <a:ext cx="26246" cy="118111"/>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6714601" y="4454662"/>
            <a:ext cx="42651" cy="4265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7165695" y="4165091"/>
            <a:ext cx="4312767"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Monitoring</a:t>
            </a:r>
          </a:p>
        </p:txBody>
      </p:sp>
      <p:sp>
        <p:nvSpPr>
          <p:cNvPr id="49" name="TextBox 48"/>
          <p:cNvSpPr txBox="1"/>
          <p:nvPr/>
        </p:nvSpPr>
        <p:spPr>
          <a:xfrm>
            <a:off x="6507327" y="4869180"/>
            <a:ext cx="4879695" cy="937260"/>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Track runs, get alerts, retry failures &amp; view lineage.</a:t>
            </a:r>
          </a:p>
        </p:txBody>
      </p:sp>
      <p:sp>
        <p:nvSpPr>
          <p:cNvPr id="50" name="TextBox 49"/>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1" name="TextBox 50"/>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1463040"/>
            <a:ext cx="5486400" cy="2194560"/>
          </a:xfrm>
          <a:prstGeom prst="rect">
            <a:avLst/>
          </a:prstGeom>
          <a:noFill/>
        </p:spPr>
        <p:txBody>
          <a:bodyPr wrap="square" anchor="t" lIns="0" rIns="0" tIns="0" bIns="0">
            <a:spAutoFit/>
          </a:bodyPr>
          <a:lstStyle/>
          <a:p>
            <a:pPr algn="l">
              <a:lnSpc>
                <a:spcPct val="100000"/>
              </a:lnSpc>
              <a:spcBef>
                <a:spcPts val="0"/>
              </a:spcBef>
              <a:spcAft>
                <a:spcPts val="200"/>
              </a:spcAft>
            </a:pPr>
            <a:r>
              <a:rPr sz="20000" b="1" i="0">
                <a:solidFill>
                  <a:srgbClr val="27444F"/>
                </a:solidFill>
                <a:latin typeface="Segoe UI Light"/>
              </a:rPr>
              <a:t>05</a:t>
            </a:r>
          </a:p>
        </p:txBody>
      </p:sp>
      <p:sp>
        <p:nvSpPr>
          <p:cNvPr id="9" name="Rounded Rectangle 8"/>
          <p:cNvSpPr/>
          <p:nvPr/>
        </p:nvSpPr>
        <p:spPr>
          <a:xfrm>
            <a:off x="612648" y="3310128"/>
            <a:ext cx="777240" cy="9144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12648" y="2743200"/>
            <a:ext cx="7315200" cy="36576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FF3621"/>
                </a:solidFill>
                <a:latin typeface="Segoe UI Semibold"/>
              </a:rPr>
              <a:t>PART FIVE</a:t>
            </a:r>
          </a:p>
        </p:txBody>
      </p:sp>
      <p:sp>
        <p:nvSpPr>
          <p:cNvPr id="11" name="TextBox 10"/>
          <p:cNvSpPr txBox="1"/>
          <p:nvPr/>
        </p:nvSpPr>
        <p:spPr>
          <a:xfrm>
            <a:off x="566928" y="3456432"/>
            <a:ext cx="7680960" cy="1097280"/>
          </a:xfrm>
          <a:prstGeom prst="rect">
            <a:avLst/>
          </a:prstGeom>
          <a:noFill/>
        </p:spPr>
        <p:txBody>
          <a:bodyPr wrap="square" anchor="t" lIns="0" rIns="0" tIns="0" bIns="0">
            <a:spAutoFit/>
          </a:bodyPr>
          <a:lstStyle/>
          <a:p>
            <a:pPr algn="l">
              <a:lnSpc>
                <a:spcPct val="98000"/>
              </a:lnSpc>
              <a:spcBef>
                <a:spcPts val="0"/>
              </a:spcBef>
              <a:spcAft>
                <a:spcPts val="200"/>
              </a:spcAft>
            </a:pPr>
            <a:r>
              <a:rPr sz="4000" b="1" i="0">
                <a:solidFill>
                  <a:srgbClr val="FFFFFF"/>
                </a:solidFill>
                <a:latin typeface="Segoe UI"/>
              </a:rPr>
              <a:t>Quality, Storage &amp; Databricks</a:t>
            </a:r>
          </a:p>
        </p:txBody>
      </p:sp>
      <p:sp>
        <p:nvSpPr>
          <p:cNvPr id="12" name="TextBox 11"/>
          <p:cNvSpPr txBox="1"/>
          <p:nvPr/>
        </p:nvSpPr>
        <p:spPr>
          <a:xfrm>
            <a:off x="612648" y="4754880"/>
            <a:ext cx="6949440" cy="1463040"/>
          </a:xfrm>
          <a:prstGeom prst="rect">
            <a:avLst/>
          </a:prstGeom>
          <a:noFill/>
        </p:spPr>
        <p:txBody>
          <a:bodyPr wrap="square" anchor="t" lIns="0" rIns="0" tIns="0" bIns="0">
            <a:spAutoFit/>
          </a:bodyPr>
          <a:lstStyle/>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Data quality &amp; its six dimensions</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Storage, medallion &amp; the end-to-end flow</a:t>
            </a:r>
          </a:p>
        </p:txBody>
      </p:sp>
      <p:sp>
        <p:nvSpPr>
          <p:cNvPr id="13" name="Oval 12"/>
          <p:cNvSpPr/>
          <p:nvPr/>
        </p:nvSpPr>
        <p:spPr>
          <a:xfrm>
            <a:off x="8641080" y="2423160"/>
            <a:ext cx="2286000" cy="2286000"/>
          </a:xfrm>
          <a:prstGeom prst="ellipse">
            <a:avLst/>
          </a:prstGeom>
          <a:solidFill>
            <a:srgbClr val="FF3621"/>
          </a:solidFill>
          <a:ln w="15240">
            <a:solidFill>
              <a:srgbClr val="FF8A78"/>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Pentagon 13"/>
          <p:cNvSpPr/>
          <p:nvPr/>
        </p:nvSpPr>
        <p:spPr>
          <a:xfrm rot="5400000">
            <a:off x="9342424" y="3061411"/>
            <a:ext cx="883310" cy="967435"/>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7E9199"/>
                </a:solidFill>
                <a:latin typeface="Segoe UI"/>
              </a:rPr>
              <a:t>Big Data &amp; Databricks  ·  Enterprise Training Series</a:t>
            </a:r>
          </a:p>
        </p:txBody>
      </p:sp>
      <p:sp>
        <p:nvSpPr>
          <p:cNvPr id="16" name="TextBox 1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7E9199"/>
                </a:solidFill>
                <a:latin typeface="Segoe UI"/>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QUALITY &amp; STORAGE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Why Data Quality Matters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13871"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Platform</a:t>
            </a:r>
          </a:p>
        </p:txBody>
      </p:sp>
      <p:sp>
        <p:nvSpPr>
          <p:cNvPr id="17" name="Rounded Rectangle 16"/>
          <p:cNvSpPr/>
          <p:nvPr/>
        </p:nvSpPr>
        <p:spPr>
          <a:xfrm>
            <a:off x="566928" y="1828800"/>
            <a:ext cx="3291840"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66928" y="1828800"/>
            <a:ext cx="91440" cy="189738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704087" y="1938528"/>
            <a:ext cx="731520" cy="731520"/>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935248" y="2341302"/>
            <a:ext cx="269199" cy="7402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935248" y="2267273"/>
            <a:ext cx="269199" cy="7402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935248" y="2193243"/>
            <a:ext cx="269199" cy="7402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499616" y="1993392"/>
            <a:ext cx="2212848"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Costly Mistakes</a:t>
            </a:r>
          </a:p>
        </p:txBody>
      </p:sp>
      <p:sp>
        <p:nvSpPr>
          <p:cNvPr id="24" name="TextBox 23"/>
          <p:cNvSpPr txBox="1"/>
          <p:nvPr/>
        </p:nvSpPr>
        <p:spPr>
          <a:xfrm>
            <a:off x="841247" y="2697480"/>
            <a:ext cx="2779776" cy="937260"/>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Bad data drives wrong decisions — and real financial loss.</a:t>
            </a:r>
          </a:p>
        </p:txBody>
      </p:sp>
      <p:sp>
        <p:nvSpPr>
          <p:cNvPr id="25" name="Rounded Rectangle 24"/>
          <p:cNvSpPr/>
          <p:nvPr/>
        </p:nvSpPr>
        <p:spPr>
          <a:xfrm>
            <a:off x="4133087" y="1828800"/>
            <a:ext cx="3291840"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4133087" y="1828800"/>
            <a:ext cx="91440" cy="189738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4270247" y="1938528"/>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Isosceles Triangle 27"/>
          <p:cNvSpPr/>
          <p:nvPr/>
        </p:nvSpPr>
        <p:spPr>
          <a:xfrm>
            <a:off x="4467758" y="2156228"/>
            <a:ext cx="336499" cy="296119"/>
          </a:xfrm>
          <a:prstGeom prst="triangle">
            <a:avLst/>
          </a:prstGeom>
          <a:noFill/>
          <a:ln w="3271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4619183" y="2277368"/>
            <a:ext cx="33649" cy="8748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621706" y="2384206"/>
            <a:ext cx="28602" cy="2860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065775" y="1993392"/>
            <a:ext cx="2212848"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Broken Trust</a:t>
            </a:r>
          </a:p>
        </p:txBody>
      </p:sp>
      <p:sp>
        <p:nvSpPr>
          <p:cNvPr id="32" name="TextBox 31"/>
          <p:cNvSpPr txBox="1"/>
          <p:nvPr/>
        </p:nvSpPr>
        <p:spPr>
          <a:xfrm>
            <a:off x="4407407" y="2697480"/>
            <a:ext cx="2779776" cy="937260"/>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Once stakeholders distrust a dashboard, adoption collapses.</a:t>
            </a:r>
          </a:p>
        </p:txBody>
      </p:sp>
      <p:sp>
        <p:nvSpPr>
          <p:cNvPr id="33" name="Rounded Rectangle 32"/>
          <p:cNvSpPr/>
          <p:nvPr/>
        </p:nvSpPr>
        <p:spPr>
          <a:xfrm>
            <a:off x="566928" y="4000500"/>
            <a:ext cx="3291840"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566928" y="4000500"/>
            <a:ext cx="91440" cy="1897380"/>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704087" y="4110227"/>
            <a:ext cx="731520" cy="731520"/>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915058" y="4321198"/>
            <a:ext cx="309579" cy="309579"/>
          </a:xfrm>
          <a:prstGeom prst="ellipse">
            <a:avLst/>
          </a:prstGeom>
          <a:noFill/>
          <a:ln w="3271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1058070" y="4375038"/>
            <a:ext cx="23554" cy="11440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1063118" y="4464210"/>
            <a:ext cx="87489" cy="2355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1051340" y="4457480"/>
            <a:ext cx="37014" cy="3701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499616" y="4165091"/>
            <a:ext cx="2212848"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Wasted Time</a:t>
            </a:r>
          </a:p>
        </p:txBody>
      </p:sp>
      <p:sp>
        <p:nvSpPr>
          <p:cNvPr id="41" name="TextBox 40"/>
          <p:cNvSpPr txBox="1"/>
          <p:nvPr/>
        </p:nvSpPr>
        <p:spPr>
          <a:xfrm>
            <a:off x="841247" y="4869180"/>
            <a:ext cx="2779776" cy="937260"/>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Teams burn cycles reconciling and re-checking numbers.</a:t>
            </a:r>
          </a:p>
        </p:txBody>
      </p:sp>
      <p:sp>
        <p:nvSpPr>
          <p:cNvPr id="42" name="Rounded Rectangle 41"/>
          <p:cNvSpPr/>
          <p:nvPr/>
        </p:nvSpPr>
        <p:spPr>
          <a:xfrm>
            <a:off x="4133087" y="4000500"/>
            <a:ext cx="3291840"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a:off x="4133087" y="4000500"/>
            <a:ext cx="91440" cy="1897380"/>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4270247" y="4110227"/>
            <a:ext cx="731520" cy="731520"/>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4521598" y="4459163"/>
            <a:ext cx="228819" cy="168249"/>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Block Arc 45"/>
          <p:cNvSpPr/>
          <p:nvPr/>
        </p:nvSpPr>
        <p:spPr>
          <a:xfrm>
            <a:off x="4555248" y="4307738"/>
            <a:ext cx="161519" cy="168249"/>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5065775" y="4165091"/>
            <a:ext cx="2212848"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Compliance Risk</a:t>
            </a:r>
          </a:p>
        </p:txBody>
      </p:sp>
      <p:sp>
        <p:nvSpPr>
          <p:cNvPr id="48" name="TextBox 47"/>
          <p:cNvSpPr txBox="1"/>
          <p:nvPr/>
        </p:nvSpPr>
        <p:spPr>
          <a:xfrm>
            <a:off x="4407407" y="4869180"/>
            <a:ext cx="2779776" cy="937260"/>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Inaccurate or unauditable data creates regulatory exposure.</a:t>
            </a:r>
          </a:p>
        </p:txBody>
      </p:sp>
      <p:sp>
        <p:nvSpPr>
          <p:cNvPr id="49" name="Rounded Rectangle 48"/>
          <p:cNvSpPr/>
          <p:nvPr/>
        </p:nvSpPr>
        <p:spPr>
          <a:xfrm>
            <a:off x="7589520" y="1828800"/>
            <a:ext cx="4035247" cy="406908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7909560" y="2103120"/>
            <a:ext cx="3657600" cy="27432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6B57"/>
                </a:solidFill>
                <a:latin typeface="Segoe UI Semibold"/>
              </a:rPr>
              <a:t>THE PRINCIPLE</a:t>
            </a:r>
          </a:p>
        </p:txBody>
      </p:sp>
      <p:sp>
        <p:nvSpPr>
          <p:cNvPr id="51" name="Oval 50"/>
          <p:cNvSpPr/>
          <p:nvPr/>
        </p:nvSpPr>
        <p:spPr>
          <a:xfrm>
            <a:off x="8944203" y="2537460"/>
            <a:ext cx="1325880" cy="132588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Pentagon 51"/>
          <p:cNvSpPr/>
          <p:nvPr/>
        </p:nvSpPr>
        <p:spPr>
          <a:xfrm rot="5400000">
            <a:off x="9350983" y="2907645"/>
            <a:ext cx="512320" cy="561112"/>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7772400" y="4114800"/>
            <a:ext cx="3669487" cy="822960"/>
          </a:xfrm>
          <a:prstGeom prst="rect">
            <a:avLst/>
          </a:prstGeom>
          <a:noFill/>
        </p:spPr>
        <p:txBody>
          <a:bodyPr wrap="square" anchor="t" lIns="0" rIns="0" tIns="0" bIns="0">
            <a:spAutoFit/>
          </a:bodyPr>
          <a:lstStyle/>
          <a:p>
            <a:pPr algn="ctr">
              <a:lnSpc>
                <a:spcPct val="105000"/>
              </a:lnSpc>
              <a:spcBef>
                <a:spcPts val="0"/>
              </a:spcBef>
              <a:spcAft>
                <a:spcPts val="200"/>
              </a:spcAft>
            </a:pPr>
            <a:r>
              <a:rPr sz="1800" b="1" i="0">
                <a:solidFill>
                  <a:srgbClr val="FFFFFF"/>
                </a:solidFill>
                <a:latin typeface="Segoe UI"/>
              </a:rPr>
              <a:t>Garbage in,</a:t>
            </a:r>
          </a:p>
          <a:p>
            <a:pPr algn="ctr">
              <a:lnSpc>
                <a:spcPct val="105000"/>
              </a:lnSpc>
              <a:spcBef>
                <a:spcPts val="0"/>
              </a:spcBef>
              <a:spcAft>
                <a:spcPts val="200"/>
              </a:spcAft>
            </a:pPr>
            <a:r>
              <a:rPr sz="1800" b="1" i="0">
                <a:solidFill>
                  <a:srgbClr val="FFFFFF"/>
                </a:solidFill>
                <a:latin typeface="Segoe UI"/>
              </a:rPr>
              <a:t>garbage out.</a:t>
            </a:r>
          </a:p>
        </p:txBody>
      </p:sp>
      <p:sp>
        <p:nvSpPr>
          <p:cNvPr id="54" name="TextBox 53"/>
          <p:cNvSpPr txBox="1"/>
          <p:nvPr/>
        </p:nvSpPr>
        <p:spPr>
          <a:xfrm>
            <a:off x="7772400" y="5074920"/>
            <a:ext cx="3669487" cy="640080"/>
          </a:xfrm>
          <a:prstGeom prst="rect">
            <a:avLst/>
          </a:prstGeom>
          <a:noFill/>
        </p:spPr>
        <p:txBody>
          <a:bodyPr wrap="square" anchor="t" lIns="0" rIns="0" tIns="0" bIns="0">
            <a:spAutoFit/>
          </a:bodyPr>
          <a:lstStyle/>
          <a:p>
            <a:pPr algn="ctr">
              <a:lnSpc>
                <a:spcPct val="110000"/>
              </a:lnSpc>
              <a:spcBef>
                <a:spcPts val="0"/>
              </a:spcBef>
              <a:spcAft>
                <a:spcPts val="200"/>
              </a:spcAft>
            </a:pPr>
            <a:r>
              <a:rPr sz="1050" b="0" i="0">
                <a:solidFill>
                  <a:srgbClr val="C4D0D4"/>
                </a:solidFill>
                <a:latin typeface="Segoe UI"/>
              </a:rPr>
              <a:t>No amount of processing fixes data that was wrong at the source.</a:t>
            </a:r>
          </a:p>
        </p:txBody>
      </p:sp>
      <p:sp>
        <p:nvSpPr>
          <p:cNvPr id="55" name="TextBox 5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6" name="TextBox 5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QUALITY &amp; STORAGE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Six Dimensions of Data Quality</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13871"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Platform</a:t>
            </a:r>
          </a:p>
        </p:txBody>
      </p:sp>
      <p:cxnSp>
        <p:nvCxnSpPr>
          <p:cNvPr id="17" name="Connector 16"/>
          <p:cNvCxnSpPr/>
          <p:nvPr/>
        </p:nvCxnSpPr>
        <p:spPr>
          <a:xfrm flipV="1">
            <a:off x="6095847" y="2148840"/>
            <a:ext cx="0" cy="1874520"/>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6095847" y="3086100"/>
            <a:ext cx="1623382" cy="937260"/>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095847" y="4023360"/>
            <a:ext cx="1623382" cy="937260"/>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5847" y="4023360"/>
            <a:ext cx="0" cy="1874520"/>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4472465" y="4023360"/>
            <a:ext cx="1623382" cy="937260"/>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472465" y="3086100"/>
            <a:ext cx="1623382" cy="937260"/>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570067" y="1623060"/>
            <a:ext cx="1051560" cy="105156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5873337" y="1926329"/>
            <a:ext cx="445020" cy="445020"/>
          </a:xfrm>
          <a:prstGeom prst="ellipse">
            <a:avLst/>
          </a:prstGeom>
          <a:noFill/>
          <a:ln w="40309">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5970081" y="2023073"/>
            <a:ext cx="251533" cy="251533"/>
          </a:xfrm>
          <a:prstGeom prst="ellipse">
            <a:avLst/>
          </a:prstGeom>
          <a:noFill/>
          <a:ln w="40309">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6059568" y="2112561"/>
            <a:ext cx="72557" cy="7255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181447" y="1165860"/>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200" b="1" i="0">
                <a:solidFill>
                  <a:srgbClr val="1B3139"/>
                </a:solidFill>
                <a:latin typeface="Segoe UI"/>
              </a:rPr>
              <a:t>Accuracy</a:t>
            </a:r>
          </a:p>
        </p:txBody>
      </p:sp>
      <p:sp>
        <p:nvSpPr>
          <p:cNvPr id="28" name="TextBox 27"/>
          <p:cNvSpPr txBox="1"/>
          <p:nvPr/>
        </p:nvSpPr>
        <p:spPr>
          <a:xfrm>
            <a:off x="5181447" y="1412748"/>
            <a:ext cx="1828800" cy="365760"/>
          </a:xfrm>
          <a:prstGeom prst="rect">
            <a:avLst/>
          </a:prstGeom>
          <a:noFill/>
        </p:spPr>
        <p:txBody>
          <a:bodyPr wrap="square" anchor="t" lIns="0" rIns="0" tIns="0" bIns="0">
            <a:spAutoFit/>
          </a:bodyPr>
          <a:lstStyle/>
          <a:p>
            <a:pPr algn="ctr">
              <a:lnSpc>
                <a:spcPct val="92000"/>
              </a:lnSpc>
              <a:spcBef>
                <a:spcPts val="0"/>
              </a:spcBef>
              <a:spcAft>
                <a:spcPts val="200"/>
              </a:spcAft>
            </a:pPr>
            <a:r>
              <a:rPr sz="860" b="0" i="0">
                <a:solidFill>
                  <a:srgbClr val="6B777C"/>
                </a:solidFill>
                <a:latin typeface="Segoe UI"/>
              </a:rPr>
              <a:t>Reflects reality</a:t>
            </a:r>
          </a:p>
        </p:txBody>
      </p:sp>
      <p:sp>
        <p:nvSpPr>
          <p:cNvPr id="29" name="Oval 28"/>
          <p:cNvSpPr/>
          <p:nvPr/>
        </p:nvSpPr>
        <p:spPr>
          <a:xfrm>
            <a:off x="7193449" y="2560320"/>
            <a:ext cx="1051560" cy="105156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rot="2700000">
            <a:off x="7583788" y="3095774"/>
            <a:ext cx="145115" cy="7739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rot="18480000">
            <a:off x="7690206" y="2989356"/>
            <a:ext cx="280556" cy="7739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804829" y="2103120"/>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200" b="1" i="0">
                <a:solidFill>
                  <a:srgbClr val="1B3139"/>
                </a:solidFill>
                <a:latin typeface="Segoe UI"/>
              </a:rPr>
              <a:t>Completeness</a:t>
            </a:r>
          </a:p>
        </p:txBody>
      </p:sp>
      <p:sp>
        <p:nvSpPr>
          <p:cNvPr id="33" name="TextBox 32"/>
          <p:cNvSpPr txBox="1"/>
          <p:nvPr/>
        </p:nvSpPr>
        <p:spPr>
          <a:xfrm>
            <a:off x="6804829" y="2350008"/>
            <a:ext cx="1828800" cy="365760"/>
          </a:xfrm>
          <a:prstGeom prst="rect">
            <a:avLst/>
          </a:prstGeom>
          <a:noFill/>
        </p:spPr>
        <p:txBody>
          <a:bodyPr wrap="square" anchor="t" lIns="0" rIns="0" tIns="0" bIns="0">
            <a:spAutoFit/>
          </a:bodyPr>
          <a:lstStyle/>
          <a:p>
            <a:pPr algn="ctr">
              <a:lnSpc>
                <a:spcPct val="92000"/>
              </a:lnSpc>
              <a:spcBef>
                <a:spcPts val="0"/>
              </a:spcBef>
              <a:spcAft>
                <a:spcPts val="200"/>
              </a:spcAft>
            </a:pPr>
            <a:r>
              <a:rPr sz="860" b="0" i="0">
                <a:solidFill>
                  <a:srgbClr val="6B777C"/>
                </a:solidFill>
                <a:latin typeface="Segoe UI"/>
              </a:rPr>
              <a:t>No missing values</a:t>
            </a:r>
          </a:p>
        </p:txBody>
      </p:sp>
      <p:sp>
        <p:nvSpPr>
          <p:cNvPr id="34" name="Oval 33"/>
          <p:cNvSpPr/>
          <p:nvPr/>
        </p:nvSpPr>
        <p:spPr>
          <a:xfrm>
            <a:off x="7193449" y="4434840"/>
            <a:ext cx="1051560" cy="1051560"/>
          </a:xfrm>
          <a:prstGeom prst="ellipse">
            <a:avLst/>
          </a:prstGeom>
          <a:solidFill>
            <a:srgbClr val="0E8C9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Circular Arrow 34"/>
          <p:cNvSpPr/>
          <p:nvPr/>
        </p:nvSpPr>
        <p:spPr>
          <a:xfrm>
            <a:off x="7477370" y="4718761"/>
            <a:ext cx="483717" cy="483717"/>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804829" y="5532120"/>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200" b="1" i="0">
                <a:solidFill>
                  <a:srgbClr val="1B3139"/>
                </a:solidFill>
                <a:latin typeface="Segoe UI"/>
              </a:rPr>
              <a:t>Consistency</a:t>
            </a:r>
          </a:p>
        </p:txBody>
      </p:sp>
      <p:sp>
        <p:nvSpPr>
          <p:cNvPr id="37" name="TextBox 36"/>
          <p:cNvSpPr txBox="1"/>
          <p:nvPr/>
        </p:nvSpPr>
        <p:spPr>
          <a:xfrm>
            <a:off x="6804829" y="5779008"/>
            <a:ext cx="1828800" cy="365760"/>
          </a:xfrm>
          <a:prstGeom prst="rect">
            <a:avLst/>
          </a:prstGeom>
          <a:noFill/>
        </p:spPr>
        <p:txBody>
          <a:bodyPr wrap="square" anchor="t" lIns="0" rIns="0" tIns="0" bIns="0">
            <a:spAutoFit/>
          </a:bodyPr>
          <a:lstStyle/>
          <a:p>
            <a:pPr algn="ctr">
              <a:lnSpc>
                <a:spcPct val="92000"/>
              </a:lnSpc>
              <a:spcBef>
                <a:spcPts val="0"/>
              </a:spcBef>
              <a:spcAft>
                <a:spcPts val="200"/>
              </a:spcAft>
            </a:pPr>
            <a:r>
              <a:rPr sz="860" b="0" i="0">
                <a:solidFill>
                  <a:srgbClr val="6B777C"/>
                </a:solidFill>
                <a:latin typeface="Segoe UI"/>
              </a:rPr>
              <a:t>Agrees across systems</a:t>
            </a:r>
          </a:p>
        </p:txBody>
      </p:sp>
      <p:sp>
        <p:nvSpPr>
          <p:cNvPr id="38" name="Oval 37"/>
          <p:cNvSpPr/>
          <p:nvPr/>
        </p:nvSpPr>
        <p:spPr>
          <a:xfrm>
            <a:off x="5570067" y="5372100"/>
            <a:ext cx="1051560" cy="1051560"/>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5873337" y="5675369"/>
            <a:ext cx="445020" cy="445020"/>
          </a:xfrm>
          <a:prstGeom prst="ellipse">
            <a:avLst/>
          </a:prstGeom>
          <a:noFill/>
          <a:ln w="47028">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6078917" y="5752764"/>
            <a:ext cx="33860" cy="16446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6086173" y="5880949"/>
            <a:ext cx="125766" cy="338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6069243" y="5871275"/>
            <a:ext cx="53208" cy="5320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181447" y="6469380"/>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200" b="1" i="0">
                <a:solidFill>
                  <a:srgbClr val="1B3139"/>
                </a:solidFill>
                <a:latin typeface="Segoe UI"/>
              </a:rPr>
              <a:t>Timeliness</a:t>
            </a:r>
          </a:p>
        </p:txBody>
      </p:sp>
      <p:sp>
        <p:nvSpPr>
          <p:cNvPr id="44" name="TextBox 43"/>
          <p:cNvSpPr txBox="1"/>
          <p:nvPr/>
        </p:nvSpPr>
        <p:spPr>
          <a:xfrm>
            <a:off x="5181447" y="6716268"/>
            <a:ext cx="1828800" cy="365760"/>
          </a:xfrm>
          <a:prstGeom prst="rect">
            <a:avLst/>
          </a:prstGeom>
          <a:noFill/>
        </p:spPr>
        <p:txBody>
          <a:bodyPr wrap="square" anchor="t" lIns="0" rIns="0" tIns="0" bIns="0">
            <a:spAutoFit/>
          </a:bodyPr>
          <a:lstStyle/>
          <a:p>
            <a:pPr algn="ctr">
              <a:lnSpc>
                <a:spcPct val="92000"/>
              </a:lnSpc>
              <a:spcBef>
                <a:spcPts val="0"/>
              </a:spcBef>
              <a:spcAft>
                <a:spcPts val="200"/>
              </a:spcAft>
            </a:pPr>
            <a:r>
              <a:rPr sz="860" b="0" i="0">
                <a:solidFill>
                  <a:srgbClr val="6B777C"/>
                </a:solidFill>
                <a:latin typeface="Segoe UI"/>
              </a:rPr>
              <a:t>Fresh &amp; up to date</a:t>
            </a:r>
          </a:p>
        </p:txBody>
      </p:sp>
      <p:sp>
        <p:nvSpPr>
          <p:cNvPr id="45" name="Oval 44"/>
          <p:cNvSpPr/>
          <p:nvPr/>
        </p:nvSpPr>
        <p:spPr>
          <a:xfrm>
            <a:off x="3946685" y="4434840"/>
            <a:ext cx="1051560" cy="1051560"/>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Pentagon 45"/>
          <p:cNvSpPr/>
          <p:nvPr/>
        </p:nvSpPr>
        <p:spPr>
          <a:xfrm rot="5400000">
            <a:off x="4269304" y="4728435"/>
            <a:ext cx="406322" cy="445020"/>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3558065" y="5532120"/>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200" b="1" i="0">
                <a:solidFill>
                  <a:srgbClr val="1B3139"/>
                </a:solidFill>
                <a:latin typeface="Segoe UI"/>
              </a:rPr>
              <a:t>Validity</a:t>
            </a:r>
          </a:p>
        </p:txBody>
      </p:sp>
      <p:sp>
        <p:nvSpPr>
          <p:cNvPr id="48" name="TextBox 47"/>
          <p:cNvSpPr txBox="1"/>
          <p:nvPr/>
        </p:nvSpPr>
        <p:spPr>
          <a:xfrm>
            <a:off x="3558065" y="5779008"/>
            <a:ext cx="1828800" cy="365760"/>
          </a:xfrm>
          <a:prstGeom prst="rect">
            <a:avLst/>
          </a:prstGeom>
          <a:noFill/>
        </p:spPr>
        <p:txBody>
          <a:bodyPr wrap="square" anchor="t" lIns="0" rIns="0" tIns="0" bIns="0">
            <a:spAutoFit/>
          </a:bodyPr>
          <a:lstStyle/>
          <a:p>
            <a:pPr algn="ctr">
              <a:lnSpc>
                <a:spcPct val="92000"/>
              </a:lnSpc>
              <a:spcBef>
                <a:spcPts val="0"/>
              </a:spcBef>
              <a:spcAft>
                <a:spcPts val="200"/>
              </a:spcAft>
            </a:pPr>
            <a:r>
              <a:rPr sz="860" b="0" i="0">
                <a:solidFill>
                  <a:srgbClr val="6B777C"/>
                </a:solidFill>
                <a:latin typeface="Segoe UI"/>
              </a:rPr>
              <a:t>Conforms to rules</a:t>
            </a:r>
          </a:p>
        </p:txBody>
      </p:sp>
      <p:sp>
        <p:nvSpPr>
          <p:cNvPr id="49" name="Oval 48"/>
          <p:cNvSpPr/>
          <p:nvPr/>
        </p:nvSpPr>
        <p:spPr>
          <a:xfrm>
            <a:off x="3946685" y="2560320"/>
            <a:ext cx="1051560" cy="1051560"/>
          </a:xfrm>
          <a:prstGeom prst="ellipse">
            <a:avLst/>
          </a:prstGeom>
          <a:solidFill>
            <a:srgbClr val="F59E0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Oval 49"/>
          <p:cNvSpPr/>
          <p:nvPr/>
        </p:nvSpPr>
        <p:spPr>
          <a:xfrm>
            <a:off x="4295715" y="2909349"/>
            <a:ext cx="150339" cy="15033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4498876" y="2909349"/>
            <a:ext cx="150339" cy="1503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Diamond 51"/>
          <p:cNvSpPr/>
          <p:nvPr/>
        </p:nvSpPr>
        <p:spPr>
          <a:xfrm>
            <a:off x="4295715" y="3112510"/>
            <a:ext cx="150339" cy="150339"/>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4498876" y="3112510"/>
            <a:ext cx="150339" cy="1503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3558065" y="2103120"/>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200" b="1" i="0">
                <a:solidFill>
                  <a:srgbClr val="1B3139"/>
                </a:solidFill>
                <a:latin typeface="Segoe UI"/>
              </a:rPr>
              <a:t>Uniqueness</a:t>
            </a:r>
          </a:p>
        </p:txBody>
      </p:sp>
      <p:sp>
        <p:nvSpPr>
          <p:cNvPr id="55" name="TextBox 54"/>
          <p:cNvSpPr txBox="1"/>
          <p:nvPr/>
        </p:nvSpPr>
        <p:spPr>
          <a:xfrm>
            <a:off x="3558065" y="2350008"/>
            <a:ext cx="1828800" cy="365760"/>
          </a:xfrm>
          <a:prstGeom prst="rect">
            <a:avLst/>
          </a:prstGeom>
          <a:noFill/>
        </p:spPr>
        <p:txBody>
          <a:bodyPr wrap="square" anchor="t" lIns="0" rIns="0" tIns="0" bIns="0">
            <a:spAutoFit/>
          </a:bodyPr>
          <a:lstStyle/>
          <a:p>
            <a:pPr algn="ctr">
              <a:lnSpc>
                <a:spcPct val="92000"/>
              </a:lnSpc>
              <a:spcBef>
                <a:spcPts val="0"/>
              </a:spcBef>
              <a:spcAft>
                <a:spcPts val="200"/>
              </a:spcAft>
            </a:pPr>
            <a:r>
              <a:rPr sz="860" b="0" i="0">
                <a:solidFill>
                  <a:srgbClr val="6B777C"/>
                </a:solidFill>
                <a:latin typeface="Segoe UI"/>
              </a:rPr>
              <a:t>No duplicates</a:t>
            </a:r>
          </a:p>
        </p:txBody>
      </p:sp>
      <p:sp>
        <p:nvSpPr>
          <p:cNvPr id="56" name="Oval 55"/>
          <p:cNvSpPr/>
          <p:nvPr/>
        </p:nvSpPr>
        <p:spPr>
          <a:xfrm>
            <a:off x="5295747" y="3223260"/>
            <a:ext cx="1600200" cy="1600200"/>
          </a:xfrm>
          <a:prstGeom prst="ellipse">
            <a:avLst/>
          </a:prstGeom>
          <a:solidFill>
            <a:srgbClr val="FF3621"/>
          </a:solidFill>
          <a:ln w="3810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Oval 56"/>
          <p:cNvSpPr/>
          <p:nvPr/>
        </p:nvSpPr>
        <p:spPr>
          <a:xfrm>
            <a:off x="5396331" y="3323844"/>
            <a:ext cx="1399032" cy="1399032"/>
          </a:xfrm>
          <a:prstGeom prst="ellipse">
            <a:avLst/>
          </a:prstGeom>
          <a:noFill/>
          <a:ln w="16510">
            <a:solidFill>
              <a:srgbClr val="FF8A7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5295747" y="3639312"/>
            <a:ext cx="1600200" cy="768096"/>
          </a:xfrm>
          <a:prstGeom prst="rect">
            <a:avLst/>
          </a:prstGeom>
          <a:noFill/>
        </p:spPr>
        <p:txBody>
          <a:bodyPr wrap="square" anchor="ctr" lIns="0" rIns="0" tIns="0" bIns="0">
            <a:spAutoFit/>
          </a:bodyPr>
          <a:lstStyle/>
          <a:p>
            <a:pPr algn="ctr">
              <a:lnSpc>
                <a:spcPct val="95000"/>
              </a:lnSpc>
              <a:spcBef>
                <a:spcPts val="0"/>
              </a:spcBef>
              <a:spcAft>
                <a:spcPts val="200"/>
              </a:spcAft>
            </a:pPr>
            <a:r>
              <a:rPr sz="1500" b="1" i="0">
                <a:solidFill>
                  <a:srgbClr val="FFFFFF"/>
                </a:solidFill>
                <a:latin typeface="Segoe UI"/>
              </a:rPr>
              <a:t>DATA
QUALITY</a:t>
            </a:r>
          </a:p>
        </p:txBody>
      </p:sp>
      <p:sp>
        <p:nvSpPr>
          <p:cNvPr id="59" name="TextBox 58"/>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0" name="TextBox 59"/>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QUALITY &amp; STORAGE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Warehouse vs. Lake vs. Lakehouse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13871"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Platform</a:t>
            </a:r>
          </a:p>
        </p:txBody>
      </p:sp>
      <p:sp>
        <p:nvSpPr>
          <p:cNvPr id="17" name="Rounded Rectangle 16"/>
          <p:cNvSpPr/>
          <p:nvPr/>
        </p:nvSpPr>
        <p:spPr>
          <a:xfrm>
            <a:off x="566928" y="1874519"/>
            <a:ext cx="3442106" cy="36576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66928" y="1874519"/>
            <a:ext cx="3442106" cy="658368"/>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93185" y="2075047"/>
            <a:ext cx="99852" cy="11521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019921" y="2075047"/>
            <a:ext cx="99852" cy="11521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146657" y="2075047"/>
            <a:ext cx="99852" cy="11521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93185" y="2217145"/>
            <a:ext cx="99852" cy="11521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019921" y="2217145"/>
            <a:ext cx="99852" cy="11521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146657" y="2217145"/>
            <a:ext cx="99852" cy="11521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481328" y="1874519"/>
            <a:ext cx="2481986" cy="658368"/>
          </a:xfrm>
          <a:prstGeom prst="rect">
            <a:avLst/>
          </a:prstGeom>
          <a:noFill/>
        </p:spPr>
        <p:txBody>
          <a:bodyPr wrap="square" anchor="ctr" lIns="0" rIns="0" tIns="0" bIns="0">
            <a:spAutoFit/>
          </a:bodyPr>
          <a:lstStyle/>
          <a:p>
            <a:pPr algn="l">
              <a:lnSpc>
                <a:spcPct val="92000"/>
              </a:lnSpc>
              <a:spcBef>
                <a:spcPts val="0"/>
              </a:spcBef>
              <a:spcAft>
                <a:spcPts val="200"/>
              </a:spcAft>
            </a:pPr>
            <a:r>
              <a:rPr sz="1350" b="1" i="0">
                <a:solidFill>
                  <a:srgbClr val="FFFFFF"/>
                </a:solidFill>
                <a:latin typeface="Segoe UI"/>
              </a:rPr>
              <a:t>Data Warehouse</a:t>
            </a:r>
          </a:p>
        </p:txBody>
      </p:sp>
      <p:sp>
        <p:nvSpPr>
          <p:cNvPr id="26" name="TextBox 25"/>
          <p:cNvSpPr txBox="1"/>
          <p:nvPr/>
        </p:nvSpPr>
        <p:spPr>
          <a:xfrm>
            <a:off x="859536" y="2743200"/>
            <a:ext cx="2893466" cy="2560320"/>
          </a:xfrm>
          <a:prstGeom prst="rect">
            <a:avLst/>
          </a:prstGeom>
          <a:noFill/>
        </p:spPr>
        <p:txBody>
          <a:bodyPr wrap="square" anchor="t" lIns="0" rIns="0" tIns="0" bIns="0">
            <a:spAutoFit/>
          </a:bodyPr>
          <a:lstStyle/>
          <a:p>
            <a:pPr marL="274320" indent="-274320">
              <a:lnSpc>
                <a:spcPct val="112000"/>
              </a:lnSpc>
              <a:spcBef>
                <a:spcPts val="0"/>
              </a:spcBef>
              <a:spcAft>
                <a:spcPts val="1000"/>
              </a:spcAft>
            </a:pPr>
            <a:r>
              <a:rPr sz="1100" b="1">
                <a:solidFill>
                  <a:srgbClr val="2272B4"/>
                </a:solidFill>
                <a:latin typeface="Segoe UI"/>
              </a:rPr>
              <a:t>▪   </a:t>
            </a:r>
            <a:r>
              <a:rPr sz="1100">
                <a:solidFill>
                  <a:srgbClr val="465257"/>
                </a:solidFill>
                <a:latin typeface="Segoe UI"/>
              </a:rPr>
              <a:t>Structured data only</a:t>
            </a:r>
          </a:p>
          <a:p>
            <a:pPr marL="274320" indent="-274320">
              <a:lnSpc>
                <a:spcPct val="112000"/>
              </a:lnSpc>
              <a:spcBef>
                <a:spcPts val="0"/>
              </a:spcBef>
              <a:spcAft>
                <a:spcPts val="1000"/>
              </a:spcAft>
            </a:pPr>
            <a:r>
              <a:rPr sz="1100" b="1">
                <a:solidFill>
                  <a:srgbClr val="2272B4"/>
                </a:solidFill>
                <a:latin typeface="Segoe UI"/>
              </a:rPr>
              <a:t>▪   </a:t>
            </a:r>
            <a:r>
              <a:rPr sz="1100">
                <a:solidFill>
                  <a:srgbClr val="465257"/>
                </a:solidFill>
                <a:latin typeface="Segoe UI"/>
              </a:rPr>
              <a:t>Fast SQL &amp; BI</a:t>
            </a:r>
          </a:p>
          <a:p>
            <a:pPr marL="274320" indent="-274320">
              <a:lnSpc>
                <a:spcPct val="112000"/>
              </a:lnSpc>
              <a:spcBef>
                <a:spcPts val="0"/>
              </a:spcBef>
              <a:spcAft>
                <a:spcPts val="1000"/>
              </a:spcAft>
            </a:pPr>
            <a:r>
              <a:rPr sz="1100" b="1">
                <a:solidFill>
                  <a:srgbClr val="2272B4"/>
                </a:solidFill>
                <a:latin typeface="Segoe UI"/>
              </a:rPr>
              <a:t>▪   </a:t>
            </a:r>
            <a:r>
              <a:rPr sz="1100">
                <a:solidFill>
                  <a:srgbClr val="465257"/>
                </a:solidFill>
                <a:latin typeface="Segoe UI"/>
              </a:rPr>
              <a:t>Rigid &amp; costly to scale</a:t>
            </a:r>
          </a:p>
          <a:p>
            <a:pPr marL="274320" indent="-274320">
              <a:lnSpc>
                <a:spcPct val="112000"/>
              </a:lnSpc>
              <a:spcBef>
                <a:spcPts val="0"/>
              </a:spcBef>
              <a:spcAft>
                <a:spcPts val="1000"/>
              </a:spcAft>
            </a:pPr>
            <a:r>
              <a:rPr sz="1100" b="1">
                <a:solidFill>
                  <a:srgbClr val="2272B4"/>
                </a:solidFill>
                <a:latin typeface="Segoe UI"/>
              </a:rPr>
              <a:t>▪   </a:t>
            </a:r>
            <a:r>
              <a:rPr sz="1100">
                <a:solidFill>
                  <a:srgbClr val="465257"/>
                </a:solidFill>
                <a:latin typeface="Segoe UI"/>
              </a:rPr>
              <a:t>No ML / raw data</a:t>
            </a:r>
          </a:p>
        </p:txBody>
      </p:sp>
      <p:sp>
        <p:nvSpPr>
          <p:cNvPr id="27" name="Rounded Rectangle 26"/>
          <p:cNvSpPr/>
          <p:nvPr/>
        </p:nvSpPr>
        <p:spPr>
          <a:xfrm>
            <a:off x="4374794" y="1874519"/>
            <a:ext cx="3442106" cy="36576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4374794" y="1874519"/>
            <a:ext cx="3442106" cy="658368"/>
          </a:xfrm>
          <a:prstGeom prst="rect">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Cloud 28"/>
          <p:cNvSpPr/>
          <p:nvPr/>
        </p:nvSpPr>
        <p:spPr>
          <a:xfrm>
            <a:off x="4656886" y="2040483"/>
            <a:ext cx="441655" cy="326440"/>
          </a:xfrm>
          <a:prstGeom prst="clou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289194" y="1874519"/>
            <a:ext cx="2481986" cy="658368"/>
          </a:xfrm>
          <a:prstGeom prst="rect">
            <a:avLst/>
          </a:prstGeom>
          <a:noFill/>
        </p:spPr>
        <p:txBody>
          <a:bodyPr wrap="square" anchor="ctr" lIns="0" rIns="0" tIns="0" bIns="0">
            <a:spAutoFit/>
          </a:bodyPr>
          <a:lstStyle/>
          <a:p>
            <a:pPr algn="l">
              <a:lnSpc>
                <a:spcPct val="92000"/>
              </a:lnSpc>
              <a:spcBef>
                <a:spcPts val="0"/>
              </a:spcBef>
              <a:spcAft>
                <a:spcPts val="200"/>
              </a:spcAft>
            </a:pPr>
            <a:r>
              <a:rPr sz="1350" b="1" i="0">
                <a:solidFill>
                  <a:srgbClr val="FFFFFF"/>
                </a:solidFill>
                <a:latin typeface="Segoe UI"/>
              </a:rPr>
              <a:t>Data Lake</a:t>
            </a:r>
          </a:p>
        </p:txBody>
      </p:sp>
      <p:sp>
        <p:nvSpPr>
          <p:cNvPr id="31" name="TextBox 30"/>
          <p:cNvSpPr txBox="1"/>
          <p:nvPr/>
        </p:nvSpPr>
        <p:spPr>
          <a:xfrm>
            <a:off x="4667402" y="2743200"/>
            <a:ext cx="2893466" cy="2560320"/>
          </a:xfrm>
          <a:prstGeom prst="rect">
            <a:avLst/>
          </a:prstGeom>
          <a:noFill/>
        </p:spPr>
        <p:txBody>
          <a:bodyPr wrap="square" anchor="t" lIns="0" rIns="0" tIns="0" bIns="0">
            <a:spAutoFit/>
          </a:bodyPr>
          <a:lstStyle/>
          <a:p>
            <a:pPr marL="274320" indent="-274320">
              <a:lnSpc>
                <a:spcPct val="112000"/>
              </a:lnSpc>
              <a:spcBef>
                <a:spcPts val="0"/>
              </a:spcBef>
              <a:spcAft>
                <a:spcPts val="1000"/>
              </a:spcAft>
            </a:pPr>
            <a:r>
              <a:rPr sz="1100" b="1">
                <a:solidFill>
                  <a:srgbClr val="0E8C9C"/>
                </a:solidFill>
                <a:latin typeface="Segoe UI"/>
              </a:rPr>
              <a:t>▪   </a:t>
            </a:r>
            <a:r>
              <a:rPr sz="1100">
                <a:solidFill>
                  <a:srgbClr val="465257"/>
                </a:solidFill>
                <a:latin typeface="Segoe UI"/>
              </a:rPr>
              <a:t>Any data, cheap &amp; scalable</a:t>
            </a:r>
          </a:p>
          <a:p>
            <a:pPr marL="274320" indent="-274320">
              <a:lnSpc>
                <a:spcPct val="112000"/>
              </a:lnSpc>
              <a:spcBef>
                <a:spcPts val="0"/>
              </a:spcBef>
              <a:spcAft>
                <a:spcPts val="1000"/>
              </a:spcAft>
            </a:pPr>
            <a:r>
              <a:rPr sz="1100" b="1">
                <a:solidFill>
                  <a:srgbClr val="0E8C9C"/>
                </a:solidFill>
                <a:latin typeface="Segoe UI"/>
              </a:rPr>
              <a:t>▪   </a:t>
            </a:r>
            <a:r>
              <a:rPr sz="1100">
                <a:solidFill>
                  <a:srgbClr val="465257"/>
                </a:solidFill>
                <a:latin typeface="Segoe UI"/>
              </a:rPr>
              <a:t>Great for ML</a:t>
            </a:r>
          </a:p>
          <a:p>
            <a:pPr marL="274320" indent="-274320">
              <a:lnSpc>
                <a:spcPct val="112000"/>
              </a:lnSpc>
              <a:spcBef>
                <a:spcPts val="0"/>
              </a:spcBef>
              <a:spcAft>
                <a:spcPts val="1000"/>
              </a:spcAft>
            </a:pPr>
            <a:r>
              <a:rPr sz="1100" b="1">
                <a:solidFill>
                  <a:srgbClr val="0E8C9C"/>
                </a:solidFill>
                <a:latin typeface="Segoe UI"/>
              </a:rPr>
              <a:t>▪   </a:t>
            </a:r>
            <a:r>
              <a:rPr sz="1100">
                <a:solidFill>
                  <a:srgbClr val="465257"/>
                </a:solidFill>
                <a:latin typeface="Segoe UI"/>
              </a:rPr>
              <a:t>No reliability / ACID</a:t>
            </a:r>
          </a:p>
          <a:p>
            <a:pPr marL="274320" indent="-274320">
              <a:lnSpc>
                <a:spcPct val="112000"/>
              </a:lnSpc>
              <a:spcBef>
                <a:spcPts val="0"/>
              </a:spcBef>
              <a:spcAft>
                <a:spcPts val="1000"/>
              </a:spcAft>
            </a:pPr>
            <a:r>
              <a:rPr sz="1100" b="1">
                <a:solidFill>
                  <a:srgbClr val="0E8C9C"/>
                </a:solidFill>
                <a:latin typeface="Segoe UI"/>
              </a:rPr>
              <a:t>▪   </a:t>
            </a:r>
            <a:r>
              <a:rPr sz="1100">
                <a:solidFill>
                  <a:srgbClr val="465257"/>
                </a:solidFill>
                <a:latin typeface="Segoe UI"/>
              </a:rPr>
              <a:t>Becomes a swamp</a:t>
            </a:r>
          </a:p>
        </p:txBody>
      </p:sp>
      <p:sp>
        <p:nvSpPr>
          <p:cNvPr id="32" name="Rounded Rectangle 31"/>
          <p:cNvSpPr/>
          <p:nvPr/>
        </p:nvSpPr>
        <p:spPr>
          <a:xfrm>
            <a:off x="8182660" y="1874519"/>
            <a:ext cx="3442106" cy="365760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8182660" y="1874519"/>
            <a:ext cx="3442106" cy="658368"/>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Isosceles Triangle 33"/>
          <p:cNvSpPr/>
          <p:nvPr/>
        </p:nvSpPr>
        <p:spPr>
          <a:xfrm>
            <a:off x="8493556" y="2030882"/>
            <a:ext cx="384048" cy="345643"/>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097060" y="1874519"/>
            <a:ext cx="2481986" cy="658368"/>
          </a:xfrm>
          <a:prstGeom prst="rect">
            <a:avLst/>
          </a:prstGeom>
          <a:noFill/>
        </p:spPr>
        <p:txBody>
          <a:bodyPr wrap="square" anchor="ctr" lIns="0" rIns="0" tIns="0" bIns="0">
            <a:spAutoFit/>
          </a:bodyPr>
          <a:lstStyle/>
          <a:p>
            <a:pPr algn="l">
              <a:lnSpc>
                <a:spcPct val="92000"/>
              </a:lnSpc>
              <a:spcBef>
                <a:spcPts val="0"/>
              </a:spcBef>
              <a:spcAft>
                <a:spcPts val="200"/>
              </a:spcAft>
            </a:pPr>
            <a:r>
              <a:rPr sz="1350" b="1" i="0">
                <a:solidFill>
                  <a:srgbClr val="FFFFFF"/>
                </a:solidFill>
                <a:latin typeface="Segoe UI"/>
              </a:rPr>
              <a:t>Lakehouse</a:t>
            </a:r>
          </a:p>
        </p:txBody>
      </p:sp>
      <p:sp>
        <p:nvSpPr>
          <p:cNvPr id="36" name="TextBox 35"/>
          <p:cNvSpPr txBox="1"/>
          <p:nvPr/>
        </p:nvSpPr>
        <p:spPr>
          <a:xfrm>
            <a:off x="8475268" y="2743200"/>
            <a:ext cx="2893466" cy="2560320"/>
          </a:xfrm>
          <a:prstGeom prst="rect">
            <a:avLst/>
          </a:prstGeom>
          <a:noFill/>
        </p:spPr>
        <p:txBody>
          <a:bodyPr wrap="square" anchor="t" lIns="0" rIns="0" tIns="0" bIns="0">
            <a:spAutoFit/>
          </a:bodyPr>
          <a:lstStyle/>
          <a:p>
            <a:pPr marL="274320" indent="-274320">
              <a:lnSpc>
                <a:spcPct val="112000"/>
              </a:lnSpc>
              <a:spcBef>
                <a:spcPts val="0"/>
              </a:spcBef>
              <a:spcAft>
                <a:spcPts val="1000"/>
              </a:spcAft>
            </a:pPr>
            <a:r>
              <a:rPr sz="1100" b="1">
                <a:solidFill>
                  <a:srgbClr val="FF6B57"/>
                </a:solidFill>
                <a:latin typeface="Segoe UI"/>
              </a:rPr>
              <a:t>▪   </a:t>
            </a:r>
            <a:r>
              <a:rPr sz="1100">
                <a:solidFill>
                  <a:srgbClr val="D6DEE1"/>
                </a:solidFill>
                <a:latin typeface="Segoe UI"/>
              </a:rPr>
              <a:t>All data, one platform</a:t>
            </a:r>
          </a:p>
          <a:p>
            <a:pPr marL="274320" indent="-274320">
              <a:lnSpc>
                <a:spcPct val="112000"/>
              </a:lnSpc>
              <a:spcBef>
                <a:spcPts val="0"/>
              </a:spcBef>
              <a:spcAft>
                <a:spcPts val="1000"/>
              </a:spcAft>
            </a:pPr>
            <a:r>
              <a:rPr sz="1100" b="1">
                <a:solidFill>
                  <a:srgbClr val="FF6B57"/>
                </a:solidFill>
                <a:latin typeface="Segoe UI"/>
              </a:rPr>
              <a:t>▪   </a:t>
            </a:r>
            <a:r>
              <a:rPr sz="1100">
                <a:solidFill>
                  <a:srgbClr val="D6DEE1"/>
                </a:solidFill>
                <a:latin typeface="Segoe UI"/>
              </a:rPr>
              <a:t>ACID on cheap storage</a:t>
            </a:r>
          </a:p>
          <a:p>
            <a:pPr marL="274320" indent="-274320">
              <a:lnSpc>
                <a:spcPct val="112000"/>
              </a:lnSpc>
              <a:spcBef>
                <a:spcPts val="0"/>
              </a:spcBef>
              <a:spcAft>
                <a:spcPts val="1000"/>
              </a:spcAft>
            </a:pPr>
            <a:r>
              <a:rPr sz="1100" b="1">
                <a:solidFill>
                  <a:srgbClr val="FF6B57"/>
                </a:solidFill>
                <a:latin typeface="Segoe UI"/>
              </a:rPr>
              <a:t>▪   </a:t>
            </a:r>
            <a:r>
              <a:rPr sz="1100">
                <a:solidFill>
                  <a:srgbClr val="D6DEE1"/>
                </a:solidFill>
                <a:latin typeface="Segoe UI"/>
              </a:rPr>
              <a:t>BI + ML together</a:t>
            </a:r>
          </a:p>
          <a:p>
            <a:pPr marL="274320" indent="-274320">
              <a:lnSpc>
                <a:spcPct val="112000"/>
              </a:lnSpc>
              <a:spcBef>
                <a:spcPts val="0"/>
              </a:spcBef>
              <a:spcAft>
                <a:spcPts val="1000"/>
              </a:spcAft>
            </a:pPr>
            <a:r>
              <a:rPr sz="1100" b="1">
                <a:solidFill>
                  <a:srgbClr val="FF6B57"/>
                </a:solidFill>
                <a:latin typeface="Segoe UI"/>
              </a:rPr>
              <a:t>▪   </a:t>
            </a:r>
            <a:r>
              <a:rPr sz="1100">
                <a:solidFill>
                  <a:srgbClr val="D6DEE1"/>
                </a:solidFill>
                <a:latin typeface="Segoe UI"/>
              </a:rPr>
              <a:t>Open &amp; governed</a:t>
            </a:r>
          </a:p>
        </p:txBody>
      </p:sp>
      <p:sp>
        <p:nvSpPr>
          <p:cNvPr id="37" name="Rounded Rectangle 36"/>
          <p:cNvSpPr/>
          <p:nvPr/>
        </p:nvSpPr>
        <p:spPr>
          <a:xfrm>
            <a:off x="8456980" y="5074920"/>
            <a:ext cx="2893466" cy="384048"/>
          </a:xfrm>
          <a:prstGeom prst="roundRect">
            <a:avLst>
              <a:gd name="adj" fmla="val 4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FFFFFF"/>
                </a:solidFill>
                <a:latin typeface="Segoe UI Semibold"/>
              </a:rPr>
              <a:t>BEST OF BOTH</a:t>
            </a:r>
          </a:p>
        </p:txBody>
      </p:sp>
      <p:sp>
        <p:nvSpPr>
          <p:cNvPr id="38" name="TextBox 37"/>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39" name="TextBox 38"/>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QUALITY &amp; STORAGE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Medallion Architecture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13871"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Platform</a:t>
            </a:r>
          </a:p>
        </p:txBody>
      </p:sp>
      <p:sp>
        <p:nvSpPr>
          <p:cNvPr id="17" name="Rounded Rectangle 16"/>
          <p:cNvSpPr/>
          <p:nvPr/>
        </p:nvSpPr>
        <p:spPr>
          <a:xfrm>
            <a:off x="566928" y="2011680"/>
            <a:ext cx="3381146" cy="26974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66928" y="2011680"/>
            <a:ext cx="3381146" cy="731520"/>
          </a:xfrm>
          <a:prstGeom prst="rect">
            <a:avLst/>
          </a:prstGeom>
          <a:solidFill>
            <a:srgbClr val="B06A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Can 18"/>
          <p:cNvSpPr/>
          <p:nvPr/>
        </p:nvSpPr>
        <p:spPr>
          <a:xfrm>
            <a:off x="950610" y="2176272"/>
            <a:ext cx="329915" cy="402336"/>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527048" y="2011680"/>
            <a:ext cx="2375306" cy="731520"/>
          </a:xfrm>
          <a:prstGeom prst="rect">
            <a:avLst/>
          </a:prstGeom>
          <a:noFill/>
        </p:spPr>
        <p:txBody>
          <a:bodyPr wrap="square" anchor="ctr" lIns="0" rIns="0" tIns="0" bIns="0">
            <a:spAutoFit/>
          </a:bodyPr>
          <a:lstStyle/>
          <a:p>
            <a:pPr algn="l">
              <a:lnSpc>
                <a:spcPct val="100000"/>
              </a:lnSpc>
              <a:spcBef>
                <a:spcPts val="0"/>
              </a:spcBef>
              <a:spcAft>
                <a:spcPts val="200"/>
              </a:spcAft>
            </a:pPr>
            <a:r>
              <a:rPr sz="1800" b="1" i="0">
                <a:solidFill>
                  <a:srgbClr val="FFFFFF"/>
                </a:solidFill>
                <a:latin typeface="Segoe UI"/>
              </a:rPr>
              <a:t>Bronze</a:t>
            </a:r>
          </a:p>
        </p:txBody>
      </p:sp>
      <p:sp>
        <p:nvSpPr>
          <p:cNvPr id="21" name="TextBox 20"/>
          <p:cNvSpPr txBox="1"/>
          <p:nvPr/>
        </p:nvSpPr>
        <p:spPr>
          <a:xfrm>
            <a:off x="859536" y="2926080"/>
            <a:ext cx="2832506" cy="1645920"/>
          </a:xfrm>
          <a:prstGeom prst="rect">
            <a:avLst/>
          </a:prstGeom>
          <a:noFill/>
        </p:spPr>
        <p:txBody>
          <a:bodyPr wrap="square" anchor="t" lIns="0" rIns="0" tIns="0" bIns="0">
            <a:spAutoFit/>
          </a:bodyPr>
          <a:lstStyle/>
          <a:p>
            <a:pPr marL="274320" indent="-274320">
              <a:lnSpc>
                <a:spcPct val="112000"/>
              </a:lnSpc>
              <a:spcBef>
                <a:spcPts val="0"/>
              </a:spcBef>
              <a:spcAft>
                <a:spcPts val="900"/>
              </a:spcAft>
            </a:pPr>
            <a:r>
              <a:rPr sz="1150" b="1">
                <a:solidFill>
                  <a:srgbClr val="B06A3B"/>
                </a:solidFill>
                <a:latin typeface="Segoe UI"/>
              </a:rPr>
              <a:t>▪   </a:t>
            </a:r>
            <a:r>
              <a:rPr sz="1150">
                <a:solidFill>
                  <a:srgbClr val="465257"/>
                </a:solidFill>
                <a:latin typeface="Segoe UI"/>
              </a:rPr>
              <a:t>Raw, as-ingested</a:t>
            </a:r>
          </a:p>
          <a:p>
            <a:pPr marL="274320" indent="-274320">
              <a:lnSpc>
                <a:spcPct val="112000"/>
              </a:lnSpc>
              <a:spcBef>
                <a:spcPts val="0"/>
              </a:spcBef>
              <a:spcAft>
                <a:spcPts val="900"/>
              </a:spcAft>
            </a:pPr>
            <a:r>
              <a:rPr sz="1150" b="1">
                <a:solidFill>
                  <a:srgbClr val="B06A3B"/>
                </a:solidFill>
                <a:latin typeface="Segoe UI"/>
              </a:rPr>
              <a:t>▪   </a:t>
            </a:r>
            <a:r>
              <a:rPr sz="1150">
                <a:solidFill>
                  <a:srgbClr val="465257"/>
                </a:solidFill>
                <a:latin typeface="Segoe UI"/>
              </a:rPr>
              <a:t>Full history</a:t>
            </a:r>
          </a:p>
          <a:p>
            <a:pPr marL="274320" indent="-274320">
              <a:lnSpc>
                <a:spcPct val="112000"/>
              </a:lnSpc>
              <a:spcBef>
                <a:spcPts val="0"/>
              </a:spcBef>
              <a:spcAft>
                <a:spcPts val="900"/>
              </a:spcAft>
            </a:pPr>
            <a:r>
              <a:rPr sz="1150" b="1">
                <a:solidFill>
                  <a:srgbClr val="B06A3B"/>
                </a:solidFill>
                <a:latin typeface="Segoe UI"/>
              </a:rPr>
              <a:t>▪   </a:t>
            </a:r>
            <a:r>
              <a:rPr sz="1150">
                <a:solidFill>
                  <a:srgbClr val="465257"/>
                </a:solidFill>
                <a:latin typeface="Segoe UI"/>
              </a:rPr>
              <a:t>Source of truth</a:t>
            </a:r>
          </a:p>
        </p:txBody>
      </p:sp>
      <p:sp>
        <p:nvSpPr>
          <p:cNvPr id="22" name="Right Arrow 21"/>
          <p:cNvSpPr/>
          <p:nvPr/>
        </p:nvSpPr>
        <p:spPr>
          <a:xfrm>
            <a:off x="4021226" y="3172968"/>
            <a:ext cx="365760" cy="237744"/>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4405274" y="2011680"/>
            <a:ext cx="3381146" cy="26974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405274" y="2011680"/>
            <a:ext cx="3381146" cy="731520"/>
          </a:xfrm>
          <a:prstGeom prst="rect">
            <a:avLst/>
          </a:prstGeom>
          <a:solidFill>
            <a:srgbClr val="8D9A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rapezoid 24"/>
          <p:cNvSpPr/>
          <p:nvPr/>
        </p:nvSpPr>
        <p:spPr>
          <a:xfrm rot="10800000">
            <a:off x="4784933" y="2232599"/>
            <a:ext cx="337962" cy="160934"/>
          </a:xfrm>
          <a:prstGeom prst="trapezoi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929774" y="2393533"/>
            <a:ext cx="48280" cy="13679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365394" y="2011680"/>
            <a:ext cx="2375306" cy="731520"/>
          </a:xfrm>
          <a:prstGeom prst="rect">
            <a:avLst/>
          </a:prstGeom>
          <a:noFill/>
        </p:spPr>
        <p:txBody>
          <a:bodyPr wrap="square" anchor="ctr" lIns="0" rIns="0" tIns="0" bIns="0">
            <a:spAutoFit/>
          </a:bodyPr>
          <a:lstStyle/>
          <a:p>
            <a:pPr algn="l">
              <a:lnSpc>
                <a:spcPct val="100000"/>
              </a:lnSpc>
              <a:spcBef>
                <a:spcPts val="0"/>
              </a:spcBef>
              <a:spcAft>
                <a:spcPts val="200"/>
              </a:spcAft>
            </a:pPr>
            <a:r>
              <a:rPr sz="1800" b="1" i="0">
                <a:solidFill>
                  <a:srgbClr val="FFFFFF"/>
                </a:solidFill>
                <a:latin typeface="Segoe UI"/>
              </a:rPr>
              <a:t>Silver</a:t>
            </a:r>
          </a:p>
        </p:txBody>
      </p:sp>
      <p:sp>
        <p:nvSpPr>
          <p:cNvPr id="28" name="TextBox 27"/>
          <p:cNvSpPr txBox="1"/>
          <p:nvPr/>
        </p:nvSpPr>
        <p:spPr>
          <a:xfrm>
            <a:off x="4697882" y="2926080"/>
            <a:ext cx="2832506" cy="1645920"/>
          </a:xfrm>
          <a:prstGeom prst="rect">
            <a:avLst/>
          </a:prstGeom>
          <a:noFill/>
        </p:spPr>
        <p:txBody>
          <a:bodyPr wrap="square" anchor="t" lIns="0" rIns="0" tIns="0" bIns="0">
            <a:spAutoFit/>
          </a:bodyPr>
          <a:lstStyle/>
          <a:p>
            <a:pPr marL="274320" indent="-274320">
              <a:lnSpc>
                <a:spcPct val="112000"/>
              </a:lnSpc>
              <a:spcBef>
                <a:spcPts val="0"/>
              </a:spcBef>
              <a:spcAft>
                <a:spcPts val="900"/>
              </a:spcAft>
            </a:pPr>
            <a:r>
              <a:rPr sz="1150" b="1">
                <a:solidFill>
                  <a:srgbClr val="8D9AA3"/>
                </a:solidFill>
                <a:latin typeface="Segoe UI"/>
              </a:rPr>
              <a:t>▪   </a:t>
            </a:r>
            <a:r>
              <a:rPr sz="1150">
                <a:solidFill>
                  <a:srgbClr val="465257"/>
                </a:solidFill>
                <a:latin typeface="Segoe UI"/>
              </a:rPr>
              <a:t>Cleansed &amp; conformed</a:t>
            </a:r>
          </a:p>
          <a:p>
            <a:pPr marL="274320" indent="-274320">
              <a:lnSpc>
                <a:spcPct val="112000"/>
              </a:lnSpc>
              <a:spcBef>
                <a:spcPts val="0"/>
              </a:spcBef>
              <a:spcAft>
                <a:spcPts val="900"/>
              </a:spcAft>
            </a:pPr>
            <a:r>
              <a:rPr sz="1150" b="1">
                <a:solidFill>
                  <a:srgbClr val="8D9AA3"/>
                </a:solidFill>
                <a:latin typeface="Segoe UI"/>
              </a:rPr>
              <a:t>▪   </a:t>
            </a:r>
            <a:r>
              <a:rPr sz="1150">
                <a:solidFill>
                  <a:srgbClr val="465257"/>
                </a:solidFill>
                <a:latin typeface="Segoe UI"/>
              </a:rPr>
              <a:t>De-duplicated, joined</a:t>
            </a:r>
          </a:p>
          <a:p>
            <a:pPr marL="274320" indent="-274320">
              <a:lnSpc>
                <a:spcPct val="112000"/>
              </a:lnSpc>
              <a:spcBef>
                <a:spcPts val="0"/>
              </a:spcBef>
              <a:spcAft>
                <a:spcPts val="900"/>
              </a:spcAft>
            </a:pPr>
            <a:r>
              <a:rPr sz="1150" b="1">
                <a:solidFill>
                  <a:srgbClr val="8D9AA3"/>
                </a:solidFill>
                <a:latin typeface="Segoe UI"/>
              </a:rPr>
              <a:t>▪   </a:t>
            </a:r>
            <a:r>
              <a:rPr sz="1150">
                <a:solidFill>
                  <a:srgbClr val="465257"/>
                </a:solidFill>
                <a:latin typeface="Segoe UI"/>
              </a:rPr>
              <a:t>Trusted &amp; queryable</a:t>
            </a:r>
          </a:p>
        </p:txBody>
      </p:sp>
      <p:sp>
        <p:nvSpPr>
          <p:cNvPr id="29" name="Right Arrow 28"/>
          <p:cNvSpPr/>
          <p:nvPr/>
        </p:nvSpPr>
        <p:spPr>
          <a:xfrm>
            <a:off x="7859572" y="3172968"/>
            <a:ext cx="365760" cy="237744"/>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8243620" y="2011680"/>
            <a:ext cx="3381146" cy="26974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243620" y="2011680"/>
            <a:ext cx="3381146" cy="731520"/>
          </a:xfrm>
          <a:prstGeom prst="rect">
            <a:avLst/>
          </a:prstGeom>
          <a:solidFill>
            <a:srgbClr val="D8A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Diamond 31"/>
          <p:cNvSpPr/>
          <p:nvPr/>
        </p:nvSpPr>
        <p:spPr>
          <a:xfrm>
            <a:off x="8607186" y="2176272"/>
            <a:ext cx="370149" cy="402336"/>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203740" y="2011680"/>
            <a:ext cx="2375306" cy="731520"/>
          </a:xfrm>
          <a:prstGeom prst="rect">
            <a:avLst/>
          </a:prstGeom>
          <a:noFill/>
        </p:spPr>
        <p:txBody>
          <a:bodyPr wrap="square" anchor="ctr" lIns="0" rIns="0" tIns="0" bIns="0">
            <a:spAutoFit/>
          </a:bodyPr>
          <a:lstStyle/>
          <a:p>
            <a:pPr algn="l">
              <a:lnSpc>
                <a:spcPct val="100000"/>
              </a:lnSpc>
              <a:spcBef>
                <a:spcPts val="0"/>
              </a:spcBef>
              <a:spcAft>
                <a:spcPts val="200"/>
              </a:spcAft>
            </a:pPr>
            <a:r>
              <a:rPr sz="1800" b="1" i="0">
                <a:solidFill>
                  <a:srgbClr val="FFFFFF"/>
                </a:solidFill>
                <a:latin typeface="Segoe UI"/>
              </a:rPr>
              <a:t>Gold</a:t>
            </a:r>
          </a:p>
        </p:txBody>
      </p:sp>
      <p:sp>
        <p:nvSpPr>
          <p:cNvPr id="34" name="TextBox 33"/>
          <p:cNvSpPr txBox="1"/>
          <p:nvPr/>
        </p:nvSpPr>
        <p:spPr>
          <a:xfrm>
            <a:off x="8536228" y="2926080"/>
            <a:ext cx="2832506" cy="1645920"/>
          </a:xfrm>
          <a:prstGeom prst="rect">
            <a:avLst/>
          </a:prstGeom>
          <a:noFill/>
        </p:spPr>
        <p:txBody>
          <a:bodyPr wrap="square" anchor="t" lIns="0" rIns="0" tIns="0" bIns="0">
            <a:spAutoFit/>
          </a:bodyPr>
          <a:lstStyle/>
          <a:p>
            <a:pPr marL="274320" indent="-274320">
              <a:lnSpc>
                <a:spcPct val="112000"/>
              </a:lnSpc>
              <a:spcBef>
                <a:spcPts val="0"/>
              </a:spcBef>
              <a:spcAft>
                <a:spcPts val="900"/>
              </a:spcAft>
            </a:pPr>
            <a:r>
              <a:rPr sz="1150" b="1">
                <a:solidFill>
                  <a:srgbClr val="D8A32B"/>
                </a:solidFill>
                <a:latin typeface="Segoe UI"/>
              </a:rPr>
              <a:t>▪   </a:t>
            </a:r>
            <a:r>
              <a:rPr sz="1150">
                <a:solidFill>
                  <a:srgbClr val="465257"/>
                </a:solidFill>
                <a:latin typeface="Segoe UI"/>
              </a:rPr>
              <a:t>Business aggregates</a:t>
            </a:r>
          </a:p>
          <a:p>
            <a:pPr marL="274320" indent="-274320">
              <a:lnSpc>
                <a:spcPct val="112000"/>
              </a:lnSpc>
              <a:spcBef>
                <a:spcPts val="0"/>
              </a:spcBef>
              <a:spcAft>
                <a:spcPts val="900"/>
              </a:spcAft>
            </a:pPr>
            <a:r>
              <a:rPr sz="1150" b="1">
                <a:solidFill>
                  <a:srgbClr val="D8A32B"/>
                </a:solidFill>
                <a:latin typeface="Segoe UI"/>
              </a:rPr>
              <a:t>▪   </a:t>
            </a:r>
            <a:r>
              <a:rPr sz="1150">
                <a:solidFill>
                  <a:srgbClr val="465257"/>
                </a:solidFill>
                <a:latin typeface="Segoe UI"/>
              </a:rPr>
              <a:t>KPIs &amp; ML features</a:t>
            </a:r>
          </a:p>
          <a:p>
            <a:pPr marL="274320" indent="-274320">
              <a:lnSpc>
                <a:spcPct val="112000"/>
              </a:lnSpc>
              <a:spcBef>
                <a:spcPts val="0"/>
              </a:spcBef>
              <a:spcAft>
                <a:spcPts val="900"/>
              </a:spcAft>
            </a:pPr>
            <a:r>
              <a:rPr sz="1150" b="1">
                <a:solidFill>
                  <a:srgbClr val="D8A32B"/>
                </a:solidFill>
                <a:latin typeface="Segoe UI"/>
              </a:rPr>
              <a:t>▪   </a:t>
            </a:r>
            <a:r>
              <a:rPr sz="1150">
                <a:solidFill>
                  <a:srgbClr val="465257"/>
                </a:solidFill>
                <a:latin typeface="Segoe UI"/>
              </a:rPr>
              <a:t>Consumption-ready</a:t>
            </a:r>
          </a:p>
        </p:txBody>
      </p:sp>
      <p:sp>
        <p:nvSpPr>
          <p:cNvPr id="35" name="Rectangle 34"/>
          <p:cNvSpPr/>
          <p:nvPr/>
        </p:nvSpPr>
        <p:spPr>
          <a:xfrm>
            <a:off x="566928" y="4983480"/>
            <a:ext cx="11057839" cy="457200"/>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41247" y="4983480"/>
            <a:ext cx="4206240" cy="457200"/>
          </a:xfrm>
          <a:prstGeom prst="rect">
            <a:avLst/>
          </a:prstGeom>
          <a:noFill/>
        </p:spPr>
        <p:txBody>
          <a:bodyPr wrap="square" anchor="ctr" lIns="0" rIns="0" tIns="0" bIns="0">
            <a:spAutoFit/>
          </a:bodyPr>
          <a:lstStyle/>
          <a:p>
            <a:pPr algn="l">
              <a:lnSpc>
                <a:spcPct val="100000"/>
              </a:lnSpc>
              <a:spcBef>
                <a:spcPts val="0"/>
              </a:spcBef>
              <a:spcAft>
                <a:spcPts val="200"/>
              </a:spcAft>
            </a:pPr>
            <a:r>
              <a:rPr sz="1100" b="1" i="0">
                <a:solidFill>
                  <a:srgbClr val="1B3139"/>
                </a:solidFill>
                <a:latin typeface="Segoe UI"/>
              </a:rPr>
              <a:t>Data quality rises left to right</a:t>
            </a:r>
          </a:p>
        </p:txBody>
      </p:sp>
      <p:sp>
        <p:nvSpPr>
          <p:cNvPr id="37" name="Rounded Rectangle 36"/>
          <p:cNvSpPr/>
          <p:nvPr/>
        </p:nvSpPr>
        <p:spPr>
          <a:xfrm>
            <a:off x="5047488" y="5065776"/>
            <a:ext cx="5760720" cy="256032"/>
          </a:xfrm>
          <a:prstGeom prst="roundRect">
            <a:avLst>
              <a:gd name="adj" fmla="val 50000"/>
            </a:avLst>
          </a:prstGeom>
          <a:gradFill rotWithShape="1">
            <a:gsLst>
              <a:gs pos="0">
                <a:srgbClr val="B06A3B"/>
              </a:gs>
              <a:gs pos="100000">
                <a:srgbClr val="D8A32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ight Arrow 37"/>
          <p:cNvSpPr/>
          <p:nvPr/>
        </p:nvSpPr>
        <p:spPr>
          <a:xfrm>
            <a:off x="10287000" y="5047488"/>
            <a:ext cx="603504" cy="274320"/>
          </a:xfrm>
          <a:prstGeom prst="rightArrow">
            <a:avLst/>
          </a:prstGeom>
          <a:solidFill>
            <a:srgbClr val="D8A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566928" y="5623560"/>
            <a:ext cx="11057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150" b="0" i="1">
                <a:solidFill>
                  <a:srgbClr val="6B777C"/>
                </a:solidFill>
                <a:latin typeface="Segoe UI"/>
              </a:rPr>
              <a:t>The medallion is how transformation, quality and storage come together in practice.</a:t>
            </a:r>
          </a:p>
        </p:txBody>
      </p:sp>
      <p:sp>
        <p:nvSpPr>
          <p:cNvPr id="40" name="TextBox 39"/>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1" name="TextBox 40"/>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QUALITY &amp; STORAGE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End-to-End Databricks Processing</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13871"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Platform</a:t>
            </a:r>
          </a:p>
        </p:txBody>
      </p:sp>
      <p:sp>
        <p:nvSpPr>
          <p:cNvPr id="17" name="Rounded Rectangle 16"/>
          <p:cNvSpPr/>
          <p:nvPr/>
        </p:nvSpPr>
        <p:spPr>
          <a:xfrm>
            <a:off x="566928" y="2377440"/>
            <a:ext cx="1721053"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66928" y="2377440"/>
            <a:ext cx="1721053" cy="91440"/>
          </a:xfrm>
          <a:prstGeom prst="rect">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061694" y="2651760"/>
            <a:ext cx="731520" cy="731520"/>
          </a:xfrm>
          <a:prstGeom prst="ellipse">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1272664" y="2862730"/>
            <a:ext cx="309579" cy="309579"/>
          </a:xfrm>
          <a:prstGeom prst="ellipse">
            <a:avLst/>
          </a:prstGeom>
          <a:noFill/>
          <a:ln w="37388">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1366884" y="2862730"/>
            <a:ext cx="121139" cy="309579"/>
          </a:xfrm>
          <a:prstGeom prst="ellipse">
            <a:avLst/>
          </a:prstGeom>
          <a:noFill/>
          <a:ln w="28041">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72664" y="3007425"/>
            <a:ext cx="309579" cy="2018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03504" y="3493008"/>
            <a:ext cx="1647901"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Sources</a:t>
            </a:r>
          </a:p>
        </p:txBody>
      </p:sp>
      <p:sp>
        <p:nvSpPr>
          <p:cNvPr id="24" name="TextBox 23"/>
          <p:cNvSpPr txBox="1"/>
          <p:nvPr/>
        </p:nvSpPr>
        <p:spPr>
          <a:xfrm>
            <a:off x="603504" y="3895344"/>
            <a:ext cx="1647901" cy="731520"/>
          </a:xfrm>
          <a:prstGeom prst="rect">
            <a:avLst/>
          </a:prstGeom>
          <a:noFill/>
        </p:spPr>
        <p:txBody>
          <a:bodyPr wrap="square" anchor="t" lIns="0" rIns="0" tIns="0" bIns="0">
            <a:spAutoFit/>
          </a:bodyPr>
          <a:lstStyle/>
          <a:p>
            <a:pPr algn="ctr">
              <a:lnSpc>
                <a:spcPct val="100000"/>
              </a:lnSpc>
              <a:spcBef>
                <a:spcPts val="0"/>
              </a:spcBef>
              <a:spcAft>
                <a:spcPts val="200"/>
              </a:spcAft>
            </a:pPr>
            <a:r>
              <a:rPr sz="840" b="0" i="0">
                <a:solidFill>
                  <a:srgbClr val="6B777C"/>
                </a:solidFill>
                <a:latin typeface="Segoe UI"/>
              </a:rPr>
              <a:t>DBs · APIs
IoT · files</a:t>
            </a:r>
          </a:p>
        </p:txBody>
      </p:sp>
      <p:sp>
        <p:nvSpPr>
          <p:cNvPr id="25" name="Oval 24"/>
          <p:cNvSpPr/>
          <p:nvPr/>
        </p:nvSpPr>
        <p:spPr>
          <a:xfrm>
            <a:off x="649224" y="2459736"/>
            <a:ext cx="310896" cy="310896"/>
          </a:xfrm>
          <a:prstGeom prst="ellipse">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1</a:t>
            </a:r>
          </a:p>
        </p:txBody>
      </p:sp>
      <p:sp>
        <p:nvSpPr>
          <p:cNvPr id="26" name="Right Arrow 25"/>
          <p:cNvSpPr/>
          <p:nvPr/>
        </p:nvSpPr>
        <p:spPr>
          <a:xfrm>
            <a:off x="2287981" y="344728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2434285" y="2377440"/>
            <a:ext cx="1721053"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434285" y="2377440"/>
            <a:ext cx="1721053" cy="91440"/>
          </a:xfrm>
          <a:prstGeom prst="rect">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2929051" y="2651760"/>
            <a:ext cx="731520" cy="731520"/>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rapezoid 29"/>
          <p:cNvSpPr/>
          <p:nvPr/>
        </p:nvSpPr>
        <p:spPr>
          <a:xfrm rot="10800000">
            <a:off x="3153482" y="2896380"/>
            <a:ext cx="282659" cy="134599"/>
          </a:xfrm>
          <a:prstGeom prst="trapezoi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274621" y="3030979"/>
            <a:ext cx="40379" cy="11440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470861" y="3493008"/>
            <a:ext cx="1647901"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Auto Loader</a:t>
            </a:r>
          </a:p>
        </p:txBody>
      </p:sp>
      <p:sp>
        <p:nvSpPr>
          <p:cNvPr id="33" name="TextBox 32"/>
          <p:cNvSpPr txBox="1"/>
          <p:nvPr/>
        </p:nvSpPr>
        <p:spPr>
          <a:xfrm>
            <a:off x="2470861" y="3895344"/>
            <a:ext cx="1647901" cy="731520"/>
          </a:xfrm>
          <a:prstGeom prst="rect">
            <a:avLst/>
          </a:prstGeom>
          <a:noFill/>
        </p:spPr>
        <p:txBody>
          <a:bodyPr wrap="square" anchor="t" lIns="0" rIns="0" tIns="0" bIns="0">
            <a:spAutoFit/>
          </a:bodyPr>
          <a:lstStyle/>
          <a:p>
            <a:pPr algn="ctr">
              <a:lnSpc>
                <a:spcPct val="100000"/>
              </a:lnSpc>
              <a:spcBef>
                <a:spcPts val="0"/>
              </a:spcBef>
              <a:spcAft>
                <a:spcPts val="200"/>
              </a:spcAft>
            </a:pPr>
            <a:r>
              <a:rPr sz="840" b="0" i="0">
                <a:solidFill>
                  <a:srgbClr val="6B777C"/>
                </a:solidFill>
                <a:latin typeface="Segoe UI"/>
              </a:rPr>
              <a:t>incremental
ingestion</a:t>
            </a:r>
          </a:p>
        </p:txBody>
      </p:sp>
      <p:sp>
        <p:nvSpPr>
          <p:cNvPr id="34" name="Oval 33"/>
          <p:cNvSpPr/>
          <p:nvPr/>
        </p:nvSpPr>
        <p:spPr>
          <a:xfrm>
            <a:off x="2516581" y="2459736"/>
            <a:ext cx="310896" cy="310896"/>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2</a:t>
            </a:r>
          </a:p>
        </p:txBody>
      </p:sp>
      <p:sp>
        <p:nvSpPr>
          <p:cNvPr id="35" name="Right Arrow 34"/>
          <p:cNvSpPr/>
          <p:nvPr/>
        </p:nvSpPr>
        <p:spPr>
          <a:xfrm>
            <a:off x="4155338" y="344728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4301642" y="2377440"/>
            <a:ext cx="1721053"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301642" y="2377440"/>
            <a:ext cx="1721053" cy="91440"/>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4796409" y="2651760"/>
            <a:ext cx="731520" cy="731520"/>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Isosceles Triangle 38"/>
          <p:cNvSpPr/>
          <p:nvPr/>
        </p:nvSpPr>
        <p:spPr>
          <a:xfrm>
            <a:off x="4993919" y="2866095"/>
            <a:ext cx="336499" cy="302849"/>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338218" y="3493008"/>
            <a:ext cx="1647901"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Delta Lake</a:t>
            </a:r>
          </a:p>
        </p:txBody>
      </p:sp>
      <p:sp>
        <p:nvSpPr>
          <p:cNvPr id="41" name="TextBox 40"/>
          <p:cNvSpPr txBox="1"/>
          <p:nvPr/>
        </p:nvSpPr>
        <p:spPr>
          <a:xfrm>
            <a:off x="4338218" y="3895344"/>
            <a:ext cx="1647901" cy="731520"/>
          </a:xfrm>
          <a:prstGeom prst="rect">
            <a:avLst/>
          </a:prstGeom>
          <a:noFill/>
        </p:spPr>
        <p:txBody>
          <a:bodyPr wrap="square" anchor="t" lIns="0" rIns="0" tIns="0" bIns="0">
            <a:spAutoFit/>
          </a:bodyPr>
          <a:lstStyle/>
          <a:p>
            <a:pPr algn="ctr">
              <a:lnSpc>
                <a:spcPct val="100000"/>
              </a:lnSpc>
              <a:spcBef>
                <a:spcPts val="0"/>
              </a:spcBef>
              <a:spcAft>
                <a:spcPts val="200"/>
              </a:spcAft>
            </a:pPr>
            <a:r>
              <a:rPr sz="840" b="0" i="0">
                <a:solidFill>
                  <a:srgbClr val="6B777C"/>
                </a:solidFill>
                <a:latin typeface="Segoe UI"/>
              </a:rPr>
              <a:t>reliable
storage</a:t>
            </a:r>
          </a:p>
        </p:txBody>
      </p:sp>
      <p:sp>
        <p:nvSpPr>
          <p:cNvPr id="42" name="Oval 41"/>
          <p:cNvSpPr/>
          <p:nvPr/>
        </p:nvSpPr>
        <p:spPr>
          <a:xfrm>
            <a:off x="4383938" y="2459736"/>
            <a:ext cx="310896" cy="310896"/>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3</a:t>
            </a:r>
          </a:p>
        </p:txBody>
      </p:sp>
      <p:sp>
        <p:nvSpPr>
          <p:cNvPr id="43" name="Right Arrow 42"/>
          <p:cNvSpPr/>
          <p:nvPr/>
        </p:nvSpPr>
        <p:spPr>
          <a:xfrm>
            <a:off x="6022695" y="344728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6168999" y="2377440"/>
            <a:ext cx="1721053"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6168999" y="2377440"/>
            <a:ext cx="1721053" cy="9144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Oval 45"/>
          <p:cNvSpPr/>
          <p:nvPr/>
        </p:nvSpPr>
        <p:spPr>
          <a:xfrm>
            <a:off x="6663766" y="2651760"/>
            <a:ext cx="731520" cy="731520"/>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Lightning Bolt 46"/>
          <p:cNvSpPr/>
          <p:nvPr/>
        </p:nvSpPr>
        <p:spPr>
          <a:xfrm>
            <a:off x="6911751" y="2849270"/>
            <a:ext cx="235549" cy="336499"/>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205575" y="3493008"/>
            <a:ext cx="1647901"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Spark</a:t>
            </a:r>
          </a:p>
        </p:txBody>
      </p:sp>
      <p:sp>
        <p:nvSpPr>
          <p:cNvPr id="49" name="TextBox 48"/>
          <p:cNvSpPr txBox="1"/>
          <p:nvPr/>
        </p:nvSpPr>
        <p:spPr>
          <a:xfrm>
            <a:off x="6205575" y="3895344"/>
            <a:ext cx="1647901" cy="731520"/>
          </a:xfrm>
          <a:prstGeom prst="rect">
            <a:avLst/>
          </a:prstGeom>
          <a:noFill/>
        </p:spPr>
        <p:txBody>
          <a:bodyPr wrap="square" anchor="t" lIns="0" rIns="0" tIns="0" bIns="0">
            <a:spAutoFit/>
          </a:bodyPr>
          <a:lstStyle/>
          <a:p>
            <a:pPr algn="ctr">
              <a:lnSpc>
                <a:spcPct val="100000"/>
              </a:lnSpc>
              <a:spcBef>
                <a:spcPts val="0"/>
              </a:spcBef>
              <a:spcAft>
                <a:spcPts val="200"/>
              </a:spcAft>
            </a:pPr>
            <a:r>
              <a:rPr sz="840" b="0" i="0">
                <a:solidFill>
                  <a:srgbClr val="6B777C"/>
                </a:solidFill>
                <a:latin typeface="Segoe UI"/>
              </a:rPr>
              <a:t>distributed
processing</a:t>
            </a:r>
          </a:p>
        </p:txBody>
      </p:sp>
      <p:sp>
        <p:nvSpPr>
          <p:cNvPr id="50" name="Oval 49"/>
          <p:cNvSpPr/>
          <p:nvPr/>
        </p:nvSpPr>
        <p:spPr>
          <a:xfrm>
            <a:off x="6251295" y="2459736"/>
            <a:ext cx="310896" cy="310896"/>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4</a:t>
            </a:r>
          </a:p>
        </p:txBody>
      </p:sp>
      <p:sp>
        <p:nvSpPr>
          <p:cNvPr id="51" name="Right Arrow 50"/>
          <p:cNvSpPr/>
          <p:nvPr/>
        </p:nvSpPr>
        <p:spPr>
          <a:xfrm>
            <a:off x="7890052" y="344728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ounded Rectangle 51"/>
          <p:cNvSpPr/>
          <p:nvPr/>
        </p:nvSpPr>
        <p:spPr>
          <a:xfrm>
            <a:off x="8036356" y="2377440"/>
            <a:ext cx="1721053"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8036356" y="2377440"/>
            <a:ext cx="1721053" cy="91440"/>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Oval 53"/>
          <p:cNvSpPr/>
          <p:nvPr/>
        </p:nvSpPr>
        <p:spPr>
          <a:xfrm>
            <a:off x="8531123" y="2651760"/>
            <a:ext cx="731520" cy="731520"/>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8742093" y="2904792"/>
            <a:ext cx="87489" cy="10094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8853138" y="2904792"/>
            <a:ext cx="87489" cy="10094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8964183" y="2904792"/>
            <a:ext cx="87489" cy="10094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8742093" y="3029297"/>
            <a:ext cx="87489" cy="10094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8853138" y="3029297"/>
            <a:ext cx="87489" cy="10094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8964183" y="3029297"/>
            <a:ext cx="87489" cy="10094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8072932" y="3493008"/>
            <a:ext cx="1647901"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Lakehouse</a:t>
            </a:r>
          </a:p>
        </p:txBody>
      </p:sp>
      <p:sp>
        <p:nvSpPr>
          <p:cNvPr id="62" name="TextBox 61"/>
          <p:cNvSpPr txBox="1"/>
          <p:nvPr/>
        </p:nvSpPr>
        <p:spPr>
          <a:xfrm>
            <a:off x="8072932" y="3895344"/>
            <a:ext cx="1647901" cy="731520"/>
          </a:xfrm>
          <a:prstGeom prst="rect">
            <a:avLst/>
          </a:prstGeom>
          <a:noFill/>
        </p:spPr>
        <p:txBody>
          <a:bodyPr wrap="square" anchor="t" lIns="0" rIns="0" tIns="0" bIns="0">
            <a:spAutoFit/>
          </a:bodyPr>
          <a:lstStyle/>
          <a:p>
            <a:pPr algn="ctr">
              <a:lnSpc>
                <a:spcPct val="100000"/>
              </a:lnSpc>
              <a:spcBef>
                <a:spcPts val="0"/>
              </a:spcBef>
              <a:spcAft>
                <a:spcPts val="200"/>
              </a:spcAft>
            </a:pPr>
            <a:r>
              <a:rPr sz="840" b="0" i="0">
                <a:solidFill>
                  <a:srgbClr val="6B777C"/>
                </a:solidFill>
                <a:latin typeface="Segoe UI"/>
              </a:rPr>
              <a:t>medallion
tables</a:t>
            </a:r>
          </a:p>
        </p:txBody>
      </p:sp>
      <p:sp>
        <p:nvSpPr>
          <p:cNvPr id="63" name="Oval 62"/>
          <p:cNvSpPr/>
          <p:nvPr/>
        </p:nvSpPr>
        <p:spPr>
          <a:xfrm>
            <a:off x="8118652" y="2459736"/>
            <a:ext cx="310896" cy="310896"/>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5</a:t>
            </a:r>
          </a:p>
        </p:txBody>
      </p:sp>
      <p:sp>
        <p:nvSpPr>
          <p:cNvPr id="64" name="Right Arrow 63"/>
          <p:cNvSpPr/>
          <p:nvPr/>
        </p:nvSpPr>
        <p:spPr>
          <a:xfrm>
            <a:off x="9757410" y="344728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Rounded Rectangle 64"/>
          <p:cNvSpPr/>
          <p:nvPr/>
        </p:nvSpPr>
        <p:spPr>
          <a:xfrm>
            <a:off x="9903714" y="2377440"/>
            <a:ext cx="1721053"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ectangle 65"/>
          <p:cNvSpPr/>
          <p:nvPr/>
        </p:nvSpPr>
        <p:spPr>
          <a:xfrm>
            <a:off x="9903714" y="2377440"/>
            <a:ext cx="1721053" cy="91440"/>
          </a:xfrm>
          <a:prstGeom prst="rect">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Oval 66"/>
          <p:cNvSpPr/>
          <p:nvPr/>
        </p:nvSpPr>
        <p:spPr>
          <a:xfrm>
            <a:off x="10398480" y="2651760"/>
            <a:ext cx="731520" cy="731520"/>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ounded Rectangle 67"/>
          <p:cNvSpPr/>
          <p:nvPr/>
        </p:nvSpPr>
        <p:spPr>
          <a:xfrm>
            <a:off x="10622910" y="3017520"/>
            <a:ext cx="67299" cy="16824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ounded Rectangle 68"/>
          <p:cNvSpPr/>
          <p:nvPr/>
        </p:nvSpPr>
        <p:spPr>
          <a:xfrm>
            <a:off x="10730590" y="2923300"/>
            <a:ext cx="67299" cy="26246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Rounded Rectangle 69"/>
          <p:cNvSpPr/>
          <p:nvPr/>
        </p:nvSpPr>
        <p:spPr>
          <a:xfrm>
            <a:off x="10838270" y="2849270"/>
            <a:ext cx="67299" cy="33649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9940289" y="3493008"/>
            <a:ext cx="1647901"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BI / AI</a:t>
            </a:r>
          </a:p>
        </p:txBody>
      </p:sp>
      <p:sp>
        <p:nvSpPr>
          <p:cNvPr id="72" name="TextBox 71"/>
          <p:cNvSpPr txBox="1"/>
          <p:nvPr/>
        </p:nvSpPr>
        <p:spPr>
          <a:xfrm>
            <a:off x="9940289" y="3895344"/>
            <a:ext cx="1647901" cy="731520"/>
          </a:xfrm>
          <a:prstGeom prst="rect">
            <a:avLst/>
          </a:prstGeom>
          <a:noFill/>
        </p:spPr>
        <p:txBody>
          <a:bodyPr wrap="square" anchor="t" lIns="0" rIns="0" tIns="0" bIns="0">
            <a:spAutoFit/>
          </a:bodyPr>
          <a:lstStyle/>
          <a:p>
            <a:pPr algn="ctr">
              <a:lnSpc>
                <a:spcPct val="100000"/>
              </a:lnSpc>
              <a:spcBef>
                <a:spcPts val="0"/>
              </a:spcBef>
              <a:spcAft>
                <a:spcPts val="200"/>
              </a:spcAft>
            </a:pPr>
            <a:r>
              <a:rPr sz="840" b="0" i="0">
                <a:solidFill>
                  <a:srgbClr val="6B777C"/>
                </a:solidFill>
                <a:latin typeface="Segoe UI"/>
              </a:rPr>
              <a:t>dashboards
&amp; models</a:t>
            </a:r>
          </a:p>
        </p:txBody>
      </p:sp>
      <p:sp>
        <p:nvSpPr>
          <p:cNvPr id="73" name="Oval 72"/>
          <p:cNvSpPr/>
          <p:nvPr/>
        </p:nvSpPr>
        <p:spPr>
          <a:xfrm>
            <a:off x="9986010" y="2459736"/>
            <a:ext cx="310896" cy="310896"/>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6</a:t>
            </a:r>
          </a:p>
        </p:txBody>
      </p:sp>
      <p:sp>
        <p:nvSpPr>
          <p:cNvPr id="74" name="Rounded Rectangle 73"/>
          <p:cNvSpPr/>
          <p:nvPr/>
        </p:nvSpPr>
        <p:spPr>
          <a:xfrm>
            <a:off x="566928" y="4846320"/>
            <a:ext cx="11057839" cy="658368"/>
          </a:xfrm>
          <a:prstGeom prst="roundRect">
            <a:avLst>
              <a:gd name="adj" fmla="val 20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Rounded Rectangle 74"/>
          <p:cNvSpPr/>
          <p:nvPr/>
        </p:nvSpPr>
        <p:spPr>
          <a:xfrm>
            <a:off x="906353" y="5160873"/>
            <a:ext cx="198973" cy="146304"/>
          </a:xfrm>
          <a:prstGeom prst="roundRect">
            <a:avLst>
              <a:gd name="adj" fmla="val 18000"/>
            </a:avLst>
          </a:prstGeom>
          <a:solidFill>
            <a:srgbClr val="FF6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Block Arc 75"/>
          <p:cNvSpPr/>
          <p:nvPr/>
        </p:nvSpPr>
        <p:spPr>
          <a:xfrm>
            <a:off x="935614" y="5029200"/>
            <a:ext cx="140451" cy="146304"/>
          </a:xfrm>
          <a:prstGeom prst="blockArc">
            <a:avLst>
              <a:gd name="adj1" fmla="val 314159"/>
              <a:gd name="adj2" fmla="val 0"/>
              <a:gd name="adj3" fmla="val 25000"/>
            </a:avLst>
          </a:prstGeom>
          <a:solidFill>
            <a:srgbClr val="FF6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TextBox 76"/>
          <p:cNvSpPr txBox="1"/>
          <p:nvPr/>
        </p:nvSpPr>
        <p:spPr>
          <a:xfrm>
            <a:off x="1389888" y="4846320"/>
            <a:ext cx="10051999" cy="658368"/>
          </a:xfrm>
          <a:prstGeom prst="rect">
            <a:avLst/>
          </a:prstGeom>
          <a:noFill/>
        </p:spPr>
        <p:txBody>
          <a:bodyPr wrap="square" anchor="ctr" lIns="0" rIns="0" tIns="0" bIns="0">
            <a:spAutoFit/>
          </a:bodyPr>
          <a:lstStyle/>
          <a:p>
            <a:pPr algn="l">
              <a:lnSpc>
                <a:spcPct val="100000"/>
              </a:lnSpc>
              <a:spcBef>
                <a:spcPts val="0"/>
              </a:spcBef>
              <a:spcAft>
                <a:spcPts val="200"/>
              </a:spcAft>
            </a:pPr>
            <a:r>
              <a:rPr sz="1200" b="1" i="0">
                <a:solidFill>
                  <a:srgbClr val="FF6B57"/>
                </a:solidFill>
                <a:latin typeface="Segoe UI"/>
              </a:rPr>
              <a:t>Unity Catalog</a:t>
            </a:r>
            <a:r>
              <a:rPr sz="1150" b="0" i="0">
                <a:solidFill>
                  <a:srgbClr val="FFFFFF"/>
                </a:solidFill>
                <a:latin typeface="Segoe UI"/>
              </a:rPr>
              <a:t>  governs every stage — and Workflows orchestrate the whole pipeline, end to end.</a:t>
            </a:r>
          </a:p>
        </p:txBody>
      </p:sp>
      <p:sp>
        <p:nvSpPr>
          <p:cNvPr id="78" name="TextBox 77"/>
          <p:cNvSpPr txBox="1"/>
          <p:nvPr/>
        </p:nvSpPr>
        <p:spPr>
          <a:xfrm>
            <a:off x="566928" y="5650992"/>
            <a:ext cx="11057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150" b="0" i="1">
                <a:solidFill>
                  <a:srgbClr val="6B777C"/>
                </a:solidFill>
                <a:latin typeface="Segoe UI"/>
              </a:rPr>
              <a:t>Every concept from today — ingestion, processing, transformation, storage — in one Databricks flow.</a:t>
            </a:r>
          </a:p>
        </p:txBody>
      </p:sp>
      <p:sp>
        <p:nvSpPr>
          <p:cNvPr id="79" name="TextBox 78"/>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80" name="TextBox 79"/>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QUALITY &amp; STORAGE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Data Processing Best Practices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13871"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Platform</a:t>
            </a:r>
          </a:p>
        </p:txBody>
      </p:sp>
      <p:sp>
        <p:nvSpPr>
          <p:cNvPr id="17" name="Oval 16"/>
          <p:cNvSpPr/>
          <p:nvPr/>
        </p:nvSpPr>
        <p:spPr>
          <a:xfrm>
            <a:off x="749808" y="2203704"/>
            <a:ext cx="384048" cy="38404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rot="2700000">
            <a:off x="875161" y="2400490"/>
            <a:ext cx="71432"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rot="18480000">
            <a:off x="927545" y="2348106"/>
            <a:ext cx="138103"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298448" y="2011680"/>
            <a:ext cx="4555083" cy="841248"/>
          </a:xfrm>
          <a:prstGeom prst="rect">
            <a:avLst/>
          </a:prstGeom>
          <a:noFill/>
        </p:spPr>
        <p:txBody>
          <a:bodyPr wrap="square" anchor="ctr" lIns="0" rIns="0" tIns="0" bIns="0">
            <a:spAutoFit/>
          </a:bodyPr>
          <a:lstStyle/>
          <a:p>
            <a:pPr algn="l">
              <a:lnSpc>
                <a:spcPct val="102000"/>
              </a:lnSpc>
              <a:spcBef>
                <a:spcPts val="0"/>
              </a:spcBef>
              <a:spcAft>
                <a:spcPts val="200"/>
              </a:spcAft>
            </a:pPr>
            <a:r>
              <a:rPr sz="1250" b="0" i="0">
                <a:solidFill>
                  <a:srgbClr val="465257"/>
                </a:solidFill>
                <a:latin typeface="Segoe UI"/>
              </a:rPr>
              <a:t>Prefer ELT — load raw, then transform in the lakehouse</a:t>
            </a:r>
          </a:p>
        </p:txBody>
      </p:sp>
      <p:sp>
        <p:nvSpPr>
          <p:cNvPr id="21" name="Oval 20"/>
          <p:cNvSpPr/>
          <p:nvPr/>
        </p:nvSpPr>
        <p:spPr>
          <a:xfrm>
            <a:off x="749808" y="3044952"/>
            <a:ext cx="384048" cy="38404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rot="2700000">
            <a:off x="875161" y="3241738"/>
            <a:ext cx="71432"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rot="18480000">
            <a:off x="927545" y="3189354"/>
            <a:ext cx="138103"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298448" y="2852928"/>
            <a:ext cx="4555083" cy="841248"/>
          </a:xfrm>
          <a:prstGeom prst="rect">
            <a:avLst/>
          </a:prstGeom>
          <a:noFill/>
        </p:spPr>
        <p:txBody>
          <a:bodyPr wrap="square" anchor="ctr" lIns="0" rIns="0" tIns="0" bIns="0">
            <a:spAutoFit/>
          </a:bodyPr>
          <a:lstStyle/>
          <a:p>
            <a:pPr algn="l">
              <a:lnSpc>
                <a:spcPct val="102000"/>
              </a:lnSpc>
              <a:spcBef>
                <a:spcPts val="0"/>
              </a:spcBef>
              <a:spcAft>
                <a:spcPts val="200"/>
              </a:spcAft>
            </a:pPr>
            <a:r>
              <a:rPr sz="1250" b="0" i="0">
                <a:solidFill>
                  <a:srgbClr val="465257"/>
                </a:solidFill>
                <a:latin typeface="Segoe UI"/>
              </a:rPr>
              <a:t>Structure pipelines with Bronze → Silver → Gold</a:t>
            </a:r>
          </a:p>
        </p:txBody>
      </p:sp>
      <p:sp>
        <p:nvSpPr>
          <p:cNvPr id="25" name="Oval 24"/>
          <p:cNvSpPr/>
          <p:nvPr/>
        </p:nvSpPr>
        <p:spPr>
          <a:xfrm>
            <a:off x="749808" y="3886200"/>
            <a:ext cx="384048" cy="38404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rot="2700000">
            <a:off x="875161" y="4082986"/>
            <a:ext cx="71432"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rot="18480000">
            <a:off x="927545" y="4030602"/>
            <a:ext cx="138103"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298448" y="3694176"/>
            <a:ext cx="4555083" cy="841248"/>
          </a:xfrm>
          <a:prstGeom prst="rect">
            <a:avLst/>
          </a:prstGeom>
          <a:noFill/>
        </p:spPr>
        <p:txBody>
          <a:bodyPr wrap="square" anchor="ctr" lIns="0" rIns="0" tIns="0" bIns="0">
            <a:spAutoFit/>
          </a:bodyPr>
          <a:lstStyle/>
          <a:p>
            <a:pPr algn="l">
              <a:lnSpc>
                <a:spcPct val="102000"/>
              </a:lnSpc>
              <a:spcBef>
                <a:spcPts val="0"/>
              </a:spcBef>
              <a:spcAft>
                <a:spcPts val="200"/>
              </a:spcAft>
            </a:pPr>
            <a:r>
              <a:rPr sz="1250" b="0" i="0">
                <a:solidFill>
                  <a:srgbClr val="465257"/>
                </a:solidFill>
                <a:latin typeface="Segoe UI"/>
              </a:rPr>
              <a:t>Build quality checks into every stage, not just the end</a:t>
            </a:r>
          </a:p>
        </p:txBody>
      </p:sp>
      <p:sp>
        <p:nvSpPr>
          <p:cNvPr id="29" name="Oval 28"/>
          <p:cNvSpPr/>
          <p:nvPr/>
        </p:nvSpPr>
        <p:spPr>
          <a:xfrm>
            <a:off x="749808" y="4727448"/>
            <a:ext cx="384048" cy="38404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rot="2700000">
            <a:off x="875161" y="4924234"/>
            <a:ext cx="71432"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rot="18480000">
            <a:off x="927545" y="4871850"/>
            <a:ext cx="138103"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1298448" y="4535424"/>
            <a:ext cx="4555083" cy="841248"/>
          </a:xfrm>
          <a:prstGeom prst="rect">
            <a:avLst/>
          </a:prstGeom>
          <a:noFill/>
        </p:spPr>
        <p:txBody>
          <a:bodyPr wrap="square" anchor="ctr" lIns="0" rIns="0" tIns="0" bIns="0">
            <a:spAutoFit/>
          </a:bodyPr>
          <a:lstStyle/>
          <a:p>
            <a:pPr algn="l">
              <a:lnSpc>
                <a:spcPct val="102000"/>
              </a:lnSpc>
              <a:spcBef>
                <a:spcPts val="0"/>
              </a:spcBef>
              <a:spcAft>
                <a:spcPts val="200"/>
              </a:spcAft>
            </a:pPr>
            <a:r>
              <a:rPr sz="1250" b="0" i="0">
                <a:solidFill>
                  <a:srgbClr val="465257"/>
                </a:solidFill>
                <a:latin typeface="Segoe UI"/>
              </a:rPr>
              <a:t>Choose batch vs streaming per use case — not by default</a:t>
            </a:r>
          </a:p>
        </p:txBody>
      </p:sp>
      <p:sp>
        <p:nvSpPr>
          <p:cNvPr id="33" name="Oval 32"/>
          <p:cNvSpPr/>
          <p:nvPr/>
        </p:nvSpPr>
        <p:spPr>
          <a:xfrm>
            <a:off x="6301587" y="2203704"/>
            <a:ext cx="384048" cy="38404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rot="2700000">
            <a:off x="6426940" y="2400490"/>
            <a:ext cx="71432"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rot="18480000">
            <a:off x="6479325" y="2348106"/>
            <a:ext cx="138103"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850227" y="2011680"/>
            <a:ext cx="4555083" cy="841248"/>
          </a:xfrm>
          <a:prstGeom prst="rect">
            <a:avLst/>
          </a:prstGeom>
          <a:noFill/>
        </p:spPr>
        <p:txBody>
          <a:bodyPr wrap="square" anchor="ctr" lIns="0" rIns="0" tIns="0" bIns="0">
            <a:spAutoFit/>
          </a:bodyPr>
          <a:lstStyle/>
          <a:p>
            <a:pPr algn="l">
              <a:lnSpc>
                <a:spcPct val="102000"/>
              </a:lnSpc>
              <a:spcBef>
                <a:spcPts val="0"/>
              </a:spcBef>
              <a:spcAft>
                <a:spcPts val="200"/>
              </a:spcAft>
            </a:pPr>
            <a:r>
              <a:rPr sz="1250" b="0" i="0">
                <a:solidFill>
                  <a:srgbClr val="465257"/>
                </a:solidFill>
                <a:latin typeface="Segoe UI"/>
              </a:rPr>
              <a:t>Make pipelines idempotent so re-runs are safe</a:t>
            </a:r>
          </a:p>
        </p:txBody>
      </p:sp>
      <p:sp>
        <p:nvSpPr>
          <p:cNvPr id="37" name="Oval 36"/>
          <p:cNvSpPr/>
          <p:nvPr/>
        </p:nvSpPr>
        <p:spPr>
          <a:xfrm>
            <a:off x="6301587" y="3044952"/>
            <a:ext cx="384048" cy="38404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rot="2700000">
            <a:off x="6426940" y="3241738"/>
            <a:ext cx="71432"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rot="18480000">
            <a:off x="6479325" y="3189354"/>
            <a:ext cx="138103"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850227" y="2852928"/>
            <a:ext cx="4555083" cy="841248"/>
          </a:xfrm>
          <a:prstGeom prst="rect">
            <a:avLst/>
          </a:prstGeom>
          <a:noFill/>
        </p:spPr>
        <p:txBody>
          <a:bodyPr wrap="square" anchor="ctr" lIns="0" rIns="0" tIns="0" bIns="0">
            <a:spAutoFit/>
          </a:bodyPr>
          <a:lstStyle/>
          <a:p>
            <a:pPr algn="l">
              <a:lnSpc>
                <a:spcPct val="102000"/>
              </a:lnSpc>
              <a:spcBef>
                <a:spcPts val="0"/>
              </a:spcBef>
              <a:spcAft>
                <a:spcPts val="200"/>
              </a:spcAft>
            </a:pPr>
            <a:r>
              <a:rPr sz="1250" b="0" i="0">
                <a:solidFill>
                  <a:srgbClr val="465257"/>
                </a:solidFill>
                <a:latin typeface="Segoe UI"/>
              </a:rPr>
              <a:t>Partition data thoughtfully; avoid tiny-file sprawl</a:t>
            </a:r>
          </a:p>
        </p:txBody>
      </p:sp>
      <p:sp>
        <p:nvSpPr>
          <p:cNvPr id="41" name="Oval 40"/>
          <p:cNvSpPr/>
          <p:nvPr/>
        </p:nvSpPr>
        <p:spPr>
          <a:xfrm>
            <a:off x="6301587" y="3886200"/>
            <a:ext cx="384048" cy="38404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rot="2700000">
            <a:off x="6426940" y="4082986"/>
            <a:ext cx="71432"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rot="18480000">
            <a:off x="6479325" y="4030602"/>
            <a:ext cx="138103"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850227" y="3694176"/>
            <a:ext cx="4555083" cy="841248"/>
          </a:xfrm>
          <a:prstGeom prst="rect">
            <a:avLst/>
          </a:prstGeom>
          <a:noFill/>
        </p:spPr>
        <p:txBody>
          <a:bodyPr wrap="square" anchor="ctr" lIns="0" rIns="0" tIns="0" bIns="0">
            <a:spAutoFit/>
          </a:bodyPr>
          <a:lstStyle/>
          <a:p>
            <a:pPr algn="l">
              <a:lnSpc>
                <a:spcPct val="102000"/>
              </a:lnSpc>
              <a:spcBef>
                <a:spcPts val="0"/>
              </a:spcBef>
              <a:spcAft>
                <a:spcPts val="200"/>
              </a:spcAft>
            </a:pPr>
            <a:r>
              <a:rPr sz="1250" b="0" i="0">
                <a:solidFill>
                  <a:srgbClr val="465257"/>
                </a:solidFill>
                <a:latin typeface="Segoe UI"/>
              </a:rPr>
              <a:t>Orchestrate with dependencies, retries &amp; monitoring</a:t>
            </a:r>
          </a:p>
        </p:txBody>
      </p:sp>
      <p:sp>
        <p:nvSpPr>
          <p:cNvPr id="45" name="Oval 44"/>
          <p:cNvSpPr/>
          <p:nvPr/>
        </p:nvSpPr>
        <p:spPr>
          <a:xfrm>
            <a:off x="6301587" y="4727448"/>
            <a:ext cx="384048" cy="38404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rot="2700000">
            <a:off x="6426940" y="4924234"/>
            <a:ext cx="71432"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rot="18480000">
            <a:off x="6479325" y="4871850"/>
            <a:ext cx="138103"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850227" y="4535424"/>
            <a:ext cx="4555083" cy="841248"/>
          </a:xfrm>
          <a:prstGeom prst="rect">
            <a:avLst/>
          </a:prstGeom>
          <a:noFill/>
        </p:spPr>
        <p:txBody>
          <a:bodyPr wrap="square" anchor="ctr" lIns="0" rIns="0" tIns="0" bIns="0">
            <a:spAutoFit/>
          </a:bodyPr>
          <a:lstStyle/>
          <a:p>
            <a:pPr algn="l">
              <a:lnSpc>
                <a:spcPct val="102000"/>
              </a:lnSpc>
              <a:spcBef>
                <a:spcPts val="0"/>
              </a:spcBef>
              <a:spcAft>
                <a:spcPts val="200"/>
              </a:spcAft>
            </a:pPr>
            <a:r>
              <a:rPr sz="1250" b="0" i="0">
                <a:solidFill>
                  <a:srgbClr val="465257"/>
                </a:solidFill>
                <a:latin typeface="Segoe UI"/>
              </a:rPr>
              <a:t>Govern and document every dataset from day one</a:t>
            </a:r>
          </a:p>
        </p:txBody>
      </p:sp>
      <p:sp>
        <p:nvSpPr>
          <p:cNvPr id="49" name="TextBox 48"/>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0" name="TextBox 49"/>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QUALITY &amp; STORAGE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Data Processing in the Real World</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498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Sources</a:t>
            </a:r>
          </a:p>
        </p:txBody>
      </p:sp>
      <p:sp>
        <p:nvSpPr>
          <p:cNvPr id="9" name="Oval 8"/>
          <p:cNvSpPr/>
          <p:nvPr/>
        </p:nvSpPr>
        <p:spPr>
          <a:xfrm>
            <a:off x="80928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88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Ingestion</a:t>
            </a:r>
          </a:p>
        </p:txBody>
      </p:sp>
      <p:sp>
        <p:nvSpPr>
          <p:cNvPr id="11" name="Oval 10"/>
          <p:cNvSpPr/>
          <p:nvPr/>
        </p:nvSpPr>
        <p:spPr>
          <a:xfrm>
            <a:off x="91718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078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Transform</a:t>
            </a:r>
          </a:p>
        </p:txBody>
      </p:sp>
      <p:sp>
        <p:nvSpPr>
          <p:cNvPr id="13" name="Oval 12"/>
          <p:cNvSpPr/>
          <p:nvPr/>
        </p:nvSpPr>
        <p:spPr>
          <a:xfrm>
            <a:off x="10250881"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786823"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0" i="0">
                <a:solidFill>
                  <a:srgbClr val="9AA6AB"/>
                </a:solidFill>
                <a:latin typeface="Segoe UI Semibold"/>
              </a:rPr>
              <a:t>Processing</a:t>
            </a:r>
          </a:p>
        </p:txBody>
      </p:sp>
      <p:sp>
        <p:nvSpPr>
          <p:cNvPr id="15" name="Oval 14"/>
          <p:cNvSpPr/>
          <p:nvPr/>
        </p:nvSpPr>
        <p:spPr>
          <a:xfrm>
            <a:off x="11313871"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865815"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20" b="1" i="0">
                <a:solidFill>
                  <a:srgbClr val="1B3139"/>
                </a:solidFill>
                <a:latin typeface="Segoe UI Semibold"/>
              </a:rPr>
              <a:t>Platform</a:t>
            </a:r>
          </a:p>
        </p:txBody>
      </p:sp>
      <p:sp>
        <p:nvSpPr>
          <p:cNvPr id="17" name="Rounded Rectangle 16"/>
          <p:cNvSpPr/>
          <p:nvPr/>
        </p:nvSpPr>
        <p:spPr>
          <a:xfrm>
            <a:off x="56692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66928" y="1828800"/>
            <a:ext cx="91440" cy="1929384"/>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740664" y="1975104"/>
            <a:ext cx="658368" cy="658368"/>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942651" y="2304288"/>
            <a:ext cx="60569" cy="151424"/>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1039563" y="2219490"/>
            <a:ext cx="60569" cy="236222"/>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1136474" y="2152863"/>
            <a:ext cx="60569" cy="30284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49961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Retail</a:t>
            </a:r>
          </a:p>
        </p:txBody>
      </p:sp>
      <p:sp>
        <p:nvSpPr>
          <p:cNvPr id="24" name="TextBox 23"/>
          <p:cNvSpPr txBox="1"/>
          <p:nvPr/>
        </p:nvSpPr>
        <p:spPr>
          <a:xfrm>
            <a:off x="841247"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Demand forecasting &amp; inventory from sales + supply data.</a:t>
            </a:r>
          </a:p>
        </p:txBody>
      </p:sp>
      <p:sp>
        <p:nvSpPr>
          <p:cNvPr id="25" name="Rounded Rectangle 24"/>
          <p:cNvSpPr/>
          <p:nvPr/>
        </p:nvSpPr>
        <p:spPr>
          <a:xfrm>
            <a:off x="433821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4338218" y="1828800"/>
            <a:ext cx="91440" cy="1929384"/>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4511954" y="1975104"/>
            <a:ext cx="658368" cy="658368"/>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4738169" y="2289145"/>
            <a:ext cx="205937" cy="151424"/>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Block Arc 28"/>
          <p:cNvSpPr/>
          <p:nvPr/>
        </p:nvSpPr>
        <p:spPr>
          <a:xfrm>
            <a:off x="4768454" y="2152863"/>
            <a:ext cx="145367" cy="151424"/>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27090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Banking</a:t>
            </a:r>
          </a:p>
        </p:txBody>
      </p:sp>
      <p:sp>
        <p:nvSpPr>
          <p:cNvPr id="31" name="TextBox 30"/>
          <p:cNvSpPr txBox="1"/>
          <p:nvPr/>
        </p:nvSpPr>
        <p:spPr>
          <a:xfrm>
            <a:off x="461253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Real-time fraud scoring on streaming transactions.</a:t>
            </a:r>
          </a:p>
        </p:txBody>
      </p:sp>
      <p:sp>
        <p:nvSpPr>
          <p:cNvPr id="32" name="Rounded Rectangle 31"/>
          <p:cNvSpPr/>
          <p:nvPr/>
        </p:nvSpPr>
        <p:spPr>
          <a:xfrm>
            <a:off x="810950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8109508" y="1828800"/>
            <a:ext cx="91440" cy="1929384"/>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8283244" y="1975104"/>
            <a:ext cx="658368" cy="65836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Chevron 34"/>
          <p:cNvSpPr/>
          <p:nvPr/>
        </p:nvSpPr>
        <p:spPr>
          <a:xfrm>
            <a:off x="8473118" y="2201319"/>
            <a:ext cx="90854" cy="205937"/>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Chevron 35"/>
          <p:cNvSpPr/>
          <p:nvPr/>
        </p:nvSpPr>
        <p:spPr>
          <a:xfrm>
            <a:off x="8576086" y="2201319"/>
            <a:ext cx="90854" cy="205937"/>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Chevron 36"/>
          <p:cNvSpPr/>
          <p:nvPr/>
        </p:nvSpPr>
        <p:spPr>
          <a:xfrm>
            <a:off x="8679055" y="2201319"/>
            <a:ext cx="90854" cy="205937"/>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04219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Telecom</a:t>
            </a:r>
          </a:p>
        </p:txBody>
      </p:sp>
      <p:sp>
        <p:nvSpPr>
          <p:cNvPr id="39" name="TextBox 38"/>
          <p:cNvSpPr txBox="1"/>
          <p:nvPr/>
        </p:nvSpPr>
        <p:spPr>
          <a:xfrm>
            <a:off x="838382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Network telemetry processed for live optimization.</a:t>
            </a:r>
          </a:p>
        </p:txBody>
      </p:sp>
      <p:sp>
        <p:nvSpPr>
          <p:cNvPr id="40" name="Rounded Rectangle 39"/>
          <p:cNvSpPr/>
          <p:nvPr/>
        </p:nvSpPr>
        <p:spPr>
          <a:xfrm>
            <a:off x="56692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566928" y="4014215"/>
            <a:ext cx="91440" cy="1929384"/>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740664" y="4160520"/>
            <a:ext cx="658368" cy="658368"/>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1018363" y="4438219"/>
            <a:ext cx="102968" cy="1029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4" name="Connector 43"/>
          <p:cNvCxnSpPr/>
          <p:nvPr/>
        </p:nvCxnSpPr>
        <p:spPr>
          <a:xfrm flipH="1" flipV="1">
            <a:off x="942651" y="4398849"/>
            <a:ext cx="127197" cy="90855"/>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909337" y="4365535"/>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6" name="Connector 45"/>
          <p:cNvCxnSpPr/>
          <p:nvPr/>
        </p:nvCxnSpPr>
        <p:spPr>
          <a:xfrm flipV="1">
            <a:off x="1069848" y="4398849"/>
            <a:ext cx="127196" cy="90855"/>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1163731" y="4365535"/>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8" name="Connector 47"/>
          <p:cNvCxnSpPr/>
          <p:nvPr/>
        </p:nvCxnSpPr>
        <p:spPr>
          <a:xfrm>
            <a:off x="1069848" y="4489704"/>
            <a:ext cx="0" cy="133253"/>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1036534" y="4589644"/>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149961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Healthcare</a:t>
            </a:r>
          </a:p>
        </p:txBody>
      </p:sp>
      <p:sp>
        <p:nvSpPr>
          <p:cNvPr id="51" name="TextBox 50"/>
          <p:cNvSpPr txBox="1"/>
          <p:nvPr/>
        </p:nvSpPr>
        <p:spPr>
          <a:xfrm>
            <a:off x="841247"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Unifying records &amp; imaging for analytics and AI.</a:t>
            </a:r>
          </a:p>
        </p:txBody>
      </p:sp>
      <p:sp>
        <p:nvSpPr>
          <p:cNvPr id="52" name="Rounded Rectangle 51"/>
          <p:cNvSpPr/>
          <p:nvPr/>
        </p:nvSpPr>
        <p:spPr>
          <a:xfrm>
            <a:off x="433821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ounded Rectangle 52"/>
          <p:cNvSpPr/>
          <p:nvPr/>
        </p:nvSpPr>
        <p:spPr>
          <a:xfrm>
            <a:off x="4338218" y="4014215"/>
            <a:ext cx="91440" cy="1929384"/>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Oval 53"/>
          <p:cNvSpPr/>
          <p:nvPr/>
        </p:nvSpPr>
        <p:spPr>
          <a:xfrm>
            <a:off x="4511954" y="4160520"/>
            <a:ext cx="658368" cy="658368"/>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ounded Rectangle 54"/>
          <p:cNvSpPr/>
          <p:nvPr/>
        </p:nvSpPr>
        <p:spPr>
          <a:xfrm>
            <a:off x="4756340" y="4404906"/>
            <a:ext cx="169595" cy="169595"/>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4797225" y="4356450"/>
            <a:ext cx="15142" cy="4845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4797225" y="4574501"/>
            <a:ext cx="15142" cy="4845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4869909" y="4356450"/>
            <a:ext cx="15142" cy="4845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4869909" y="4574501"/>
            <a:ext cx="15142" cy="4845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4707884" y="4445790"/>
            <a:ext cx="48455" cy="1514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4925936" y="4445790"/>
            <a:ext cx="48455" cy="1514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4707884" y="4518474"/>
            <a:ext cx="48455" cy="1514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4925936" y="4518474"/>
            <a:ext cx="48455" cy="1514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527090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Manufacturing</a:t>
            </a:r>
          </a:p>
        </p:txBody>
      </p:sp>
      <p:sp>
        <p:nvSpPr>
          <p:cNvPr id="65" name="TextBox 64"/>
          <p:cNvSpPr txBox="1"/>
          <p:nvPr/>
        </p:nvSpPr>
        <p:spPr>
          <a:xfrm>
            <a:off x="461253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IoT sensor pipelines for predictive maintenance.</a:t>
            </a:r>
          </a:p>
        </p:txBody>
      </p:sp>
      <p:sp>
        <p:nvSpPr>
          <p:cNvPr id="66" name="Rounded Rectangle 65"/>
          <p:cNvSpPr/>
          <p:nvPr/>
        </p:nvSpPr>
        <p:spPr>
          <a:xfrm>
            <a:off x="810950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ounded Rectangle 66"/>
          <p:cNvSpPr/>
          <p:nvPr/>
        </p:nvSpPr>
        <p:spPr>
          <a:xfrm>
            <a:off x="8109508" y="4014215"/>
            <a:ext cx="91440" cy="192938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Oval 67"/>
          <p:cNvSpPr/>
          <p:nvPr/>
        </p:nvSpPr>
        <p:spPr>
          <a:xfrm>
            <a:off x="8283244" y="4160520"/>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Oval 68"/>
          <p:cNvSpPr/>
          <p:nvPr/>
        </p:nvSpPr>
        <p:spPr>
          <a:xfrm>
            <a:off x="8473118" y="4350393"/>
            <a:ext cx="278621" cy="278621"/>
          </a:xfrm>
          <a:prstGeom prst="ellipse">
            <a:avLst/>
          </a:prstGeom>
          <a:noFill/>
          <a:ln w="25237">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Oval 69"/>
          <p:cNvSpPr/>
          <p:nvPr/>
        </p:nvSpPr>
        <p:spPr>
          <a:xfrm>
            <a:off x="8533687" y="4410963"/>
            <a:ext cx="157481" cy="157481"/>
          </a:xfrm>
          <a:prstGeom prst="ellipse">
            <a:avLst/>
          </a:prstGeom>
          <a:noFill/>
          <a:ln w="25237">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Oval 70"/>
          <p:cNvSpPr/>
          <p:nvPr/>
        </p:nvSpPr>
        <p:spPr>
          <a:xfrm>
            <a:off x="8589715" y="4466990"/>
            <a:ext cx="45427" cy="4542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TextBox 71"/>
          <p:cNvSpPr txBox="1"/>
          <p:nvPr/>
        </p:nvSpPr>
        <p:spPr>
          <a:xfrm>
            <a:off x="904219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E-Commerce</a:t>
            </a:r>
          </a:p>
        </p:txBody>
      </p:sp>
      <p:sp>
        <p:nvSpPr>
          <p:cNvPr id="73" name="TextBox 72"/>
          <p:cNvSpPr txBox="1"/>
          <p:nvPr/>
        </p:nvSpPr>
        <p:spPr>
          <a:xfrm>
            <a:off x="838382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Clickstream + orders for live recommendations.</a:t>
            </a:r>
          </a:p>
        </p:txBody>
      </p:sp>
      <p:sp>
        <p:nvSpPr>
          <p:cNvPr id="74" name="TextBox 73"/>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75" name="TextBox 74"/>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WRAP-UP</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Key Takeaways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28800"/>
            <a:ext cx="2558719"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828800"/>
            <a:ext cx="2558719" cy="109728"/>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1562823" y="2112264"/>
            <a:ext cx="566928" cy="5669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700" b="1">
                <a:solidFill>
                  <a:srgbClr val="FFFFFF"/>
                </a:solidFill>
                <a:latin typeface="Segoe UI Semibold"/>
              </a:rPr>
              <a:t>1</a:t>
            </a:r>
          </a:p>
        </p:txBody>
      </p:sp>
      <p:sp>
        <p:nvSpPr>
          <p:cNvPr id="10" name="TextBox 9"/>
          <p:cNvSpPr txBox="1"/>
          <p:nvPr/>
        </p:nvSpPr>
        <p:spPr>
          <a:xfrm>
            <a:off x="658368" y="2788920"/>
            <a:ext cx="2375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The Journey</a:t>
            </a:r>
          </a:p>
        </p:txBody>
      </p:sp>
      <p:sp>
        <p:nvSpPr>
          <p:cNvPr id="11" name="TextBox 10"/>
          <p:cNvSpPr txBox="1"/>
          <p:nvPr/>
        </p:nvSpPr>
        <p:spPr>
          <a:xfrm>
            <a:off x="804672" y="3200400"/>
            <a:ext cx="2101519" cy="914400"/>
          </a:xfrm>
          <a:prstGeom prst="rect">
            <a:avLst/>
          </a:prstGeom>
          <a:noFill/>
        </p:spPr>
        <p:txBody>
          <a:bodyPr wrap="square" anchor="t" lIns="0" rIns="0" tIns="0" bIns="0">
            <a:spAutoFit/>
          </a:bodyPr>
          <a:lstStyle/>
          <a:p>
            <a:pPr marL="274320" indent="-274320">
              <a:lnSpc>
                <a:spcPct val="112000"/>
              </a:lnSpc>
              <a:spcBef>
                <a:spcPts val="0"/>
              </a:spcBef>
              <a:spcAft>
                <a:spcPts val="700"/>
              </a:spcAft>
            </a:pPr>
            <a:r>
              <a:rPr sz="1030" b="1">
                <a:solidFill>
                  <a:srgbClr val="FF3621"/>
                </a:solidFill>
                <a:latin typeface="Segoe UI"/>
              </a:rPr>
              <a:t>▪   </a:t>
            </a:r>
            <a:r>
              <a:rPr sz="1030">
                <a:solidFill>
                  <a:srgbClr val="465257"/>
                </a:solidFill>
                <a:latin typeface="Segoe UI"/>
              </a:rPr>
              <a:t>Generate → … → Act</a:t>
            </a:r>
          </a:p>
          <a:p>
            <a:pPr marL="274320" indent="-274320">
              <a:lnSpc>
                <a:spcPct val="112000"/>
              </a:lnSpc>
              <a:spcBef>
                <a:spcPts val="0"/>
              </a:spcBef>
              <a:spcAft>
                <a:spcPts val="700"/>
              </a:spcAft>
            </a:pPr>
            <a:r>
              <a:rPr sz="1030" b="1">
                <a:solidFill>
                  <a:srgbClr val="FF3621"/>
                </a:solidFill>
                <a:latin typeface="Segoe UI"/>
              </a:rPr>
              <a:t>▪   </a:t>
            </a:r>
            <a:r>
              <a:rPr sz="1030">
                <a:solidFill>
                  <a:srgbClr val="465257"/>
                </a:solidFill>
                <a:latin typeface="Segoe UI"/>
              </a:rPr>
              <a:t>Raw data becomes value</a:t>
            </a:r>
          </a:p>
        </p:txBody>
      </p:sp>
      <p:sp>
        <p:nvSpPr>
          <p:cNvPr id="12" name="Rounded Rectangle 11"/>
          <p:cNvSpPr/>
          <p:nvPr/>
        </p:nvSpPr>
        <p:spPr>
          <a:xfrm>
            <a:off x="3399967" y="1828800"/>
            <a:ext cx="2558719"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399967" y="1828800"/>
            <a:ext cx="2558719" cy="109728"/>
          </a:xfrm>
          <a:prstGeom prst="rect">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4395863" y="2112264"/>
            <a:ext cx="566928" cy="566928"/>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700" b="1">
                <a:solidFill>
                  <a:srgbClr val="FFFFFF"/>
                </a:solidFill>
                <a:latin typeface="Segoe UI Semibold"/>
              </a:rPr>
              <a:t>2</a:t>
            </a:r>
          </a:p>
        </p:txBody>
      </p:sp>
      <p:sp>
        <p:nvSpPr>
          <p:cNvPr id="15" name="TextBox 14"/>
          <p:cNvSpPr txBox="1"/>
          <p:nvPr/>
        </p:nvSpPr>
        <p:spPr>
          <a:xfrm>
            <a:off x="3491407" y="2788920"/>
            <a:ext cx="2375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Ingest &amp; Move</a:t>
            </a:r>
          </a:p>
        </p:txBody>
      </p:sp>
      <p:sp>
        <p:nvSpPr>
          <p:cNvPr id="16" name="TextBox 15"/>
          <p:cNvSpPr txBox="1"/>
          <p:nvPr/>
        </p:nvSpPr>
        <p:spPr>
          <a:xfrm>
            <a:off x="3637711" y="3200400"/>
            <a:ext cx="2101519" cy="914400"/>
          </a:xfrm>
          <a:prstGeom prst="rect">
            <a:avLst/>
          </a:prstGeom>
          <a:noFill/>
        </p:spPr>
        <p:txBody>
          <a:bodyPr wrap="square" anchor="t" lIns="0" rIns="0" tIns="0" bIns="0">
            <a:spAutoFit/>
          </a:bodyPr>
          <a:lstStyle/>
          <a:p>
            <a:pPr marL="274320" indent="-274320">
              <a:lnSpc>
                <a:spcPct val="112000"/>
              </a:lnSpc>
              <a:spcBef>
                <a:spcPts val="0"/>
              </a:spcBef>
              <a:spcAft>
                <a:spcPts val="700"/>
              </a:spcAft>
            </a:pPr>
            <a:r>
              <a:rPr sz="1030" b="1">
                <a:solidFill>
                  <a:srgbClr val="0E8C9C"/>
                </a:solidFill>
                <a:latin typeface="Segoe UI"/>
              </a:rPr>
              <a:t>▪   </a:t>
            </a:r>
            <a:r>
              <a:rPr sz="1030">
                <a:solidFill>
                  <a:srgbClr val="465257"/>
                </a:solidFill>
                <a:latin typeface="Segoe UI"/>
              </a:rPr>
              <a:t>Batch vs streaming</a:t>
            </a:r>
          </a:p>
          <a:p>
            <a:pPr marL="274320" indent="-274320">
              <a:lnSpc>
                <a:spcPct val="112000"/>
              </a:lnSpc>
              <a:spcBef>
                <a:spcPts val="0"/>
              </a:spcBef>
              <a:spcAft>
                <a:spcPts val="700"/>
              </a:spcAft>
            </a:pPr>
            <a:r>
              <a:rPr sz="1030" b="1">
                <a:solidFill>
                  <a:srgbClr val="0E8C9C"/>
                </a:solidFill>
                <a:latin typeface="Segoe UI"/>
              </a:rPr>
              <a:t>▪   </a:t>
            </a:r>
            <a:r>
              <a:rPr sz="1030">
                <a:solidFill>
                  <a:srgbClr val="465257"/>
                </a:solidFill>
                <a:latin typeface="Segoe UI"/>
              </a:rPr>
              <a:t>ELT &gt; ETL in the cloud</a:t>
            </a:r>
          </a:p>
        </p:txBody>
      </p:sp>
      <p:sp>
        <p:nvSpPr>
          <p:cNvPr id="17" name="Rounded Rectangle 16"/>
          <p:cNvSpPr/>
          <p:nvPr/>
        </p:nvSpPr>
        <p:spPr>
          <a:xfrm>
            <a:off x="6233007" y="1828800"/>
            <a:ext cx="2558719"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33007" y="1828800"/>
            <a:ext cx="2558719" cy="109728"/>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7228903" y="2112264"/>
            <a:ext cx="566928" cy="566928"/>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700" b="1">
                <a:solidFill>
                  <a:srgbClr val="FFFFFF"/>
                </a:solidFill>
                <a:latin typeface="Segoe UI Semibold"/>
              </a:rPr>
              <a:t>3</a:t>
            </a:r>
          </a:p>
        </p:txBody>
      </p:sp>
      <p:sp>
        <p:nvSpPr>
          <p:cNvPr id="20" name="TextBox 19"/>
          <p:cNvSpPr txBox="1"/>
          <p:nvPr/>
        </p:nvSpPr>
        <p:spPr>
          <a:xfrm>
            <a:off x="6324447" y="2788920"/>
            <a:ext cx="2375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Process at Scale</a:t>
            </a:r>
          </a:p>
        </p:txBody>
      </p:sp>
      <p:sp>
        <p:nvSpPr>
          <p:cNvPr id="21" name="TextBox 20"/>
          <p:cNvSpPr txBox="1"/>
          <p:nvPr/>
        </p:nvSpPr>
        <p:spPr>
          <a:xfrm>
            <a:off x="6470751" y="3200400"/>
            <a:ext cx="2101519" cy="914400"/>
          </a:xfrm>
          <a:prstGeom prst="rect">
            <a:avLst/>
          </a:prstGeom>
          <a:noFill/>
        </p:spPr>
        <p:txBody>
          <a:bodyPr wrap="square" anchor="t" lIns="0" rIns="0" tIns="0" bIns="0">
            <a:spAutoFit/>
          </a:bodyPr>
          <a:lstStyle/>
          <a:p>
            <a:pPr marL="274320" indent="-274320">
              <a:lnSpc>
                <a:spcPct val="112000"/>
              </a:lnSpc>
              <a:spcBef>
                <a:spcPts val="0"/>
              </a:spcBef>
              <a:spcAft>
                <a:spcPts val="700"/>
              </a:spcAft>
            </a:pPr>
            <a:r>
              <a:rPr sz="1030" b="1">
                <a:solidFill>
                  <a:srgbClr val="2272B4"/>
                </a:solidFill>
                <a:latin typeface="Segoe UI"/>
              </a:rPr>
              <a:t>▪   </a:t>
            </a:r>
            <a:r>
              <a:rPr sz="1030">
                <a:solidFill>
                  <a:srgbClr val="465257"/>
                </a:solidFill>
                <a:latin typeface="Segoe UI"/>
              </a:rPr>
              <a:t>Scale out, not up</a:t>
            </a:r>
          </a:p>
          <a:p>
            <a:pPr marL="274320" indent="-274320">
              <a:lnSpc>
                <a:spcPct val="112000"/>
              </a:lnSpc>
              <a:spcBef>
                <a:spcPts val="0"/>
              </a:spcBef>
              <a:spcAft>
                <a:spcPts val="700"/>
              </a:spcAft>
            </a:pPr>
            <a:r>
              <a:rPr sz="1030" b="1">
                <a:solidFill>
                  <a:srgbClr val="2272B4"/>
                </a:solidFill>
                <a:latin typeface="Segoe UI"/>
              </a:rPr>
              <a:t>▪   </a:t>
            </a:r>
            <a:r>
              <a:rPr sz="1030">
                <a:solidFill>
                  <a:srgbClr val="465257"/>
                </a:solidFill>
                <a:latin typeface="Segoe UI"/>
              </a:rPr>
              <a:t>Spark partitions the work</a:t>
            </a:r>
          </a:p>
        </p:txBody>
      </p:sp>
      <p:sp>
        <p:nvSpPr>
          <p:cNvPr id="22" name="Rounded Rectangle 21"/>
          <p:cNvSpPr/>
          <p:nvPr/>
        </p:nvSpPr>
        <p:spPr>
          <a:xfrm>
            <a:off x="9066047" y="1828800"/>
            <a:ext cx="2558719"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9066047" y="1828800"/>
            <a:ext cx="2558719" cy="109728"/>
          </a:xfrm>
          <a:prstGeom prst="rect">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10061943" y="2112264"/>
            <a:ext cx="566928" cy="566928"/>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700" b="1">
                <a:solidFill>
                  <a:srgbClr val="FFFFFF"/>
                </a:solidFill>
                <a:latin typeface="Segoe UI Semibold"/>
              </a:rPr>
              <a:t>4</a:t>
            </a:r>
          </a:p>
        </p:txBody>
      </p:sp>
      <p:sp>
        <p:nvSpPr>
          <p:cNvPr id="25" name="TextBox 24"/>
          <p:cNvSpPr txBox="1"/>
          <p:nvPr/>
        </p:nvSpPr>
        <p:spPr>
          <a:xfrm>
            <a:off x="9157487" y="2788920"/>
            <a:ext cx="2375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Quality &amp; Store</a:t>
            </a:r>
          </a:p>
        </p:txBody>
      </p:sp>
      <p:sp>
        <p:nvSpPr>
          <p:cNvPr id="26" name="TextBox 25"/>
          <p:cNvSpPr txBox="1"/>
          <p:nvPr/>
        </p:nvSpPr>
        <p:spPr>
          <a:xfrm>
            <a:off x="9303791" y="3200400"/>
            <a:ext cx="2101519" cy="914400"/>
          </a:xfrm>
          <a:prstGeom prst="rect">
            <a:avLst/>
          </a:prstGeom>
          <a:noFill/>
        </p:spPr>
        <p:txBody>
          <a:bodyPr wrap="square" anchor="t" lIns="0" rIns="0" tIns="0" bIns="0">
            <a:spAutoFit/>
          </a:bodyPr>
          <a:lstStyle/>
          <a:p>
            <a:pPr marL="274320" indent="-274320">
              <a:lnSpc>
                <a:spcPct val="112000"/>
              </a:lnSpc>
              <a:spcBef>
                <a:spcPts val="0"/>
              </a:spcBef>
              <a:spcAft>
                <a:spcPts val="700"/>
              </a:spcAft>
            </a:pPr>
            <a:r>
              <a:rPr sz="1030" b="1">
                <a:solidFill>
                  <a:srgbClr val="7C5CCF"/>
                </a:solidFill>
                <a:latin typeface="Segoe UI"/>
              </a:rPr>
              <a:t>▪   </a:t>
            </a:r>
            <a:r>
              <a:rPr sz="1030">
                <a:solidFill>
                  <a:srgbClr val="465257"/>
                </a:solidFill>
                <a:latin typeface="Segoe UI"/>
              </a:rPr>
              <a:t>Six quality dimensions</a:t>
            </a:r>
          </a:p>
          <a:p>
            <a:pPr marL="274320" indent="-274320">
              <a:lnSpc>
                <a:spcPct val="112000"/>
              </a:lnSpc>
              <a:spcBef>
                <a:spcPts val="0"/>
              </a:spcBef>
              <a:spcAft>
                <a:spcPts val="700"/>
              </a:spcAft>
            </a:pPr>
            <a:r>
              <a:rPr sz="1030" b="1">
                <a:solidFill>
                  <a:srgbClr val="7C5CCF"/>
                </a:solidFill>
                <a:latin typeface="Segoe UI"/>
              </a:rPr>
              <a:t>▪   </a:t>
            </a:r>
            <a:r>
              <a:rPr sz="1030">
                <a:solidFill>
                  <a:srgbClr val="465257"/>
                </a:solidFill>
                <a:latin typeface="Segoe UI"/>
              </a:rPr>
              <a:t>Medallion on the Lakehouse</a:t>
            </a:r>
          </a:p>
        </p:txBody>
      </p:sp>
      <p:sp>
        <p:nvSpPr>
          <p:cNvPr id="27" name="Rounded Rectangle 26"/>
          <p:cNvSpPr/>
          <p:nvPr/>
        </p:nvSpPr>
        <p:spPr>
          <a:xfrm>
            <a:off x="566928" y="4526280"/>
            <a:ext cx="5391759" cy="74980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58952" y="4636008"/>
            <a:ext cx="530352" cy="530352"/>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911905" y="4788961"/>
            <a:ext cx="224444" cy="224444"/>
          </a:xfrm>
          <a:prstGeom prst="ellipse">
            <a:avLst/>
          </a:prstGeom>
          <a:noFill/>
          <a:ln w="2033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960697" y="4837753"/>
            <a:ext cx="126860" cy="126860"/>
          </a:xfrm>
          <a:prstGeom prst="ellipse">
            <a:avLst/>
          </a:prstGeom>
          <a:noFill/>
          <a:ln w="2033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1005830" y="4882886"/>
            <a:ext cx="36594" cy="3659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1435607" y="4526280"/>
            <a:ext cx="4385919" cy="749808"/>
          </a:xfrm>
          <a:prstGeom prst="rect">
            <a:avLst/>
          </a:prstGeom>
          <a:noFill/>
        </p:spPr>
        <p:txBody>
          <a:bodyPr wrap="square" anchor="ctr" lIns="0" rIns="0" tIns="0" bIns="0">
            <a:spAutoFit/>
          </a:bodyPr>
          <a:lstStyle/>
          <a:p>
            <a:pPr algn="l">
              <a:lnSpc>
                <a:spcPct val="105000"/>
              </a:lnSpc>
              <a:spcBef>
                <a:spcPts val="0"/>
              </a:spcBef>
              <a:spcAft>
                <a:spcPts val="200"/>
              </a:spcAft>
            </a:pPr>
            <a:r>
              <a:rPr sz="1150" b="0" i="0">
                <a:solidFill>
                  <a:srgbClr val="465257"/>
                </a:solidFill>
                <a:latin typeface="Segoe UI"/>
              </a:rPr>
              <a:t>Data processing turns raw signals into trusted, valuable insight.</a:t>
            </a:r>
          </a:p>
        </p:txBody>
      </p:sp>
      <p:sp>
        <p:nvSpPr>
          <p:cNvPr id="33" name="Rounded Rectangle 32"/>
          <p:cNvSpPr/>
          <p:nvPr/>
        </p:nvSpPr>
        <p:spPr>
          <a:xfrm>
            <a:off x="6233007" y="4526280"/>
            <a:ext cx="5391759" cy="74980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6425031" y="4636008"/>
            <a:ext cx="530352" cy="530352"/>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6608236" y="4819212"/>
            <a:ext cx="66357" cy="66357"/>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6705821" y="4819212"/>
            <a:ext cx="66357" cy="66357"/>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6608236" y="4916797"/>
            <a:ext cx="66357" cy="66357"/>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6705821" y="4916797"/>
            <a:ext cx="66357" cy="66357"/>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101687" y="4526280"/>
            <a:ext cx="4385919" cy="749808"/>
          </a:xfrm>
          <a:prstGeom prst="rect">
            <a:avLst/>
          </a:prstGeom>
          <a:noFill/>
        </p:spPr>
        <p:txBody>
          <a:bodyPr wrap="square" anchor="ctr" lIns="0" rIns="0" tIns="0" bIns="0">
            <a:spAutoFit/>
          </a:bodyPr>
          <a:lstStyle/>
          <a:p>
            <a:pPr algn="l">
              <a:lnSpc>
                <a:spcPct val="105000"/>
              </a:lnSpc>
              <a:spcBef>
                <a:spcPts val="0"/>
              </a:spcBef>
              <a:spcAft>
                <a:spcPts val="200"/>
              </a:spcAft>
            </a:pPr>
            <a:r>
              <a:rPr sz="1150" b="0" i="0">
                <a:solidFill>
                  <a:srgbClr val="465257"/>
                </a:solidFill>
                <a:latin typeface="Segoe UI"/>
              </a:rPr>
              <a:t>Scale out with distributed processing — Spark partitions the work.</a:t>
            </a:r>
          </a:p>
        </p:txBody>
      </p:sp>
      <p:sp>
        <p:nvSpPr>
          <p:cNvPr id="40" name="Rounded Rectangle 39"/>
          <p:cNvSpPr/>
          <p:nvPr/>
        </p:nvSpPr>
        <p:spPr>
          <a:xfrm>
            <a:off x="566928" y="5349240"/>
            <a:ext cx="5391759" cy="74980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758952" y="5458968"/>
            <a:ext cx="530352" cy="530352"/>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ight Arrow 41"/>
          <p:cNvSpPr/>
          <p:nvPr/>
        </p:nvSpPr>
        <p:spPr>
          <a:xfrm>
            <a:off x="902147" y="5650955"/>
            <a:ext cx="243961" cy="146377"/>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435607" y="5349240"/>
            <a:ext cx="4385919" cy="749808"/>
          </a:xfrm>
          <a:prstGeom prst="rect">
            <a:avLst/>
          </a:prstGeom>
          <a:noFill/>
        </p:spPr>
        <p:txBody>
          <a:bodyPr wrap="square" anchor="ctr" lIns="0" rIns="0" tIns="0" bIns="0">
            <a:spAutoFit/>
          </a:bodyPr>
          <a:lstStyle/>
          <a:p>
            <a:pPr algn="l">
              <a:lnSpc>
                <a:spcPct val="105000"/>
              </a:lnSpc>
              <a:spcBef>
                <a:spcPts val="0"/>
              </a:spcBef>
              <a:spcAft>
                <a:spcPts val="200"/>
              </a:spcAft>
            </a:pPr>
            <a:r>
              <a:rPr sz="1150" b="0" i="0">
                <a:solidFill>
                  <a:srgbClr val="465257"/>
                </a:solidFill>
                <a:latin typeface="Segoe UI"/>
              </a:rPr>
              <a:t>Pipelines automate ingest → process → store → serve, reliably.</a:t>
            </a:r>
          </a:p>
        </p:txBody>
      </p:sp>
      <p:sp>
        <p:nvSpPr>
          <p:cNvPr id="44" name="Rounded Rectangle 43"/>
          <p:cNvSpPr/>
          <p:nvPr/>
        </p:nvSpPr>
        <p:spPr>
          <a:xfrm>
            <a:off x="6233007" y="5349240"/>
            <a:ext cx="5391759" cy="74980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6425031" y="5458968"/>
            <a:ext cx="530352" cy="530352"/>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rot="2700000">
            <a:off x="6621898" y="5729023"/>
            <a:ext cx="73188" cy="3903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rot="18480000">
            <a:off x="6675569" y="5675351"/>
            <a:ext cx="141497" cy="3903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7101687" y="5349240"/>
            <a:ext cx="4385919" cy="749808"/>
          </a:xfrm>
          <a:prstGeom prst="rect">
            <a:avLst/>
          </a:prstGeom>
          <a:noFill/>
        </p:spPr>
        <p:txBody>
          <a:bodyPr wrap="square" anchor="ctr" lIns="0" rIns="0" tIns="0" bIns="0">
            <a:spAutoFit/>
          </a:bodyPr>
          <a:lstStyle/>
          <a:p>
            <a:pPr algn="l">
              <a:lnSpc>
                <a:spcPct val="105000"/>
              </a:lnSpc>
              <a:spcBef>
                <a:spcPts val="0"/>
              </a:spcBef>
              <a:spcAft>
                <a:spcPts val="200"/>
              </a:spcAft>
            </a:pPr>
            <a:r>
              <a:rPr sz="1150" b="0" i="0">
                <a:solidFill>
                  <a:srgbClr val="465257"/>
                </a:solidFill>
                <a:latin typeface="Segoe UI"/>
              </a:rPr>
              <a:t>Quality + the medallion on the Lakehouse make data production-ready.</a:t>
            </a:r>
          </a:p>
        </p:txBody>
      </p:sp>
      <p:sp>
        <p:nvSpPr>
          <p:cNvPr id="49" name="TextBox 48"/>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0" name="TextBox 49"/>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66928" y="2011680"/>
            <a:ext cx="82296" cy="137160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1247" y="1874519"/>
            <a:ext cx="9144000" cy="1005840"/>
          </a:xfrm>
          <a:prstGeom prst="rect">
            <a:avLst/>
          </a:prstGeom>
          <a:noFill/>
        </p:spPr>
        <p:txBody>
          <a:bodyPr wrap="square" anchor="t" lIns="0" rIns="0" tIns="0" bIns="0">
            <a:spAutoFit/>
          </a:bodyPr>
          <a:lstStyle/>
          <a:p>
            <a:pPr algn="l">
              <a:lnSpc>
                <a:spcPct val="100000"/>
              </a:lnSpc>
              <a:spcBef>
                <a:spcPts val="0"/>
              </a:spcBef>
              <a:spcAft>
                <a:spcPts val="200"/>
              </a:spcAft>
            </a:pPr>
            <a:r>
              <a:rPr sz="5200" b="1" i="0">
                <a:solidFill>
                  <a:srgbClr val="FFFFFF"/>
                </a:solidFill>
                <a:latin typeface="Segoe UI"/>
              </a:rPr>
              <a:t>Questions?</a:t>
            </a:r>
          </a:p>
        </p:txBody>
      </p:sp>
      <p:sp>
        <p:nvSpPr>
          <p:cNvPr id="10" name="TextBox 9"/>
          <p:cNvSpPr txBox="1"/>
          <p:nvPr/>
        </p:nvSpPr>
        <p:spPr>
          <a:xfrm>
            <a:off x="859536" y="2971800"/>
            <a:ext cx="9692640" cy="548640"/>
          </a:xfrm>
          <a:prstGeom prst="rect">
            <a:avLst/>
          </a:prstGeom>
          <a:noFill/>
        </p:spPr>
        <p:txBody>
          <a:bodyPr wrap="square" anchor="t" lIns="0" rIns="0" tIns="0" bIns="0">
            <a:spAutoFit/>
          </a:bodyPr>
          <a:lstStyle/>
          <a:p>
            <a:pPr algn="l">
              <a:lnSpc>
                <a:spcPct val="120000"/>
              </a:lnSpc>
              <a:spcBef>
                <a:spcPts val="0"/>
              </a:spcBef>
              <a:spcAft>
                <a:spcPts val="200"/>
              </a:spcAft>
            </a:pPr>
            <a:r>
              <a:rPr sz="1500" b="0" i="0">
                <a:solidFill>
                  <a:srgbClr val="C4D0D4"/>
                </a:solidFill>
                <a:latin typeface="Segoe UI"/>
              </a:rPr>
              <a:t>You can now trace data end to end — from source, through ingestion and processing, to a governed, analytics-ready Lakehouse.</a:t>
            </a:r>
          </a:p>
        </p:txBody>
      </p:sp>
      <p:sp>
        <p:nvSpPr>
          <p:cNvPr id="11" name="TextBox 10"/>
          <p:cNvSpPr txBox="1"/>
          <p:nvPr/>
        </p:nvSpPr>
        <p:spPr>
          <a:xfrm>
            <a:off x="859536" y="3886200"/>
            <a:ext cx="7315200"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6B57"/>
                </a:solidFill>
                <a:latin typeface="Segoe UI Semibold"/>
              </a:rPr>
              <a:t>GO DEEPER</a:t>
            </a:r>
          </a:p>
        </p:txBody>
      </p:sp>
      <p:sp>
        <p:nvSpPr>
          <p:cNvPr id="12" name="Rounded Rectangle 11"/>
          <p:cNvSpPr/>
          <p:nvPr/>
        </p:nvSpPr>
        <p:spPr>
          <a:xfrm>
            <a:off x="859536" y="4224528"/>
            <a:ext cx="2116836"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Segoe UI Semibold"/>
              </a:rPr>
              <a:t>docs.databricks.com</a:t>
            </a:r>
          </a:p>
        </p:txBody>
      </p:sp>
      <p:sp>
        <p:nvSpPr>
          <p:cNvPr id="13" name="Rounded Rectangle 12"/>
          <p:cNvSpPr/>
          <p:nvPr/>
        </p:nvSpPr>
        <p:spPr>
          <a:xfrm>
            <a:off x="3177540" y="4224528"/>
            <a:ext cx="2020824"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Segoe UI Semibold"/>
              </a:rPr>
              <a:t>Databricks Academy</a:t>
            </a:r>
          </a:p>
        </p:txBody>
      </p:sp>
      <p:sp>
        <p:nvSpPr>
          <p:cNvPr id="14" name="Rounded Rectangle 13"/>
          <p:cNvSpPr/>
          <p:nvPr/>
        </p:nvSpPr>
        <p:spPr>
          <a:xfrm>
            <a:off x="5399532" y="4224528"/>
            <a:ext cx="2500884"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Segoe UI Semibold"/>
              </a:rPr>
              <a:t>Free Edition — hands-on</a:t>
            </a:r>
          </a:p>
        </p:txBody>
      </p:sp>
      <p:sp>
        <p:nvSpPr>
          <p:cNvPr id="15" name="Rounded Rectangle 14"/>
          <p:cNvSpPr/>
          <p:nvPr/>
        </p:nvSpPr>
        <p:spPr>
          <a:xfrm>
            <a:off x="8101583" y="4224528"/>
            <a:ext cx="2116836"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Segoe UI Semibold"/>
              </a:rPr>
              <a:t>Lakeflow &amp; DLT docs</a:t>
            </a:r>
          </a:p>
        </p:txBody>
      </p:sp>
      <p:sp>
        <p:nvSpPr>
          <p:cNvPr id="16" name="Oval 15"/>
          <p:cNvSpPr/>
          <p:nvPr/>
        </p:nvSpPr>
        <p:spPr>
          <a:xfrm>
            <a:off x="868679" y="4992624"/>
            <a:ext cx="713232" cy="713232"/>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074376" y="5198320"/>
            <a:ext cx="301839" cy="301839"/>
          </a:xfrm>
          <a:prstGeom prst="ellipse">
            <a:avLst/>
          </a:prstGeom>
          <a:noFill/>
          <a:ln w="273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1139993" y="5263937"/>
            <a:ext cx="170605" cy="170605"/>
          </a:xfrm>
          <a:prstGeom prst="ellipse">
            <a:avLst/>
          </a:prstGeom>
          <a:noFill/>
          <a:ln w="273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200689" y="5324633"/>
            <a:ext cx="49213" cy="4921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68096"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30" b="0" i="0">
                <a:solidFill>
                  <a:srgbClr val="C4D0D4"/>
                </a:solidFill>
                <a:latin typeface="Segoe UI"/>
              </a:rPr>
              <a:t>Journey</a:t>
            </a:r>
          </a:p>
        </p:txBody>
      </p:sp>
      <p:sp>
        <p:nvSpPr>
          <p:cNvPr id="21" name="Oval 20"/>
          <p:cNvSpPr/>
          <p:nvPr/>
        </p:nvSpPr>
        <p:spPr>
          <a:xfrm>
            <a:off x="1920239" y="4992624"/>
            <a:ext cx="713232" cy="713232"/>
          </a:xfrm>
          <a:prstGeom prst="ellipse">
            <a:avLst/>
          </a:prstGeom>
          <a:solidFill>
            <a:srgbClr val="0E8C9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rapezoid 21"/>
          <p:cNvSpPr/>
          <p:nvPr/>
        </p:nvSpPr>
        <p:spPr>
          <a:xfrm rot="10800000">
            <a:off x="2139059" y="5231128"/>
            <a:ext cx="275592" cy="131234"/>
          </a:xfrm>
          <a:prstGeom prst="trapezoi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257170" y="5362363"/>
            <a:ext cx="39370" cy="11154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819655"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30" b="0" i="0">
                <a:solidFill>
                  <a:srgbClr val="C4D0D4"/>
                </a:solidFill>
                <a:latin typeface="Segoe UI"/>
              </a:rPr>
              <a:t>Ingestion</a:t>
            </a:r>
          </a:p>
        </p:txBody>
      </p:sp>
      <p:sp>
        <p:nvSpPr>
          <p:cNvPr id="25" name="Oval 24"/>
          <p:cNvSpPr/>
          <p:nvPr/>
        </p:nvSpPr>
        <p:spPr>
          <a:xfrm>
            <a:off x="2971799" y="4992624"/>
            <a:ext cx="713232" cy="713232"/>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Gear 6 25"/>
          <p:cNvSpPr/>
          <p:nvPr/>
        </p:nvSpPr>
        <p:spPr>
          <a:xfrm>
            <a:off x="3164372" y="5185196"/>
            <a:ext cx="328086" cy="328086"/>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871215"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30" b="0" i="0">
                <a:solidFill>
                  <a:srgbClr val="C4D0D4"/>
                </a:solidFill>
                <a:latin typeface="Segoe UI"/>
              </a:rPr>
              <a:t>Transform</a:t>
            </a:r>
          </a:p>
        </p:txBody>
      </p:sp>
      <p:sp>
        <p:nvSpPr>
          <p:cNvPr id="28" name="Oval 27"/>
          <p:cNvSpPr/>
          <p:nvPr/>
        </p:nvSpPr>
        <p:spPr>
          <a:xfrm>
            <a:off x="4023360" y="4992624"/>
            <a:ext cx="713232" cy="713232"/>
          </a:xfrm>
          <a:prstGeom prst="ellipse">
            <a:avLst/>
          </a:prstGeom>
          <a:solidFill>
            <a:srgbClr val="F59E0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Lightning Bolt 28"/>
          <p:cNvSpPr/>
          <p:nvPr/>
        </p:nvSpPr>
        <p:spPr>
          <a:xfrm>
            <a:off x="4265145" y="5185196"/>
            <a:ext cx="229660" cy="328086"/>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922776"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30" b="0" i="0">
                <a:solidFill>
                  <a:srgbClr val="C4D0D4"/>
                </a:solidFill>
                <a:latin typeface="Segoe UI"/>
              </a:rPr>
              <a:t>Spark</a:t>
            </a:r>
          </a:p>
        </p:txBody>
      </p:sp>
      <p:sp>
        <p:nvSpPr>
          <p:cNvPr id="31" name="Oval 30"/>
          <p:cNvSpPr/>
          <p:nvPr/>
        </p:nvSpPr>
        <p:spPr>
          <a:xfrm>
            <a:off x="5074920" y="4992624"/>
            <a:ext cx="713232" cy="713232"/>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Pentagon 31"/>
          <p:cNvSpPr/>
          <p:nvPr/>
        </p:nvSpPr>
        <p:spPr>
          <a:xfrm rot="5400000">
            <a:off x="5293739" y="5191758"/>
            <a:ext cx="275592" cy="301839"/>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974336"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30" b="0" i="0">
                <a:solidFill>
                  <a:srgbClr val="C4D0D4"/>
                </a:solidFill>
                <a:latin typeface="Segoe UI"/>
              </a:rPr>
              <a:t>Quality</a:t>
            </a:r>
          </a:p>
        </p:txBody>
      </p:sp>
      <p:sp>
        <p:nvSpPr>
          <p:cNvPr id="34" name="Oval 33"/>
          <p:cNvSpPr/>
          <p:nvPr/>
        </p:nvSpPr>
        <p:spPr>
          <a:xfrm>
            <a:off x="6126480" y="4992624"/>
            <a:ext cx="713232" cy="713232"/>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332176" y="5239330"/>
            <a:ext cx="85302" cy="984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440444" y="5239330"/>
            <a:ext cx="85302" cy="984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6548713" y="5239330"/>
            <a:ext cx="85302" cy="984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332176" y="5360723"/>
            <a:ext cx="85302" cy="984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6440444" y="5360723"/>
            <a:ext cx="85302" cy="984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6548713" y="5360723"/>
            <a:ext cx="85302" cy="984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025896"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30" b="0" i="0">
                <a:solidFill>
                  <a:srgbClr val="C4D0D4"/>
                </a:solidFill>
                <a:latin typeface="Segoe UI"/>
              </a:rPr>
              <a:t>Lakehouse</a:t>
            </a:r>
          </a:p>
        </p:txBody>
      </p:sp>
      <p:sp>
        <p:nvSpPr>
          <p:cNvPr id="42" name="TextBox 41"/>
          <p:cNvSpPr txBox="1"/>
          <p:nvPr/>
        </p:nvSpPr>
        <p:spPr>
          <a:xfrm>
            <a:off x="7955279" y="5989320"/>
            <a:ext cx="3669487" cy="274320"/>
          </a:xfrm>
          <a:prstGeom prst="rect">
            <a:avLst/>
          </a:prstGeom>
          <a:noFill/>
        </p:spPr>
        <p:txBody>
          <a:bodyPr wrap="square" anchor="t" lIns="0" rIns="0" tIns="0" bIns="0">
            <a:spAutoFit/>
          </a:bodyPr>
          <a:lstStyle/>
          <a:p>
            <a:pPr algn="r">
              <a:lnSpc>
                <a:spcPct val="100000"/>
              </a:lnSpc>
              <a:spcBef>
                <a:spcPts val="0"/>
              </a:spcBef>
              <a:spcAft>
                <a:spcPts val="200"/>
              </a:spcAft>
            </a:pPr>
            <a:r>
              <a:rPr sz="1200" b="0" i="1">
                <a:solidFill>
                  <a:srgbClr val="9AA6AB"/>
                </a:solidFill>
                <a:latin typeface="Segoe UI"/>
              </a:rPr>
              <a:t>Next: hands-on pipeline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Databricks Day 4 — Data Processing Concepts</dc:title>
  <dc:subject>How data flows from ingestion to analytics</dc:subject>
  <dc:creator>Enterprise Data Platform Training Series</dc:creator>
  <cp:keywords>Databricks, Lakehouse, Delta Lake, Apache Spark, Big Data, Unity Catalog</cp:keywords>
  <dc:description>generated using python-pptx</dc:description>
  <cp:lastModifiedBy>Steve Canny</cp:lastModifiedBy>
  <cp:revision>1</cp:revision>
  <dcterms:created xsi:type="dcterms:W3CDTF">2013-01-27T09:14:16Z</dcterms:created>
  <dcterms:modified xsi:type="dcterms:W3CDTF">2013-01-27T09:15:58Z</dcterms:modified>
  <cp:category>Technical Training</cp:category>
</cp:coreProperties>
</file>