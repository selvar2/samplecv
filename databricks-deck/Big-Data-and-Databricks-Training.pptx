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audience and frame the session. This is a foundational-to-architecture training arc in three parts: (1) Big Data fundamentals and why the field exists, (2) what Databricks is and the Lakehouse paradigm, and (3) how the platform is architected end to end. Set expectations: by the end, attendees will understand the control vs. compute plane split, Delta Lake, the medallion architecture, and how data flows from source to dashboard. Ask the room about their roles to calibrate depth.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audience through the three sections and the logical build-up. Emphasise that each section answers a question: Section 1 — why does Big Data need new tools? Section 2 — what is Databricks' answer (the Lakehouse)? Section 3 — how is it built? Tell learners they don't need prior Spark experience; concepts are layered. Mention timing/breaks if relevant.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01: Big Data Fundamentals. Transition slide — pause, then preview the four ideas listed. Use it to re-anchor the narrative and tell the audience what they'll be able to do by the end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Big Data beyond 'a lot of data'. The key shift is that the data outgrew the machine: you can no longer scale up a single server, so you scale OUT across a cluster. Use the stats to make it visceral — hundreds of millions of terabytes daily, most of it unstructured. Real examples: a jet engine emits ~10TB per 30 minutes of flight; a single autonomous car generates terabytes per day. These numbers motivate everything that follows. (Figures are widely-cited industry estimates — present as orders of magnitude, not precise values.)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story as a series of bottlenecks being broken. Warehouses handled structured data but couldn't scale to the web. Google's 2003-04 GFS/MapReduce papers inspired Hadoop (2006), which made distributed batch processing accessible but was slow and hard to use. Spark (2013, from UC Berkeley's AMPLab — the founders of Databricks) brought in-memory speed. Data lakes gave cheap storage but became 'swamps' with no reliability. The Lakehouse (2020) merged lake economics with warehouse reliability — and is now the foundation for enterprise 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5 V's are the canonical definition of Big Data. Explain each with a fraud-detection example: Volume = years of card transactions; Velocity = thousands of swipes per second that must be scored in milliseconds; Variety = transaction records + device fingerprints + geolocation; Veracity = messy, duplicated, missing data that must be cleansed; Value = the business outcome (a blocked fraudulent charge). Note some frameworks cite 3 V's (the original Gartner set) or more; 5 is the common training standard. Veracity and Value are what make a project succeed or fail.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contrast is the heart of the 'why'. The single most important row is Scaling: traditional systems scale UP (a bigger, pricier server with a hard ceiling), while Big Data scales OUT (add commodity nodes, near-limitless). Schema-on-write vs schema-on-read is the second key idea: warehouses force structure before you store; lakes let you store first and apply structure when you read. Big Data isn't 'better' — it's a different toolset for a different problem. Many enterprises run both, which is exactly the tension the Lakehouse resolves.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these as the problems any Big Data platform must solve — and a preview of why Databricks exists. Storage is largely solved by cheap cloud object stores. Quality and Governance are where most projects fail: a 'data lake' with no reliability or access control becomes a 'data swamp'. Real-time and Skills/Complexity are about operational maturity. As you cover Databricks later, call back to this slide — Delta Lake addresses quality, Unity Catalog addresses governance, the unified workspace addresses skills/complexity.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the ecosystem by function, not by vendor. Every Big Data stack has these layers: ingest, store, process, orchestrate, query, and ML/AI. The key takeaway: traditionally each layer was a separate tool to integrate, secure, and operate — enormous complexity. This sets up the Databricks value proposition: one platform that spans processing, query, ML and orchestration on open storage, collapsing this landscape. Note Spark appears in both processing and ML — it's the common engine.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reference pipeline for the entire field — memorise the six stages: Sources → Ingestion → Storage → Processing → Analytics → Visualization. Data enters raw and noisy on the left and exits as trusted insight on the right. Traditionally each stage is a different product. The punchline, which you'll return to in Section 3: Databricks implements this whole backbone as one platform on open storage, which is what 'unified analytics' means. Foreshadow the medallion architecture 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it concrete and industry-relevant to your audience. Pick the two verticals closest to the room and go deep. Strong story: a global bank scoring every card transaction for fraud in under 50ms across billions of events — that single use case needs all 5 V's and the full ecosystem. Healthcare genomics is another vivid one: a single human genome is ~200GB raw. These examples prove Big Data is a business capability, not an IT science project.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02: Introduction to Databricks. Transition slide — pause, then preview the four ideas listed. Use it to re-anchor the narrative and tell the audience what they'll be able to do by the end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on the precise definition — Databricks unifies the full data + AI lifecycle on open standards. History matters for credibility: the founders wrote Apache Spark, then open-sourced Delta Lake, MLflow and Unity Catalog, so Databricks is the commercial home of the modern data stack's core technologies. Stress 'open' and 'multi-cloud' — customers avoid lock-in and keep data in their own cloud account. The bottom band teaches precision: avoid the vague one-liner.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sales/architecture narrative. For two decades enterprises ran two stacks: a data lake (cheap, flexible, but unreliable — good for data science) and a data warehouse (reliable, fast SQL, but rigid and expensive — good for BI). Teams endlessly copied data between them, creating cost, staleness, and governance gaps, and ML teams and BI teams never shared a source of truth. Databricks' answer is the Lakehouse: one open copy of data with warehouse reliability and lake flexibility, one governance model, serving every workload. Everything else in the platform follows from this single idea.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Databricks' product history mirrors the industry's: it began by commercializing Spark (speed), then added Delta Lake (reliability) and named the Lakehouse paradigm (unification), then Unity Catalog (governance), and most recently leaned into AI — acquiring MosaicML and building Mosaic AI so customers can build and serve LLMs on their own governed data. The current positioning is the 'Data Intelligence Platform'. The throughline: each release removed a reason customers needed a second system.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Lakehouse is THE defining concept of the course — make sure everyone leaves understanding it. Warehouses are reliable but rigid and expensive; lakes are cheap and flexible but unreliable and ungoverned. Historically you had to choose, or run both. The Lakehouse adds a transactional metadata layer (Delta Lake) directly on top of cheap cloud object storage, giving you warehouse-grade ACID reliability and performance WITH lake-grade scale, openness and ML support — one copy of data, one governance model, every workload. This is what Delta Lake makes technically possible.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'unified' claim made visual: every persona — engineers, analysts, scientists, ML engineers, and business users — works on ONE platform sitting on ONE open copy of data in the customer's cloud storage. Each capability (ETL/streaming, SQL warehousing, ML/GenAI, orchestration, governance) is a first-class part of the platform rather than a separate product to integrate. The foundation row reinforces openness: data lives in the customer's own object storage in open formats. This collapses the tool sprawl from the ecosystem slide into a single collaborative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components map cleanly to the platform: Workspace (where humans collaborate), Spark + Photon (compute engine — Photon is Databricks' vectorized C++ rewrite of Spark's execution, much faster for SQL), Delta Lake (reliable open storage), Mosaic AI/MLflow (the ML &amp; GenAI lifecycle — MLflow is the open experiment-tracking and model-registry standard), and Unity Catalog (unified governance). In Section 3 we'll open up Spark, Delta and Unity Catalog individually. For now, learners just need the mental model of what each piece does.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value proposition in six words leaders care about. Tie each back to a problem from the Challenges slide: Unified solves complexity/silos; Open solves lock-in; Performance and Elastic Scale solve cost and real-time needs; Collaborative solves the skills/velocity gap; Governed solves security &amp; compliance. If asked about ROI, the headline is consolidation — replacing many point tools with one platform — plus faster time-to-insight and a single governed copy of data.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03: Databricks Architecture. Transition slide — pause, then preview the four ideas listed. Use it to re-anchor the narrative and tell the audience what they'll be able to do by the end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architecture concept: Databricks splits into a CONTROL PLANE and a COMPUTE PLANE (formerly called the data plane). The control plane is the managed backend Databricks operates — the web UI, notebooks, job scheduler, cluster manager and Unity Catalog metadata. Crucially it holds NO customer data at rest. The compute plane is where clusters spin up and data is processed; in the classic model it runs inside the CUSTOMER'S own cloud account, so your data and compute stay in your tenancy. This separation is why Databricks is enterprise-secure: Databricks manages the experience, you keep control of your data.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one level deeper on the two planes. Control plane = the brains and the UI, run by Databricks, metadata-only. Compute plane = the muscle, where VMs run Spark and touch your data. Highlight the two compute models: CLASSIC compute provisions VMs inside the customer's own cloud account/VPC (maximum control &amp; isolation), while SERVERLESS compute uses a pre-warmed pool managed by Databricks for instant startup (convenience &amp; speed). In both cases governance and credentials are controlled by the customer. This answers the #1 enterprise security question: 'where does my data live?' — in your own cloud storage, always.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Spark's master/worker model. The DRIVER runs your program, holds the SparkContext, builds a DAG of the computation and breaks it into TASKS. The CLUSTER MANAGER allocates resources. EXECUTORS are JVM processes on worker nodes that actually run tasks in parallel, each task processing one PARTITION of the data — this parallelism is the whole point. Key teaching analogy: the driver is the head chef writing the plan; executors are line cooks each working a portion simultaneously. PHOTON is Databricks' native C++ vectorized engine that transparently accelerates Spark SQL/DataFrame workloads 2-3x with no code change. Mention lazy evaluation: nothing runs until an action triggers the DAG.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Lake is the technology that makes the Lakehouse possible — explain the mechanism. Underneath, a Delta table is just Parquet data files in cloud storage PLUS a transaction log (the _delta_log folder of ordered JSON commits). That log is the magic: it records every change atomically, giving you ACID transactions, time travel (version history &amp; rollback), schema enforcement and evolution, and a single table that serves both batch and streaming. So you get database reliability directly on cheap object storage, in an OPEN format. Mention OPTIMIZE (compaction) and Z-ORDER (data skipping) as performance features. Without Delta, a lake is just files with no guarantees.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medallion (or multi-hop) architecture is the recommended data-design pattern on Databricks, and a very common interview topic. Data flows through three quality tiers: BRONZE is raw ingestion exactly as received (your replayable source of truth); SILVER is cleansed, de-duplicated, validated and conformed — the trustworthy, queryable layer where most joins happen; GOLD is curated, aggregated, business-level tables and ML features that power dashboards and models. Each hop increases quality and business value. Because every layer is a Delta table, the whole pipeline is reliable and can run incrementally with streaming. This pattern operationalizes everything in the course: it's the ecosystem pipeline, built on Delta, governed by Unity Catalog.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cluster = one driver node + one or more worker nodes, all running the Databricks Runtime (DBR) — a pre-optimized bundle of Spark, Photon, Delta and common libraries (the ML runtime adds GPU/DL frameworks). AUTOSCALING adds and removes workers automatically with workload, controlling cost. Cover the four compute types and when to use each: All-Purpose for interactive dev (shared), Job clusters for scheduled production jobs (ephemeral, cheapest), SQL Warehouses for BI/SQL, and Serverless for instant startup with zero infra management. Cost tip: use job clusters for production and auto-termination on interactive clusters.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Unity Catalog is Databricks' unified governance layer — one place to secure and discover every data and AI asset across all workspaces and clouds. The three-level namespace catalog.schema.table replaces the old two-level hive metastore and gives every asset one consistent, governable name. Highlight the four pillars: fine-grained access control (down to rows and columns, via standard SQL GRANTs tied to your corporate identity/SSO); automatic column-level lineage and audit; discovery plus Delta Sharing (an open protocol to share live data across organizations without copying); and platform protections — encryption, network isolation, and compliance certifications. Governance is centralized and consistent, not bolted onto each tool.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capstone diagram — it ties the whole course together. Trace a request end to end: a USER works in the WORKSPACE (a notebook, SQL query or job); that triggers a CLUSTER in the compute plane; SPARK + PHOTON process the data in parallel; results are read/written as DELTA LAKE tables following the medallion pattern; those tables live in the customer's own CLOUD STORAGE in open formats; and finally the curated Gold data powers BI &amp; AI consumption — dashboards, Power BI, Tableau, ML models. Underneath it all, UNITY CATALOG governs every step. Walk left-to-right slowly; this single slide is the architecture in one picture.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Databricks is deliberately OPEN — it sits at the center of an enterprise's data ecosystem rather than replacing everything. Because data is stored in open formats in the customer's own cloud account, Databricks integrates with what teams already use: any cloud object store; ingestion tools like Kafka, Fivetran and the native Lakeflow Connect; orchestration via Airflow, dbt or native Workflows; BI tools like Power BI and Tableau over Databricks SQL; the ML ecosystem through MLflow and HuggingFace; and external governance catalogs. You can drive it in SQL, Python, Scala or R. The message for architects: adopt incrementally, no rip-and-replace, no lock-in.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three sections and land the four big takeaways. Check understanding by asking the room to explain, in their own words: (1) why we scale out instead of up, (2) what the Lakehouse unifies and why, (3) the difference between the control and compute planes, and (4) what the medallion layers are. If they can answer those four, the session succeeded. Transition to the knowledge-check and Q&amp;A.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left column as a live quiz — ask the room and let them answer aloud. Model answers: (1) Volume/Velocity/Variety/Veracity/Value; Veracity &amp; Value decide success. (2) Big Data scales OUT (more commodity nodes) because single machines hit a ceiling. (3) Delta adds a transaction log giving ACID, time travel, schema enforcement, and batch+streaming. (4) Two planes; your data stays in YOUR cloud storage / compute plane. (5) Bronze → Silver → Gold. The right column lists real interview questions so learners can self-study — full answers are throughout the deck's notes.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congratulating the audience and recapping the six pillars shown as icons. Point to the self-study resources — the official docs, Databricks Academy (free role-based learning paths and certifications), and the free Community Edition / Express tier where they can practice hands-on. Invite questions and offer to go deeper on any architecture topic. If this is part of a series, preview the next session (e.g., hands-on notebooks, Delta Live Tables / Lakeflow, or Mosaic AI).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1234440"/>
            <a:ext cx="82296" cy="182880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7" y="1188720"/>
            <a:ext cx="8229600" cy="274320"/>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FF6B57"/>
                </a:solidFill>
                <a:latin typeface="Segoe UI Semibold"/>
              </a:rPr>
              <a:t>ENTERPRISE DATA PLATFORM  ·  TRAINING SERIES</a:t>
            </a:r>
          </a:p>
        </p:txBody>
      </p:sp>
      <p:sp>
        <p:nvSpPr>
          <p:cNvPr id="10" name="TextBox 9"/>
          <p:cNvSpPr txBox="1"/>
          <p:nvPr/>
        </p:nvSpPr>
        <p:spPr>
          <a:xfrm>
            <a:off x="813816" y="1572768"/>
            <a:ext cx="10424160" cy="1371600"/>
          </a:xfrm>
          <a:prstGeom prst="rect">
            <a:avLst/>
          </a:prstGeom>
          <a:noFill/>
        </p:spPr>
        <p:txBody>
          <a:bodyPr wrap="square" anchor="t" lIns="0" rIns="0" tIns="0" bIns="0">
            <a:spAutoFit/>
          </a:bodyPr>
          <a:lstStyle/>
          <a:p>
            <a:pPr algn="l">
              <a:lnSpc>
                <a:spcPct val="100000"/>
              </a:lnSpc>
              <a:spcBef>
                <a:spcPts val="0"/>
              </a:spcBef>
              <a:spcAft>
                <a:spcPts val="200"/>
              </a:spcAft>
            </a:pPr>
            <a:r>
              <a:rPr sz="5300" b="1" i="0">
                <a:solidFill>
                  <a:srgbClr val="FFFFFF"/>
                </a:solidFill>
                <a:latin typeface="Segoe UI"/>
              </a:rPr>
              <a:t>Big Data </a:t>
            </a:r>
            <a:r>
              <a:rPr sz="5300" b="1" i="0">
                <a:solidFill>
                  <a:srgbClr val="FFFFFF"/>
                </a:solidFill>
                <a:latin typeface="Segoe UI"/>
              </a:rPr>
              <a:t>&amp; Databricks</a:t>
            </a:r>
          </a:p>
        </p:txBody>
      </p:sp>
      <p:sp>
        <p:nvSpPr>
          <p:cNvPr id="11" name="TextBox 10"/>
          <p:cNvSpPr txBox="1"/>
          <p:nvPr/>
        </p:nvSpPr>
        <p:spPr>
          <a:xfrm>
            <a:off x="813816" y="2505456"/>
            <a:ext cx="10424160" cy="731520"/>
          </a:xfrm>
          <a:prstGeom prst="rect">
            <a:avLst/>
          </a:prstGeom>
          <a:noFill/>
        </p:spPr>
        <p:txBody>
          <a:bodyPr wrap="square" anchor="t" lIns="0" rIns="0" tIns="0" bIns="0">
            <a:spAutoFit/>
          </a:bodyPr>
          <a:lstStyle/>
          <a:p>
            <a:pPr algn="l">
              <a:lnSpc>
                <a:spcPct val="100000"/>
              </a:lnSpc>
              <a:spcBef>
                <a:spcPts val="0"/>
              </a:spcBef>
              <a:spcAft>
                <a:spcPts val="200"/>
              </a:spcAft>
            </a:pPr>
            <a:r>
              <a:rPr sz="2900" b="1" i="0">
                <a:solidFill>
                  <a:srgbClr val="FF3621"/>
                </a:solidFill>
                <a:latin typeface="Segoe UI Light"/>
              </a:rPr>
              <a:t>From Fundamentals to the Lakehouse</a:t>
            </a:r>
          </a:p>
        </p:txBody>
      </p:sp>
      <p:sp>
        <p:nvSpPr>
          <p:cNvPr id="12" name="TextBox 11"/>
          <p:cNvSpPr txBox="1"/>
          <p:nvPr/>
        </p:nvSpPr>
        <p:spPr>
          <a:xfrm>
            <a:off x="841247" y="3346704"/>
            <a:ext cx="8778240" cy="640080"/>
          </a:xfrm>
          <a:prstGeom prst="rect">
            <a:avLst/>
          </a:prstGeom>
          <a:noFill/>
        </p:spPr>
        <p:txBody>
          <a:bodyPr wrap="square" anchor="t" lIns="0" rIns="0" tIns="0" bIns="0">
            <a:spAutoFit/>
          </a:bodyPr>
          <a:lstStyle/>
          <a:p>
            <a:pPr algn="l">
              <a:lnSpc>
                <a:spcPct val="125000"/>
              </a:lnSpc>
              <a:spcBef>
                <a:spcPts val="0"/>
              </a:spcBef>
              <a:spcAft>
                <a:spcPts val="200"/>
              </a:spcAft>
            </a:pPr>
            <a:r>
              <a:rPr sz="1400" b="0" i="0">
                <a:solidFill>
                  <a:srgbClr val="C4D0D4"/>
                </a:solidFill>
                <a:latin typeface="Segoe UI"/>
              </a:rPr>
              <a:t>A consulting-grade journey through modern data architecture — why Big Data matters, what the Databricks Lakehouse is, and how it is engineered end to end.</a:t>
            </a:r>
          </a:p>
        </p:txBody>
      </p:sp>
      <p:sp>
        <p:nvSpPr>
          <p:cNvPr id="13" name="Rounded Rectangle 12"/>
          <p:cNvSpPr/>
          <p:nvPr/>
        </p:nvSpPr>
        <p:spPr>
          <a:xfrm>
            <a:off x="841247" y="4434840"/>
            <a:ext cx="3310128" cy="566928"/>
          </a:xfrm>
          <a:prstGeom prst="roundRect">
            <a:avLst>
              <a:gd name="adj" fmla="val 50000"/>
            </a:avLst>
          </a:prstGeom>
          <a:noFill/>
          <a:ln w="1651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115568" y="4434840"/>
            <a:ext cx="2898648" cy="566928"/>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FF3621"/>
                </a:solidFill>
                <a:latin typeface="Segoe UI"/>
              </a:rPr>
              <a:t>01    </a:t>
            </a:r>
            <a:r>
              <a:rPr sz="1200" b="1" i="0">
                <a:solidFill>
                  <a:srgbClr val="FFFFFF"/>
                </a:solidFill>
                <a:latin typeface="Segoe UI"/>
              </a:rPr>
              <a:t>Big Data Fundamentals</a:t>
            </a:r>
          </a:p>
        </p:txBody>
      </p:sp>
      <p:sp>
        <p:nvSpPr>
          <p:cNvPr id="15" name="Rounded Rectangle 14"/>
          <p:cNvSpPr/>
          <p:nvPr/>
        </p:nvSpPr>
        <p:spPr>
          <a:xfrm>
            <a:off x="4389120" y="4434840"/>
            <a:ext cx="3310128" cy="566928"/>
          </a:xfrm>
          <a:prstGeom prst="roundRect">
            <a:avLst>
              <a:gd name="adj" fmla="val 50000"/>
            </a:avLst>
          </a:prstGeom>
          <a:noFill/>
          <a:ln w="1651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63440" y="4434840"/>
            <a:ext cx="2898648" cy="566928"/>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FF3621"/>
                </a:solidFill>
                <a:latin typeface="Segoe UI"/>
              </a:rPr>
              <a:t>02    </a:t>
            </a:r>
            <a:r>
              <a:rPr sz="1200" b="1" i="0">
                <a:solidFill>
                  <a:srgbClr val="FFFFFF"/>
                </a:solidFill>
                <a:latin typeface="Segoe UI"/>
              </a:rPr>
              <a:t>Introduction to Databricks</a:t>
            </a:r>
          </a:p>
        </p:txBody>
      </p:sp>
      <p:sp>
        <p:nvSpPr>
          <p:cNvPr id="17" name="Rounded Rectangle 16"/>
          <p:cNvSpPr/>
          <p:nvPr/>
        </p:nvSpPr>
        <p:spPr>
          <a:xfrm>
            <a:off x="7936992" y="4434840"/>
            <a:ext cx="3310128" cy="566928"/>
          </a:xfrm>
          <a:prstGeom prst="roundRect">
            <a:avLst>
              <a:gd name="adj" fmla="val 50000"/>
            </a:avLst>
          </a:prstGeom>
          <a:noFill/>
          <a:ln w="1651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11312" y="4434840"/>
            <a:ext cx="2898648" cy="566928"/>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FF3621"/>
                </a:solidFill>
                <a:latin typeface="Segoe UI"/>
              </a:rPr>
              <a:t>03    </a:t>
            </a:r>
            <a:r>
              <a:rPr sz="1200" b="1" i="0">
                <a:solidFill>
                  <a:srgbClr val="FFFFFF"/>
                </a:solidFill>
                <a:latin typeface="Segoe UI"/>
              </a:rPr>
              <a:t>Databricks Architecture</a:t>
            </a:r>
          </a:p>
        </p:txBody>
      </p:sp>
      <p:sp>
        <p:nvSpPr>
          <p:cNvPr id="19" name="Rectangle 18"/>
          <p:cNvSpPr/>
          <p:nvPr/>
        </p:nvSpPr>
        <p:spPr>
          <a:xfrm>
            <a:off x="841247" y="5532120"/>
            <a:ext cx="5943600" cy="18288"/>
          </a:xfrm>
          <a:prstGeom prst="rect">
            <a:avLst/>
          </a:prstGeom>
          <a:solidFill>
            <a:srgbClr val="3A53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41247" y="5687568"/>
            <a:ext cx="10058400" cy="36576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9AA6AB"/>
                </a:solidFill>
                <a:latin typeface="Segoe UI"/>
              </a:rPr>
              <a:t>Audience:  Data Engineers · Analysts · Data Scientists · Cloud Architects · Technical Leaders</a:t>
            </a:r>
          </a:p>
        </p:txBody>
      </p:sp>
      <p:sp>
        <p:nvSpPr>
          <p:cNvPr id="21" name="TextBox 20"/>
          <p:cNvSpPr txBox="1"/>
          <p:nvPr/>
        </p:nvSpPr>
        <p:spPr>
          <a:xfrm>
            <a:off x="841247" y="6053328"/>
            <a:ext cx="10058400" cy="365760"/>
          </a:xfrm>
          <a:prstGeom prst="rect">
            <a:avLst/>
          </a:prstGeom>
          <a:noFill/>
        </p:spPr>
        <p:txBody>
          <a:bodyPr wrap="square" anchor="t" lIns="0" rIns="0" tIns="0" bIns="0">
            <a:spAutoFit/>
          </a:bodyPr>
          <a:lstStyle/>
          <a:p>
            <a:pPr algn="l">
              <a:lnSpc>
                <a:spcPct val="100000"/>
              </a:lnSpc>
              <a:spcBef>
                <a:spcPts val="0"/>
              </a:spcBef>
              <a:spcAft>
                <a:spcPts val="200"/>
              </a:spcAft>
            </a:pPr>
            <a:r>
              <a:rPr sz="1150" b="0" i="1">
                <a:solidFill>
                  <a:srgbClr val="9AA6AB"/>
                </a:solidFill>
                <a:latin typeface="Segoe UI"/>
              </a:rPr>
              <a:t>Powered by the Databricks Lakehouse Platform  ·  Apache Spark · Delta Lake · Unity Catalog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COURSE ROADMAP</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Your Learning Journey</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74519"/>
            <a:ext cx="3442106" cy="41148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874519"/>
            <a:ext cx="3442106" cy="128016"/>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822959" y="2240280"/>
            <a:ext cx="914400" cy="91440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an 9"/>
          <p:cNvSpPr/>
          <p:nvPr/>
        </p:nvSpPr>
        <p:spPr>
          <a:xfrm>
            <a:off x="1107704" y="2487168"/>
            <a:ext cx="344911" cy="420624"/>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938528" y="2395728"/>
            <a:ext cx="1979066" cy="36576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2272B4"/>
                </a:solidFill>
                <a:latin typeface="Segoe UI Semibold"/>
              </a:rPr>
              <a:t>SECTION 01</a:t>
            </a:r>
          </a:p>
        </p:txBody>
      </p:sp>
      <p:sp>
        <p:nvSpPr>
          <p:cNvPr id="12" name="TextBox 11"/>
          <p:cNvSpPr txBox="1"/>
          <p:nvPr/>
        </p:nvSpPr>
        <p:spPr>
          <a:xfrm>
            <a:off x="1938528" y="2670048"/>
            <a:ext cx="1979066" cy="640080"/>
          </a:xfrm>
          <a:prstGeom prst="rect">
            <a:avLst/>
          </a:prstGeom>
          <a:noFill/>
        </p:spPr>
        <p:txBody>
          <a:bodyPr wrap="square" anchor="t" lIns="0" rIns="0" tIns="0" bIns="0">
            <a:spAutoFit/>
          </a:bodyPr>
          <a:lstStyle/>
          <a:p>
            <a:pPr algn="l">
              <a:lnSpc>
                <a:spcPct val="98000"/>
              </a:lnSpc>
              <a:spcBef>
                <a:spcPts val="0"/>
              </a:spcBef>
              <a:spcAft>
                <a:spcPts val="200"/>
              </a:spcAft>
            </a:pPr>
            <a:r>
              <a:rPr sz="1550" b="1" i="0">
                <a:solidFill>
                  <a:srgbClr val="1B3139"/>
                </a:solidFill>
                <a:latin typeface="Segoe UI"/>
              </a:rPr>
              <a:t>Big Data Fundamentals</a:t>
            </a:r>
          </a:p>
        </p:txBody>
      </p:sp>
      <p:sp>
        <p:nvSpPr>
          <p:cNvPr id="13" name="Rectangle 12"/>
          <p:cNvSpPr/>
          <p:nvPr/>
        </p:nvSpPr>
        <p:spPr>
          <a:xfrm>
            <a:off x="950976" y="3346704"/>
            <a:ext cx="2674010"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87552" y="3511296"/>
            <a:ext cx="2710586" cy="1828800"/>
          </a:xfrm>
          <a:prstGeom prst="rect">
            <a:avLst/>
          </a:prstGeom>
          <a:noFill/>
        </p:spPr>
        <p:txBody>
          <a:bodyPr wrap="square" anchor="t" lIns="0" rIns="0" tIns="0" bIns="0">
            <a:spAutoFit/>
          </a:bodyPr>
          <a:lstStyle/>
          <a:p>
            <a:pPr marL="274320" indent="-274320">
              <a:lnSpc>
                <a:spcPct val="105000"/>
              </a:lnSpc>
              <a:spcBef>
                <a:spcPts val="0"/>
              </a:spcBef>
              <a:spcAft>
                <a:spcPts val="1200"/>
              </a:spcAft>
            </a:pPr>
            <a:r>
              <a:rPr sz="1250" b="1">
                <a:solidFill>
                  <a:srgbClr val="2272B4"/>
                </a:solidFill>
                <a:latin typeface="Segoe UI"/>
              </a:rPr>
              <a:t>▪   </a:t>
            </a:r>
            <a:r>
              <a:rPr sz="1250">
                <a:solidFill>
                  <a:srgbClr val="465257"/>
                </a:solidFill>
                <a:latin typeface="Segoe UI"/>
              </a:rPr>
              <a:t>Why Big Data matters</a:t>
            </a:r>
          </a:p>
          <a:p>
            <a:pPr marL="274320" indent="-274320">
              <a:lnSpc>
                <a:spcPct val="105000"/>
              </a:lnSpc>
              <a:spcBef>
                <a:spcPts val="0"/>
              </a:spcBef>
              <a:spcAft>
                <a:spcPts val="1200"/>
              </a:spcAft>
            </a:pPr>
            <a:r>
              <a:rPr sz="1250" b="1">
                <a:solidFill>
                  <a:srgbClr val="2272B4"/>
                </a:solidFill>
                <a:latin typeface="Segoe UI"/>
              </a:rPr>
              <a:t>▪   </a:t>
            </a:r>
            <a:r>
              <a:rPr sz="1250">
                <a:solidFill>
                  <a:srgbClr val="465257"/>
                </a:solidFill>
                <a:latin typeface="Segoe UI"/>
              </a:rPr>
              <a:t>The 5 V's &amp; challenges</a:t>
            </a:r>
          </a:p>
          <a:p>
            <a:pPr marL="274320" indent="-274320">
              <a:lnSpc>
                <a:spcPct val="105000"/>
              </a:lnSpc>
              <a:spcBef>
                <a:spcPts val="0"/>
              </a:spcBef>
              <a:spcAft>
                <a:spcPts val="1200"/>
              </a:spcAft>
            </a:pPr>
            <a:r>
              <a:rPr sz="1250" b="1">
                <a:solidFill>
                  <a:srgbClr val="2272B4"/>
                </a:solidFill>
                <a:latin typeface="Segoe UI"/>
              </a:rPr>
              <a:t>▪   </a:t>
            </a:r>
            <a:r>
              <a:rPr sz="1250">
                <a:solidFill>
                  <a:srgbClr val="465257"/>
                </a:solidFill>
                <a:latin typeface="Segoe UI"/>
              </a:rPr>
              <a:t>Technologies &amp; ecosystem</a:t>
            </a:r>
          </a:p>
          <a:p>
            <a:pPr marL="274320" indent="-274320">
              <a:lnSpc>
                <a:spcPct val="105000"/>
              </a:lnSpc>
              <a:spcBef>
                <a:spcPts val="0"/>
              </a:spcBef>
              <a:spcAft>
                <a:spcPts val="1200"/>
              </a:spcAft>
            </a:pPr>
            <a:r>
              <a:rPr sz="1250" b="1">
                <a:solidFill>
                  <a:srgbClr val="2272B4"/>
                </a:solidFill>
                <a:latin typeface="Segoe UI"/>
              </a:rPr>
              <a:t>▪   </a:t>
            </a:r>
            <a:r>
              <a:rPr sz="1250">
                <a:solidFill>
                  <a:srgbClr val="465257"/>
                </a:solidFill>
                <a:latin typeface="Segoe UI"/>
              </a:rPr>
              <a:t>Real-world use cases</a:t>
            </a:r>
          </a:p>
        </p:txBody>
      </p:sp>
      <p:sp>
        <p:nvSpPr>
          <p:cNvPr id="15" name="Rectangle 14"/>
          <p:cNvSpPr/>
          <p:nvPr/>
        </p:nvSpPr>
        <p:spPr>
          <a:xfrm>
            <a:off x="950976" y="5230368"/>
            <a:ext cx="2674010"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87552" y="5358384"/>
            <a:ext cx="2655722" cy="548640"/>
          </a:xfrm>
          <a:prstGeom prst="rect">
            <a:avLst/>
          </a:prstGeom>
          <a:noFill/>
        </p:spPr>
        <p:txBody>
          <a:bodyPr wrap="square" anchor="t" lIns="0" rIns="0" tIns="0" bIns="0">
            <a:spAutoFit/>
          </a:bodyPr>
          <a:lstStyle/>
          <a:p>
            <a:pPr algn="l">
              <a:lnSpc>
                <a:spcPct val="112000"/>
              </a:lnSpc>
              <a:spcBef>
                <a:spcPts val="0"/>
              </a:spcBef>
              <a:spcAft>
                <a:spcPts val="200"/>
              </a:spcAft>
            </a:pPr>
            <a:r>
              <a:rPr sz="950" b="1" i="0">
                <a:solidFill>
                  <a:srgbClr val="2272B4"/>
                </a:solidFill>
                <a:latin typeface="Segoe UI Semibold"/>
              </a:rPr>
              <a:t>OUTCOME   </a:t>
            </a:r>
            <a:r>
              <a:rPr sz="1050" b="0" i="1">
                <a:solidFill>
                  <a:srgbClr val="6B777C"/>
                </a:solidFill>
                <a:latin typeface="Segoe UI"/>
              </a:rPr>
              <a:t>Speak the language of Big Data with confidence.</a:t>
            </a:r>
          </a:p>
        </p:txBody>
      </p:sp>
      <p:sp>
        <p:nvSpPr>
          <p:cNvPr id="17" name="Rounded Rectangle 16"/>
          <p:cNvSpPr/>
          <p:nvPr/>
        </p:nvSpPr>
        <p:spPr>
          <a:xfrm>
            <a:off x="4374794" y="1874519"/>
            <a:ext cx="3442106" cy="41148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374794" y="1874519"/>
            <a:ext cx="3442106" cy="128016"/>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630826" y="2240280"/>
            <a:ext cx="914400" cy="91440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Lightning Bolt 19"/>
          <p:cNvSpPr/>
          <p:nvPr/>
        </p:nvSpPr>
        <p:spPr>
          <a:xfrm>
            <a:off x="4940808" y="2487168"/>
            <a:ext cx="294436" cy="420624"/>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746394" y="2395728"/>
            <a:ext cx="1979066" cy="36576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3621"/>
                </a:solidFill>
                <a:latin typeface="Segoe UI Semibold"/>
              </a:rPr>
              <a:t>SECTION 02</a:t>
            </a:r>
          </a:p>
        </p:txBody>
      </p:sp>
      <p:sp>
        <p:nvSpPr>
          <p:cNvPr id="22" name="TextBox 21"/>
          <p:cNvSpPr txBox="1"/>
          <p:nvPr/>
        </p:nvSpPr>
        <p:spPr>
          <a:xfrm>
            <a:off x="5746394" y="2670048"/>
            <a:ext cx="1979066" cy="640080"/>
          </a:xfrm>
          <a:prstGeom prst="rect">
            <a:avLst/>
          </a:prstGeom>
          <a:noFill/>
        </p:spPr>
        <p:txBody>
          <a:bodyPr wrap="square" anchor="t" lIns="0" rIns="0" tIns="0" bIns="0">
            <a:spAutoFit/>
          </a:bodyPr>
          <a:lstStyle/>
          <a:p>
            <a:pPr algn="l">
              <a:lnSpc>
                <a:spcPct val="98000"/>
              </a:lnSpc>
              <a:spcBef>
                <a:spcPts val="0"/>
              </a:spcBef>
              <a:spcAft>
                <a:spcPts val="200"/>
              </a:spcAft>
            </a:pPr>
            <a:r>
              <a:rPr sz="1550" b="1" i="0">
                <a:solidFill>
                  <a:srgbClr val="1B3139"/>
                </a:solidFill>
                <a:latin typeface="Segoe UI"/>
              </a:rPr>
              <a:t>Introduction to Databricks</a:t>
            </a:r>
          </a:p>
        </p:txBody>
      </p:sp>
      <p:sp>
        <p:nvSpPr>
          <p:cNvPr id="23" name="Rectangle 22"/>
          <p:cNvSpPr/>
          <p:nvPr/>
        </p:nvSpPr>
        <p:spPr>
          <a:xfrm>
            <a:off x="4758842" y="3346704"/>
            <a:ext cx="2674010"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795418" y="3511296"/>
            <a:ext cx="2710586" cy="1828800"/>
          </a:xfrm>
          <a:prstGeom prst="rect">
            <a:avLst/>
          </a:prstGeom>
          <a:noFill/>
        </p:spPr>
        <p:txBody>
          <a:bodyPr wrap="square" anchor="t" lIns="0" rIns="0" tIns="0" bIns="0">
            <a:spAutoFit/>
          </a:bodyPr>
          <a:lstStyle/>
          <a:p>
            <a:pPr marL="274320" indent="-274320">
              <a:lnSpc>
                <a:spcPct val="105000"/>
              </a:lnSpc>
              <a:spcBef>
                <a:spcPts val="0"/>
              </a:spcBef>
              <a:spcAft>
                <a:spcPts val="1200"/>
              </a:spcAft>
            </a:pPr>
            <a:r>
              <a:rPr sz="1250" b="1">
                <a:solidFill>
                  <a:srgbClr val="FF3621"/>
                </a:solidFill>
                <a:latin typeface="Segoe UI"/>
              </a:rPr>
              <a:t>▪   </a:t>
            </a:r>
            <a:r>
              <a:rPr sz="1250">
                <a:solidFill>
                  <a:srgbClr val="465257"/>
                </a:solidFill>
                <a:latin typeface="Segoe UI"/>
              </a:rPr>
              <a:t>What &amp; why Databricks</a:t>
            </a:r>
          </a:p>
          <a:p>
            <a:pPr marL="274320" indent="-274320">
              <a:lnSpc>
                <a:spcPct val="105000"/>
              </a:lnSpc>
              <a:spcBef>
                <a:spcPts val="0"/>
              </a:spcBef>
              <a:spcAft>
                <a:spcPts val="1200"/>
              </a:spcAft>
            </a:pPr>
            <a:r>
              <a:rPr sz="1250" b="1">
                <a:solidFill>
                  <a:srgbClr val="FF3621"/>
                </a:solidFill>
                <a:latin typeface="Segoe UI"/>
              </a:rPr>
              <a:t>▪   </a:t>
            </a:r>
            <a:r>
              <a:rPr sz="1250">
                <a:solidFill>
                  <a:srgbClr val="465257"/>
                </a:solidFill>
                <a:latin typeface="Segoe UI"/>
              </a:rPr>
              <a:t>The Lakehouse concept</a:t>
            </a:r>
          </a:p>
          <a:p>
            <a:pPr marL="274320" indent="-274320">
              <a:lnSpc>
                <a:spcPct val="105000"/>
              </a:lnSpc>
              <a:spcBef>
                <a:spcPts val="0"/>
              </a:spcBef>
              <a:spcAft>
                <a:spcPts val="1200"/>
              </a:spcAft>
            </a:pPr>
            <a:r>
              <a:rPr sz="1250" b="1">
                <a:solidFill>
                  <a:srgbClr val="FF3621"/>
                </a:solidFill>
                <a:latin typeface="Segoe UI"/>
              </a:rPr>
              <a:t>▪   </a:t>
            </a:r>
            <a:r>
              <a:rPr sz="1250">
                <a:solidFill>
                  <a:srgbClr val="465257"/>
                </a:solidFill>
                <a:latin typeface="Segoe UI"/>
              </a:rPr>
              <a:t>Unified analytics platform</a:t>
            </a:r>
          </a:p>
          <a:p>
            <a:pPr marL="274320" indent="-274320">
              <a:lnSpc>
                <a:spcPct val="105000"/>
              </a:lnSpc>
              <a:spcBef>
                <a:spcPts val="0"/>
              </a:spcBef>
              <a:spcAft>
                <a:spcPts val="1200"/>
              </a:spcAft>
            </a:pPr>
            <a:r>
              <a:rPr sz="1250" b="1">
                <a:solidFill>
                  <a:srgbClr val="FF3621"/>
                </a:solidFill>
                <a:latin typeface="Segoe UI"/>
              </a:rPr>
              <a:t>▪   </a:t>
            </a:r>
            <a:r>
              <a:rPr sz="1250">
                <a:solidFill>
                  <a:srgbClr val="465257"/>
                </a:solidFill>
                <a:latin typeface="Segoe UI"/>
              </a:rPr>
              <a:t>Core components &amp; benefits</a:t>
            </a:r>
          </a:p>
        </p:txBody>
      </p:sp>
      <p:sp>
        <p:nvSpPr>
          <p:cNvPr id="25" name="Rectangle 24"/>
          <p:cNvSpPr/>
          <p:nvPr/>
        </p:nvSpPr>
        <p:spPr>
          <a:xfrm>
            <a:off x="4758842" y="5230368"/>
            <a:ext cx="2674010"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795418" y="5358384"/>
            <a:ext cx="2655722" cy="548640"/>
          </a:xfrm>
          <a:prstGeom prst="rect">
            <a:avLst/>
          </a:prstGeom>
          <a:noFill/>
        </p:spPr>
        <p:txBody>
          <a:bodyPr wrap="square" anchor="t" lIns="0" rIns="0" tIns="0" bIns="0">
            <a:spAutoFit/>
          </a:bodyPr>
          <a:lstStyle/>
          <a:p>
            <a:pPr algn="l">
              <a:lnSpc>
                <a:spcPct val="112000"/>
              </a:lnSpc>
              <a:spcBef>
                <a:spcPts val="0"/>
              </a:spcBef>
              <a:spcAft>
                <a:spcPts val="200"/>
              </a:spcAft>
            </a:pPr>
            <a:r>
              <a:rPr sz="950" b="1" i="0">
                <a:solidFill>
                  <a:srgbClr val="FF3621"/>
                </a:solidFill>
                <a:latin typeface="Segoe UI Semibold"/>
              </a:rPr>
              <a:t>OUTCOME   </a:t>
            </a:r>
            <a:r>
              <a:rPr sz="1050" b="0" i="1">
                <a:solidFill>
                  <a:srgbClr val="6B777C"/>
                </a:solidFill>
                <a:latin typeface="Segoe UI"/>
              </a:rPr>
              <a:t>Explain the Lakehouse and what Databricks unifies.</a:t>
            </a:r>
          </a:p>
        </p:txBody>
      </p:sp>
      <p:sp>
        <p:nvSpPr>
          <p:cNvPr id="27" name="Rounded Rectangle 26"/>
          <p:cNvSpPr/>
          <p:nvPr/>
        </p:nvSpPr>
        <p:spPr>
          <a:xfrm>
            <a:off x="8182660" y="1874519"/>
            <a:ext cx="3442106" cy="41148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8182660" y="1874519"/>
            <a:ext cx="3442106" cy="128016"/>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8438692" y="2240280"/>
            <a:ext cx="914400" cy="91440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8754563" y="2556150"/>
            <a:ext cx="114409" cy="114409"/>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8922812" y="2556150"/>
            <a:ext cx="114409" cy="114409"/>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8754563" y="2724399"/>
            <a:ext cx="114409" cy="114409"/>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8922812" y="2724399"/>
            <a:ext cx="114409" cy="114409"/>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554260" y="2395728"/>
            <a:ext cx="1979066" cy="36576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00A972"/>
                </a:solidFill>
                <a:latin typeface="Segoe UI Semibold"/>
              </a:rPr>
              <a:t>SECTION 03</a:t>
            </a:r>
          </a:p>
        </p:txBody>
      </p:sp>
      <p:sp>
        <p:nvSpPr>
          <p:cNvPr id="35" name="TextBox 34"/>
          <p:cNvSpPr txBox="1"/>
          <p:nvPr/>
        </p:nvSpPr>
        <p:spPr>
          <a:xfrm>
            <a:off x="9554260" y="2670048"/>
            <a:ext cx="1979066" cy="640080"/>
          </a:xfrm>
          <a:prstGeom prst="rect">
            <a:avLst/>
          </a:prstGeom>
          <a:noFill/>
        </p:spPr>
        <p:txBody>
          <a:bodyPr wrap="square" anchor="t" lIns="0" rIns="0" tIns="0" bIns="0">
            <a:spAutoFit/>
          </a:bodyPr>
          <a:lstStyle/>
          <a:p>
            <a:pPr algn="l">
              <a:lnSpc>
                <a:spcPct val="98000"/>
              </a:lnSpc>
              <a:spcBef>
                <a:spcPts val="0"/>
              </a:spcBef>
              <a:spcAft>
                <a:spcPts val="200"/>
              </a:spcAft>
            </a:pPr>
            <a:r>
              <a:rPr sz="1550" b="1" i="0">
                <a:solidFill>
                  <a:srgbClr val="1B3139"/>
                </a:solidFill>
                <a:latin typeface="Segoe UI"/>
              </a:rPr>
              <a:t>Databricks Architecture</a:t>
            </a:r>
          </a:p>
        </p:txBody>
      </p:sp>
      <p:sp>
        <p:nvSpPr>
          <p:cNvPr id="36" name="Rectangle 35"/>
          <p:cNvSpPr/>
          <p:nvPr/>
        </p:nvSpPr>
        <p:spPr>
          <a:xfrm>
            <a:off x="8566708" y="3346704"/>
            <a:ext cx="2674010"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603284" y="3511296"/>
            <a:ext cx="2710586" cy="1828800"/>
          </a:xfrm>
          <a:prstGeom prst="rect">
            <a:avLst/>
          </a:prstGeom>
          <a:noFill/>
        </p:spPr>
        <p:txBody>
          <a:bodyPr wrap="square" anchor="t" lIns="0" rIns="0" tIns="0" bIns="0">
            <a:spAutoFit/>
          </a:bodyPr>
          <a:lstStyle/>
          <a:p>
            <a:pPr marL="274320" indent="-274320">
              <a:lnSpc>
                <a:spcPct val="105000"/>
              </a:lnSpc>
              <a:spcBef>
                <a:spcPts val="0"/>
              </a:spcBef>
              <a:spcAft>
                <a:spcPts val="1200"/>
              </a:spcAft>
            </a:pPr>
            <a:r>
              <a:rPr sz="1250" b="1">
                <a:solidFill>
                  <a:srgbClr val="00A972"/>
                </a:solidFill>
                <a:latin typeface="Segoe UI"/>
              </a:rPr>
              <a:t>▪   </a:t>
            </a:r>
            <a:r>
              <a:rPr sz="1250">
                <a:solidFill>
                  <a:srgbClr val="465257"/>
                </a:solidFill>
                <a:latin typeface="Segoe UI"/>
              </a:rPr>
              <a:t>Control &amp; compute planes</a:t>
            </a:r>
          </a:p>
          <a:p>
            <a:pPr marL="274320" indent="-274320">
              <a:lnSpc>
                <a:spcPct val="105000"/>
              </a:lnSpc>
              <a:spcBef>
                <a:spcPts val="0"/>
              </a:spcBef>
              <a:spcAft>
                <a:spcPts val="1200"/>
              </a:spcAft>
            </a:pPr>
            <a:r>
              <a:rPr sz="1250" b="1">
                <a:solidFill>
                  <a:srgbClr val="00A972"/>
                </a:solidFill>
                <a:latin typeface="Segoe UI"/>
              </a:rPr>
              <a:t>▪   </a:t>
            </a:r>
            <a:r>
              <a:rPr sz="1250">
                <a:solidFill>
                  <a:srgbClr val="465257"/>
                </a:solidFill>
                <a:latin typeface="Segoe UI"/>
              </a:rPr>
              <a:t>Spark, Delta &amp; Medallion</a:t>
            </a:r>
          </a:p>
          <a:p>
            <a:pPr marL="274320" indent="-274320">
              <a:lnSpc>
                <a:spcPct val="105000"/>
              </a:lnSpc>
              <a:spcBef>
                <a:spcPts val="0"/>
              </a:spcBef>
              <a:spcAft>
                <a:spcPts val="1200"/>
              </a:spcAft>
            </a:pPr>
            <a:r>
              <a:rPr sz="1250" b="1">
                <a:solidFill>
                  <a:srgbClr val="00A972"/>
                </a:solidFill>
                <a:latin typeface="Segoe UI"/>
              </a:rPr>
              <a:t>▪   </a:t>
            </a:r>
            <a:r>
              <a:rPr sz="1250">
                <a:solidFill>
                  <a:srgbClr val="465257"/>
                </a:solidFill>
                <a:latin typeface="Segoe UI"/>
              </a:rPr>
              <a:t>Clusters, security, data flow</a:t>
            </a:r>
          </a:p>
          <a:p>
            <a:pPr marL="274320" indent="-274320">
              <a:lnSpc>
                <a:spcPct val="105000"/>
              </a:lnSpc>
              <a:spcBef>
                <a:spcPts val="0"/>
              </a:spcBef>
              <a:spcAft>
                <a:spcPts val="1200"/>
              </a:spcAft>
            </a:pPr>
            <a:r>
              <a:rPr sz="1250" b="1">
                <a:solidFill>
                  <a:srgbClr val="00A972"/>
                </a:solidFill>
                <a:latin typeface="Segoe UI"/>
              </a:rPr>
              <a:t>▪   </a:t>
            </a:r>
            <a:r>
              <a:rPr sz="1250">
                <a:solidFill>
                  <a:srgbClr val="465257"/>
                </a:solidFill>
                <a:latin typeface="Segoe UI"/>
              </a:rPr>
              <a:t>Integration architecture</a:t>
            </a:r>
          </a:p>
        </p:txBody>
      </p:sp>
      <p:sp>
        <p:nvSpPr>
          <p:cNvPr id="38" name="Rectangle 37"/>
          <p:cNvSpPr/>
          <p:nvPr/>
        </p:nvSpPr>
        <p:spPr>
          <a:xfrm>
            <a:off x="8566708" y="5230368"/>
            <a:ext cx="2674010"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603284" y="5358384"/>
            <a:ext cx="2655722" cy="548640"/>
          </a:xfrm>
          <a:prstGeom prst="rect">
            <a:avLst/>
          </a:prstGeom>
          <a:noFill/>
        </p:spPr>
        <p:txBody>
          <a:bodyPr wrap="square" anchor="t" lIns="0" rIns="0" tIns="0" bIns="0">
            <a:spAutoFit/>
          </a:bodyPr>
          <a:lstStyle/>
          <a:p>
            <a:pPr algn="l">
              <a:lnSpc>
                <a:spcPct val="112000"/>
              </a:lnSpc>
              <a:spcBef>
                <a:spcPts val="0"/>
              </a:spcBef>
              <a:spcAft>
                <a:spcPts val="200"/>
              </a:spcAft>
            </a:pPr>
            <a:r>
              <a:rPr sz="950" b="1" i="0">
                <a:solidFill>
                  <a:srgbClr val="00A972"/>
                </a:solidFill>
                <a:latin typeface="Segoe UI Semibold"/>
              </a:rPr>
              <a:t>OUTCOME   </a:t>
            </a:r>
            <a:r>
              <a:rPr sz="1050" b="0" i="1">
                <a:solidFill>
                  <a:srgbClr val="6B777C"/>
                </a:solidFill>
                <a:latin typeface="Segoe UI"/>
              </a:rPr>
              <a:t>Describe how Databricks runs end to end.</a:t>
            </a:r>
          </a:p>
        </p:txBody>
      </p:sp>
      <p:sp>
        <p:nvSpPr>
          <p:cNvPr id="40" name="TextBox 39"/>
          <p:cNvSpPr txBox="1"/>
          <p:nvPr/>
        </p:nvSpPr>
        <p:spPr>
          <a:xfrm>
            <a:off x="566928" y="6163056"/>
            <a:ext cx="11057839" cy="274320"/>
          </a:xfrm>
          <a:prstGeom prst="rect">
            <a:avLst/>
          </a:prstGeom>
          <a:noFill/>
        </p:spPr>
        <p:txBody>
          <a:bodyPr wrap="square" anchor="t" lIns="0" rIns="0" tIns="0" bIns="0">
            <a:spAutoFit/>
          </a:bodyPr>
          <a:lstStyle/>
          <a:p>
            <a:pPr algn="ctr">
              <a:lnSpc>
                <a:spcPct val="100000"/>
              </a:lnSpc>
              <a:spcBef>
                <a:spcPts val="0"/>
              </a:spcBef>
              <a:spcAft>
                <a:spcPts val="200"/>
              </a:spcAft>
            </a:pPr>
            <a:r>
              <a:rPr sz="1150" b="0" i="1">
                <a:solidFill>
                  <a:srgbClr val="6B777C"/>
                </a:solidFill>
                <a:latin typeface="Segoe UI"/>
              </a:rPr>
              <a:t>Twelve concepts · three sections · one continuous narrative — from raw data to a governed, AI-ready Lakehouse.</a:t>
            </a:r>
          </a:p>
        </p:txBody>
      </p:sp>
      <p:sp>
        <p:nvSpPr>
          <p:cNvPr id="41" name="TextBox 40"/>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2" name="TextBox 41"/>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1463040"/>
            <a:ext cx="5486400" cy="2194560"/>
          </a:xfrm>
          <a:prstGeom prst="rect">
            <a:avLst/>
          </a:prstGeom>
          <a:noFill/>
        </p:spPr>
        <p:txBody>
          <a:bodyPr wrap="square" anchor="t" lIns="0" rIns="0" tIns="0" bIns="0">
            <a:spAutoFit/>
          </a:bodyPr>
          <a:lstStyle/>
          <a:p>
            <a:pPr algn="l">
              <a:lnSpc>
                <a:spcPct val="100000"/>
              </a:lnSpc>
              <a:spcBef>
                <a:spcPts val="0"/>
              </a:spcBef>
              <a:spcAft>
                <a:spcPts val="200"/>
              </a:spcAft>
            </a:pPr>
            <a:r>
              <a:rPr sz="20000" b="1" i="0">
                <a:solidFill>
                  <a:srgbClr val="27444F"/>
                </a:solidFill>
                <a:latin typeface="Segoe UI Light"/>
              </a:rPr>
              <a:t>01</a:t>
            </a:r>
          </a:p>
        </p:txBody>
      </p:sp>
      <p:sp>
        <p:nvSpPr>
          <p:cNvPr id="9" name="Rounded Rectangle 8"/>
          <p:cNvSpPr/>
          <p:nvPr/>
        </p:nvSpPr>
        <p:spPr>
          <a:xfrm>
            <a:off x="612648" y="3310128"/>
            <a:ext cx="777240" cy="914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12648" y="2743200"/>
            <a:ext cx="7315200" cy="36576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F3621"/>
                </a:solidFill>
                <a:latin typeface="Segoe UI Semibold"/>
              </a:rPr>
              <a:t>SECTION ONE</a:t>
            </a:r>
          </a:p>
        </p:txBody>
      </p:sp>
      <p:sp>
        <p:nvSpPr>
          <p:cNvPr id="11" name="TextBox 10"/>
          <p:cNvSpPr txBox="1"/>
          <p:nvPr/>
        </p:nvSpPr>
        <p:spPr>
          <a:xfrm>
            <a:off x="566928" y="3456432"/>
            <a:ext cx="7680960" cy="1097280"/>
          </a:xfrm>
          <a:prstGeom prst="rect">
            <a:avLst/>
          </a:prstGeom>
          <a:noFill/>
        </p:spPr>
        <p:txBody>
          <a:bodyPr wrap="square" anchor="t" lIns="0" rIns="0" tIns="0" bIns="0">
            <a:spAutoFit/>
          </a:bodyPr>
          <a:lstStyle/>
          <a:p>
            <a:pPr algn="l">
              <a:lnSpc>
                <a:spcPct val="98000"/>
              </a:lnSpc>
              <a:spcBef>
                <a:spcPts val="0"/>
              </a:spcBef>
              <a:spcAft>
                <a:spcPts val="200"/>
              </a:spcAft>
            </a:pPr>
            <a:r>
              <a:rPr sz="4000" b="1" i="0">
                <a:solidFill>
                  <a:srgbClr val="FFFFFF"/>
                </a:solidFill>
                <a:latin typeface="Segoe UI"/>
              </a:rPr>
              <a:t>Big Data Fundamentals</a:t>
            </a:r>
          </a:p>
        </p:txBody>
      </p:sp>
      <p:sp>
        <p:nvSpPr>
          <p:cNvPr id="12" name="TextBox 11"/>
          <p:cNvSpPr txBox="1"/>
          <p:nvPr/>
        </p:nvSpPr>
        <p:spPr>
          <a:xfrm>
            <a:off x="612648" y="4754880"/>
            <a:ext cx="6949440" cy="1463040"/>
          </a:xfrm>
          <a:prstGeom prst="rect">
            <a:avLst/>
          </a:prstGeom>
          <a:noFill/>
        </p:spPr>
        <p:txBody>
          <a:bodyPr wrap="square" anchor="t" lIns="0" rIns="0" tIns="0" bIns="0">
            <a:spAutoFit/>
          </a:bodyPr>
          <a:lstStyle/>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Why Big Data matters &amp; the 5 V's</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Traditional vs Big Data &amp; key challenges</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Technologies, ecosystem &amp; real-world use cases</a:t>
            </a:r>
          </a:p>
        </p:txBody>
      </p:sp>
      <p:sp>
        <p:nvSpPr>
          <p:cNvPr id="13" name="Oval 12"/>
          <p:cNvSpPr/>
          <p:nvPr/>
        </p:nvSpPr>
        <p:spPr>
          <a:xfrm>
            <a:off x="8641080" y="2423160"/>
            <a:ext cx="2286000" cy="2286000"/>
          </a:xfrm>
          <a:prstGeom prst="ellipse">
            <a:avLst/>
          </a:prstGeom>
          <a:solidFill>
            <a:srgbClr val="FF3621"/>
          </a:solidFill>
          <a:ln w="15240">
            <a:solidFill>
              <a:srgbClr val="FF8A78"/>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Can 13"/>
          <p:cNvSpPr/>
          <p:nvPr/>
        </p:nvSpPr>
        <p:spPr>
          <a:xfrm>
            <a:off x="9352940" y="3040379"/>
            <a:ext cx="862279" cy="1051560"/>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7E9199"/>
                </a:solidFill>
                <a:latin typeface="Segoe UI"/>
              </a:rPr>
              <a:t>Big Data &amp; Databricks  ·  Enterprise Training Series</a:t>
            </a:r>
          </a:p>
        </p:txBody>
      </p:sp>
      <p:sp>
        <p:nvSpPr>
          <p:cNvPr id="16" name="TextBox 1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7E9199"/>
                </a:solidFill>
                <a:latin typeface="Segoe UI"/>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BIG DATA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What Is Big Data?</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28800"/>
            <a:ext cx="5989320" cy="233172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32688" y="2084831"/>
            <a:ext cx="530352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6B57"/>
                </a:solidFill>
                <a:latin typeface="Segoe UI Semibold"/>
              </a:rPr>
              <a:t>DEFINITION</a:t>
            </a:r>
          </a:p>
        </p:txBody>
      </p:sp>
      <p:sp>
        <p:nvSpPr>
          <p:cNvPr id="9" name="TextBox 8"/>
          <p:cNvSpPr txBox="1"/>
          <p:nvPr/>
        </p:nvSpPr>
        <p:spPr>
          <a:xfrm>
            <a:off x="932688" y="2395728"/>
            <a:ext cx="5349240" cy="1645920"/>
          </a:xfrm>
          <a:prstGeom prst="rect">
            <a:avLst/>
          </a:prstGeom>
          <a:noFill/>
        </p:spPr>
        <p:txBody>
          <a:bodyPr wrap="square" anchor="t" lIns="0" rIns="0" tIns="0" bIns="0">
            <a:spAutoFit/>
          </a:bodyPr>
          <a:lstStyle/>
          <a:p>
            <a:pPr algn="l">
              <a:lnSpc>
                <a:spcPct val="128000"/>
              </a:lnSpc>
              <a:spcBef>
                <a:spcPts val="0"/>
              </a:spcBef>
              <a:spcAft>
                <a:spcPts val="200"/>
              </a:spcAft>
            </a:pPr>
            <a:r>
              <a:rPr sz="1450" b="0" i="0">
                <a:solidFill>
                  <a:srgbClr val="FFFFFF"/>
                </a:solidFill>
                <a:latin typeface="Segoe UI"/>
              </a:rPr>
              <a:t>Big Data refers to datasets so large, fast-moving, and varied that traditional databases and single-server tools can no longer capture, store, or process them — requiring distributed, horizontally-scalable systems to turn raw signals into value.</a:t>
            </a:r>
          </a:p>
        </p:txBody>
      </p:sp>
      <p:sp>
        <p:nvSpPr>
          <p:cNvPr id="10" name="TextBox 9"/>
          <p:cNvSpPr txBox="1"/>
          <p:nvPr/>
        </p:nvSpPr>
        <p:spPr>
          <a:xfrm>
            <a:off x="612648" y="4434840"/>
            <a:ext cx="5943600" cy="1645920"/>
          </a:xfrm>
          <a:prstGeom prst="rect">
            <a:avLst/>
          </a:prstGeom>
          <a:noFill/>
        </p:spPr>
        <p:txBody>
          <a:bodyPr wrap="square" anchor="t" lIns="0" rIns="0" tIns="0" bIns="0">
            <a:spAutoFit/>
          </a:bodyPr>
          <a:lstStyle/>
          <a:p>
            <a:pPr marL="274320" indent="-274320">
              <a:lnSpc>
                <a:spcPct val="112000"/>
              </a:lnSpc>
              <a:spcBef>
                <a:spcPts val="0"/>
              </a:spcBef>
              <a:spcAft>
                <a:spcPts val="1000"/>
              </a:spcAft>
            </a:pPr>
            <a:r>
              <a:rPr sz="1280" b="1">
                <a:solidFill>
                  <a:srgbClr val="FF3621"/>
                </a:solidFill>
                <a:latin typeface="Segoe UI"/>
              </a:rPr>
              <a:t>▪   </a:t>
            </a:r>
            <a:r>
              <a:rPr sz="1280">
                <a:solidFill>
                  <a:srgbClr val="465257"/>
                </a:solidFill>
                <a:latin typeface="Segoe UI"/>
              </a:rPr>
              <a:t>Not just size — it is volume, speed, and diversity combined</a:t>
            </a:r>
          </a:p>
          <a:p>
            <a:pPr marL="274320" indent="-274320">
              <a:lnSpc>
                <a:spcPct val="112000"/>
              </a:lnSpc>
              <a:spcBef>
                <a:spcPts val="0"/>
              </a:spcBef>
              <a:spcAft>
                <a:spcPts val="1000"/>
              </a:spcAft>
            </a:pPr>
            <a:r>
              <a:rPr sz="1280" b="1">
                <a:solidFill>
                  <a:srgbClr val="FF3621"/>
                </a:solidFill>
                <a:latin typeface="Segoe UI"/>
              </a:rPr>
              <a:t>▪   </a:t>
            </a:r>
            <a:r>
              <a:rPr sz="1280">
                <a:solidFill>
                  <a:srgbClr val="465257"/>
                </a:solidFill>
                <a:latin typeface="Segoe UI"/>
              </a:rPr>
              <a:t>Powered by distributed computing across clusters of machines</a:t>
            </a:r>
          </a:p>
          <a:p>
            <a:pPr marL="274320" indent="-274320">
              <a:lnSpc>
                <a:spcPct val="112000"/>
              </a:lnSpc>
              <a:spcBef>
                <a:spcPts val="0"/>
              </a:spcBef>
              <a:spcAft>
                <a:spcPts val="1000"/>
              </a:spcAft>
            </a:pPr>
            <a:r>
              <a:rPr sz="1280" b="1">
                <a:solidFill>
                  <a:srgbClr val="FF3621"/>
                </a:solidFill>
                <a:latin typeface="Segoe UI"/>
              </a:rPr>
              <a:t>▪   </a:t>
            </a:r>
            <a:r>
              <a:rPr sz="1280">
                <a:solidFill>
                  <a:srgbClr val="465257"/>
                </a:solidFill>
                <a:latin typeface="Segoe UI"/>
              </a:rPr>
              <a:t>80%+ of new data is unstructured: text, images, logs, video, IoT</a:t>
            </a:r>
          </a:p>
        </p:txBody>
      </p:sp>
      <p:sp>
        <p:nvSpPr>
          <p:cNvPr id="11" name="Rounded Rectangle 10"/>
          <p:cNvSpPr/>
          <p:nvPr/>
        </p:nvSpPr>
        <p:spPr>
          <a:xfrm>
            <a:off x="6903720" y="1828800"/>
            <a:ext cx="1943100" cy="19431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903720" y="1828800"/>
            <a:ext cx="91440" cy="1943100"/>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159752" y="1993392"/>
            <a:ext cx="1577340" cy="548640"/>
          </a:xfrm>
          <a:prstGeom prst="rect">
            <a:avLst/>
          </a:prstGeom>
          <a:noFill/>
        </p:spPr>
        <p:txBody>
          <a:bodyPr wrap="square" anchor="t" lIns="0" rIns="0" tIns="0" bIns="0">
            <a:spAutoFit/>
          </a:bodyPr>
          <a:lstStyle/>
          <a:p>
            <a:pPr algn="l">
              <a:lnSpc>
                <a:spcPct val="100000"/>
              </a:lnSpc>
              <a:spcBef>
                <a:spcPts val="0"/>
              </a:spcBef>
              <a:spcAft>
                <a:spcPts val="200"/>
              </a:spcAft>
            </a:pPr>
            <a:r>
              <a:rPr sz="2600" b="1" i="0">
                <a:solidFill>
                  <a:srgbClr val="2272B4"/>
                </a:solidFill>
                <a:latin typeface="Segoe UI"/>
              </a:rPr>
              <a:t>402M+</a:t>
            </a:r>
          </a:p>
        </p:txBody>
      </p:sp>
      <p:sp>
        <p:nvSpPr>
          <p:cNvPr id="14" name="TextBox 13"/>
          <p:cNvSpPr txBox="1"/>
          <p:nvPr/>
        </p:nvSpPr>
        <p:spPr>
          <a:xfrm>
            <a:off x="7178040" y="2542032"/>
            <a:ext cx="1531620" cy="822960"/>
          </a:xfrm>
          <a:prstGeom prst="rect">
            <a:avLst/>
          </a:prstGeom>
          <a:noFill/>
        </p:spPr>
        <p:txBody>
          <a:bodyPr wrap="square" anchor="t" lIns="0" rIns="0" tIns="0" bIns="0">
            <a:spAutoFit/>
          </a:bodyPr>
          <a:lstStyle/>
          <a:p>
            <a:pPr algn="l">
              <a:lnSpc>
                <a:spcPct val="105000"/>
              </a:lnSpc>
              <a:spcBef>
                <a:spcPts val="0"/>
              </a:spcBef>
              <a:spcAft>
                <a:spcPts val="200"/>
              </a:spcAft>
            </a:pPr>
            <a:r>
              <a:rPr sz="1100" b="0" i="0">
                <a:solidFill>
                  <a:srgbClr val="465257"/>
                </a:solidFill>
                <a:latin typeface="Segoe UI"/>
              </a:rPr>
              <a:t>terabytes of data created every day</a:t>
            </a:r>
          </a:p>
        </p:txBody>
      </p:sp>
      <p:sp>
        <p:nvSpPr>
          <p:cNvPr id="15" name="Rounded Rectangle 14"/>
          <p:cNvSpPr/>
          <p:nvPr/>
        </p:nvSpPr>
        <p:spPr>
          <a:xfrm>
            <a:off x="9121140" y="1828800"/>
            <a:ext cx="1943100" cy="19431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9121140" y="1828800"/>
            <a:ext cx="91440" cy="194310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377172" y="1993392"/>
            <a:ext cx="1577340" cy="548640"/>
          </a:xfrm>
          <a:prstGeom prst="rect">
            <a:avLst/>
          </a:prstGeom>
          <a:noFill/>
        </p:spPr>
        <p:txBody>
          <a:bodyPr wrap="square" anchor="t" lIns="0" rIns="0" tIns="0" bIns="0">
            <a:spAutoFit/>
          </a:bodyPr>
          <a:lstStyle/>
          <a:p>
            <a:pPr algn="l">
              <a:lnSpc>
                <a:spcPct val="100000"/>
              </a:lnSpc>
              <a:spcBef>
                <a:spcPts val="0"/>
              </a:spcBef>
              <a:spcAft>
                <a:spcPts val="200"/>
              </a:spcAft>
            </a:pPr>
            <a:r>
              <a:rPr sz="2600" b="1" i="0">
                <a:solidFill>
                  <a:srgbClr val="FF3621"/>
                </a:solidFill>
                <a:latin typeface="Segoe UI"/>
              </a:rPr>
              <a:t>181 ZB</a:t>
            </a:r>
          </a:p>
        </p:txBody>
      </p:sp>
      <p:sp>
        <p:nvSpPr>
          <p:cNvPr id="18" name="TextBox 17"/>
          <p:cNvSpPr txBox="1"/>
          <p:nvPr/>
        </p:nvSpPr>
        <p:spPr>
          <a:xfrm>
            <a:off x="9395460" y="2542032"/>
            <a:ext cx="1531620" cy="822960"/>
          </a:xfrm>
          <a:prstGeom prst="rect">
            <a:avLst/>
          </a:prstGeom>
          <a:noFill/>
        </p:spPr>
        <p:txBody>
          <a:bodyPr wrap="square" anchor="t" lIns="0" rIns="0" tIns="0" bIns="0">
            <a:spAutoFit/>
          </a:bodyPr>
          <a:lstStyle/>
          <a:p>
            <a:pPr algn="l">
              <a:lnSpc>
                <a:spcPct val="105000"/>
              </a:lnSpc>
              <a:spcBef>
                <a:spcPts val="0"/>
              </a:spcBef>
              <a:spcAft>
                <a:spcPts val="200"/>
              </a:spcAft>
            </a:pPr>
            <a:r>
              <a:rPr sz="1100" b="0" i="0">
                <a:solidFill>
                  <a:srgbClr val="465257"/>
                </a:solidFill>
                <a:latin typeface="Segoe UI"/>
              </a:rPr>
              <a:t>global data volume by 2025</a:t>
            </a:r>
          </a:p>
        </p:txBody>
      </p:sp>
      <p:sp>
        <p:nvSpPr>
          <p:cNvPr id="19" name="Rounded Rectangle 18"/>
          <p:cNvSpPr/>
          <p:nvPr/>
        </p:nvSpPr>
        <p:spPr>
          <a:xfrm>
            <a:off x="6903720" y="4046220"/>
            <a:ext cx="1943100" cy="19431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903720" y="4046220"/>
            <a:ext cx="91440" cy="1943100"/>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159752" y="4210812"/>
            <a:ext cx="1577340" cy="548640"/>
          </a:xfrm>
          <a:prstGeom prst="rect">
            <a:avLst/>
          </a:prstGeom>
          <a:noFill/>
        </p:spPr>
        <p:txBody>
          <a:bodyPr wrap="square" anchor="t" lIns="0" rIns="0" tIns="0" bIns="0">
            <a:spAutoFit/>
          </a:bodyPr>
          <a:lstStyle/>
          <a:p>
            <a:pPr algn="l">
              <a:lnSpc>
                <a:spcPct val="100000"/>
              </a:lnSpc>
              <a:spcBef>
                <a:spcPts val="0"/>
              </a:spcBef>
              <a:spcAft>
                <a:spcPts val="200"/>
              </a:spcAft>
            </a:pPr>
            <a:r>
              <a:rPr sz="2600" b="1" i="0">
                <a:solidFill>
                  <a:srgbClr val="00A972"/>
                </a:solidFill>
                <a:latin typeface="Segoe UI"/>
              </a:rPr>
              <a:t>80%+</a:t>
            </a:r>
          </a:p>
        </p:txBody>
      </p:sp>
      <p:sp>
        <p:nvSpPr>
          <p:cNvPr id="22" name="TextBox 21"/>
          <p:cNvSpPr txBox="1"/>
          <p:nvPr/>
        </p:nvSpPr>
        <p:spPr>
          <a:xfrm>
            <a:off x="7178040" y="4759452"/>
            <a:ext cx="1531620" cy="822960"/>
          </a:xfrm>
          <a:prstGeom prst="rect">
            <a:avLst/>
          </a:prstGeom>
          <a:noFill/>
        </p:spPr>
        <p:txBody>
          <a:bodyPr wrap="square" anchor="t" lIns="0" rIns="0" tIns="0" bIns="0">
            <a:spAutoFit/>
          </a:bodyPr>
          <a:lstStyle/>
          <a:p>
            <a:pPr algn="l">
              <a:lnSpc>
                <a:spcPct val="105000"/>
              </a:lnSpc>
              <a:spcBef>
                <a:spcPts val="0"/>
              </a:spcBef>
              <a:spcAft>
                <a:spcPts val="200"/>
              </a:spcAft>
            </a:pPr>
            <a:r>
              <a:rPr sz="1100" b="0" i="0">
                <a:solidFill>
                  <a:srgbClr val="465257"/>
                </a:solidFill>
                <a:latin typeface="Segoe UI"/>
              </a:rPr>
              <a:t>of enterprise data is unstructured</a:t>
            </a:r>
          </a:p>
        </p:txBody>
      </p:sp>
      <p:sp>
        <p:nvSpPr>
          <p:cNvPr id="23" name="Rounded Rectangle 22"/>
          <p:cNvSpPr/>
          <p:nvPr/>
        </p:nvSpPr>
        <p:spPr>
          <a:xfrm>
            <a:off x="9121140" y="4046220"/>
            <a:ext cx="1943100" cy="19431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9121140" y="4046220"/>
            <a:ext cx="91440" cy="1943100"/>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377172" y="4210812"/>
            <a:ext cx="1577340" cy="548640"/>
          </a:xfrm>
          <a:prstGeom prst="rect">
            <a:avLst/>
          </a:prstGeom>
          <a:noFill/>
        </p:spPr>
        <p:txBody>
          <a:bodyPr wrap="square" anchor="t" lIns="0" rIns="0" tIns="0" bIns="0">
            <a:spAutoFit/>
          </a:bodyPr>
          <a:lstStyle/>
          <a:p>
            <a:pPr algn="l">
              <a:lnSpc>
                <a:spcPct val="100000"/>
              </a:lnSpc>
              <a:spcBef>
                <a:spcPts val="0"/>
              </a:spcBef>
              <a:spcAft>
                <a:spcPts val="200"/>
              </a:spcAft>
            </a:pPr>
            <a:r>
              <a:rPr sz="2600" b="1" i="0">
                <a:solidFill>
                  <a:srgbClr val="7C5CCF"/>
                </a:solidFill>
                <a:latin typeface="Segoe UI"/>
              </a:rPr>
              <a:t>5G · IoT</a:t>
            </a:r>
          </a:p>
        </p:txBody>
      </p:sp>
      <p:sp>
        <p:nvSpPr>
          <p:cNvPr id="26" name="TextBox 25"/>
          <p:cNvSpPr txBox="1"/>
          <p:nvPr/>
        </p:nvSpPr>
        <p:spPr>
          <a:xfrm>
            <a:off x="9395460" y="4759452"/>
            <a:ext cx="1531620" cy="822960"/>
          </a:xfrm>
          <a:prstGeom prst="rect">
            <a:avLst/>
          </a:prstGeom>
          <a:noFill/>
        </p:spPr>
        <p:txBody>
          <a:bodyPr wrap="square" anchor="t" lIns="0" rIns="0" tIns="0" bIns="0">
            <a:spAutoFit/>
          </a:bodyPr>
          <a:lstStyle/>
          <a:p>
            <a:pPr algn="l">
              <a:lnSpc>
                <a:spcPct val="105000"/>
              </a:lnSpc>
              <a:spcBef>
                <a:spcPts val="0"/>
              </a:spcBef>
              <a:spcAft>
                <a:spcPts val="200"/>
              </a:spcAft>
            </a:pPr>
            <a:r>
              <a:rPr sz="1100" b="0" i="0">
                <a:solidFill>
                  <a:srgbClr val="465257"/>
                </a:solidFill>
                <a:latin typeface="Segoe UI"/>
              </a:rPr>
              <a:t>billions of connected sensors &amp; devices</a:t>
            </a:r>
          </a:p>
        </p:txBody>
      </p:sp>
      <p:sp>
        <p:nvSpPr>
          <p:cNvPr id="27" name="TextBox 2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28" name="TextBox 2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BIG DATA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Evolution of Big Data</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3732580"/>
            <a:ext cx="10692079" cy="32918"/>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1508041" y="3438144"/>
            <a:ext cx="10972" cy="1170432"/>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1010607" y="2267711"/>
            <a:ext cx="1005840" cy="310896"/>
          </a:xfrm>
          <a:prstGeom prst="roundRect">
            <a:avLst>
              <a:gd name="adj" fmla="val 50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1990s</a:t>
            </a:r>
          </a:p>
        </p:txBody>
      </p:sp>
      <p:sp>
        <p:nvSpPr>
          <p:cNvPr id="10" name="TextBox 9"/>
          <p:cNvSpPr txBox="1"/>
          <p:nvPr/>
        </p:nvSpPr>
        <p:spPr>
          <a:xfrm>
            <a:off x="461967" y="2633471"/>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Relational Era</a:t>
            </a:r>
          </a:p>
        </p:txBody>
      </p:sp>
      <p:sp>
        <p:nvSpPr>
          <p:cNvPr id="11" name="TextBox 10"/>
          <p:cNvSpPr txBox="1"/>
          <p:nvPr/>
        </p:nvSpPr>
        <p:spPr>
          <a:xfrm>
            <a:off x="416247" y="2944368"/>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RDBMS &amp; data warehouses; structured, vertical scaling</a:t>
            </a:r>
          </a:p>
        </p:txBody>
      </p:sp>
      <p:sp>
        <p:nvSpPr>
          <p:cNvPr id="12" name="Oval 11"/>
          <p:cNvSpPr/>
          <p:nvPr/>
        </p:nvSpPr>
        <p:spPr>
          <a:xfrm>
            <a:off x="1412943" y="3648456"/>
            <a:ext cx="201168" cy="201168"/>
          </a:xfrm>
          <a:prstGeom prst="ellipse">
            <a:avLst/>
          </a:prstGeom>
          <a:solidFill>
            <a:srgbClr val="27444F"/>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035481" y="3749039"/>
            <a:ext cx="10972" cy="274320"/>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2538047" y="4059935"/>
            <a:ext cx="1005840" cy="310896"/>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2003-04</a:t>
            </a:r>
          </a:p>
        </p:txBody>
      </p:sp>
      <p:sp>
        <p:nvSpPr>
          <p:cNvPr id="15" name="TextBox 14"/>
          <p:cNvSpPr txBox="1"/>
          <p:nvPr/>
        </p:nvSpPr>
        <p:spPr>
          <a:xfrm>
            <a:off x="1989407" y="4443983"/>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Google Papers</a:t>
            </a:r>
          </a:p>
        </p:txBody>
      </p:sp>
      <p:sp>
        <p:nvSpPr>
          <p:cNvPr id="16" name="TextBox 15"/>
          <p:cNvSpPr txBox="1"/>
          <p:nvPr/>
        </p:nvSpPr>
        <p:spPr>
          <a:xfrm>
            <a:off x="1943687" y="4754879"/>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GFS &amp; MapReduce define web-scale computing</a:t>
            </a:r>
          </a:p>
        </p:txBody>
      </p:sp>
      <p:sp>
        <p:nvSpPr>
          <p:cNvPr id="17" name="Oval 16"/>
          <p:cNvSpPr/>
          <p:nvPr/>
        </p:nvSpPr>
        <p:spPr>
          <a:xfrm>
            <a:off x="2940383" y="3648456"/>
            <a:ext cx="201168" cy="201168"/>
          </a:xfrm>
          <a:prstGeom prst="ellipse">
            <a:avLst/>
          </a:prstGeom>
          <a:solidFill>
            <a:srgbClr val="2272B4"/>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562921" y="3438144"/>
            <a:ext cx="10972" cy="1170432"/>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4065487" y="2267711"/>
            <a:ext cx="1005840" cy="310896"/>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2006</a:t>
            </a:r>
          </a:p>
        </p:txBody>
      </p:sp>
      <p:sp>
        <p:nvSpPr>
          <p:cNvPr id="20" name="TextBox 19"/>
          <p:cNvSpPr txBox="1"/>
          <p:nvPr/>
        </p:nvSpPr>
        <p:spPr>
          <a:xfrm>
            <a:off x="3516847" y="2633471"/>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Apache Hadoop</a:t>
            </a:r>
          </a:p>
        </p:txBody>
      </p:sp>
      <p:sp>
        <p:nvSpPr>
          <p:cNvPr id="21" name="TextBox 20"/>
          <p:cNvSpPr txBox="1"/>
          <p:nvPr/>
        </p:nvSpPr>
        <p:spPr>
          <a:xfrm>
            <a:off x="3471127" y="2944368"/>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Open-source HDFS + MapReduce go mainstream</a:t>
            </a:r>
          </a:p>
        </p:txBody>
      </p:sp>
      <p:sp>
        <p:nvSpPr>
          <p:cNvPr id="22" name="Oval 21"/>
          <p:cNvSpPr/>
          <p:nvPr/>
        </p:nvSpPr>
        <p:spPr>
          <a:xfrm>
            <a:off x="4467823" y="3648456"/>
            <a:ext cx="201168" cy="201168"/>
          </a:xfrm>
          <a:prstGeom prst="ellipse">
            <a:avLst/>
          </a:prstGeom>
          <a:solidFill>
            <a:srgbClr val="0E8C9C"/>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090361" y="3749039"/>
            <a:ext cx="10972" cy="274320"/>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5592927" y="4059935"/>
            <a:ext cx="1005840" cy="310896"/>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2010s</a:t>
            </a:r>
          </a:p>
        </p:txBody>
      </p:sp>
      <p:sp>
        <p:nvSpPr>
          <p:cNvPr id="25" name="TextBox 24"/>
          <p:cNvSpPr txBox="1"/>
          <p:nvPr/>
        </p:nvSpPr>
        <p:spPr>
          <a:xfrm>
            <a:off x="5044287" y="4443983"/>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NoSQL &amp; Cloud</a:t>
            </a:r>
          </a:p>
        </p:txBody>
      </p:sp>
      <p:sp>
        <p:nvSpPr>
          <p:cNvPr id="26" name="TextBox 25"/>
          <p:cNvSpPr txBox="1"/>
          <p:nvPr/>
        </p:nvSpPr>
        <p:spPr>
          <a:xfrm>
            <a:off x="4998567" y="4754879"/>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Elastic storage, streaming, data lakes emerge</a:t>
            </a:r>
          </a:p>
        </p:txBody>
      </p:sp>
      <p:sp>
        <p:nvSpPr>
          <p:cNvPr id="27" name="Oval 26"/>
          <p:cNvSpPr/>
          <p:nvPr/>
        </p:nvSpPr>
        <p:spPr>
          <a:xfrm>
            <a:off x="5995263" y="3648456"/>
            <a:ext cx="201168" cy="201168"/>
          </a:xfrm>
          <a:prstGeom prst="ellipse">
            <a:avLst/>
          </a:prstGeom>
          <a:solidFill>
            <a:srgbClr val="00A972"/>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7617801" y="3438144"/>
            <a:ext cx="10972" cy="1170432"/>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7120367" y="2267711"/>
            <a:ext cx="1005840" cy="310896"/>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2013</a:t>
            </a:r>
          </a:p>
        </p:txBody>
      </p:sp>
      <p:sp>
        <p:nvSpPr>
          <p:cNvPr id="30" name="TextBox 29"/>
          <p:cNvSpPr txBox="1"/>
          <p:nvPr/>
        </p:nvSpPr>
        <p:spPr>
          <a:xfrm>
            <a:off x="6571727" y="2633471"/>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Apache Spark</a:t>
            </a:r>
          </a:p>
        </p:txBody>
      </p:sp>
      <p:sp>
        <p:nvSpPr>
          <p:cNvPr id="31" name="TextBox 30"/>
          <p:cNvSpPr txBox="1"/>
          <p:nvPr/>
        </p:nvSpPr>
        <p:spPr>
          <a:xfrm>
            <a:off x="6526007" y="2944368"/>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In-memory engine, 100x faster than MapReduce</a:t>
            </a:r>
          </a:p>
        </p:txBody>
      </p:sp>
      <p:sp>
        <p:nvSpPr>
          <p:cNvPr id="32" name="Oval 31"/>
          <p:cNvSpPr/>
          <p:nvPr/>
        </p:nvSpPr>
        <p:spPr>
          <a:xfrm>
            <a:off x="7522703" y="3648456"/>
            <a:ext cx="201168" cy="201168"/>
          </a:xfrm>
          <a:prstGeom prst="ellipse">
            <a:avLst/>
          </a:prstGeom>
          <a:solidFill>
            <a:srgbClr val="F59E0B"/>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9145240" y="3749039"/>
            <a:ext cx="10972" cy="274320"/>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8647807" y="4059935"/>
            <a:ext cx="1005840" cy="31089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2020</a:t>
            </a:r>
          </a:p>
        </p:txBody>
      </p:sp>
      <p:sp>
        <p:nvSpPr>
          <p:cNvPr id="35" name="TextBox 34"/>
          <p:cNvSpPr txBox="1"/>
          <p:nvPr/>
        </p:nvSpPr>
        <p:spPr>
          <a:xfrm>
            <a:off x="8099167" y="4443983"/>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The Lakehouse</a:t>
            </a:r>
          </a:p>
        </p:txBody>
      </p:sp>
      <p:sp>
        <p:nvSpPr>
          <p:cNvPr id="36" name="TextBox 35"/>
          <p:cNvSpPr txBox="1"/>
          <p:nvPr/>
        </p:nvSpPr>
        <p:spPr>
          <a:xfrm>
            <a:off x="8053447" y="4754879"/>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Delta Lake unifies lake + warehouse</a:t>
            </a:r>
          </a:p>
        </p:txBody>
      </p:sp>
      <p:sp>
        <p:nvSpPr>
          <p:cNvPr id="37" name="Oval 36"/>
          <p:cNvSpPr/>
          <p:nvPr/>
        </p:nvSpPr>
        <p:spPr>
          <a:xfrm>
            <a:off x="9050143" y="3648456"/>
            <a:ext cx="201168" cy="201168"/>
          </a:xfrm>
          <a:prstGeom prst="ellipse">
            <a:avLst/>
          </a:prstGeom>
          <a:solidFill>
            <a:srgbClr val="FF3621"/>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10672680" y="3438144"/>
            <a:ext cx="10972" cy="1170432"/>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10175247" y="2267711"/>
            <a:ext cx="1005840" cy="310896"/>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2023+</a:t>
            </a:r>
          </a:p>
        </p:txBody>
      </p:sp>
      <p:sp>
        <p:nvSpPr>
          <p:cNvPr id="40" name="TextBox 39"/>
          <p:cNvSpPr txBox="1"/>
          <p:nvPr/>
        </p:nvSpPr>
        <p:spPr>
          <a:xfrm>
            <a:off x="9626607" y="2633471"/>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Data + AI</a:t>
            </a:r>
          </a:p>
        </p:txBody>
      </p:sp>
      <p:sp>
        <p:nvSpPr>
          <p:cNvPr id="41" name="TextBox 40"/>
          <p:cNvSpPr txBox="1"/>
          <p:nvPr/>
        </p:nvSpPr>
        <p:spPr>
          <a:xfrm>
            <a:off x="9580887" y="2944368"/>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GenAI &amp; LLMs on governed enterprise data</a:t>
            </a:r>
          </a:p>
        </p:txBody>
      </p:sp>
      <p:sp>
        <p:nvSpPr>
          <p:cNvPr id="42" name="Oval 41"/>
          <p:cNvSpPr/>
          <p:nvPr/>
        </p:nvSpPr>
        <p:spPr>
          <a:xfrm>
            <a:off x="10577583" y="3648456"/>
            <a:ext cx="201168" cy="201168"/>
          </a:xfrm>
          <a:prstGeom prst="ellipse">
            <a:avLst/>
          </a:prstGeom>
          <a:solidFill>
            <a:srgbClr val="7C5CCF"/>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66928" y="5943600"/>
            <a:ext cx="11057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200" b="0" i="1">
                <a:solidFill>
                  <a:srgbClr val="6B777C"/>
                </a:solidFill>
                <a:latin typeface="Segoe UI"/>
              </a:rPr>
              <a:t>Each wave solved the prior era's bottleneck — scale, then speed, then unification, and now intelligence.</a:t>
            </a:r>
          </a:p>
        </p:txBody>
      </p:sp>
      <p:sp>
        <p:nvSpPr>
          <p:cNvPr id="44" name="TextBox 43"/>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5" name="TextBox 44"/>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BIG DATA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5 V's of Big Data</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2148840"/>
            <a:ext cx="1918959" cy="2240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2148840"/>
            <a:ext cx="1918959"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1060063" y="2340864"/>
            <a:ext cx="932688" cy="932688"/>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an 9"/>
          <p:cNvSpPr/>
          <p:nvPr/>
        </p:nvSpPr>
        <p:spPr>
          <a:xfrm>
            <a:off x="1350502" y="2592689"/>
            <a:ext cx="351809" cy="429036"/>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199211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12" name="TextBox 11"/>
          <p:cNvSpPr txBox="1"/>
          <p:nvPr/>
        </p:nvSpPr>
        <p:spPr>
          <a:xfrm>
            <a:off x="676656"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Volume</a:t>
            </a:r>
          </a:p>
        </p:txBody>
      </p:sp>
      <p:sp>
        <p:nvSpPr>
          <p:cNvPr id="13" name="TextBox 12"/>
          <p:cNvSpPr txBox="1"/>
          <p:nvPr/>
        </p:nvSpPr>
        <p:spPr>
          <a:xfrm>
            <a:off x="713232" y="3593592"/>
            <a:ext cx="1626351" cy="758952"/>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Terabytes to petabytes. Scale-out storage across clusters.</a:t>
            </a:r>
          </a:p>
        </p:txBody>
      </p:sp>
      <p:sp>
        <p:nvSpPr>
          <p:cNvPr id="14" name="Right Arrow 13"/>
          <p:cNvSpPr/>
          <p:nvPr/>
        </p:nvSpPr>
        <p:spPr>
          <a:xfrm>
            <a:off x="2522463" y="318668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2851647" y="2148840"/>
            <a:ext cx="1918959" cy="2240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2851647" y="2148840"/>
            <a:ext cx="1918959" cy="109728"/>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3344783" y="2340864"/>
            <a:ext cx="932688" cy="932688"/>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Lightning Bolt 17"/>
          <p:cNvSpPr/>
          <p:nvPr/>
        </p:nvSpPr>
        <p:spPr>
          <a:xfrm>
            <a:off x="3660964" y="2592689"/>
            <a:ext cx="300325" cy="429036"/>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27683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20" name="TextBox 19"/>
          <p:cNvSpPr txBox="1"/>
          <p:nvPr/>
        </p:nvSpPr>
        <p:spPr>
          <a:xfrm>
            <a:off x="296137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Velocity</a:t>
            </a:r>
          </a:p>
        </p:txBody>
      </p:sp>
      <p:sp>
        <p:nvSpPr>
          <p:cNvPr id="21" name="TextBox 20"/>
          <p:cNvSpPr txBox="1"/>
          <p:nvPr/>
        </p:nvSpPr>
        <p:spPr>
          <a:xfrm>
            <a:off x="2997951" y="3593592"/>
            <a:ext cx="1626351" cy="758952"/>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Speed of arrival — batch, micro-batch and real-time streams.</a:t>
            </a:r>
          </a:p>
        </p:txBody>
      </p:sp>
      <p:sp>
        <p:nvSpPr>
          <p:cNvPr id="22" name="Right Arrow 21"/>
          <p:cNvSpPr/>
          <p:nvPr/>
        </p:nvSpPr>
        <p:spPr>
          <a:xfrm>
            <a:off x="4807183" y="318668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5136367" y="2148840"/>
            <a:ext cx="1918959" cy="2240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5136367" y="2148840"/>
            <a:ext cx="1918959" cy="109728"/>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5629503" y="2340864"/>
            <a:ext cx="932688" cy="93268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939077" y="2650438"/>
            <a:ext cx="133344" cy="13334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119272" y="2650438"/>
            <a:ext cx="133344" cy="133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Diamond 27"/>
          <p:cNvSpPr/>
          <p:nvPr/>
        </p:nvSpPr>
        <p:spPr>
          <a:xfrm>
            <a:off x="5939077" y="2830633"/>
            <a:ext cx="133344" cy="133344"/>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119272" y="2830633"/>
            <a:ext cx="133344" cy="133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56155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31" name="TextBox 30"/>
          <p:cNvSpPr txBox="1"/>
          <p:nvPr/>
        </p:nvSpPr>
        <p:spPr>
          <a:xfrm>
            <a:off x="524609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Variety</a:t>
            </a:r>
          </a:p>
        </p:txBody>
      </p:sp>
      <p:sp>
        <p:nvSpPr>
          <p:cNvPr id="32" name="TextBox 31"/>
          <p:cNvSpPr txBox="1"/>
          <p:nvPr/>
        </p:nvSpPr>
        <p:spPr>
          <a:xfrm>
            <a:off x="5282671" y="3593592"/>
            <a:ext cx="1626351" cy="758952"/>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Structured, semi-structured &amp; unstructured formats together.</a:t>
            </a:r>
          </a:p>
        </p:txBody>
      </p:sp>
      <p:sp>
        <p:nvSpPr>
          <p:cNvPr id="33" name="Right Arrow 32"/>
          <p:cNvSpPr/>
          <p:nvPr/>
        </p:nvSpPr>
        <p:spPr>
          <a:xfrm>
            <a:off x="7091903" y="318668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7421087" y="2148840"/>
            <a:ext cx="1918959" cy="2240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7421087" y="2148840"/>
            <a:ext cx="1918959" cy="10972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7914223" y="2340864"/>
            <a:ext cx="932688" cy="932688"/>
          </a:xfrm>
          <a:prstGeom prst="ellipse">
            <a:avLst/>
          </a:prstGeom>
          <a:solidFill>
            <a:srgbClr val="F59E0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rot="2700000">
            <a:off x="8260437" y="2815788"/>
            <a:ext cx="128710" cy="686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rot="18480000">
            <a:off x="8354825" y="2721400"/>
            <a:ext cx="248841" cy="686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884627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4</a:t>
            </a:r>
          </a:p>
        </p:txBody>
      </p:sp>
      <p:sp>
        <p:nvSpPr>
          <p:cNvPr id="40" name="TextBox 39"/>
          <p:cNvSpPr txBox="1"/>
          <p:nvPr/>
        </p:nvSpPr>
        <p:spPr>
          <a:xfrm>
            <a:off x="753081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Veracity</a:t>
            </a:r>
          </a:p>
        </p:txBody>
      </p:sp>
      <p:sp>
        <p:nvSpPr>
          <p:cNvPr id="41" name="TextBox 40"/>
          <p:cNvSpPr txBox="1"/>
          <p:nvPr/>
        </p:nvSpPr>
        <p:spPr>
          <a:xfrm>
            <a:off x="7567391" y="3593592"/>
            <a:ext cx="1626351" cy="758952"/>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Trust &amp; quality — accuracy, completeness, consistency.</a:t>
            </a:r>
          </a:p>
        </p:txBody>
      </p:sp>
      <p:sp>
        <p:nvSpPr>
          <p:cNvPr id="42" name="Right Arrow 41"/>
          <p:cNvSpPr/>
          <p:nvPr/>
        </p:nvSpPr>
        <p:spPr>
          <a:xfrm>
            <a:off x="9376623" y="318668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9705807" y="2148840"/>
            <a:ext cx="1918959" cy="2240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9705807" y="2148840"/>
            <a:ext cx="1918959" cy="109728"/>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10198943" y="2340864"/>
            <a:ext cx="932688" cy="932688"/>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Diamond 45"/>
          <p:cNvSpPr/>
          <p:nvPr/>
        </p:nvSpPr>
        <p:spPr>
          <a:xfrm>
            <a:off x="10467930" y="2592689"/>
            <a:ext cx="394713" cy="429036"/>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1113099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5</a:t>
            </a:r>
          </a:p>
        </p:txBody>
      </p:sp>
      <p:sp>
        <p:nvSpPr>
          <p:cNvPr id="48" name="TextBox 47"/>
          <p:cNvSpPr txBox="1"/>
          <p:nvPr/>
        </p:nvSpPr>
        <p:spPr>
          <a:xfrm>
            <a:off x="981553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Value</a:t>
            </a:r>
          </a:p>
        </p:txBody>
      </p:sp>
      <p:sp>
        <p:nvSpPr>
          <p:cNvPr id="49" name="TextBox 48"/>
          <p:cNvSpPr txBox="1"/>
          <p:nvPr/>
        </p:nvSpPr>
        <p:spPr>
          <a:xfrm>
            <a:off x="9852111" y="3593592"/>
            <a:ext cx="1626351" cy="758952"/>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The goal — turning raw data into decisions &amp; outcomes.</a:t>
            </a:r>
          </a:p>
        </p:txBody>
      </p:sp>
      <p:sp>
        <p:nvSpPr>
          <p:cNvPr id="50" name="TextBox 49"/>
          <p:cNvSpPr txBox="1"/>
          <p:nvPr/>
        </p:nvSpPr>
        <p:spPr>
          <a:xfrm>
            <a:off x="566928" y="4800600"/>
            <a:ext cx="11057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230" b="0" i="1">
                <a:solidFill>
                  <a:srgbClr val="6B777C"/>
                </a:solidFill>
                <a:latin typeface="Segoe UI"/>
              </a:rPr>
              <a:t>Volume · Velocity · Variety describe the data;  Veracity · Value describe whether it can be trusted and what it returns.</a:t>
            </a:r>
          </a:p>
        </p:txBody>
      </p:sp>
      <p:sp>
        <p:nvSpPr>
          <p:cNvPr id="51" name="Rounded Rectangle 50"/>
          <p:cNvSpPr/>
          <p:nvPr/>
        </p:nvSpPr>
        <p:spPr>
          <a:xfrm>
            <a:off x="566928" y="5257800"/>
            <a:ext cx="11057839" cy="86868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886968" y="5358384"/>
            <a:ext cx="10417759" cy="731520"/>
          </a:xfrm>
          <a:prstGeom prst="rect">
            <a:avLst/>
          </a:prstGeom>
          <a:noFill/>
        </p:spPr>
        <p:txBody>
          <a:bodyPr wrap="square" anchor="ctr" lIns="0" rIns="0" tIns="0" bIns="0">
            <a:spAutoFit/>
          </a:bodyPr>
          <a:lstStyle/>
          <a:p>
            <a:pPr algn="l">
              <a:lnSpc>
                <a:spcPct val="130000"/>
              </a:lnSpc>
              <a:spcBef>
                <a:spcPts val="0"/>
              </a:spcBef>
              <a:spcAft>
                <a:spcPts val="200"/>
              </a:spcAft>
            </a:pPr>
            <a:r>
              <a:rPr sz="1200" b="1" i="0">
                <a:solidFill>
                  <a:srgbClr val="1B3139"/>
                </a:solidFill>
                <a:latin typeface="Segoe UI"/>
              </a:rPr>
              <a:t>Enterprise lens  </a:t>
            </a:r>
            <a:r>
              <a:rPr sz="1150" b="1" i="0">
                <a:solidFill>
                  <a:srgbClr val="2272B4"/>
                </a:solidFill>
                <a:latin typeface="Segoe UI"/>
              </a:rPr>
              <a:t>Volume: </a:t>
            </a:r>
            <a:r>
              <a:rPr sz="1150" b="0" i="0">
                <a:solidFill>
                  <a:srgbClr val="465257"/>
                </a:solidFill>
                <a:latin typeface="Segoe UI"/>
              </a:rPr>
              <a:t>years of transactions   </a:t>
            </a:r>
            <a:r>
              <a:rPr sz="1150" b="1" i="0">
                <a:solidFill>
                  <a:srgbClr val="FF3621"/>
                </a:solidFill>
                <a:latin typeface="Segoe UI"/>
              </a:rPr>
              <a:t>Velocity: </a:t>
            </a:r>
            <a:r>
              <a:rPr sz="1150" b="0" i="0">
                <a:solidFill>
                  <a:srgbClr val="465257"/>
                </a:solidFill>
                <a:latin typeface="Segoe UI"/>
              </a:rPr>
              <a:t>card swipes per second   </a:t>
            </a:r>
            <a:r>
              <a:rPr sz="1150" b="1" i="0">
                <a:solidFill>
                  <a:srgbClr val="00A972"/>
                </a:solidFill>
                <a:latin typeface="Segoe UI"/>
              </a:rPr>
              <a:t>Variety: </a:t>
            </a:r>
            <a:r>
              <a:rPr sz="1150" b="0" i="0">
                <a:solidFill>
                  <a:srgbClr val="465257"/>
                </a:solidFill>
                <a:latin typeface="Segoe UI"/>
              </a:rPr>
              <a:t>JSON, images, clickstream   </a:t>
            </a:r>
            <a:r>
              <a:rPr sz="1150" b="1" i="0">
                <a:solidFill>
                  <a:srgbClr val="F59E0B"/>
                </a:solidFill>
                <a:latin typeface="Segoe UI"/>
              </a:rPr>
              <a:t>Veracity: </a:t>
            </a:r>
            <a:r>
              <a:rPr sz="1150" b="0" i="0">
                <a:solidFill>
                  <a:srgbClr val="465257"/>
                </a:solidFill>
                <a:latin typeface="Segoe UI"/>
              </a:rPr>
              <a:t>duplicate / missing fields   </a:t>
            </a:r>
            <a:r>
              <a:rPr sz="1150" b="1" i="0">
                <a:solidFill>
                  <a:srgbClr val="7C5CCF"/>
                </a:solidFill>
                <a:latin typeface="Segoe UI"/>
              </a:rPr>
              <a:t>Value: </a:t>
            </a:r>
            <a:r>
              <a:rPr sz="1150" b="0" i="0">
                <a:solidFill>
                  <a:srgbClr val="465257"/>
                </a:solidFill>
                <a:latin typeface="Segoe UI"/>
              </a:rPr>
              <a:t>real-time fraud blocked</a:t>
            </a:r>
          </a:p>
        </p:txBody>
      </p:sp>
      <p:sp>
        <p:nvSpPr>
          <p:cNvPr id="53" name="TextBox 52"/>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4" name="TextBox 53"/>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BIG DATA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Traditional Data vs. Big Data</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28800"/>
            <a:ext cx="2562441" cy="512064"/>
          </a:xfrm>
          <a:prstGeom prst="roundRect">
            <a:avLst>
              <a:gd name="adj" fmla="val 16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50" b="1">
                <a:solidFill>
                  <a:srgbClr val="FFFFFF"/>
                </a:solidFill>
                <a:latin typeface="Segoe UI Semibold"/>
              </a:rPr>
              <a:t>Aspect</a:t>
            </a:r>
          </a:p>
        </p:txBody>
      </p:sp>
      <p:sp>
        <p:nvSpPr>
          <p:cNvPr id="8" name="Rounded Rectangle 7"/>
          <p:cNvSpPr/>
          <p:nvPr/>
        </p:nvSpPr>
        <p:spPr>
          <a:xfrm>
            <a:off x="3220809" y="1828800"/>
            <a:ext cx="4110538" cy="512064"/>
          </a:xfrm>
          <a:prstGeom prst="roundRect">
            <a:avLst>
              <a:gd name="adj" fmla="val 16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50" b="1">
                <a:solidFill>
                  <a:srgbClr val="FFFFFF"/>
                </a:solidFill>
                <a:latin typeface="Segoe UI Semibold"/>
              </a:rPr>
              <a:t>Traditional Data</a:t>
            </a:r>
          </a:p>
        </p:txBody>
      </p:sp>
      <p:sp>
        <p:nvSpPr>
          <p:cNvPr id="9" name="Rounded Rectangle 8"/>
          <p:cNvSpPr/>
          <p:nvPr/>
        </p:nvSpPr>
        <p:spPr>
          <a:xfrm>
            <a:off x="7422788" y="1828800"/>
            <a:ext cx="4110538" cy="512064"/>
          </a:xfrm>
          <a:prstGeom prst="roundRect">
            <a:avLst>
              <a:gd name="adj" fmla="val 16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50" b="1">
                <a:solidFill>
                  <a:srgbClr val="FFFFFF"/>
                </a:solidFill>
                <a:latin typeface="Segoe UI Semibold"/>
              </a:rPr>
              <a:t>Big Data</a:t>
            </a:r>
          </a:p>
        </p:txBody>
      </p:sp>
      <p:sp>
        <p:nvSpPr>
          <p:cNvPr id="10" name="Rectangle 9"/>
          <p:cNvSpPr/>
          <p:nvPr/>
        </p:nvSpPr>
        <p:spPr>
          <a:xfrm>
            <a:off x="566928" y="2432304"/>
            <a:ext cx="11057839" cy="551252"/>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76656" y="2432304"/>
            <a:ext cx="2434425" cy="551252"/>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Volume</a:t>
            </a:r>
          </a:p>
        </p:txBody>
      </p:sp>
      <p:sp>
        <p:nvSpPr>
          <p:cNvPr id="12" name="TextBox 11"/>
          <p:cNvSpPr txBox="1"/>
          <p:nvPr/>
        </p:nvSpPr>
        <p:spPr>
          <a:xfrm>
            <a:off x="3348825" y="2432304"/>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Gigabytes to terabytes</a:t>
            </a:r>
          </a:p>
        </p:txBody>
      </p:sp>
      <p:sp>
        <p:nvSpPr>
          <p:cNvPr id="13" name="TextBox 12"/>
          <p:cNvSpPr txBox="1"/>
          <p:nvPr/>
        </p:nvSpPr>
        <p:spPr>
          <a:xfrm>
            <a:off x="7550804" y="2432304"/>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Terabytes to petabytes &amp; beyond</a:t>
            </a:r>
          </a:p>
        </p:txBody>
      </p:sp>
      <p:sp>
        <p:nvSpPr>
          <p:cNvPr id="14" name="TextBox 13"/>
          <p:cNvSpPr txBox="1"/>
          <p:nvPr/>
        </p:nvSpPr>
        <p:spPr>
          <a:xfrm>
            <a:off x="676656" y="2983556"/>
            <a:ext cx="2434425" cy="551252"/>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Data Types</a:t>
            </a:r>
          </a:p>
        </p:txBody>
      </p:sp>
      <p:sp>
        <p:nvSpPr>
          <p:cNvPr id="15" name="TextBox 14"/>
          <p:cNvSpPr txBox="1"/>
          <p:nvPr/>
        </p:nvSpPr>
        <p:spPr>
          <a:xfrm>
            <a:off x="3348825" y="2983556"/>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Structured rows &amp; columns</a:t>
            </a:r>
          </a:p>
        </p:txBody>
      </p:sp>
      <p:sp>
        <p:nvSpPr>
          <p:cNvPr id="16" name="TextBox 15"/>
          <p:cNvSpPr txBox="1"/>
          <p:nvPr/>
        </p:nvSpPr>
        <p:spPr>
          <a:xfrm>
            <a:off x="7550804" y="2983556"/>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Structured + semi + unstructured</a:t>
            </a:r>
          </a:p>
        </p:txBody>
      </p:sp>
      <p:sp>
        <p:nvSpPr>
          <p:cNvPr id="17" name="Rectangle 16"/>
          <p:cNvSpPr/>
          <p:nvPr/>
        </p:nvSpPr>
        <p:spPr>
          <a:xfrm>
            <a:off x="566928" y="3534809"/>
            <a:ext cx="11057839" cy="551252"/>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76656" y="3534809"/>
            <a:ext cx="2434425" cy="551252"/>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Schema</a:t>
            </a:r>
          </a:p>
        </p:txBody>
      </p:sp>
      <p:sp>
        <p:nvSpPr>
          <p:cNvPr id="19" name="TextBox 18"/>
          <p:cNvSpPr txBox="1"/>
          <p:nvPr/>
        </p:nvSpPr>
        <p:spPr>
          <a:xfrm>
            <a:off x="3348825" y="3534809"/>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Schema-on-write (rigid)</a:t>
            </a:r>
          </a:p>
        </p:txBody>
      </p:sp>
      <p:sp>
        <p:nvSpPr>
          <p:cNvPr id="20" name="TextBox 19"/>
          <p:cNvSpPr txBox="1"/>
          <p:nvPr/>
        </p:nvSpPr>
        <p:spPr>
          <a:xfrm>
            <a:off x="7550804" y="3534809"/>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Schema-on-read (flexible)</a:t>
            </a:r>
          </a:p>
        </p:txBody>
      </p:sp>
      <p:sp>
        <p:nvSpPr>
          <p:cNvPr id="21" name="TextBox 20"/>
          <p:cNvSpPr txBox="1"/>
          <p:nvPr/>
        </p:nvSpPr>
        <p:spPr>
          <a:xfrm>
            <a:off x="676656" y="4086061"/>
            <a:ext cx="2434425" cy="551252"/>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Processing</a:t>
            </a:r>
          </a:p>
        </p:txBody>
      </p:sp>
      <p:sp>
        <p:nvSpPr>
          <p:cNvPr id="22" name="TextBox 21"/>
          <p:cNvSpPr txBox="1"/>
          <p:nvPr/>
        </p:nvSpPr>
        <p:spPr>
          <a:xfrm>
            <a:off x="3348825" y="4086061"/>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Centralized, single server</a:t>
            </a:r>
          </a:p>
        </p:txBody>
      </p:sp>
      <p:sp>
        <p:nvSpPr>
          <p:cNvPr id="23" name="TextBox 22"/>
          <p:cNvSpPr txBox="1"/>
          <p:nvPr/>
        </p:nvSpPr>
        <p:spPr>
          <a:xfrm>
            <a:off x="7550804" y="4086061"/>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Distributed across clusters</a:t>
            </a:r>
          </a:p>
        </p:txBody>
      </p:sp>
      <p:sp>
        <p:nvSpPr>
          <p:cNvPr id="24" name="Rectangle 23"/>
          <p:cNvSpPr/>
          <p:nvPr/>
        </p:nvSpPr>
        <p:spPr>
          <a:xfrm>
            <a:off x="566928" y="4637314"/>
            <a:ext cx="11057839" cy="551252"/>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76656" y="4637314"/>
            <a:ext cx="2434425" cy="551252"/>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Scaling</a:t>
            </a:r>
          </a:p>
        </p:txBody>
      </p:sp>
      <p:sp>
        <p:nvSpPr>
          <p:cNvPr id="26" name="TextBox 25"/>
          <p:cNvSpPr txBox="1"/>
          <p:nvPr/>
        </p:nvSpPr>
        <p:spPr>
          <a:xfrm>
            <a:off x="3348825" y="4637314"/>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Scale up — bigger machine</a:t>
            </a:r>
          </a:p>
        </p:txBody>
      </p:sp>
      <p:sp>
        <p:nvSpPr>
          <p:cNvPr id="27" name="TextBox 26"/>
          <p:cNvSpPr txBox="1"/>
          <p:nvPr/>
        </p:nvSpPr>
        <p:spPr>
          <a:xfrm>
            <a:off x="7550804" y="4637314"/>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Scale out — more machines</a:t>
            </a:r>
          </a:p>
        </p:txBody>
      </p:sp>
      <p:sp>
        <p:nvSpPr>
          <p:cNvPr id="28" name="TextBox 27"/>
          <p:cNvSpPr txBox="1"/>
          <p:nvPr/>
        </p:nvSpPr>
        <p:spPr>
          <a:xfrm>
            <a:off x="676656" y="5188566"/>
            <a:ext cx="2434425" cy="551252"/>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Architecture</a:t>
            </a:r>
          </a:p>
        </p:txBody>
      </p:sp>
      <p:sp>
        <p:nvSpPr>
          <p:cNvPr id="29" name="TextBox 28"/>
          <p:cNvSpPr txBox="1"/>
          <p:nvPr/>
        </p:nvSpPr>
        <p:spPr>
          <a:xfrm>
            <a:off x="3348825" y="5188566"/>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Monolithic RDBMS / warehouse</a:t>
            </a:r>
          </a:p>
        </p:txBody>
      </p:sp>
      <p:sp>
        <p:nvSpPr>
          <p:cNvPr id="30" name="TextBox 29"/>
          <p:cNvSpPr txBox="1"/>
          <p:nvPr/>
        </p:nvSpPr>
        <p:spPr>
          <a:xfrm>
            <a:off x="7550804" y="5188566"/>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Data lake / Lakehouse, decoupled</a:t>
            </a:r>
          </a:p>
        </p:txBody>
      </p:sp>
      <p:sp>
        <p:nvSpPr>
          <p:cNvPr id="31" name="Rectangle 30"/>
          <p:cNvSpPr/>
          <p:nvPr/>
        </p:nvSpPr>
        <p:spPr>
          <a:xfrm>
            <a:off x="566928" y="5739819"/>
            <a:ext cx="11057839" cy="551252"/>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76656" y="5739819"/>
            <a:ext cx="2434425" cy="551252"/>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Cost Model</a:t>
            </a:r>
          </a:p>
        </p:txBody>
      </p:sp>
      <p:sp>
        <p:nvSpPr>
          <p:cNvPr id="33" name="TextBox 32"/>
          <p:cNvSpPr txBox="1"/>
          <p:nvPr/>
        </p:nvSpPr>
        <p:spPr>
          <a:xfrm>
            <a:off x="3348825" y="5739819"/>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Costly proprietary hardware</a:t>
            </a:r>
          </a:p>
        </p:txBody>
      </p:sp>
      <p:sp>
        <p:nvSpPr>
          <p:cNvPr id="34" name="TextBox 33"/>
          <p:cNvSpPr txBox="1"/>
          <p:nvPr/>
        </p:nvSpPr>
        <p:spPr>
          <a:xfrm>
            <a:off x="7550804" y="5739819"/>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Commodity &amp; elastic cloud</a:t>
            </a:r>
          </a:p>
        </p:txBody>
      </p:sp>
      <p:sp>
        <p:nvSpPr>
          <p:cNvPr id="35" name="TextBox 3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36" name="TextBox 3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BIG DATA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Big Data Challenges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1828800"/>
            <a:ext cx="91440" cy="1929384"/>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740664" y="1975104"/>
            <a:ext cx="658368" cy="658368"/>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an 9"/>
          <p:cNvSpPr/>
          <p:nvPr/>
        </p:nvSpPr>
        <p:spPr>
          <a:xfrm>
            <a:off x="945679" y="2152863"/>
            <a:ext cx="248336" cy="302849"/>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49961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Storage &amp; Scale</a:t>
            </a:r>
          </a:p>
        </p:txBody>
      </p:sp>
      <p:sp>
        <p:nvSpPr>
          <p:cNvPr id="12" name="TextBox 11"/>
          <p:cNvSpPr txBox="1"/>
          <p:nvPr/>
        </p:nvSpPr>
        <p:spPr>
          <a:xfrm>
            <a:off x="841247"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Cost-effectively storing petabytes across distributed, fault-tolerant systems.</a:t>
            </a:r>
          </a:p>
        </p:txBody>
      </p:sp>
      <p:sp>
        <p:nvSpPr>
          <p:cNvPr id="13" name="Rounded Rectangle 12"/>
          <p:cNvSpPr/>
          <p:nvPr/>
        </p:nvSpPr>
        <p:spPr>
          <a:xfrm>
            <a:off x="433821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338218" y="1828800"/>
            <a:ext cx="91440" cy="192938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511954" y="1975104"/>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rot="2700000">
            <a:off x="4756340" y="2310344"/>
            <a:ext cx="90854" cy="4845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rot="18480000">
            <a:off x="4822967" y="2243718"/>
            <a:ext cx="175652" cy="4845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27090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Data Quality</a:t>
            </a:r>
          </a:p>
        </p:txBody>
      </p:sp>
      <p:sp>
        <p:nvSpPr>
          <p:cNvPr id="19" name="TextBox 18"/>
          <p:cNvSpPr txBox="1"/>
          <p:nvPr/>
        </p:nvSpPr>
        <p:spPr>
          <a:xfrm>
            <a:off x="461253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Duplicates, missing values and inconsistency erode trust (the Veracity problem).</a:t>
            </a:r>
          </a:p>
        </p:txBody>
      </p:sp>
      <p:sp>
        <p:nvSpPr>
          <p:cNvPr id="20" name="Rounded Rectangle 19"/>
          <p:cNvSpPr/>
          <p:nvPr/>
        </p:nvSpPr>
        <p:spPr>
          <a:xfrm>
            <a:off x="810950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8109508" y="1828800"/>
            <a:ext cx="91440" cy="192938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83244" y="1975104"/>
            <a:ext cx="658368" cy="658368"/>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8491289" y="2249775"/>
            <a:ext cx="133253" cy="109025"/>
          </a:xfrm>
          <a:prstGeom prst="roundRect">
            <a:avLst>
              <a:gd name="adj" fmla="val 50000"/>
            </a:avLst>
          </a:prstGeom>
          <a:noFill/>
          <a:ln w="3785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8600314" y="2249775"/>
            <a:ext cx="133253" cy="109025"/>
          </a:xfrm>
          <a:prstGeom prst="roundRect">
            <a:avLst>
              <a:gd name="adj" fmla="val 50000"/>
            </a:avLst>
          </a:prstGeom>
          <a:noFill/>
          <a:ln w="3785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04219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Integration &amp; Silos</a:t>
            </a:r>
          </a:p>
        </p:txBody>
      </p:sp>
      <p:sp>
        <p:nvSpPr>
          <p:cNvPr id="26" name="TextBox 25"/>
          <p:cNvSpPr txBox="1"/>
          <p:nvPr/>
        </p:nvSpPr>
        <p:spPr>
          <a:xfrm>
            <a:off x="838382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Hundreds of sources and formats fragmented across disconnected systems.</a:t>
            </a:r>
          </a:p>
        </p:txBody>
      </p:sp>
      <p:sp>
        <p:nvSpPr>
          <p:cNvPr id="27" name="Rounded Rectangle 26"/>
          <p:cNvSpPr/>
          <p:nvPr/>
        </p:nvSpPr>
        <p:spPr>
          <a:xfrm>
            <a:off x="56692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566928" y="4014215"/>
            <a:ext cx="91440" cy="1929384"/>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740664" y="4160520"/>
            <a:ext cx="658368" cy="65836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Lightning Bolt 29"/>
          <p:cNvSpPr/>
          <p:nvPr/>
        </p:nvSpPr>
        <p:spPr>
          <a:xfrm>
            <a:off x="963850" y="4338279"/>
            <a:ext cx="211994" cy="302849"/>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49961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Real-Time Processing</a:t>
            </a:r>
          </a:p>
        </p:txBody>
      </p:sp>
      <p:sp>
        <p:nvSpPr>
          <p:cNvPr id="32" name="TextBox 31"/>
          <p:cNvSpPr txBox="1"/>
          <p:nvPr/>
        </p:nvSpPr>
        <p:spPr>
          <a:xfrm>
            <a:off x="841247"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Acting on streaming events in milliseconds, not overnight batch windows.</a:t>
            </a:r>
          </a:p>
        </p:txBody>
      </p:sp>
      <p:sp>
        <p:nvSpPr>
          <p:cNvPr id="33" name="Rounded Rectangle 32"/>
          <p:cNvSpPr/>
          <p:nvPr/>
        </p:nvSpPr>
        <p:spPr>
          <a:xfrm>
            <a:off x="433821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4338218" y="4014215"/>
            <a:ext cx="91440" cy="1929384"/>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4511954" y="4160520"/>
            <a:ext cx="658368" cy="658368"/>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4780568" y="4362507"/>
            <a:ext cx="121139" cy="12113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4738169" y="4501817"/>
            <a:ext cx="205937" cy="1271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27090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Skills &amp; Complexity</a:t>
            </a:r>
          </a:p>
        </p:txBody>
      </p:sp>
      <p:sp>
        <p:nvSpPr>
          <p:cNvPr id="39" name="TextBox 38"/>
          <p:cNvSpPr txBox="1"/>
          <p:nvPr/>
        </p:nvSpPr>
        <p:spPr>
          <a:xfrm>
            <a:off x="461253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Scarce talent and brittle, hand-stitched toolchains slow delivery.</a:t>
            </a:r>
          </a:p>
        </p:txBody>
      </p:sp>
      <p:sp>
        <p:nvSpPr>
          <p:cNvPr id="40" name="Rounded Rectangle 39"/>
          <p:cNvSpPr/>
          <p:nvPr/>
        </p:nvSpPr>
        <p:spPr>
          <a:xfrm>
            <a:off x="810950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8109508" y="4014215"/>
            <a:ext cx="91440" cy="1929384"/>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8283244" y="4160520"/>
            <a:ext cx="658368" cy="65836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8509460" y="4474561"/>
            <a:ext cx="205937" cy="151424"/>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Block Arc 43"/>
          <p:cNvSpPr/>
          <p:nvPr/>
        </p:nvSpPr>
        <p:spPr>
          <a:xfrm>
            <a:off x="8539744" y="4338279"/>
            <a:ext cx="145367" cy="151424"/>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904219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Governance &amp; Security</a:t>
            </a:r>
          </a:p>
        </p:txBody>
      </p:sp>
      <p:sp>
        <p:nvSpPr>
          <p:cNvPr id="46" name="TextBox 45"/>
          <p:cNvSpPr txBox="1"/>
          <p:nvPr/>
        </p:nvSpPr>
        <p:spPr>
          <a:xfrm>
            <a:off x="838382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Privacy, access control, lineage and regulatory compliance (GDPR, HIPAA).</a:t>
            </a:r>
          </a:p>
        </p:txBody>
      </p:sp>
      <p:sp>
        <p:nvSpPr>
          <p:cNvPr id="47" name="TextBox 4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8" name="TextBox 4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BIG DATA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Big Data Technology Landscape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1828800"/>
            <a:ext cx="91440" cy="192938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740664" y="1975104"/>
            <a:ext cx="658368" cy="658368"/>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Down Arrow 9"/>
          <p:cNvSpPr/>
          <p:nvPr/>
        </p:nvSpPr>
        <p:spPr>
          <a:xfrm>
            <a:off x="975964" y="2152863"/>
            <a:ext cx="187766" cy="302849"/>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49961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Ingestion</a:t>
            </a:r>
          </a:p>
        </p:txBody>
      </p:sp>
      <p:sp>
        <p:nvSpPr>
          <p:cNvPr id="12" name="TextBox 11"/>
          <p:cNvSpPr txBox="1"/>
          <p:nvPr/>
        </p:nvSpPr>
        <p:spPr>
          <a:xfrm>
            <a:off x="841247"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Kafka · Spark Structured Streaming · Fivetran · NiFi · Auto Loader</a:t>
            </a:r>
          </a:p>
        </p:txBody>
      </p:sp>
      <p:sp>
        <p:nvSpPr>
          <p:cNvPr id="13" name="Rounded Rectangle 12"/>
          <p:cNvSpPr/>
          <p:nvPr/>
        </p:nvSpPr>
        <p:spPr>
          <a:xfrm>
            <a:off x="433821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338218" y="1828800"/>
            <a:ext cx="91440" cy="1929384"/>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511954" y="1975104"/>
            <a:ext cx="658368" cy="658368"/>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Cube 15"/>
          <p:cNvSpPr/>
          <p:nvPr/>
        </p:nvSpPr>
        <p:spPr>
          <a:xfrm>
            <a:off x="4712427" y="2175577"/>
            <a:ext cx="257421" cy="257421"/>
          </a:xfrm>
          <a:prstGeom prst="cub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27090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Storage</a:t>
            </a:r>
          </a:p>
        </p:txBody>
      </p:sp>
      <p:sp>
        <p:nvSpPr>
          <p:cNvPr id="18" name="TextBox 17"/>
          <p:cNvSpPr txBox="1"/>
          <p:nvPr/>
        </p:nvSpPr>
        <p:spPr>
          <a:xfrm>
            <a:off x="461253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HDFS · Amazon S3 · ADLS · Google Cloud Storage · Delta Lake</a:t>
            </a:r>
          </a:p>
        </p:txBody>
      </p:sp>
      <p:sp>
        <p:nvSpPr>
          <p:cNvPr id="19" name="Rounded Rectangle 18"/>
          <p:cNvSpPr/>
          <p:nvPr/>
        </p:nvSpPr>
        <p:spPr>
          <a:xfrm>
            <a:off x="810950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8109508" y="1828800"/>
            <a:ext cx="91440" cy="1929384"/>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8283244" y="1975104"/>
            <a:ext cx="658368" cy="65836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Gear 6 21"/>
          <p:cNvSpPr/>
          <p:nvPr/>
        </p:nvSpPr>
        <p:spPr>
          <a:xfrm>
            <a:off x="8461004" y="2152863"/>
            <a:ext cx="302849" cy="302849"/>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04219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Processing</a:t>
            </a:r>
          </a:p>
        </p:txBody>
      </p:sp>
      <p:sp>
        <p:nvSpPr>
          <p:cNvPr id="24" name="TextBox 23"/>
          <p:cNvSpPr txBox="1"/>
          <p:nvPr/>
        </p:nvSpPr>
        <p:spPr>
          <a:xfrm>
            <a:off x="838382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Apache Spark · Flink · MapReduce · Photon · dbt</a:t>
            </a:r>
          </a:p>
        </p:txBody>
      </p:sp>
      <p:sp>
        <p:nvSpPr>
          <p:cNvPr id="25" name="Rounded Rectangle 24"/>
          <p:cNvSpPr/>
          <p:nvPr/>
        </p:nvSpPr>
        <p:spPr>
          <a:xfrm>
            <a:off x="56692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66928" y="4014215"/>
            <a:ext cx="91440" cy="1929384"/>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740664" y="4160520"/>
            <a:ext cx="658368" cy="658368"/>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ight Arrow 27"/>
          <p:cNvSpPr/>
          <p:nvPr/>
        </p:nvSpPr>
        <p:spPr>
          <a:xfrm>
            <a:off x="918423" y="4398849"/>
            <a:ext cx="302849" cy="181709"/>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49961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Orchestration</a:t>
            </a:r>
          </a:p>
        </p:txBody>
      </p:sp>
      <p:sp>
        <p:nvSpPr>
          <p:cNvPr id="30" name="TextBox 29"/>
          <p:cNvSpPr txBox="1"/>
          <p:nvPr/>
        </p:nvSpPr>
        <p:spPr>
          <a:xfrm>
            <a:off x="841247"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Apache Airflow · Databricks Workflows · Dagster</a:t>
            </a:r>
          </a:p>
        </p:txBody>
      </p:sp>
      <p:sp>
        <p:nvSpPr>
          <p:cNvPr id="31" name="Rounded Rectangle 30"/>
          <p:cNvSpPr/>
          <p:nvPr/>
        </p:nvSpPr>
        <p:spPr>
          <a:xfrm>
            <a:off x="433821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4338218" y="4014215"/>
            <a:ext cx="91440" cy="1929384"/>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4511954" y="4160520"/>
            <a:ext cx="658368" cy="65836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4713941" y="4489704"/>
            <a:ext cx="60569" cy="151424"/>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4810853" y="4404906"/>
            <a:ext cx="60569" cy="236222"/>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4907765" y="4338279"/>
            <a:ext cx="60569" cy="30284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27090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Query &amp; Analytics</a:t>
            </a:r>
          </a:p>
        </p:txBody>
      </p:sp>
      <p:sp>
        <p:nvSpPr>
          <p:cNvPr id="38" name="TextBox 37"/>
          <p:cNvSpPr txBox="1"/>
          <p:nvPr/>
        </p:nvSpPr>
        <p:spPr>
          <a:xfrm>
            <a:off x="461253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Hive · Trino / Presto · Databricks SQL · Snowflake</a:t>
            </a:r>
          </a:p>
        </p:txBody>
      </p:sp>
      <p:sp>
        <p:nvSpPr>
          <p:cNvPr id="39" name="Rounded Rectangle 38"/>
          <p:cNvSpPr/>
          <p:nvPr/>
        </p:nvSpPr>
        <p:spPr>
          <a:xfrm>
            <a:off x="810950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8109508" y="4014215"/>
            <a:ext cx="91440" cy="192938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8283244" y="4160520"/>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8560944" y="4438219"/>
            <a:ext cx="102968" cy="1029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3" name="Connector 42"/>
          <p:cNvCxnSpPr/>
          <p:nvPr/>
        </p:nvCxnSpPr>
        <p:spPr>
          <a:xfrm flipH="1" flipV="1">
            <a:off x="8485232" y="4398849"/>
            <a:ext cx="127196" cy="90855"/>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8451918" y="4365535"/>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5" name="Connector 44"/>
          <p:cNvCxnSpPr/>
          <p:nvPr/>
        </p:nvCxnSpPr>
        <p:spPr>
          <a:xfrm flipV="1">
            <a:off x="8612428" y="4398849"/>
            <a:ext cx="127197" cy="90855"/>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8706312" y="4365535"/>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7" name="Connector 46"/>
          <p:cNvCxnSpPr/>
          <p:nvPr/>
        </p:nvCxnSpPr>
        <p:spPr>
          <a:xfrm>
            <a:off x="8612428" y="4489704"/>
            <a:ext cx="0" cy="133253"/>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8579115" y="4589644"/>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904219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ML &amp; AI</a:t>
            </a:r>
          </a:p>
        </p:txBody>
      </p:sp>
      <p:sp>
        <p:nvSpPr>
          <p:cNvPr id="50" name="TextBox 49"/>
          <p:cNvSpPr txBox="1"/>
          <p:nvPr/>
        </p:nvSpPr>
        <p:spPr>
          <a:xfrm>
            <a:off x="838382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MLflow · TensorFlow · PyTorch · scikit-learn · Mosaic AI</a:t>
            </a:r>
          </a:p>
        </p:txBody>
      </p:sp>
      <p:sp>
        <p:nvSpPr>
          <p:cNvPr id="51" name="TextBox 50"/>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2" name="TextBox 51"/>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BIG DATA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Big Data Ecosystem — End to End</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2240280"/>
            <a:ext cx="1583893" cy="914400"/>
          </a:xfrm>
          <a:prstGeom prst="roundRect">
            <a:avLst>
              <a:gd name="adj" fmla="val 14000"/>
            </a:avLst>
          </a:prstGeom>
          <a:solidFill>
            <a:srgbClr val="27444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699698" y="2537642"/>
            <a:ext cx="319674" cy="319674"/>
          </a:xfrm>
          <a:prstGeom prst="ellipse">
            <a:avLst/>
          </a:prstGeom>
          <a:noFill/>
          <a:ln w="3860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796991" y="2537642"/>
            <a:ext cx="125089" cy="319674"/>
          </a:xfrm>
          <a:prstGeom prst="ellipse">
            <a:avLst/>
          </a:prstGeom>
          <a:noFill/>
          <a:ln w="2895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99698" y="2687055"/>
            <a:ext cx="319674" cy="208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42416" y="2240280"/>
            <a:ext cx="1016965" cy="914400"/>
          </a:xfrm>
          <a:prstGeom prst="rect">
            <a:avLst/>
          </a:prstGeom>
          <a:noFill/>
        </p:spPr>
        <p:txBody>
          <a:bodyPr wrap="square" anchor="ctr" lIns="0" rIns="0" tIns="0" bIns="0">
            <a:spAutoFit/>
          </a:bodyPr>
          <a:lstStyle/>
          <a:p>
            <a:pPr algn="ctr">
              <a:lnSpc>
                <a:spcPct val="92000"/>
              </a:lnSpc>
              <a:spcBef>
                <a:spcPts val="0"/>
              </a:spcBef>
              <a:spcAft>
                <a:spcPts val="200"/>
              </a:spcAft>
            </a:pPr>
            <a:r>
              <a:rPr sz="1100" b="1" i="0">
                <a:solidFill>
                  <a:srgbClr val="FFFFFF"/>
                </a:solidFill>
                <a:latin typeface="Segoe UI"/>
              </a:rPr>
              <a:t>Data
Sources</a:t>
            </a:r>
          </a:p>
        </p:txBody>
      </p:sp>
      <p:sp>
        <p:nvSpPr>
          <p:cNvPr id="12" name="Rounded Rectangle 11"/>
          <p:cNvSpPr/>
          <p:nvPr/>
        </p:nvSpPr>
        <p:spPr>
          <a:xfrm>
            <a:off x="566928" y="3319272"/>
            <a:ext cx="1583893" cy="13716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31520" y="3465576"/>
            <a:ext cx="1272997" cy="109728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980" b="1">
                <a:solidFill>
                  <a:srgbClr val="27444F"/>
                </a:solidFill>
                <a:latin typeface="Segoe UI"/>
              </a:rPr>
              <a:t>▪   </a:t>
            </a:r>
            <a:r>
              <a:rPr sz="980">
                <a:solidFill>
                  <a:srgbClr val="465257"/>
                </a:solidFill>
                <a:latin typeface="Segoe UI"/>
              </a:rPr>
              <a:t>Apps &amp; databases</a:t>
            </a:r>
          </a:p>
          <a:p>
            <a:pPr marL="274320" indent="-274320">
              <a:lnSpc>
                <a:spcPct val="105000"/>
              </a:lnSpc>
              <a:spcBef>
                <a:spcPts val="0"/>
              </a:spcBef>
              <a:spcAft>
                <a:spcPts val="400"/>
              </a:spcAft>
            </a:pPr>
            <a:r>
              <a:rPr sz="980" b="1">
                <a:solidFill>
                  <a:srgbClr val="27444F"/>
                </a:solidFill>
                <a:latin typeface="Segoe UI"/>
              </a:rPr>
              <a:t>▪   </a:t>
            </a:r>
            <a:r>
              <a:rPr sz="980">
                <a:solidFill>
                  <a:srgbClr val="465257"/>
                </a:solidFill>
                <a:latin typeface="Segoe UI"/>
              </a:rPr>
              <a:t>IoT / sensors</a:t>
            </a:r>
          </a:p>
          <a:p>
            <a:pPr marL="274320" indent="-274320">
              <a:lnSpc>
                <a:spcPct val="105000"/>
              </a:lnSpc>
              <a:spcBef>
                <a:spcPts val="0"/>
              </a:spcBef>
              <a:spcAft>
                <a:spcPts val="400"/>
              </a:spcAft>
            </a:pPr>
            <a:r>
              <a:rPr sz="980" b="1">
                <a:solidFill>
                  <a:srgbClr val="27444F"/>
                </a:solidFill>
                <a:latin typeface="Segoe UI"/>
              </a:rPr>
              <a:t>▪   </a:t>
            </a:r>
            <a:r>
              <a:rPr sz="980">
                <a:solidFill>
                  <a:srgbClr val="465257"/>
                </a:solidFill>
                <a:latin typeface="Segoe UI"/>
              </a:rPr>
              <a:t>Logs &amp; clickstream</a:t>
            </a:r>
          </a:p>
          <a:p>
            <a:pPr marL="274320" indent="-274320">
              <a:lnSpc>
                <a:spcPct val="105000"/>
              </a:lnSpc>
              <a:spcBef>
                <a:spcPts val="0"/>
              </a:spcBef>
              <a:spcAft>
                <a:spcPts val="400"/>
              </a:spcAft>
            </a:pPr>
            <a:r>
              <a:rPr sz="980" b="1">
                <a:solidFill>
                  <a:srgbClr val="27444F"/>
                </a:solidFill>
                <a:latin typeface="Segoe UI"/>
              </a:rPr>
              <a:t>▪   </a:t>
            </a:r>
            <a:r>
              <a:rPr sz="980">
                <a:solidFill>
                  <a:srgbClr val="465257"/>
                </a:solidFill>
                <a:latin typeface="Segoe UI"/>
              </a:rPr>
              <a:t>APIs &amp; files</a:t>
            </a:r>
          </a:p>
        </p:txBody>
      </p:sp>
      <p:sp>
        <p:nvSpPr>
          <p:cNvPr id="14" name="Right Arrow 13"/>
          <p:cNvSpPr/>
          <p:nvPr/>
        </p:nvSpPr>
        <p:spPr>
          <a:xfrm>
            <a:off x="2169109" y="2619756"/>
            <a:ext cx="256032" cy="155448"/>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2461717" y="2240280"/>
            <a:ext cx="1583893" cy="914400"/>
          </a:xfrm>
          <a:prstGeom prst="roundRect">
            <a:avLst>
              <a:gd name="adj" fmla="val 14000"/>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Down Arrow 15"/>
          <p:cNvSpPr/>
          <p:nvPr/>
        </p:nvSpPr>
        <p:spPr>
          <a:xfrm>
            <a:off x="2646608" y="2523744"/>
            <a:ext cx="215432" cy="347472"/>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937205" y="2240280"/>
            <a:ext cx="1016965" cy="914400"/>
          </a:xfrm>
          <a:prstGeom prst="rect">
            <a:avLst/>
          </a:prstGeom>
          <a:noFill/>
        </p:spPr>
        <p:txBody>
          <a:bodyPr wrap="square" anchor="ctr" lIns="0" rIns="0" tIns="0" bIns="0">
            <a:spAutoFit/>
          </a:bodyPr>
          <a:lstStyle/>
          <a:p>
            <a:pPr algn="ctr">
              <a:lnSpc>
                <a:spcPct val="92000"/>
              </a:lnSpc>
              <a:spcBef>
                <a:spcPts val="0"/>
              </a:spcBef>
              <a:spcAft>
                <a:spcPts val="200"/>
              </a:spcAft>
            </a:pPr>
            <a:r>
              <a:rPr sz="1100" b="1" i="0">
                <a:solidFill>
                  <a:srgbClr val="FFFFFF"/>
                </a:solidFill>
                <a:latin typeface="Segoe UI"/>
              </a:rPr>
              <a:t>Ingestion</a:t>
            </a:r>
          </a:p>
        </p:txBody>
      </p:sp>
      <p:sp>
        <p:nvSpPr>
          <p:cNvPr id="18" name="Rounded Rectangle 17"/>
          <p:cNvSpPr/>
          <p:nvPr/>
        </p:nvSpPr>
        <p:spPr>
          <a:xfrm>
            <a:off x="2461717" y="3319272"/>
            <a:ext cx="1583893" cy="13716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626309" y="3465576"/>
            <a:ext cx="1272997" cy="109728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980" b="1">
                <a:solidFill>
                  <a:srgbClr val="0E8C9C"/>
                </a:solidFill>
                <a:latin typeface="Segoe UI"/>
              </a:rPr>
              <a:t>▪   </a:t>
            </a:r>
            <a:r>
              <a:rPr sz="980">
                <a:solidFill>
                  <a:srgbClr val="465257"/>
                </a:solidFill>
                <a:latin typeface="Segoe UI"/>
              </a:rPr>
              <a:t>Kafka</a:t>
            </a:r>
          </a:p>
          <a:p>
            <a:pPr marL="274320" indent="-274320">
              <a:lnSpc>
                <a:spcPct val="105000"/>
              </a:lnSpc>
              <a:spcBef>
                <a:spcPts val="0"/>
              </a:spcBef>
              <a:spcAft>
                <a:spcPts val="400"/>
              </a:spcAft>
            </a:pPr>
            <a:r>
              <a:rPr sz="980" b="1">
                <a:solidFill>
                  <a:srgbClr val="0E8C9C"/>
                </a:solidFill>
                <a:latin typeface="Segoe UI"/>
              </a:rPr>
              <a:t>▪   </a:t>
            </a:r>
            <a:r>
              <a:rPr sz="980">
                <a:solidFill>
                  <a:srgbClr val="465257"/>
                </a:solidFill>
                <a:latin typeface="Segoe UI"/>
              </a:rPr>
              <a:t>Auto Loader</a:t>
            </a:r>
          </a:p>
          <a:p>
            <a:pPr marL="274320" indent="-274320">
              <a:lnSpc>
                <a:spcPct val="105000"/>
              </a:lnSpc>
              <a:spcBef>
                <a:spcPts val="0"/>
              </a:spcBef>
              <a:spcAft>
                <a:spcPts val="400"/>
              </a:spcAft>
            </a:pPr>
            <a:r>
              <a:rPr sz="980" b="1">
                <a:solidFill>
                  <a:srgbClr val="0E8C9C"/>
                </a:solidFill>
                <a:latin typeface="Segoe UI"/>
              </a:rPr>
              <a:t>▪   </a:t>
            </a:r>
            <a:r>
              <a:rPr sz="980">
                <a:solidFill>
                  <a:srgbClr val="465257"/>
                </a:solidFill>
                <a:latin typeface="Segoe UI"/>
              </a:rPr>
              <a:t>Fivetran</a:t>
            </a:r>
          </a:p>
          <a:p>
            <a:pPr marL="274320" indent="-274320">
              <a:lnSpc>
                <a:spcPct val="105000"/>
              </a:lnSpc>
              <a:spcBef>
                <a:spcPts val="0"/>
              </a:spcBef>
              <a:spcAft>
                <a:spcPts val="400"/>
              </a:spcAft>
            </a:pPr>
            <a:r>
              <a:rPr sz="980" b="1">
                <a:solidFill>
                  <a:srgbClr val="0E8C9C"/>
                </a:solidFill>
                <a:latin typeface="Segoe UI"/>
              </a:rPr>
              <a:t>▪   </a:t>
            </a:r>
            <a:r>
              <a:rPr sz="980">
                <a:solidFill>
                  <a:srgbClr val="465257"/>
                </a:solidFill>
                <a:latin typeface="Segoe UI"/>
              </a:rPr>
              <a:t>Batch + stream</a:t>
            </a:r>
          </a:p>
        </p:txBody>
      </p:sp>
      <p:sp>
        <p:nvSpPr>
          <p:cNvPr id="20" name="Right Arrow 19"/>
          <p:cNvSpPr/>
          <p:nvPr/>
        </p:nvSpPr>
        <p:spPr>
          <a:xfrm>
            <a:off x="4063898" y="2619756"/>
            <a:ext cx="256032" cy="155448"/>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4356506" y="2240280"/>
            <a:ext cx="1583893" cy="914400"/>
          </a:xfrm>
          <a:prstGeom prst="roundRect">
            <a:avLst>
              <a:gd name="adj" fmla="val 14000"/>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Cube 21"/>
          <p:cNvSpPr/>
          <p:nvPr/>
        </p:nvSpPr>
        <p:spPr>
          <a:xfrm>
            <a:off x="4501438" y="2549804"/>
            <a:ext cx="295351" cy="295351"/>
          </a:xfrm>
          <a:prstGeom prst="cub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831994" y="2240280"/>
            <a:ext cx="1016965" cy="914400"/>
          </a:xfrm>
          <a:prstGeom prst="rect">
            <a:avLst/>
          </a:prstGeom>
          <a:noFill/>
        </p:spPr>
        <p:txBody>
          <a:bodyPr wrap="square" anchor="ctr" lIns="0" rIns="0" tIns="0" bIns="0">
            <a:spAutoFit/>
          </a:bodyPr>
          <a:lstStyle/>
          <a:p>
            <a:pPr algn="ctr">
              <a:lnSpc>
                <a:spcPct val="92000"/>
              </a:lnSpc>
              <a:spcBef>
                <a:spcPts val="0"/>
              </a:spcBef>
              <a:spcAft>
                <a:spcPts val="200"/>
              </a:spcAft>
            </a:pPr>
            <a:r>
              <a:rPr sz="1100" b="1" i="0">
                <a:solidFill>
                  <a:srgbClr val="FFFFFF"/>
                </a:solidFill>
                <a:latin typeface="Segoe UI"/>
              </a:rPr>
              <a:t>Storage</a:t>
            </a:r>
          </a:p>
        </p:txBody>
      </p:sp>
      <p:sp>
        <p:nvSpPr>
          <p:cNvPr id="24" name="Rounded Rectangle 23"/>
          <p:cNvSpPr/>
          <p:nvPr/>
        </p:nvSpPr>
        <p:spPr>
          <a:xfrm>
            <a:off x="4356506" y="3319272"/>
            <a:ext cx="1583893" cy="13716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521098" y="3465576"/>
            <a:ext cx="1272997" cy="109728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980" b="1">
                <a:solidFill>
                  <a:srgbClr val="2272B4"/>
                </a:solidFill>
                <a:latin typeface="Segoe UI"/>
              </a:rPr>
              <a:t>▪   </a:t>
            </a:r>
            <a:r>
              <a:rPr sz="980">
                <a:solidFill>
                  <a:srgbClr val="465257"/>
                </a:solidFill>
                <a:latin typeface="Segoe UI"/>
              </a:rPr>
              <a:t>S3 / ADLS / GCS</a:t>
            </a:r>
          </a:p>
          <a:p>
            <a:pPr marL="274320" indent="-274320">
              <a:lnSpc>
                <a:spcPct val="105000"/>
              </a:lnSpc>
              <a:spcBef>
                <a:spcPts val="0"/>
              </a:spcBef>
              <a:spcAft>
                <a:spcPts val="400"/>
              </a:spcAft>
            </a:pPr>
            <a:r>
              <a:rPr sz="980" b="1">
                <a:solidFill>
                  <a:srgbClr val="2272B4"/>
                </a:solidFill>
                <a:latin typeface="Segoe UI"/>
              </a:rPr>
              <a:t>▪   </a:t>
            </a:r>
            <a:r>
              <a:rPr sz="980">
                <a:solidFill>
                  <a:srgbClr val="465257"/>
                </a:solidFill>
                <a:latin typeface="Segoe UI"/>
              </a:rPr>
              <a:t>Delta Lake</a:t>
            </a:r>
          </a:p>
          <a:p>
            <a:pPr marL="274320" indent="-274320">
              <a:lnSpc>
                <a:spcPct val="105000"/>
              </a:lnSpc>
              <a:spcBef>
                <a:spcPts val="0"/>
              </a:spcBef>
              <a:spcAft>
                <a:spcPts val="400"/>
              </a:spcAft>
            </a:pPr>
            <a:r>
              <a:rPr sz="980" b="1">
                <a:solidFill>
                  <a:srgbClr val="2272B4"/>
                </a:solidFill>
                <a:latin typeface="Segoe UI"/>
              </a:rPr>
              <a:t>▪   </a:t>
            </a:r>
            <a:r>
              <a:rPr sz="980">
                <a:solidFill>
                  <a:srgbClr val="465257"/>
                </a:solidFill>
                <a:latin typeface="Segoe UI"/>
              </a:rPr>
              <a:t>Data lake</a:t>
            </a:r>
          </a:p>
          <a:p>
            <a:pPr marL="274320" indent="-274320">
              <a:lnSpc>
                <a:spcPct val="105000"/>
              </a:lnSpc>
              <a:spcBef>
                <a:spcPts val="0"/>
              </a:spcBef>
              <a:spcAft>
                <a:spcPts val="400"/>
              </a:spcAft>
            </a:pPr>
            <a:r>
              <a:rPr sz="980" b="1">
                <a:solidFill>
                  <a:srgbClr val="2272B4"/>
                </a:solidFill>
                <a:latin typeface="Segoe UI"/>
              </a:rPr>
              <a:t>▪   </a:t>
            </a:r>
            <a:r>
              <a:rPr sz="980">
                <a:solidFill>
                  <a:srgbClr val="465257"/>
                </a:solidFill>
                <a:latin typeface="Segoe UI"/>
              </a:rPr>
              <a:t>Open formats</a:t>
            </a:r>
          </a:p>
        </p:txBody>
      </p:sp>
      <p:sp>
        <p:nvSpPr>
          <p:cNvPr id="26" name="Right Arrow 25"/>
          <p:cNvSpPr/>
          <p:nvPr/>
        </p:nvSpPr>
        <p:spPr>
          <a:xfrm>
            <a:off x="5958687" y="2619756"/>
            <a:ext cx="256032" cy="155448"/>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251295" y="2240280"/>
            <a:ext cx="1583893" cy="914400"/>
          </a:xfrm>
          <a:prstGeom prst="roundRect">
            <a:avLst>
              <a:gd name="adj" fmla="val 14000"/>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Gear 6 27"/>
          <p:cNvSpPr/>
          <p:nvPr/>
        </p:nvSpPr>
        <p:spPr>
          <a:xfrm>
            <a:off x="6370167" y="2523744"/>
            <a:ext cx="347472" cy="347472"/>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726783" y="2240280"/>
            <a:ext cx="1016965" cy="914400"/>
          </a:xfrm>
          <a:prstGeom prst="rect">
            <a:avLst/>
          </a:prstGeom>
          <a:noFill/>
        </p:spPr>
        <p:txBody>
          <a:bodyPr wrap="square" anchor="ctr" lIns="0" rIns="0" tIns="0" bIns="0">
            <a:spAutoFit/>
          </a:bodyPr>
          <a:lstStyle/>
          <a:p>
            <a:pPr algn="ctr">
              <a:lnSpc>
                <a:spcPct val="92000"/>
              </a:lnSpc>
              <a:spcBef>
                <a:spcPts val="0"/>
              </a:spcBef>
              <a:spcAft>
                <a:spcPts val="200"/>
              </a:spcAft>
            </a:pPr>
            <a:r>
              <a:rPr sz="1100" b="1" i="0">
                <a:solidFill>
                  <a:srgbClr val="FFFFFF"/>
                </a:solidFill>
                <a:latin typeface="Segoe UI"/>
              </a:rPr>
              <a:t>Processing</a:t>
            </a:r>
          </a:p>
        </p:txBody>
      </p:sp>
      <p:sp>
        <p:nvSpPr>
          <p:cNvPr id="30" name="Rounded Rectangle 29"/>
          <p:cNvSpPr/>
          <p:nvPr/>
        </p:nvSpPr>
        <p:spPr>
          <a:xfrm>
            <a:off x="6251295" y="3319272"/>
            <a:ext cx="1583893" cy="13716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15887" y="3465576"/>
            <a:ext cx="1272997" cy="109728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980" b="1">
                <a:solidFill>
                  <a:srgbClr val="FF3621"/>
                </a:solidFill>
                <a:latin typeface="Segoe UI"/>
              </a:rPr>
              <a:t>▪   </a:t>
            </a:r>
            <a:r>
              <a:rPr sz="980">
                <a:solidFill>
                  <a:srgbClr val="465257"/>
                </a:solidFill>
                <a:latin typeface="Segoe UI"/>
              </a:rPr>
              <a:t>Apache Spark</a:t>
            </a:r>
          </a:p>
          <a:p>
            <a:pPr marL="274320" indent="-274320">
              <a:lnSpc>
                <a:spcPct val="105000"/>
              </a:lnSpc>
              <a:spcBef>
                <a:spcPts val="0"/>
              </a:spcBef>
              <a:spcAft>
                <a:spcPts val="400"/>
              </a:spcAft>
            </a:pPr>
            <a:r>
              <a:rPr sz="980" b="1">
                <a:solidFill>
                  <a:srgbClr val="FF3621"/>
                </a:solidFill>
                <a:latin typeface="Segoe UI"/>
              </a:rPr>
              <a:t>▪   </a:t>
            </a:r>
            <a:r>
              <a:rPr sz="980">
                <a:solidFill>
                  <a:srgbClr val="465257"/>
                </a:solidFill>
                <a:latin typeface="Segoe UI"/>
              </a:rPr>
              <a:t>Photon</a:t>
            </a:r>
          </a:p>
          <a:p>
            <a:pPr marL="274320" indent="-274320">
              <a:lnSpc>
                <a:spcPct val="105000"/>
              </a:lnSpc>
              <a:spcBef>
                <a:spcPts val="0"/>
              </a:spcBef>
              <a:spcAft>
                <a:spcPts val="400"/>
              </a:spcAft>
            </a:pPr>
            <a:r>
              <a:rPr sz="980" b="1">
                <a:solidFill>
                  <a:srgbClr val="FF3621"/>
                </a:solidFill>
                <a:latin typeface="Segoe UI"/>
              </a:rPr>
              <a:t>▪   </a:t>
            </a:r>
            <a:r>
              <a:rPr sz="980">
                <a:solidFill>
                  <a:srgbClr val="465257"/>
                </a:solidFill>
                <a:latin typeface="Segoe UI"/>
              </a:rPr>
              <a:t>ETL / ELT</a:t>
            </a:r>
          </a:p>
          <a:p>
            <a:pPr marL="274320" indent="-274320">
              <a:lnSpc>
                <a:spcPct val="105000"/>
              </a:lnSpc>
              <a:spcBef>
                <a:spcPts val="0"/>
              </a:spcBef>
              <a:spcAft>
                <a:spcPts val="400"/>
              </a:spcAft>
            </a:pPr>
            <a:r>
              <a:rPr sz="980" b="1">
                <a:solidFill>
                  <a:srgbClr val="FF3621"/>
                </a:solidFill>
                <a:latin typeface="Segoe UI"/>
              </a:rPr>
              <a:t>▪   </a:t>
            </a:r>
            <a:r>
              <a:rPr sz="980">
                <a:solidFill>
                  <a:srgbClr val="465257"/>
                </a:solidFill>
                <a:latin typeface="Segoe UI"/>
              </a:rPr>
              <a:t>Transform &amp; clean</a:t>
            </a:r>
          </a:p>
        </p:txBody>
      </p:sp>
      <p:sp>
        <p:nvSpPr>
          <p:cNvPr id="32" name="Right Arrow 31"/>
          <p:cNvSpPr/>
          <p:nvPr/>
        </p:nvSpPr>
        <p:spPr>
          <a:xfrm>
            <a:off x="7853476" y="2619756"/>
            <a:ext cx="256032" cy="155448"/>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8146084" y="2240280"/>
            <a:ext cx="1583893" cy="914400"/>
          </a:xfrm>
          <a:prstGeom prst="roundRect">
            <a:avLst>
              <a:gd name="adj" fmla="val 14000"/>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8379622" y="2638409"/>
            <a:ext cx="118140" cy="1181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5" name="Connector 34"/>
          <p:cNvCxnSpPr/>
          <p:nvPr/>
        </p:nvCxnSpPr>
        <p:spPr>
          <a:xfrm flipH="1" flipV="1">
            <a:off x="8292754" y="2593238"/>
            <a:ext cx="145938" cy="104242"/>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8254532" y="2555016"/>
            <a:ext cx="76443" cy="7644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7" name="Connector 36"/>
          <p:cNvCxnSpPr/>
          <p:nvPr/>
        </p:nvCxnSpPr>
        <p:spPr>
          <a:xfrm flipV="1">
            <a:off x="8438692" y="2593238"/>
            <a:ext cx="145939" cy="104242"/>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8546409" y="2555016"/>
            <a:ext cx="76443" cy="7644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9" name="Connector 38"/>
          <p:cNvCxnSpPr/>
          <p:nvPr/>
        </p:nvCxnSpPr>
        <p:spPr>
          <a:xfrm>
            <a:off x="8438692" y="2697480"/>
            <a:ext cx="0" cy="152887"/>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400470" y="2812145"/>
            <a:ext cx="76443" cy="7644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621572" y="2240280"/>
            <a:ext cx="1016965" cy="914400"/>
          </a:xfrm>
          <a:prstGeom prst="rect">
            <a:avLst/>
          </a:prstGeom>
          <a:noFill/>
        </p:spPr>
        <p:txBody>
          <a:bodyPr wrap="square" anchor="ctr" lIns="0" rIns="0" tIns="0" bIns="0">
            <a:spAutoFit/>
          </a:bodyPr>
          <a:lstStyle/>
          <a:p>
            <a:pPr algn="ctr">
              <a:lnSpc>
                <a:spcPct val="92000"/>
              </a:lnSpc>
              <a:spcBef>
                <a:spcPts val="0"/>
              </a:spcBef>
              <a:spcAft>
                <a:spcPts val="200"/>
              </a:spcAft>
            </a:pPr>
            <a:r>
              <a:rPr sz="1100" b="1" i="0">
                <a:solidFill>
                  <a:srgbClr val="FFFFFF"/>
                </a:solidFill>
                <a:latin typeface="Segoe UI"/>
              </a:rPr>
              <a:t>Analytics</a:t>
            </a:r>
          </a:p>
        </p:txBody>
      </p:sp>
      <p:sp>
        <p:nvSpPr>
          <p:cNvPr id="42" name="Rounded Rectangle 41"/>
          <p:cNvSpPr/>
          <p:nvPr/>
        </p:nvSpPr>
        <p:spPr>
          <a:xfrm>
            <a:off x="8146084" y="3319272"/>
            <a:ext cx="1583893" cy="13716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310676" y="3465576"/>
            <a:ext cx="1272997" cy="109728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980" b="1">
                <a:solidFill>
                  <a:srgbClr val="00A972"/>
                </a:solidFill>
                <a:latin typeface="Segoe UI"/>
              </a:rPr>
              <a:t>▪   </a:t>
            </a:r>
            <a:r>
              <a:rPr sz="980">
                <a:solidFill>
                  <a:srgbClr val="465257"/>
                </a:solidFill>
                <a:latin typeface="Segoe UI"/>
              </a:rPr>
              <a:t>SQL analytics</a:t>
            </a:r>
          </a:p>
          <a:p>
            <a:pPr marL="274320" indent="-274320">
              <a:lnSpc>
                <a:spcPct val="105000"/>
              </a:lnSpc>
              <a:spcBef>
                <a:spcPts val="0"/>
              </a:spcBef>
              <a:spcAft>
                <a:spcPts val="400"/>
              </a:spcAft>
            </a:pPr>
            <a:r>
              <a:rPr sz="980" b="1">
                <a:solidFill>
                  <a:srgbClr val="00A972"/>
                </a:solidFill>
                <a:latin typeface="Segoe UI"/>
              </a:rPr>
              <a:t>▪   </a:t>
            </a:r>
            <a:r>
              <a:rPr sz="980">
                <a:solidFill>
                  <a:srgbClr val="465257"/>
                </a:solidFill>
                <a:latin typeface="Segoe UI"/>
              </a:rPr>
              <a:t>Machine learning</a:t>
            </a:r>
          </a:p>
          <a:p>
            <a:pPr marL="274320" indent="-274320">
              <a:lnSpc>
                <a:spcPct val="105000"/>
              </a:lnSpc>
              <a:spcBef>
                <a:spcPts val="0"/>
              </a:spcBef>
              <a:spcAft>
                <a:spcPts val="400"/>
              </a:spcAft>
            </a:pPr>
            <a:r>
              <a:rPr sz="980" b="1">
                <a:solidFill>
                  <a:srgbClr val="00A972"/>
                </a:solidFill>
                <a:latin typeface="Segoe UI"/>
              </a:rPr>
              <a:t>▪   </a:t>
            </a:r>
            <a:r>
              <a:rPr sz="980">
                <a:solidFill>
                  <a:srgbClr val="465257"/>
                </a:solidFill>
                <a:latin typeface="Segoe UI"/>
              </a:rPr>
              <a:t>Data science</a:t>
            </a:r>
          </a:p>
          <a:p>
            <a:pPr marL="274320" indent="-274320">
              <a:lnSpc>
                <a:spcPct val="105000"/>
              </a:lnSpc>
              <a:spcBef>
                <a:spcPts val="0"/>
              </a:spcBef>
              <a:spcAft>
                <a:spcPts val="400"/>
              </a:spcAft>
            </a:pPr>
            <a:r>
              <a:rPr sz="980" b="1">
                <a:solidFill>
                  <a:srgbClr val="00A972"/>
                </a:solidFill>
                <a:latin typeface="Segoe UI"/>
              </a:rPr>
              <a:t>▪   </a:t>
            </a:r>
            <a:r>
              <a:rPr sz="980">
                <a:solidFill>
                  <a:srgbClr val="465257"/>
                </a:solidFill>
                <a:latin typeface="Segoe UI"/>
              </a:rPr>
              <a:t>AI / GenAI</a:t>
            </a:r>
          </a:p>
        </p:txBody>
      </p:sp>
      <p:sp>
        <p:nvSpPr>
          <p:cNvPr id="44" name="Right Arrow 43"/>
          <p:cNvSpPr/>
          <p:nvPr/>
        </p:nvSpPr>
        <p:spPr>
          <a:xfrm>
            <a:off x="9748266" y="2619756"/>
            <a:ext cx="256032" cy="155448"/>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10040874" y="2240280"/>
            <a:ext cx="1583893" cy="914400"/>
          </a:xfrm>
          <a:prstGeom prst="roundRect">
            <a:avLst>
              <a:gd name="adj" fmla="val 14000"/>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10187543" y="2697480"/>
            <a:ext cx="69494" cy="173736"/>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10298734" y="2600187"/>
            <a:ext cx="69494" cy="27102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10409925" y="2523744"/>
            <a:ext cx="69494" cy="347472"/>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10516362" y="2240280"/>
            <a:ext cx="1016965" cy="914400"/>
          </a:xfrm>
          <a:prstGeom prst="rect">
            <a:avLst/>
          </a:prstGeom>
          <a:noFill/>
        </p:spPr>
        <p:txBody>
          <a:bodyPr wrap="square" anchor="ctr" lIns="0" rIns="0" tIns="0" bIns="0">
            <a:spAutoFit/>
          </a:bodyPr>
          <a:lstStyle/>
          <a:p>
            <a:pPr algn="ctr">
              <a:lnSpc>
                <a:spcPct val="92000"/>
              </a:lnSpc>
              <a:spcBef>
                <a:spcPts val="0"/>
              </a:spcBef>
              <a:spcAft>
                <a:spcPts val="200"/>
              </a:spcAft>
            </a:pPr>
            <a:r>
              <a:rPr sz="1100" b="1" i="0">
                <a:solidFill>
                  <a:srgbClr val="FFFFFF"/>
                </a:solidFill>
                <a:latin typeface="Segoe UI"/>
              </a:rPr>
              <a:t>BI &amp; Viz</a:t>
            </a:r>
          </a:p>
        </p:txBody>
      </p:sp>
      <p:sp>
        <p:nvSpPr>
          <p:cNvPr id="50" name="Rounded Rectangle 49"/>
          <p:cNvSpPr/>
          <p:nvPr/>
        </p:nvSpPr>
        <p:spPr>
          <a:xfrm>
            <a:off x="10040874" y="3319272"/>
            <a:ext cx="1583893" cy="13716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10205466" y="3465576"/>
            <a:ext cx="1272997" cy="109728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980" b="1">
                <a:solidFill>
                  <a:srgbClr val="7C5CCF"/>
                </a:solidFill>
                <a:latin typeface="Segoe UI"/>
              </a:rPr>
              <a:t>▪   </a:t>
            </a:r>
            <a:r>
              <a:rPr sz="980">
                <a:solidFill>
                  <a:srgbClr val="465257"/>
                </a:solidFill>
                <a:latin typeface="Segoe UI"/>
              </a:rPr>
              <a:t>Dashboards</a:t>
            </a:r>
          </a:p>
          <a:p>
            <a:pPr marL="274320" indent="-274320">
              <a:lnSpc>
                <a:spcPct val="105000"/>
              </a:lnSpc>
              <a:spcBef>
                <a:spcPts val="0"/>
              </a:spcBef>
              <a:spcAft>
                <a:spcPts val="400"/>
              </a:spcAft>
            </a:pPr>
            <a:r>
              <a:rPr sz="980" b="1">
                <a:solidFill>
                  <a:srgbClr val="7C5CCF"/>
                </a:solidFill>
                <a:latin typeface="Segoe UI"/>
              </a:rPr>
              <a:t>▪   </a:t>
            </a:r>
            <a:r>
              <a:rPr sz="980">
                <a:solidFill>
                  <a:srgbClr val="465257"/>
                </a:solidFill>
                <a:latin typeface="Segoe UI"/>
              </a:rPr>
              <a:t>Power BI</a:t>
            </a:r>
          </a:p>
          <a:p>
            <a:pPr marL="274320" indent="-274320">
              <a:lnSpc>
                <a:spcPct val="105000"/>
              </a:lnSpc>
              <a:spcBef>
                <a:spcPts val="0"/>
              </a:spcBef>
              <a:spcAft>
                <a:spcPts val="400"/>
              </a:spcAft>
            </a:pPr>
            <a:r>
              <a:rPr sz="980" b="1">
                <a:solidFill>
                  <a:srgbClr val="7C5CCF"/>
                </a:solidFill>
                <a:latin typeface="Segoe UI"/>
              </a:rPr>
              <a:t>▪   </a:t>
            </a:r>
            <a:r>
              <a:rPr sz="980">
                <a:solidFill>
                  <a:srgbClr val="465257"/>
                </a:solidFill>
                <a:latin typeface="Segoe UI"/>
              </a:rPr>
              <a:t>Tableau</a:t>
            </a:r>
          </a:p>
          <a:p>
            <a:pPr marL="274320" indent="-274320">
              <a:lnSpc>
                <a:spcPct val="105000"/>
              </a:lnSpc>
              <a:spcBef>
                <a:spcPts val="0"/>
              </a:spcBef>
              <a:spcAft>
                <a:spcPts val="400"/>
              </a:spcAft>
            </a:pPr>
            <a:r>
              <a:rPr sz="980" b="1">
                <a:solidFill>
                  <a:srgbClr val="7C5CCF"/>
                </a:solidFill>
                <a:latin typeface="Segoe UI"/>
              </a:rPr>
              <a:t>▪   </a:t>
            </a:r>
            <a:r>
              <a:rPr sz="980">
                <a:solidFill>
                  <a:srgbClr val="465257"/>
                </a:solidFill>
                <a:latin typeface="Segoe UI"/>
              </a:rPr>
              <a:t>Reports &amp; alerts</a:t>
            </a:r>
          </a:p>
        </p:txBody>
      </p:sp>
      <p:sp>
        <p:nvSpPr>
          <p:cNvPr id="52" name="TextBox 51"/>
          <p:cNvSpPr txBox="1"/>
          <p:nvPr/>
        </p:nvSpPr>
        <p:spPr>
          <a:xfrm>
            <a:off x="566928" y="5440680"/>
            <a:ext cx="11057839" cy="548640"/>
          </a:xfrm>
          <a:prstGeom prst="rect">
            <a:avLst/>
          </a:prstGeom>
          <a:noFill/>
        </p:spPr>
        <p:txBody>
          <a:bodyPr wrap="square" anchor="ctr" lIns="0" rIns="0" tIns="0" bIns="0">
            <a:spAutoFit/>
          </a:bodyPr>
          <a:lstStyle/>
          <a:p>
            <a:pPr algn="ctr">
              <a:lnSpc>
                <a:spcPct val="120000"/>
              </a:lnSpc>
              <a:spcBef>
                <a:spcPts val="0"/>
              </a:spcBef>
              <a:spcAft>
                <a:spcPts val="200"/>
              </a:spcAft>
            </a:pPr>
            <a:r>
              <a:rPr sz="1200" b="0" i="1">
                <a:solidFill>
                  <a:srgbClr val="6B777C"/>
                </a:solidFill>
                <a:latin typeface="Segoe UI"/>
              </a:rPr>
              <a:t>Raw signals flow left-to-right, gaining structure and value at each stage — the same backbone the Databricks Lakehouse implements as </a:t>
            </a:r>
            <a:r>
              <a:rPr sz="1200" b="1" i="1">
                <a:solidFill>
                  <a:srgbClr val="FF3621"/>
                </a:solidFill>
                <a:latin typeface="Segoe UI"/>
              </a:rPr>
              <a:t>one unified platform.</a:t>
            </a:r>
          </a:p>
        </p:txBody>
      </p:sp>
      <p:sp>
        <p:nvSpPr>
          <p:cNvPr id="53" name="TextBox 52"/>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4" name="TextBox 53"/>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BIG DATA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Big Data in the Real World</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1828800"/>
            <a:ext cx="91440" cy="1929384"/>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740664" y="1975104"/>
            <a:ext cx="658368" cy="658368"/>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Diamond 9"/>
          <p:cNvSpPr/>
          <p:nvPr/>
        </p:nvSpPr>
        <p:spPr>
          <a:xfrm>
            <a:off x="930537" y="2152863"/>
            <a:ext cx="278621" cy="302849"/>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49961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Financial Services</a:t>
            </a:r>
          </a:p>
        </p:txBody>
      </p:sp>
      <p:sp>
        <p:nvSpPr>
          <p:cNvPr id="12" name="TextBox 11"/>
          <p:cNvSpPr txBox="1"/>
          <p:nvPr/>
        </p:nvSpPr>
        <p:spPr>
          <a:xfrm>
            <a:off x="841247"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Real-time fraud detection, risk modelling &amp; algorithmic trading on streaming transactions.</a:t>
            </a:r>
          </a:p>
        </p:txBody>
      </p:sp>
      <p:sp>
        <p:nvSpPr>
          <p:cNvPr id="13" name="Rounded Rectangle 12"/>
          <p:cNvSpPr/>
          <p:nvPr/>
        </p:nvSpPr>
        <p:spPr>
          <a:xfrm>
            <a:off x="433821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338218" y="1828800"/>
            <a:ext cx="91440" cy="1929384"/>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511954" y="1975104"/>
            <a:ext cx="658368" cy="658368"/>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789654" y="2252803"/>
            <a:ext cx="102968" cy="1029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7" name="Connector 16"/>
          <p:cNvCxnSpPr/>
          <p:nvPr/>
        </p:nvCxnSpPr>
        <p:spPr>
          <a:xfrm flipH="1" flipV="1">
            <a:off x="4713941" y="2213433"/>
            <a:ext cx="127197" cy="90855"/>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680628" y="2180119"/>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9" name="Connector 18"/>
          <p:cNvCxnSpPr/>
          <p:nvPr/>
        </p:nvCxnSpPr>
        <p:spPr>
          <a:xfrm flipV="1">
            <a:off x="4841138" y="2213433"/>
            <a:ext cx="127197" cy="90855"/>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935021" y="2180119"/>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1" name="Connector 20"/>
          <p:cNvCxnSpPr/>
          <p:nvPr/>
        </p:nvCxnSpPr>
        <p:spPr>
          <a:xfrm>
            <a:off x="4841138" y="2304288"/>
            <a:ext cx="0" cy="133253"/>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807824" y="2404228"/>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27090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Healthcare &amp; Life Sciences</a:t>
            </a:r>
          </a:p>
        </p:txBody>
      </p:sp>
      <p:sp>
        <p:nvSpPr>
          <p:cNvPr id="24" name="TextBox 23"/>
          <p:cNvSpPr txBox="1"/>
          <p:nvPr/>
        </p:nvSpPr>
        <p:spPr>
          <a:xfrm>
            <a:off x="461253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Genomics at scale, medical imaging AI and predictive patient diagnostics.</a:t>
            </a:r>
          </a:p>
        </p:txBody>
      </p:sp>
      <p:sp>
        <p:nvSpPr>
          <p:cNvPr id="25" name="Rounded Rectangle 24"/>
          <p:cNvSpPr/>
          <p:nvPr/>
        </p:nvSpPr>
        <p:spPr>
          <a:xfrm>
            <a:off x="810950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8109508" y="1828800"/>
            <a:ext cx="91440" cy="1929384"/>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8283244" y="1975104"/>
            <a:ext cx="658368" cy="65836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8485232" y="2304288"/>
            <a:ext cx="60569" cy="151424"/>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8582143" y="2219490"/>
            <a:ext cx="60569" cy="236222"/>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8679055" y="2152863"/>
            <a:ext cx="60569" cy="30284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04219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Retail &amp; E-Commerce</a:t>
            </a:r>
          </a:p>
        </p:txBody>
      </p:sp>
      <p:sp>
        <p:nvSpPr>
          <p:cNvPr id="32" name="TextBox 31"/>
          <p:cNvSpPr txBox="1"/>
          <p:nvPr/>
        </p:nvSpPr>
        <p:spPr>
          <a:xfrm>
            <a:off x="838382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Personalized recommendations, demand forecasting &amp; dynamic pricing.</a:t>
            </a:r>
          </a:p>
        </p:txBody>
      </p:sp>
      <p:sp>
        <p:nvSpPr>
          <p:cNvPr id="33" name="Rounded Rectangle 32"/>
          <p:cNvSpPr/>
          <p:nvPr/>
        </p:nvSpPr>
        <p:spPr>
          <a:xfrm>
            <a:off x="56692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566928" y="4014215"/>
            <a:ext cx="91440" cy="192938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740664" y="4160520"/>
            <a:ext cx="658368" cy="658368"/>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Gear 6 35"/>
          <p:cNvSpPr/>
          <p:nvPr/>
        </p:nvSpPr>
        <p:spPr>
          <a:xfrm>
            <a:off x="918423" y="4338279"/>
            <a:ext cx="302849" cy="302849"/>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49961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Manufacturing</a:t>
            </a:r>
          </a:p>
        </p:txBody>
      </p:sp>
      <p:sp>
        <p:nvSpPr>
          <p:cNvPr id="38" name="TextBox 37"/>
          <p:cNvSpPr txBox="1"/>
          <p:nvPr/>
        </p:nvSpPr>
        <p:spPr>
          <a:xfrm>
            <a:off x="841247"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Predictive maintenance and IoT sensor analytics across the factory floor.</a:t>
            </a:r>
          </a:p>
        </p:txBody>
      </p:sp>
      <p:sp>
        <p:nvSpPr>
          <p:cNvPr id="39" name="Rounded Rectangle 38"/>
          <p:cNvSpPr/>
          <p:nvPr/>
        </p:nvSpPr>
        <p:spPr>
          <a:xfrm>
            <a:off x="433821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4338218" y="4014215"/>
            <a:ext cx="91440" cy="1929384"/>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4511954" y="4160520"/>
            <a:ext cx="658368" cy="65836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4701827" y="4350393"/>
            <a:ext cx="278621" cy="278621"/>
          </a:xfrm>
          <a:prstGeom prst="ellipse">
            <a:avLst/>
          </a:prstGeom>
          <a:noFill/>
          <a:ln w="33649">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4786625" y="4350393"/>
            <a:ext cx="109025" cy="278621"/>
          </a:xfrm>
          <a:prstGeom prst="ellipse">
            <a:avLst/>
          </a:prstGeom>
          <a:noFill/>
          <a:ln w="25237">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4701827" y="4480618"/>
            <a:ext cx="278621" cy="181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27090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Telecom &amp; Media</a:t>
            </a:r>
          </a:p>
        </p:txBody>
      </p:sp>
      <p:sp>
        <p:nvSpPr>
          <p:cNvPr id="46" name="TextBox 45"/>
          <p:cNvSpPr txBox="1"/>
          <p:nvPr/>
        </p:nvSpPr>
        <p:spPr>
          <a:xfrm>
            <a:off x="461253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Network optimization, churn prediction and content recommendation.</a:t>
            </a:r>
          </a:p>
        </p:txBody>
      </p:sp>
      <p:sp>
        <p:nvSpPr>
          <p:cNvPr id="47" name="Rounded Rectangle 46"/>
          <p:cNvSpPr/>
          <p:nvPr/>
        </p:nvSpPr>
        <p:spPr>
          <a:xfrm>
            <a:off x="810950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8109508" y="4014215"/>
            <a:ext cx="91440" cy="192938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Oval 48"/>
          <p:cNvSpPr/>
          <p:nvPr/>
        </p:nvSpPr>
        <p:spPr>
          <a:xfrm>
            <a:off x="8283244" y="4160520"/>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Lightning Bolt 49"/>
          <p:cNvSpPr/>
          <p:nvPr/>
        </p:nvSpPr>
        <p:spPr>
          <a:xfrm>
            <a:off x="8506431" y="4338279"/>
            <a:ext cx="211994" cy="302849"/>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904219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Energy &amp; Mobility</a:t>
            </a:r>
          </a:p>
        </p:txBody>
      </p:sp>
      <p:sp>
        <p:nvSpPr>
          <p:cNvPr id="52" name="TextBox 51"/>
          <p:cNvSpPr txBox="1"/>
          <p:nvPr/>
        </p:nvSpPr>
        <p:spPr>
          <a:xfrm>
            <a:off x="838382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Smart-grid balancing, fleet telematics and autonomous-vehicle data.</a:t>
            </a:r>
          </a:p>
        </p:txBody>
      </p:sp>
      <p:sp>
        <p:nvSpPr>
          <p:cNvPr id="53" name="TextBox 52"/>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4" name="TextBox 53"/>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1463040"/>
            <a:ext cx="5486400" cy="2194560"/>
          </a:xfrm>
          <a:prstGeom prst="rect">
            <a:avLst/>
          </a:prstGeom>
          <a:noFill/>
        </p:spPr>
        <p:txBody>
          <a:bodyPr wrap="square" anchor="t" lIns="0" rIns="0" tIns="0" bIns="0">
            <a:spAutoFit/>
          </a:bodyPr>
          <a:lstStyle/>
          <a:p>
            <a:pPr algn="l">
              <a:lnSpc>
                <a:spcPct val="100000"/>
              </a:lnSpc>
              <a:spcBef>
                <a:spcPts val="0"/>
              </a:spcBef>
              <a:spcAft>
                <a:spcPts val="200"/>
              </a:spcAft>
            </a:pPr>
            <a:r>
              <a:rPr sz="20000" b="1" i="0">
                <a:solidFill>
                  <a:srgbClr val="27444F"/>
                </a:solidFill>
                <a:latin typeface="Segoe UI Light"/>
              </a:rPr>
              <a:t>02</a:t>
            </a:r>
          </a:p>
        </p:txBody>
      </p:sp>
      <p:sp>
        <p:nvSpPr>
          <p:cNvPr id="9" name="Rounded Rectangle 8"/>
          <p:cNvSpPr/>
          <p:nvPr/>
        </p:nvSpPr>
        <p:spPr>
          <a:xfrm>
            <a:off x="612648" y="3310128"/>
            <a:ext cx="777240" cy="914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12648" y="2743200"/>
            <a:ext cx="7315200" cy="36576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F3621"/>
                </a:solidFill>
                <a:latin typeface="Segoe UI Semibold"/>
              </a:rPr>
              <a:t>SECTION TWO</a:t>
            </a:r>
          </a:p>
        </p:txBody>
      </p:sp>
      <p:sp>
        <p:nvSpPr>
          <p:cNvPr id="11" name="TextBox 10"/>
          <p:cNvSpPr txBox="1"/>
          <p:nvPr/>
        </p:nvSpPr>
        <p:spPr>
          <a:xfrm>
            <a:off x="566928" y="3456432"/>
            <a:ext cx="7680960" cy="1097280"/>
          </a:xfrm>
          <a:prstGeom prst="rect">
            <a:avLst/>
          </a:prstGeom>
          <a:noFill/>
        </p:spPr>
        <p:txBody>
          <a:bodyPr wrap="square" anchor="t" lIns="0" rIns="0" tIns="0" bIns="0">
            <a:spAutoFit/>
          </a:bodyPr>
          <a:lstStyle/>
          <a:p>
            <a:pPr algn="l">
              <a:lnSpc>
                <a:spcPct val="98000"/>
              </a:lnSpc>
              <a:spcBef>
                <a:spcPts val="0"/>
              </a:spcBef>
              <a:spcAft>
                <a:spcPts val="200"/>
              </a:spcAft>
            </a:pPr>
            <a:r>
              <a:rPr sz="4000" b="1" i="0">
                <a:solidFill>
                  <a:srgbClr val="FFFFFF"/>
                </a:solidFill>
                <a:latin typeface="Segoe UI"/>
              </a:rPr>
              <a:t>Introduction to Databricks</a:t>
            </a:r>
          </a:p>
        </p:txBody>
      </p:sp>
      <p:sp>
        <p:nvSpPr>
          <p:cNvPr id="12" name="TextBox 11"/>
          <p:cNvSpPr txBox="1"/>
          <p:nvPr/>
        </p:nvSpPr>
        <p:spPr>
          <a:xfrm>
            <a:off x="612648" y="4754880"/>
            <a:ext cx="6949440" cy="1463040"/>
          </a:xfrm>
          <a:prstGeom prst="rect">
            <a:avLst/>
          </a:prstGeom>
          <a:noFill/>
        </p:spPr>
        <p:txBody>
          <a:bodyPr wrap="square" anchor="t" lIns="0" rIns="0" tIns="0" bIns="0">
            <a:spAutoFit/>
          </a:bodyPr>
          <a:lstStyle/>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What &amp; why Databricks · the evolution</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The Lakehouse concept &amp; unified platform</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Core components &amp; enterprise benefits</a:t>
            </a:r>
          </a:p>
        </p:txBody>
      </p:sp>
      <p:sp>
        <p:nvSpPr>
          <p:cNvPr id="13" name="Oval 12"/>
          <p:cNvSpPr/>
          <p:nvPr/>
        </p:nvSpPr>
        <p:spPr>
          <a:xfrm>
            <a:off x="8641080" y="2423160"/>
            <a:ext cx="2286000" cy="2286000"/>
          </a:xfrm>
          <a:prstGeom prst="ellipse">
            <a:avLst/>
          </a:prstGeom>
          <a:solidFill>
            <a:srgbClr val="FF3621"/>
          </a:solidFill>
          <a:ln w="15240">
            <a:solidFill>
              <a:srgbClr val="FF8A78"/>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Lightning Bolt 13"/>
          <p:cNvSpPr/>
          <p:nvPr/>
        </p:nvSpPr>
        <p:spPr>
          <a:xfrm>
            <a:off x="9416034" y="3040379"/>
            <a:ext cx="736092" cy="1051560"/>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7E9199"/>
                </a:solidFill>
                <a:latin typeface="Segoe UI"/>
              </a:rPr>
              <a:t>Big Data &amp; Databricks  ·  Enterprise Training Series</a:t>
            </a:r>
          </a:p>
        </p:txBody>
      </p:sp>
      <p:sp>
        <p:nvSpPr>
          <p:cNvPr id="16" name="TextBox 1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7E9199"/>
                </a:solidFill>
                <a:latin typeface="Segoe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INTRODUCTION TO DATABRICKS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What Is Databricks?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28800"/>
            <a:ext cx="6492240" cy="228600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32688" y="2066543"/>
            <a:ext cx="585216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6B57"/>
                </a:solidFill>
                <a:latin typeface="Segoe UI Semibold"/>
              </a:rPr>
              <a:t>DEFINITION</a:t>
            </a:r>
          </a:p>
        </p:txBody>
      </p:sp>
      <p:sp>
        <p:nvSpPr>
          <p:cNvPr id="9" name="TextBox 8"/>
          <p:cNvSpPr txBox="1"/>
          <p:nvPr/>
        </p:nvSpPr>
        <p:spPr>
          <a:xfrm>
            <a:off x="932688" y="2377440"/>
            <a:ext cx="5852160" cy="1737360"/>
          </a:xfrm>
          <a:prstGeom prst="rect">
            <a:avLst/>
          </a:prstGeom>
          <a:noFill/>
        </p:spPr>
        <p:txBody>
          <a:bodyPr wrap="square" anchor="t" lIns="0" rIns="0" tIns="0" bIns="0">
            <a:spAutoFit/>
          </a:bodyPr>
          <a:lstStyle/>
          <a:p>
            <a:pPr algn="l">
              <a:lnSpc>
                <a:spcPct val="132000"/>
              </a:lnSpc>
              <a:spcBef>
                <a:spcPts val="0"/>
              </a:spcBef>
              <a:spcAft>
                <a:spcPts val="200"/>
              </a:spcAft>
            </a:pPr>
            <a:r>
              <a:rPr sz="1500" b="0" i="0">
                <a:solidFill>
                  <a:srgbClr val="FFFFFF"/>
                </a:solidFill>
                <a:latin typeface="Segoe UI"/>
              </a:rPr>
              <a:t>Databricks is a unified </a:t>
            </a:r>
            <a:r>
              <a:rPr sz="1500" b="1" i="0">
                <a:solidFill>
                  <a:srgbClr val="FF6B57"/>
                </a:solidFill>
                <a:latin typeface="Segoe UI"/>
              </a:rPr>
              <a:t>Lakehouse platform</a:t>
            </a:r>
            <a:r>
              <a:rPr sz="1500" b="0" i="0">
                <a:solidFill>
                  <a:srgbClr val="FFFFFF"/>
                </a:solidFill>
                <a:latin typeface="Segoe UI"/>
              </a:rPr>
              <a:t> that combines data engineering, data warehousing, data science, analytics, AI and machine learning in a single collaborative environment — built on open standards and powered by </a:t>
            </a:r>
            <a:r>
              <a:rPr sz="1500" b="1" i="0">
                <a:solidFill>
                  <a:srgbClr val="FF6B57"/>
                </a:solidFill>
                <a:latin typeface="Segoe UI"/>
              </a:rPr>
              <a:t>Apache Spark and Delta Lake.</a:t>
            </a:r>
          </a:p>
        </p:txBody>
      </p:sp>
      <p:sp>
        <p:nvSpPr>
          <p:cNvPr id="10" name="Rounded Rectangle 9"/>
          <p:cNvSpPr/>
          <p:nvPr/>
        </p:nvSpPr>
        <p:spPr>
          <a:xfrm>
            <a:off x="7424927" y="1828800"/>
            <a:ext cx="4199839" cy="5029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0375" y="1851660"/>
            <a:ext cx="457200" cy="457200"/>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Lightning Bolt 11"/>
          <p:cNvSpPr/>
          <p:nvPr/>
        </p:nvSpPr>
        <p:spPr>
          <a:xfrm>
            <a:off x="7735366" y="1975103"/>
            <a:ext cx="147218" cy="210312"/>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156448" y="1892807"/>
            <a:ext cx="3331159" cy="237744"/>
          </a:xfrm>
          <a:prstGeom prst="rect">
            <a:avLst/>
          </a:prstGeom>
          <a:noFill/>
        </p:spPr>
        <p:txBody>
          <a:bodyPr wrap="square" anchor="t" lIns="0" rIns="0" tIns="0" bIns="0">
            <a:spAutoFit/>
          </a:bodyPr>
          <a:lstStyle/>
          <a:p>
            <a:pPr algn="l">
              <a:lnSpc>
                <a:spcPct val="100000"/>
              </a:lnSpc>
              <a:spcBef>
                <a:spcPts val="0"/>
              </a:spcBef>
              <a:spcAft>
                <a:spcPts val="200"/>
              </a:spcAft>
            </a:pPr>
            <a:r>
              <a:rPr sz="1200" b="1" i="0">
                <a:solidFill>
                  <a:srgbClr val="1B3139"/>
                </a:solidFill>
                <a:latin typeface="Segoe UI"/>
              </a:rPr>
              <a:t>Born from Spark</a:t>
            </a:r>
          </a:p>
        </p:txBody>
      </p:sp>
      <p:sp>
        <p:nvSpPr>
          <p:cNvPr id="14" name="TextBox 13"/>
          <p:cNvSpPr txBox="1"/>
          <p:nvPr/>
        </p:nvSpPr>
        <p:spPr>
          <a:xfrm>
            <a:off x="8156448" y="2112264"/>
            <a:ext cx="3331159" cy="219456"/>
          </a:xfrm>
          <a:prstGeom prst="rect">
            <a:avLst/>
          </a:prstGeom>
          <a:noFill/>
        </p:spPr>
        <p:txBody>
          <a:bodyPr wrap="square" anchor="t" lIns="0" rIns="0" tIns="0" bIns="0">
            <a:spAutoFit/>
          </a:bodyPr>
          <a:lstStyle/>
          <a:p>
            <a:pPr algn="l">
              <a:lnSpc>
                <a:spcPct val="100000"/>
              </a:lnSpc>
              <a:spcBef>
                <a:spcPts val="0"/>
              </a:spcBef>
              <a:spcAft>
                <a:spcPts val="200"/>
              </a:spcAft>
            </a:pPr>
            <a:r>
              <a:rPr sz="930" b="0" i="0">
                <a:solidFill>
                  <a:srgbClr val="6B777C"/>
                </a:solidFill>
                <a:latin typeface="Segoe UI"/>
              </a:rPr>
              <a:t>Founded 2013 by the creators of Apache Spark.</a:t>
            </a:r>
          </a:p>
        </p:txBody>
      </p:sp>
      <p:sp>
        <p:nvSpPr>
          <p:cNvPr id="15" name="Rounded Rectangle 14"/>
          <p:cNvSpPr/>
          <p:nvPr/>
        </p:nvSpPr>
        <p:spPr>
          <a:xfrm>
            <a:off x="7424927" y="2423160"/>
            <a:ext cx="4199839" cy="5029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0375" y="2446020"/>
            <a:ext cx="457200" cy="457200"/>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Cloud 16"/>
          <p:cNvSpPr/>
          <p:nvPr/>
        </p:nvSpPr>
        <p:spPr>
          <a:xfrm>
            <a:off x="7688046" y="2585237"/>
            <a:ext cx="241858" cy="178765"/>
          </a:xfrm>
          <a:prstGeom prst="clou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156448" y="2487168"/>
            <a:ext cx="3331159" cy="237744"/>
          </a:xfrm>
          <a:prstGeom prst="rect">
            <a:avLst/>
          </a:prstGeom>
          <a:noFill/>
        </p:spPr>
        <p:txBody>
          <a:bodyPr wrap="square" anchor="t" lIns="0" rIns="0" tIns="0" bIns="0">
            <a:spAutoFit/>
          </a:bodyPr>
          <a:lstStyle/>
          <a:p>
            <a:pPr algn="l">
              <a:lnSpc>
                <a:spcPct val="100000"/>
              </a:lnSpc>
              <a:spcBef>
                <a:spcPts val="0"/>
              </a:spcBef>
              <a:spcAft>
                <a:spcPts val="200"/>
              </a:spcAft>
            </a:pPr>
            <a:r>
              <a:rPr sz="1200" b="1" i="0">
                <a:solidFill>
                  <a:srgbClr val="1B3139"/>
                </a:solidFill>
                <a:latin typeface="Segoe UI"/>
              </a:rPr>
              <a:t>Multi-Cloud</a:t>
            </a:r>
          </a:p>
        </p:txBody>
      </p:sp>
      <p:sp>
        <p:nvSpPr>
          <p:cNvPr id="19" name="TextBox 18"/>
          <p:cNvSpPr txBox="1"/>
          <p:nvPr/>
        </p:nvSpPr>
        <p:spPr>
          <a:xfrm>
            <a:off x="8156448" y="2706624"/>
            <a:ext cx="3331159" cy="219456"/>
          </a:xfrm>
          <a:prstGeom prst="rect">
            <a:avLst/>
          </a:prstGeom>
          <a:noFill/>
        </p:spPr>
        <p:txBody>
          <a:bodyPr wrap="square" anchor="t" lIns="0" rIns="0" tIns="0" bIns="0">
            <a:spAutoFit/>
          </a:bodyPr>
          <a:lstStyle/>
          <a:p>
            <a:pPr algn="l">
              <a:lnSpc>
                <a:spcPct val="100000"/>
              </a:lnSpc>
              <a:spcBef>
                <a:spcPts val="0"/>
              </a:spcBef>
              <a:spcAft>
                <a:spcPts val="200"/>
              </a:spcAft>
            </a:pPr>
            <a:r>
              <a:rPr sz="930" b="0" i="0">
                <a:solidFill>
                  <a:srgbClr val="6B777C"/>
                </a:solidFill>
                <a:latin typeface="Segoe UI"/>
              </a:rPr>
              <a:t>Runs natively on AWS, Azure and Google Cloud.</a:t>
            </a:r>
          </a:p>
        </p:txBody>
      </p:sp>
      <p:sp>
        <p:nvSpPr>
          <p:cNvPr id="20" name="Rounded Rectangle 19"/>
          <p:cNvSpPr/>
          <p:nvPr/>
        </p:nvSpPr>
        <p:spPr>
          <a:xfrm>
            <a:off x="7424927" y="3017520"/>
            <a:ext cx="4199839" cy="5029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7580375" y="3040379"/>
            <a:ext cx="457200" cy="457200"/>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Hexagon 21"/>
          <p:cNvSpPr/>
          <p:nvPr/>
        </p:nvSpPr>
        <p:spPr>
          <a:xfrm>
            <a:off x="7703819" y="3174339"/>
            <a:ext cx="210312" cy="189280"/>
          </a:xfrm>
          <a:prstGeom prst="hexag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156448" y="3081527"/>
            <a:ext cx="3331159" cy="237744"/>
          </a:xfrm>
          <a:prstGeom prst="rect">
            <a:avLst/>
          </a:prstGeom>
          <a:noFill/>
        </p:spPr>
        <p:txBody>
          <a:bodyPr wrap="square" anchor="t" lIns="0" rIns="0" tIns="0" bIns="0">
            <a:spAutoFit/>
          </a:bodyPr>
          <a:lstStyle/>
          <a:p>
            <a:pPr algn="l">
              <a:lnSpc>
                <a:spcPct val="100000"/>
              </a:lnSpc>
              <a:spcBef>
                <a:spcPts val="0"/>
              </a:spcBef>
              <a:spcAft>
                <a:spcPts val="200"/>
              </a:spcAft>
            </a:pPr>
            <a:r>
              <a:rPr sz="1200" b="1" i="0">
                <a:solidFill>
                  <a:srgbClr val="1B3139"/>
                </a:solidFill>
                <a:latin typeface="Segoe UI"/>
              </a:rPr>
              <a:t>Open-Source Roots</a:t>
            </a:r>
          </a:p>
        </p:txBody>
      </p:sp>
      <p:sp>
        <p:nvSpPr>
          <p:cNvPr id="24" name="TextBox 23"/>
          <p:cNvSpPr txBox="1"/>
          <p:nvPr/>
        </p:nvSpPr>
        <p:spPr>
          <a:xfrm>
            <a:off x="8156448" y="3300984"/>
            <a:ext cx="3331159" cy="219456"/>
          </a:xfrm>
          <a:prstGeom prst="rect">
            <a:avLst/>
          </a:prstGeom>
          <a:noFill/>
        </p:spPr>
        <p:txBody>
          <a:bodyPr wrap="square" anchor="t" lIns="0" rIns="0" tIns="0" bIns="0">
            <a:spAutoFit/>
          </a:bodyPr>
          <a:lstStyle/>
          <a:p>
            <a:pPr algn="l">
              <a:lnSpc>
                <a:spcPct val="100000"/>
              </a:lnSpc>
              <a:spcBef>
                <a:spcPts val="0"/>
              </a:spcBef>
              <a:spcAft>
                <a:spcPts val="200"/>
              </a:spcAft>
            </a:pPr>
            <a:r>
              <a:rPr sz="930" b="0" i="0">
                <a:solidFill>
                  <a:srgbClr val="6B777C"/>
                </a:solidFill>
                <a:latin typeface="Segoe UI"/>
              </a:rPr>
              <a:t>Created Spark, Delta Lake, MLflow &amp; Unity Catalog.</a:t>
            </a:r>
          </a:p>
        </p:txBody>
      </p:sp>
      <p:sp>
        <p:nvSpPr>
          <p:cNvPr id="25" name="Rounded Rectangle 24"/>
          <p:cNvSpPr/>
          <p:nvPr/>
        </p:nvSpPr>
        <p:spPr>
          <a:xfrm>
            <a:off x="7424927" y="3611880"/>
            <a:ext cx="4199839" cy="5029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7580375" y="3634740"/>
            <a:ext cx="457200" cy="457200"/>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7766913" y="3775008"/>
            <a:ext cx="84124" cy="841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7737469" y="3871752"/>
            <a:ext cx="143012" cy="88331"/>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156448" y="3675888"/>
            <a:ext cx="3331159" cy="237744"/>
          </a:xfrm>
          <a:prstGeom prst="rect">
            <a:avLst/>
          </a:prstGeom>
          <a:noFill/>
        </p:spPr>
        <p:txBody>
          <a:bodyPr wrap="square" anchor="t" lIns="0" rIns="0" tIns="0" bIns="0">
            <a:spAutoFit/>
          </a:bodyPr>
          <a:lstStyle/>
          <a:p>
            <a:pPr algn="l">
              <a:lnSpc>
                <a:spcPct val="100000"/>
              </a:lnSpc>
              <a:spcBef>
                <a:spcPts val="0"/>
              </a:spcBef>
              <a:spcAft>
                <a:spcPts val="200"/>
              </a:spcAft>
            </a:pPr>
            <a:r>
              <a:rPr sz="1200" b="1" i="0">
                <a:solidFill>
                  <a:srgbClr val="1B3139"/>
                </a:solidFill>
                <a:latin typeface="Segoe UI"/>
              </a:rPr>
              <a:t>One Platform</a:t>
            </a:r>
          </a:p>
        </p:txBody>
      </p:sp>
      <p:sp>
        <p:nvSpPr>
          <p:cNvPr id="30" name="TextBox 29"/>
          <p:cNvSpPr txBox="1"/>
          <p:nvPr/>
        </p:nvSpPr>
        <p:spPr>
          <a:xfrm>
            <a:off x="8156448" y="3895344"/>
            <a:ext cx="3331159" cy="219456"/>
          </a:xfrm>
          <a:prstGeom prst="rect">
            <a:avLst/>
          </a:prstGeom>
          <a:noFill/>
        </p:spPr>
        <p:txBody>
          <a:bodyPr wrap="square" anchor="t" lIns="0" rIns="0" tIns="0" bIns="0">
            <a:spAutoFit/>
          </a:bodyPr>
          <a:lstStyle/>
          <a:p>
            <a:pPr algn="l">
              <a:lnSpc>
                <a:spcPct val="100000"/>
              </a:lnSpc>
              <a:spcBef>
                <a:spcPts val="0"/>
              </a:spcBef>
              <a:spcAft>
                <a:spcPts val="200"/>
              </a:spcAft>
            </a:pPr>
            <a:r>
              <a:rPr sz="930" b="0" i="0">
                <a:solidFill>
                  <a:srgbClr val="6B777C"/>
                </a:solidFill>
                <a:latin typeface="Segoe UI"/>
              </a:rPr>
              <a:t>Every data persona in one governed workspace.</a:t>
            </a:r>
          </a:p>
        </p:txBody>
      </p:sp>
      <p:sp>
        <p:nvSpPr>
          <p:cNvPr id="31" name="Rounded Rectangle 30"/>
          <p:cNvSpPr/>
          <p:nvPr/>
        </p:nvSpPr>
        <p:spPr>
          <a:xfrm>
            <a:off x="566928" y="4343400"/>
            <a:ext cx="11057839" cy="169164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32688" y="4498848"/>
            <a:ext cx="10326319"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3621"/>
                </a:solidFill>
                <a:latin typeface="Segoe UI Semibold"/>
              </a:rPr>
              <a:t>WHY THE WORDING MATTERS</a:t>
            </a:r>
          </a:p>
        </p:txBody>
      </p:sp>
      <p:sp>
        <p:nvSpPr>
          <p:cNvPr id="33" name="TextBox 32"/>
          <p:cNvSpPr txBox="1"/>
          <p:nvPr/>
        </p:nvSpPr>
        <p:spPr>
          <a:xfrm>
            <a:off x="932688" y="4809744"/>
            <a:ext cx="5029200" cy="1097280"/>
          </a:xfrm>
          <a:prstGeom prst="rect">
            <a:avLst/>
          </a:prstGeom>
          <a:noFill/>
        </p:spPr>
        <p:txBody>
          <a:bodyPr wrap="square" anchor="t" lIns="0" rIns="0" tIns="0" bIns="0">
            <a:spAutoFit/>
          </a:bodyPr>
          <a:lstStyle/>
          <a:p>
            <a:pPr algn="l">
              <a:lnSpc>
                <a:spcPct val="120000"/>
              </a:lnSpc>
              <a:spcBef>
                <a:spcPts val="0"/>
              </a:spcBef>
              <a:spcAft>
                <a:spcPts val="200"/>
              </a:spcAft>
            </a:pPr>
            <a:r>
              <a:rPr sz="1250" b="1" i="0">
                <a:solidFill>
                  <a:srgbClr val="FF3621"/>
                </a:solidFill>
                <a:latin typeface="Segoe UI"/>
              </a:rPr>
              <a:t>Vague:  </a:t>
            </a:r>
            <a:r>
              <a:rPr sz="1250" b="0" i="1">
                <a:solidFill>
                  <a:srgbClr val="465257"/>
                </a:solidFill>
                <a:latin typeface="Segoe UI"/>
              </a:rPr>
              <a:t>“Databricks is a cloud platform used for analytics.”</a:t>
            </a:r>
          </a:p>
        </p:txBody>
      </p:sp>
      <p:sp>
        <p:nvSpPr>
          <p:cNvPr id="34" name="Rectangle 33"/>
          <p:cNvSpPr/>
          <p:nvPr/>
        </p:nvSpPr>
        <p:spPr>
          <a:xfrm>
            <a:off x="6236208" y="4572000"/>
            <a:ext cx="12801" cy="1280160"/>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556248" y="4718304"/>
            <a:ext cx="4572000" cy="1188720"/>
          </a:xfrm>
          <a:prstGeom prst="rect">
            <a:avLst/>
          </a:prstGeom>
          <a:noFill/>
        </p:spPr>
        <p:txBody>
          <a:bodyPr wrap="square" anchor="t" lIns="0" rIns="0" tIns="0" bIns="0">
            <a:spAutoFit/>
          </a:bodyPr>
          <a:lstStyle/>
          <a:p>
            <a:pPr algn="l">
              <a:lnSpc>
                <a:spcPct val="122000"/>
              </a:lnSpc>
              <a:spcBef>
                <a:spcPts val="0"/>
              </a:spcBef>
              <a:spcAft>
                <a:spcPts val="200"/>
              </a:spcAft>
            </a:pPr>
            <a:r>
              <a:rPr sz="1250" b="1" i="0">
                <a:solidFill>
                  <a:srgbClr val="057A55"/>
                </a:solidFill>
                <a:latin typeface="Segoe UI"/>
              </a:rPr>
              <a:t>Precise:  </a:t>
            </a:r>
            <a:r>
              <a:rPr sz="1250" b="0" i="1">
                <a:solidFill>
                  <a:srgbClr val="1B3139"/>
                </a:solidFill>
                <a:latin typeface="Segoe UI"/>
              </a:rPr>
              <a:t>“A unified Lakehouse uniting engineering, warehousing, science, AI &amp; ML on one collaborative, Spark-powered platform.”</a:t>
            </a:r>
          </a:p>
        </p:txBody>
      </p:sp>
      <p:sp>
        <p:nvSpPr>
          <p:cNvPr id="36" name="TextBox 3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37" name="TextBox 3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INTRODUCTION TO DATABRICKS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Why Databricks? The Problem It Solves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74519"/>
            <a:ext cx="4892040" cy="40233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874519"/>
            <a:ext cx="4892040" cy="640080"/>
          </a:xfrm>
          <a:prstGeom prst="rect">
            <a:avLst/>
          </a:prstGeom>
          <a:solidFill>
            <a:srgbClr val="9C2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86968" y="1874519"/>
            <a:ext cx="4297680"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FFFFFF"/>
                </a:solidFill>
                <a:latin typeface="Segoe UI Semibold"/>
              </a:rPr>
              <a:t>THE TRADITIONAL TWO-SYSTEM WORLD</a:t>
            </a:r>
          </a:p>
        </p:txBody>
      </p:sp>
      <p:sp>
        <p:nvSpPr>
          <p:cNvPr id="10" name="TextBox 9"/>
          <p:cNvSpPr txBox="1"/>
          <p:nvPr/>
        </p:nvSpPr>
        <p:spPr>
          <a:xfrm>
            <a:off x="886968" y="2697480"/>
            <a:ext cx="4297680" cy="3108960"/>
          </a:xfrm>
          <a:prstGeom prst="rect">
            <a:avLst/>
          </a:prstGeom>
          <a:noFill/>
        </p:spPr>
        <p:txBody>
          <a:bodyPr wrap="square" anchor="t" lIns="0" rIns="0" tIns="0" bIns="0">
            <a:spAutoFit/>
          </a:bodyPr>
          <a:lstStyle/>
          <a:p>
            <a:pPr marL="274320" indent="-274320">
              <a:lnSpc>
                <a:spcPct val="112000"/>
              </a:lnSpc>
              <a:spcBef>
                <a:spcPts val="0"/>
              </a:spcBef>
              <a:spcAft>
                <a:spcPts val="1150"/>
              </a:spcAft>
            </a:pPr>
            <a:r>
              <a:rPr sz="1250" b="1">
                <a:solidFill>
                  <a:srgbClr val="C42618"/>
                </a:solidFill>
                <a:latin typeface="Segoe UI"/>
              </a:rPr>
              <a:t>▪   </a:t>
            </a:r>
            <a:r>
              <a:rPr sz="1250">
                <a:solidFill>
                  <a:srgbClr val="465257"/>
                </a:solidFill>
                <a:latin typeface="Segoe UI"/>
              </a:rPr>
              <a:t>Separate data lake AND data warehouse to maintain</a:t>
            </a:r>
          </a:p>
          <a:p>
            <a:pPr marL="274320" indent="-274320">
              <a:lnSpc>
                <a:spcPct val="112000"/>
              </a:lnSpc>
              <a:spcBef>
                <a:spcPts val="0"/>
              </a:spcBef>
              <a:spcAft>
                <a:spcPts val="1150"/>
              </a:spcAft>
            </a:pPr>
            <a:r>
              <a:rPr sz="1250" b="1">
                <a:solidFill>
                  <a:srgbClr val="C42618"/>
                </a:solidFill>
                <a:latin typeface="Segoe UI"/>
              </a:rPr>
              <a:t>▪   </a:t>
            </a:r>
            <a:r>
              <a:rPr sz="1250">
                <a:solidFill>
                  <a:srgbClr val="465257"/>
                </a:solidFill>
                <a:latin typeface="Segoe UI"/>
              </a:rPr>
              <a:t>Constant, brittle copying of data between systems</a:t>
            </a:r>
          </a:p>
          <a:p>
            <a:pPr marL="274320" indent="-274320">
              <a:lnSpc>
                <a:spcPct val="112000"/>
              </a:lnSpc>
              <a:spcBef>
                <a:spcPts val="0"/>
              </a:spcBef>
              <a:spcAft>
                <a:spcPts val="1150"/>
              </a:spcAft>
            </a:pPr>
            <a:r>
              <a:rPr sz="1250" b="1">
                <a:solidFill>
                  <a:srgbClr val="C42618"/>
                </a:solidFill>
                <a:latin typeface="Segoe UI"/>
              </a:rPr>
              <a:t>▪   </a:t>
            </a:r>
            <a:r>
              <a:rPr sz="1250">
                <a:solidFill>
                  <a:srgbClr val="465257"/>
                </a:solidFill>
                <a:latin typeface="Segoe UI"/>
              </a:rPr>
              <a:t>Duplicated storage, stale copies, drifting definitions</a:t>
            </a:r>
          </a:p>
          <a:p>
            <a:pPr marL="274320" indent="-274320">
              <a:lnSpc>
                <a:spcPct val="112000"/>
              </a:lnSpc>
              <a:spcBef>
                <a:spcPts val="0"/>
              </a:spcBef>
              <a:spcAft>
                <a:spcPts val="1150"/>
              </a:spcAft>
            </a:pPr>
            <a:r>
              <a:rPr sz="1250" b="1">
                <a:solidFill>
                  <a:srgbClr val="C42618"/>
                </a:solidFill>
                <a:latin typeface="Segoe UI"/>
              </a:rPr>
              <a:t>▪   </a:t>
            </a:r>
            <a:r>
              <a:rPr sz="1250">
                <a:solidFill>
                  <a:srgbClr val="465257"/>
                </a:solidFill>
                <a:latin typeface="Segoe UI"/>
              </a:rPr>
              <a:t>Governance &amp; security bolted on per system</a:t>
            </a:r>
          </a:p>
          <a:p>
            <a:pPr marL="274320" indent="-274320">
              <a:lnSpc>
                <a:spcPct val="112000"/>
              </a:lnSpc>
              <a:spcBef>
                <a:spcPts val="0"/>
              </a:spcBef>
              <a:spcAft>
                <a:spcPts val="1150"/>
              </a:spcAft>
            </a:pPr>
            <a:r>
              <a:rPr sz="1250" b="1">
                <a:solidFill>
                  <a:srgbClr val="C42618"/>
                </a:solidFill>
                <a:latin typeface="Segoe UI"/>
              </a:rPr>
              <a:t>▪   </a:t>
            </a:r>
            <a:r>
              <a:rPr sz="1250">
                <a:solidFill>
                  <a:srgbClr val="465257"/>
                </a:solidFill>
                <a:latin typeface="Segoe UI"/>
              </a:rPr>
              <a:t>ML on the lake, BI on the warehouse — never together</a:t>
            </a:r>
          </a:p>
          <a:p>
            <a:pPr marL="274320" indent="-274320">
              <a:lnSpc>
                <a:spcPct val="112000"/>
              </a:lnSpc>
              <a:spcBef>
                <a:spcPts val="0"/>
              </a:spcBef>
              <a:spcAft>
                <a:spcPts val="1150"/>
              </a:spcAft>
            </a:pPr>
            <a:r>
              <a:rPr sz="1250" b="1">
                <a:solidFill>
                  <a:srgbClr val="C42618"/>
                </a:solidFill>
                <a:latin typeface="Segoe UI"/>
              </a:rPr>
              <a:t>▪   </a:t>
            </a:r>
            <a:r>
              <a:rPr sz="1250">
                <a:solidFill>
                  <a:srgbClr val="465257"/>
                </a:solidFill>
                <a:latin typeface="Segoe UI"/>
              </a:rPr>
              <a:t>High cost, high complexity, slow time-to-insight</a:t>
            </a:r>
          </a:p>
        </p:txBody>
      </p:sp>
      <p:sp>
        <p:nvSpPr>
          <p:cNvPr id="11" name="Right Arrow 10"/>
          <p:cNvSpPr/>
          <p:nvPr/>
        </p:nvSpPr>
        <p:spPr>
          <a:xfrm>
            <a:off x="5486400" y="3611880"/>
            <a:ext cx="914400" cy="640080"/>
          </a:xfrm>
          <a:prstGeom prst="rightArrow">
            <a:avLst>
              <a:gd name="adj1" fmla="val 50000"/>
              <a:gd name="adj2" fmla="val 6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20840" y="1874519"/>
            <a:ext cx="4892040" cy="402336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720840" y="1874519"/>
            <a:ext cx="4892040" cy="640080"/>
          </a:xfrm>
          <a:prstGeom prst="rect">
            <a:avLst/>
          </a:prstGeom>
          <a:solidFill>
            <a:srgbClr val="057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040880" y="1874519"/>
            <a:ext cx="4297680"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FFFFFF"/>
                </a:solidFill>
                <a:latin typeface="Segoe UI Semibold"/>
              </a:rPr>
              <a:t>THE DATABRICKS LAKEHOUSE ANSWER</a:t>
            </a:r>
          </a:p>
        </p:txBody>
      </p:sp>
      <p:sp>
        <p:nvSpPr>
          <p:cNvPr id="15" name="TextBox 14"/>
          <p:cNvSpPr txBox="1"/>
          <p:nvPr/>
        </p:nvSpPr>
        <p:spPr>
          <a:xfrm>
            <a:off x="7040880" y="2697480"/>
            <a:ext cx="4297680" cy="3108960"/>
          </a:xfrm>
          <a:prstGeom prst="rect">
            <a:avLst/>
          </a:prstGeom>
          <a:noFill/>
        </p:spPr>
        <p:txBody>
          <a:bodyPr wrap="square" anchor="t" lIns="0" rIns="0" tIns="0" bIns="0">
            <a:spAutoFit/>
          </a:bodyPr>
          <a:lstStyle/>
          <a:p>
            <a:pPr marL="274320" indent="-274320">
              <a:lnSpc>
                <a:spcPct val="112000"/>
              </a:lnSpc>
              <a:spcBef>
                <a:spcPts val="0"/>
              </a:spcBef>
              <a:spcAft>
                <a:spcPts val="1150"/>
              </a:spcAft>
            </a:pPr>
            <a:r>
              <a:rPr sz="1250" b="1">
                <a:solidFill>
                  <a:srgbClr val="00A972"/>
                </a:solidFill>
                <a:latin typeface="Segoe UI"/>
              </a:rPr>
              <a:t>▪   </a:t>
            </a:r>
            <a:r>
              <a:rPr sz="1250">
                <a:solidFill>
                  <a:srgbClr val="D6DEE1"/>
                </a:solidFill>
                <a:latin typeface="Segoe UI"/>
              </a:rPr>
              <a:t>One platform for ALL data, analytics &amp; AI</a:t>
            </a:r>
          </a:p>
          <a:p>
            <a:pPr marL="274320" indent="-274320">
              <a:lnSpc>
                <a:spcPct val="112000"/>
              </a:lnSpc>
              <a:spcBef>
                <a:spcPts val="0"/>
              </a:spcBef>
              <a:spcAft>
                <a:spcPts val="1150"/>
              </a:spcAft>
            </a:pPr>
            <a:r>
              <a:rPr sz="1250" b="1">
                <a:solidFill>
                  <a:srgbClr val="00A972"/>
                </a:solidFill>
                <a:latin typeface="Segoe UI"/>
              </a:rPr>
              <a:t>▪   </a:t>
            </a:r>
            <a:r>
              <a:rPr sz="1250">
                <a:solidFill>
                  <a:srgbClr val="D6DEE1"/>
                </a:solidFill>
                <a:latin typeface="Segoe UI"/>
              </a:rPr>
              <a:t>Open Delta Lake storage — single copy, no silos</a:t>
            </a:r>
          </a:p>
          <a:p>
            <a:pPr marL="274320" indent="-274320">
              <a:lnSpc>
                <a:spcPct val="112000"/>
              </a:lnSpc>
              <a:spcBef>
                <a:spcPts val="0"/>
              </a:spcBef>
              <a:spcAft>
                <a:spcPts val="1150"/>
              </a:spcAft>
            </a:pPr>
            <a:r>
              <a:rPr sz="1250" b="1">
                <a:solidFill>
                  <a:srgbClr val="00A972"/>
                </a:solidFill>
                <a:latin typeface="Segoe UI"/>
              </a:rPr>
              <a:t>▪   </a:t>
            </a:r>
            <a:r>
              <a:rPr sz="1250">
                <a:solidFill>
                  <a:srgbClr val="D6DEE1"/>
                </a:solidFill>
                <a:latin typeface="Segoe UI"/>
              </a:rPr>
              <a:t>ACID reliability directly on cheap cloud storage</a:t>
            </a:r>
          </a:p>
          <a:p>
            <a:pPr marL="274320" indent="-274320">
              <a:lnSpc>
                <a:spcPct val="112000"/>
              </a:lnSpc>
              <a:spcBef>
                <a:spcPts val="0"/>
              </a:spcBef>
              <a:spcAft>
                <a:spcPts val="1150"/>
              </a:spcAft>
            </a:pPr>
            <a:r>
              <a:rPr sz="1250" b="1">
                <a:solidFill>
                  <a:srgbClr val="00A972"/>
                </a:solidFill>
                <a:latin typeface="Segoe UI"/>
              </a:rPr>
              <a:t>▪   </a:t>
            </a:r>
            <a:r>
              <a:rPr sz="1250">
                <a:solidFill>
                  <a:srgbClr val="D6DEE1"/>
                </a:solidFill>
                <a:latin typeface="Segoe UI"/>
              </a:rPr>
              <a:t>Unity Catalog: one governance &amp; security model</a:t>
            </a:r>
          </a:p>
          <a:p>
            <a:pPr marL="274320" indent="-274320">
              <a:lnSpc>
                <a:spcPct val="112000"/>
              </a:lnSpc>
              <a:spcBef>
                <a:spcPts val="0"/>
              </a:spcBef>
              <a:spcAft>
                <a:spcPts val="1150"/>
              </a:spcAft>
            </a:pPr>
            <a:r>
              <a:rPr sz="1250" b="1">
                <a:solidFill>
                  <a:srgbClr val="00A972"/>
                </a:solidFill>
                <a:latin typeface="Segoe UI"/>
              </a:rPr>
              <a:t>▪   </a:t>
            </a:r>
            <a:r>
              <a:rPr sz="1250">
                <a:solidFill>
                  <a:srgbClr val="D6DEE1"/>
                </a:solidFill>
                <a:latin typeface="Segoe UI"/>
              </a:rPr>
              <a:t>BI, SQL, streaming &amp; ML on the same data</a:t>
            </a:r>
          </a:p>
          <a:p>
            <a:pPr marL="274320" indent="-274320">
              <a:lnSpc>
                <a:spcPct val="112000"/>
              </a:lnSpc>
              <a:spcBef>
                <a:spcPts val="0"/>
              </a:spcBef>
              <a:spcAft>
                <a:spcPts val="1150"/>
              </a:spcAft>
            </a:pPr>
            <a:r>
              <a:rPr sz="1250" b="1">
                <a:solidFill>
                  <a:srgbClr val="00A972"/>
                </a:solidFill>
                <a:latin typeface="Segoe UI"/>
              </a:rPr>
              <a:t>▪   </a:t>
            </a:r>
            <a:r>
              <a:rPr sz="1250">
                <a:solidFill>
                  <a:srgbClr val="D6DEE1"/>
                </a:solidFill>
                <a:latin typeface="Segoe UI"/>
              </a:rPr>
              <a:t>Lower cost, less complexity, faster insight</a:t>
            </a:r>
          </a:p>
        </p:txBody>
      </p:sp>
      <p:sp>
        <p:nvSpPr>
          <p:cNvPr id="16" name="TextBox 1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17" name="TextBox 1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INTRODUCTION TO DATABRICKS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Databricks Evolution</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49808" y="3732580"/>
            <a:ext cx="10692079" cy="32918"/>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1508041" y="3438144"/>
            <a:ext cx="10972" cy="1170432"/>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1010607" y="2267711"/>
            <a:ext cx="1005840" cy="310896"/>
          </a:xfrm>
          <a:prstGeom prst="roundRect">
            <a:avLst>
              <a:gd name="adj" fmla="val 50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2013</a:t>
            </a:r>
          </a:p>
        </p:txBody>
      </p:sp>
      <p:sp>
        <p:nvSpPr>
          <p:cNvPr id="10" name="TextBox 9"/>
          <p:cNvSpPr txBox="1"/>
          <p:nvPr/>
        </p:nvSpPr>
        <p:spPr>
          <a:xfrm>
            <a:off x="461967" y="2633471"/>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Founded</a:t>
            </a:r>
          </a:p>
        </p:txBody>
      </p:sp>
      <p:sp>
        <p:nvSpPr>
          <p:cNvPr id="11" name="TextBox 10"/>
          <p:cNvSpPr txBox="1"/>
          <p:nvPr/>
        </p:nvSpPr>
        <p:spPr>
          <a:xfrm>
            <a:off x="416247" y="2944368"/>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Creators of Spark commercialize the engine</a:t>
            </a:r>
          </a:p>
        </p:txBody>
      </p:sp>
      <p:sp>
        <p:nvSpPr>
          <p:cNvPr id="12" name="Oval 11"/>
          <p:cNvSpPr/>
          <p:nvPr/>
        </p:nvSpPr>
        <p:spPr>
          <a:xfrm>
            <a:off x="1412943" y="3648456"/>
            <a:ext cx="201168" cy="201168"/>
          </a:xfrm>
          <a:prstGeom prst="ellipse">
            <a:avLst/>
          </a:prstGeom>
          <a:solidFill>
            <a:srgbClr val="27444F"/>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035481" y="3749039"/>
            <a:ext cx="10972" cy="274320"/>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2538047" y="4059935"/>
            <a:ext cx="1005840" cy="310896"/>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2015</a:t>
            </a:r>
          </a:p>
        </p:txBody>
      </p:sp>
      <p:sp>
        <p:nvSpPr>
          <p:cNvPr id="15" name="TextBox 14"/>
          <p:cNvSpPr txBox="1"/>
          <p:nvPr/>
        </p:nvSpPr>
        <p:spPr>
          <a:xfrm>
            <a:off x="1989407" y="4443983"/>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Cloud Platform</a:t>
            </a:r>
          </a:p>
        </p:txBody>
      </p:sp>
      <p:sp>
        <p:nvSpPr>
          <p:cNvPr id="16" name="TextBox 15"/>
          <p:cNvSpPr txBox="1"/>
          <p:nvPr/>
        </p:nvSpPr>
        <p:spPr>
          <a:xfrm>
            <a:off x="1943687" y="4754879"/>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Managed Spark + collaborative notebooks</a:t>
            </a:r>
          </a:p>
        </p:txBody>
      </p:sp>
      <p:sp>
        <p:nvSpPr>
          <p:cNvPr id="17" name="Oval 16"/>
          <p:cNvSpPr/>
          <p:nvPr/>
        </p:nvSpPr>
        <p:spPr>
          <a:xfrm>
            <a:off x="2940383" y="3648456"/>
            <a:ext cx="201168" cy="201168"/>
          </a:xfrm>
          <a:prstGeom prst="ellipse">
            <a:avLst/>
          </a:prstGeom>
          <a:solidFill>
            <a:srgbClr val="2272B4"/>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562921" y="3438144"/>
            <a:ext cx="10972" cy="1170432"/>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4065487" y="2267711"/>
            <a:ext cx="1005840" cy="310896"/>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2019</a:t>
            </a:r>
          </a:p>
        </p:txBody>
      </p:sp>
      <p:sp>
        <p:nvSpPr>
          <p:cNvPr id="20" name="TextBox 19"/>
          <p:cNvSpPr txBox="1"/>
          <p:nvPr/>
        </p:nvSpPr>
        <p:spPr>
          <a:xfrm>
            <a:off x="3516847" y="2633471"/>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Delta Lake</a:t>
            </a:r>
          </a:p>
        </p:txBody>
      </p:sp>
      <p:sp>
        <p:nvSpPr>
          <p:cNvPr id="21" name="TextBox 20"/>
          <p:cNvSpPr txBox="1"/>
          <p:nvPr/>
        </p:nvSpPr>
        <p:spPr>
          <a:xfrm>
            <a:off x="3471127" y="2944368"/>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ACID reliability on the lake, open-sourced</a:t>
            </a:r>
          </a:p>
        </p:txBody>
      </p:sp>
      <p:sp>
        <p:nvSpPr>
          <p:cNvPr id="22" name="Oval 21"/>
          <p:cNvSpPr/>
          <p:nvPr/>
        </p:nvSpPr>
        <p:spPr>
          <a:xfrm>
            <a:off x="4467823" y="3648456"/>
            <a:ext cx="201168" cy="201168"/>
          </a:xfrm>
          <a:prstGeom prst="ellipse">
            <a:avLst/>
          </a:prstGeom>
          <a:solidFill>
            <a:srgbClr val="0E8C9C"/>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090361" y="3749039"/>
            <a:ext cx="10972" cy="274320"/>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5592927" y="4059935"/>
            <a:ext cx="1005840" cy="310896"/>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2020</a:t>
            </a:r>
          </a:p>
        </p:txBody>
      </p:sp>
      <p:sp>
        <p:nvSpPr>
          <p:cNvPr id="25" name="TextBox 24"/>
          <p:cNvSpPr txBox="1"/>
          <p:nvPr/>
        </p:nvSpPr>
        <p:spPr>
          <a:xfrm>
            <a:off x="5044287" y="4443983"/>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Lakehouse</a:t>
            </a:r>
          </a:p>
        </p:txBody>
      </p:sp>
      <p:sp>
        <p:nvSpPr>
          <p:cNvPr id="26" name="TextBox 25"/>
          <p:cNvSpPr txBox="1"/>
          <p:nvPr/>
        </p:nvSpPr>
        <p:spPr>
          <a:xfrm>
            <a:off x="4998567" y="4754879"/>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Lake + warehouse unified into one paradigm</a:t>
            </a:r>
          </a:p>
        </p:txBody>
      </p:sp>
      <p:sp>
        <p:nvSpPr>
          <p:cNvPr id="27" name="Oval 26"/>
          <p:cNvSpPr/>
          <p:nvPr/>
        </p:nvSpPr>
        <p:spPr>
          <a:xfrm>
            <a:off x="5995263" y="3648456"/>
            <a:ext cx="201168" cy="201168"/>
          </a:xfrm>
          <a:prstGeom prst="ellipse">
            <a:avLst/>
          </a:prstGeom>
          <a:solidFill>
            <a:srgbClr val="00A972"/>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7617801" y="3438144"/>
            <a:ext cx="10972" cy="1170432"/>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7120367" y="2267711"/>
            <a:ext cx="1005840" cy="310896"/>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2021</a:t>
            </a:r>
          </a:p>
        </p:txBody>
      </p:sp>
      <p:sp>
        <p:nvSpPr>
          <p:cNvPr id="30" name="TextBox 29"/>
          <p:cNvSpPr txBox="1"/>
          <p:nvPr/>
        </p:nvSpPr>
        <p:spPr>
          <a:xfrm>
            <a:off x="6571727" y="2633471"/>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Unity Catalog</a:t>
            </a:r>
          </a:p>
        </p:txBody>
      </p:sp>
      <p:sp>
        <p:nvSpPr>
          <p:cNvPr id="31" name="TextBox 30"/>
          <p:cNvSpPr txBox="1"/>
          <p:nvPr/>
        </p:nvSpPr>
        <p:spPr>
          <a:xfrm>
            <a:off x="6526007" y="2944368"/>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Unified governance &amp; lineage across clouds</a:t>
            </a:r>
          </a:p>
        </p:txBody>
      </p:sp>
      <p:sp>
        <p:nvSpPr>
          <p:cNvPr id="32" name="Oval 31"/>
          <p:cNvSpPr/>
          <p:nvPr/>
        </p:nvSpPr>
        <p:spPr>
          <a:xfrm>
            <a:off x="7522703" y="3648456"/>
            <a:ext cx="201168" cy="201168"/>
          </a:xfrm>
          <a:prstGeom prst="ellipse">
            <a:avLst/>
          </a:prstGeom>
          <a:solidFill>
            <a:srgbClr val="F59E0B"/>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9145240" y="3749039"/>
            <a:ext cx="10972" cy="274320"/>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8647807" y="4059935"/>
            <a:ext cx="1005840" cy="31089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2023</a:t>
            </a:r>
          </a:p>
        </p:txBody>
      </p:sp>
      <p:sp>
        <p:nvSpPr>
          <p:cNvPr id="35" name="TextBox 34"/>
          <p:cNvSpPr txBox="1"/>
          <p:nvPr/>
        </p:nvSpPr>
        <p:spPr>
          <a:xfrm>
            <a:off x="8099167" y="4443983"/>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Generative AI</a:t>
            </a:r>
          </a:p>
        </p:txBody>
      </p:sp>
      <p:sp>
        <p:nvSpPr>
          <p:cNvPr id="36" name="TextBox 35"/>
          <p:cNvSpPr txBox="1"/>
          <p:nvPr/>
        </p:nvSpPr>
        <p:spPr>
          <a:xfrm>
            <a:off x="8053447" y="4754879"/>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MosaicML; LLMs on governed enterprise data</a:t>
            </a:r>
          </a:p>
        </p:txBody>
      </p:sp>
      <p:sp>
        <p:nvSpPr>
          <p:cNvPr id="37" name="Oval 36"/>
          <p:cNvSpPr/>
          <p:nvPr/>
        </p:nvSpPr>
        <p:spPr>
          <a:xfrm>
            <a:off x="9050143" y="3648456"/>
            <a:ext cx="201168" cy="201168"/>
          </a:xfrm>
          <a:prstGeom prst="ellipse">
            <a:avLst/>
          </a:prstGeom>
          <a:solidFill>
            <a:srgbClr val="FF3621"/>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10672680" y="3438144"/>
            <a:ext cx="10972" cy="1170432"/>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10175247" y="2267711"/>
            <a:ext cx="1005840" cy="310896"/>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2024+</a:t>
            </a:r>
          </a:p>
        </p:txBody>
      </p:sp>
      <p:sp>
        <p:nvSpPr>
          <p:cNvPr id="40" name="TextBox 39"/>
          <p:cNvSpPr txBox="1"/>
          <p:nvPr/>
        </p:nvSpPr>
        <p:spPr>
          <a:xfrm>
            <a:off x="9626607" y="2633471"/>
            <a:ext cx="2103120" cy="310896"/>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Data Intelligence</a:t>
            </a:r>
          </a:p>
        </p:txBody>
      </p:sp>
      <p:sp>
        <p:nvSpPr>
          <p:cNvPr id="41" name="TextBox 40"/>
          <p:cNvSpPr txBox="1"/>
          <p:nvPr/>
        </p:nvSpPr>
        <p:spPr>
          <a:xfrm>
            <a:off x="9580887" y="2944368"/>
            <a:ext cx="2194560" cy="457200"/>
          </a:xfrm>
          <a:prstGeom prst="rect">
            <a:avLst/>
          </a:prstGeom>
          <a:noFill/>
        </p:spPr>
        <p:txBody>
          <a:bodyPr wrap="square" anchor="t" lIns="0" rIns="0" tIns="0" bIns="0">
            <a:spAutoFit/>
          </a:bodyPr>
          <a:lstStyle/>
          <a:p>
            <a:pPr algn="ctr">
              <a:lnSpc>
                <a:spcPct val="100000"/>
              </a:lnSpc>
              <a:spcBef>
                <a:spcPts val="0"/>
              </a:spcBef>
              <a:spcAft>
                <a:spcPts val="200"/>
              </a:spcAft>
            </a:pPr>
            <a:r>
              <a:rPr sz="930" b="0" i="0">
                <a:solidFill>
                  <a:srgbClr val="6B777C"/>
                </a:solidFill>
                <a:latin typeface="Segoe UI"/>
              </a:rPr>
              <a:t>Mosaic AI · Lakeflow · AI/BI Genie</a:t>
            </a:r>
          </a:p>
        </p:txBody>
      </p:sp>
      <p:sp>
        <p:nvSpPr>
          <p:cNvPr id="42" name="Oval 41"/>
          <p:cNvSpPr/>
          <p:nvPr/>
        </p:nvSpPr>
        <p:spPr>
          <a:xfrm>
            <a:off x="10577583" y="3648456"/>
            <a:ext cx="201168" cy="201168"/>
          </a:xfrm>
          <a:prstGeom prst="ellipse">
            <a:avLst/>
          </a:prstGeom>
          <a:solidFill>
            <a:srgbClr val="7C5CCF"/>
          </a:solidFill>
          <a:ln w="2794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66928" y="5943600"/>
            <a:ext cx="11057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200" b="0" i="1">
                <a:solidFill>
                  <a:srgbClr val="6B777C"/>
                </a:solidFill>
                <a:latin typeface="Segoe UI"/>
              </a:rPr>
              <a:t>From a faster engine, to reliable storage, to a unified platform, to a Data Intelligence Platform for the AI era.</a:t>
            </a:r>
          </a:p>
        </p:txBody>
      </p:sp>
      <p:sp>
        <p:nvSpPr>
          <p:cNvPr id="44" name="TextBox 43"/>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5" name="TextBox 44"/>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INTRODUCTION TO DATABRICKS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Lakehouse — Best of Both Worlds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74519"/>
            <a:ext cx="3520440" cy="35661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874519"/>
            <a:ext cx="3520440" cy="566928"/>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93185" y="2029327"/>
            <a:ext cx="99852"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1019921" y="2029327"/>
            <a:ext cx="99852"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146657" y="2029327"/>
            <a:ext cx="99852"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893185" y="2171425"/>
            <a:ext cx="99852"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019921" y="2171425"/>
            <a:ext cx="99852"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146657" y="2171425"/>
            <a:ext cx="99852"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435607" y="1874519"/>
            <a:ext cx="2606040" cy="566928"/>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FFFFFF"/>
                </a:solidFill>
                <a:latin typeface="Segoe UI"/>
              </a:rPr>
              <a:t>Data Warehouse</a:t>
            </a:r>
          </a:p>
        </p:txBody>
      </p:sp>
      <p:sp>
        <p:nvSpPr>
          <p:cNvPr id="16" name="TextBox 15"/>
          <p:cNvSpPr txBox="1"/>
          <p:nvPr/>
        </p:nvSpPr>
        <p:spPr>
          <a:xfrm>
            <a:off x="841247" y="2578608"/>
            <a:ext cx="2971800" cy="27432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057A55"/>
                </a:solidFill>
                <a:latin typeface="Segoe UI Semibold"/>
              </a:rPr>
              <a:t>STRENGTHS</a:t>
            </a:r>
          </a:p>
        </p:txBody>
      </p:sp>
      <p:sp>
        <p:nvSpPr>
          <p:cNvPr id="17" name="TextBox 16"/>
          <p:cNvSpPr txBox="1"/>
          <p:nvPr/>
        </p:nvSpPr>
        <p:spPr>
          <a:xfrm>
            <a:off x="841247" y="2852928"/>
            <a:ext cx="3017520" cy="1188720"/>
          </a:xfrm>
          <a:prstGeom prst="rect">
            <a:avLst/>
          </a:prstGeom>
          <a:noFill/>
        </p:spPr>
        <p:txBody>
          <a:bodyPr wrap="square" anchor="t" lIns="0" rIns="0" tIns="0" bIns="0">
            <a:spAutoFit/>
          </a:bodyPr>
          <a:lstStyle/>
          <a:p>
            <a:pPr marL="274320" indent="-274320">
              <a:lnSpc>
                <a:spcPct val="112000"/>
              </a:lnSpc>
              <a:spcBef>
                <a:spcPts val="0"/>
              </a:spcBef>
              <a:spcAft>
                <a:spcPts val="600"/>
              </a:spcAft>
            </a:pPr>
            <a:r>
              <a:rPr sz="1100" b="1">
                <a:solidFill>
                  <a:srgbClr val="00A972"/>
                </a:solidFill>
                <a:latin typeface="Segoe UI"/>
              </a:rPr>
              <a:t>▪   </a:t>
            </a:r>
            <a:r>
              <a:rPr sz="1100">
                <a:solidFill>
                  <a:srgbClr val="465257"/>
                </a:solidFill>
                <a:latin typeface="Segoe UI"/>
              </a:rPr>
              <a:t>Reliable &amp; structured</a:t>
            </a:r>
          </a:p>
          <a:p>
            <a:pPr marL="274320" indent="-274320">
              <a:lnSpc>
                <a:spcPct val="112000"/>
              </a:lnSpc>
              <a:spcBef>
                <a:spcPts val="0"/>
              </a:spcBef>
              <a:spcAft>
                <a:spcPts val="600"/>
              </a:spcAft>
            </a:pPr>
            <a:r>
              <a:rPr sz="1100" b="1">
                <a:solidFill>
                  <a:srgbClr val="00A972"/>
                </a:solidFill>
                <a:latin typeface="Segoe UI"/>
              </a:rPr>
              <a:t>▪   </a:t>
            </a:r>
            <a:r>
              <a:rPr sz="1100">
                <a:solidFill>
                  <a:srgbClr val="465257"/>
                </a:solidFill>
                <a:latin typeface="Segoe UI"/>
              </a:rPr>
              <a:t>Fast SQL &amp; BI</a:t>
            </a:r>
          </a:p>
          <a:p>
            <a:pPr marL="274320" indent="-274320">
              <a:lnSpc>
                <a:spcPct val="112000"/>
              </a:lnSpc>
              <a:spcBef>
                <a:spcPts val="0"/>
              </a:spcBef>
              <a:spcAft>
                <a:spcPts val="600"/>
              </a:spcAft>
            </a:pPr>
            <a:r>
              <a:rPr sz="1100" b="1">
                <a:solidFill>
                  <a:srgbClr val="00A972"/>
                </a:solidFill>
                <a:latin typeface="Segoe UI"/>
              </a:rPr>
              <a:t>▪   </a:t>
            </a:r>
            <a:r>
              <a:rPr sz="1100">
                <a:solidFill>
                  <a:srgbClr val="465257"/>
                </a:solidFill>
                <a:latin typeface="Segoe UI"/>
              </a:rPr>
              <a:t>ACID transactions</a:t>
            </a:r>
          </a:p>
        </p:txBody>
      </p:sp>
      <p:sp>
        <p:nvSpPr>
          <p:cNvPr id="18" name="TextBox 17"/>
          <p:cNvSpPr txBox="1"/>
          <p:nvPr/>
        </p:nvSpPr>
        <p:spPr>
          <a:xfrm>
            <a:off x="841247" y="4041648"/>
            <a:ext cx="2971800" cy="27432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FF3621"/>
                </a:solidFill>
                <a:latin typeface="Segoe UI Semibold"/>
              </a:rPr>
              <a:t>LIMITATIONS</a:t>
            </a:r>
          </a:p>
        </p:txBody>
      </p:sp>
      <p:sp>
        <p:nvSpPr>
          <p:cNvPr id="19" name="TextBox 18"/>
          <p:cNvSpPr txBox="1"/>
          <p:nvPr/>
        </p:nvSpPr>
        <p:spPr>
          <a:xfrm>
            <a:off x="841247" y="4315968"/>
            <a:ext cx="3017520" cy="1188720"/>
          </a:xfrm>
          <a:prstGeom prst="rect">
            <a:avLst/>
          </a:prstGeom>
          <a:noFill/>
        </p:spPr>
        <p:txBody>
          <a:bodyPr wrap="square" anchor="t" lIns="0" rIns="0" tIns="0" bIns="0">
            <a:spAutoFit/>
          </a:bodyPr>
          <a:lstStyle/>
          <a:p>
            <a:pPr marL="274320" indent="-274320">
              <a:lnSpc>
                <a:spcPct val="112000"/>
              </a:lnSpc>
              <a:spcBef>
                <a:spcPts val="0"/>
              </a:spcBef>
              <a:spcAft>
                <a:spcPts val="600"/>
              </a:spcAft>
            </a:pPr>
            <a:r>
              <a:rPr sz="1100" b="1">
                <a:solidFill>
                  <a:srgbClr val="FF3621"/>
                </a:solidFill>
                <a:latin typeface="Segoe UI"/>
              </a:rPr>
              <a:t>▪   </a:t>
            </a:r>
            <a:r>
              <a:rPr sz="1100">
                <a:solidFill>
                  <a:srgbClr val="465257"/>
                </a:solidFill>
                <a:latin typeface="Segoe UI"/>
              </a:rPr>
              <a:t>Rigid schema</a:t>
            </a:r>
          </a:p>
          <a:p>
            <a:pPr marL="274320" indent="-274320">
              <a:lnSpc>
                <a:spcPct val="112000"/>
              </a:lnSpc>
              <a:spcBef>
                <a:spcPts val="0"/>
              </a:spcBef>
              <a:spcAft>
                <a:spcPts val="600"/>
              </a:spcAft>
            </a:pPr>
            <a:r>
              <a:rPr sz="1100" b="1">
                <a:solidFill>
                  <a:srgbClr val="FF3621"/>
                </a:solidFill>
                <a:latin typeface="Segoe UI"/>
              </a:rPr>
              <a:t>▪   </a:t>
            </a:r>
            <a:r>
              <a:rPr sz="1100">
                <a:solidFill>
                  <a:srgbClr val="465257"/>
                </a:solidFill>
                <a:latin typeface="Segoe UI"/>
              </a:rPr>
              <a:t>Costly to scale</a:t>
            </a:r>
          </a:p>
          <a:p>
            <a:pPr marL="274320" indent="-274320">
              <a:lnSpc>
                <a:spcPct val="112000"/>
              </a:lnSpc>
              <a:spcBef>
                <a:spcPts val="0"/>
              </a:spcBef>
              <a:spcAft>
                <a:spcPts val="600"/>
              </a:spcAft>
            </a:pPr>
            <a:r>
              <a:rPr sz="1100" b="1">
                <a:solidFill>
                  <a:srgbClr val="FF3621"/>
                </a:solidFill>
                <a:latin typeface="Segoe UI"/>
              </a:rPr>
              <a:t>▪   </a:t>
            </a:r>
            <a:r>
              <a:rPr sz="1100">
                <a:solidFill>
                  <a:srgbClr val="465257"/>
                </a:solidFill>
                <a:latin typeface="Segoe UI"/>
              </a:rPr>
              <a:t>No ML / unstructured</a:t>
            </a:r>
          </a:p>
        </p:txBody>
      </p:sp>
      <p:sp>
        <p:nvSpPr>
          <p:cNvPr id="20" name="Rounded Rectangle 19"/>
          <p:cNvSpPr/>
          <p:nvPr/>
        </p:nvSpPr>
        <p:spPr>
          <a:xfrm>
            <a:off x="4434840" y="1874519"/>
            <a:ext cx="3520440" cy="35661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434840" y="1874519"/>
            <a:ext cx="3520440" cy="566928"/>
          </a:xfrm>
          <a:prstGeom prst="rect">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Cloud 21"/>
          <p:cNvSpPr/>
          <p:nvPr/>
        </p:nvSpPr>
        <p:spPr>
          <a:xfrm>
            <a:off x="4726533" y="2004364"/>
            <a:ext cx="422452" cy="307238"/>
          </a:xfrm>
          <a:prstGeom prst="clou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303520" y="1874519"/>
            <a:ext cx="2606040" cy="566928"/>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FFFFFF"/>
                </a:solidFill>
                <a:latin typeface="Segoe UI"/>
              </a:rPr>
              <a:t>Data Lake</a:t>
            </a:r>
          </a:p>
        </p:txBody>
      </p:sp>
      <p:sp>
        <p:nvSpPr>
          <p:cNvPr id="24" name="TextBox 23"/>
          <p:cNvSpPr txBox="1"/>
          <p:nvPr/>
        </p:nvSpPr>
        <p:spPr>
          <a:xfrm>
            <a:off x="4709159" y="2578608"/>
            <a:ext cx="2971800" cy="27432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057A55"/>
                </a:solidFill>
                <a:latin typeface="Segoe UI Semibold"/>
              </a:rPr>
              <a:t>STRENGTHS</a:t>
            </a:r>
          </a:p>
        </p:txBody>
      </p:sp>
      <p:sp>
        <p:nvSpPr>
          <p:cNvPr id="25" name="TextBox 24"/>
          <p:cNvSpPr txBox="1"/>
          <p:nvPr/>
        </p:nvSpPr>
        <p:spPr>
          <a:xfrm>
            <a:off x="4709159" y="2852928"/>
            <a:ext cx="3017520" cy="1188720"/>
          </a:xfrm>
          <a:prstGeom prst="rect">
            <a:avLst/>
          </a:prstGeom>
          <a:noFill/>
        </p:spPr>
        <p:txBody>
          <a:bodyPr wrap="square" anchor="t" lIns="0" rIns="0" tIns="0" bIns="0">
            <a:spAutoFit/>
          </a:bodyPr>
          <a:lstStyle/>
          <a:p>
            <a:pPr marL="274320" indent="-274320">
              <a:lnSpc>
                <a:spcPct val="112000"/>
              </a:lnSpc>
              <a:spcBef>
                <a:spcPts val="0"/>
              </a:spcBef>
              <a:spcAft>
                <a:spcPts val="600"/>
              </a:spcAft>
            </a:pPr>
            <a:r>
              <a:rPr sz="1100" b="1">
                <a:solidFill>
                  <a:srgbClr val="00A972"/>
                </a:solidFill>
                <a:latin typeface="Segoe UI"/>
              </a:rPr>
              <a:t>▪   </a:t>
            </a:r>
            <a:r>
              <a:rPr sz="1100">
                <a:solidFill>
                  <a:srgbClr val="465257"/>
                </a:solidFill>
                <a:latin typeface="Segoe UI"/>
              </a:rPr>
              <a:t>Cheap &amp; scalable</a:t>
            </a:r>
          </a:p>
          <a:p>
            <a:pPr marL="274320" indent="-274320">
              <a:lnSpc>
                <a:spcPct val="112000"/>
              </a:lnSpc>
              <a:spcBef>
                <a:spcPts val="0"/>
              </a:spcBef>
              <a:spcAft>
                <a:spcPts val="600"/>
              </a:spcAft>
            </a:pPr>
            <a:r>
              <a:rPr sz="1100" b="1">
                <a:solidFill>
                  <a:srgbClr val="00A972"/>
                </a:solidFill>
                <a:latin typeface="Segoe UI"/>
              </a:rPr>
              <a:t>▪   </a:t>
            </a:r>
            <a:r>
              <a:rPr sz="1100">
                <a:solidFill>
                  <a:srgbClr val="465257"/>
                </a:solidFill>
                <a:latin typeface="Segoe UI"/>
              </a:rPr>
              <a:t>Any data type</a:t>
            </a:r>
          </a:p>
          <a:p>
            <a:pPr marL="274320" indent="-274320">
              <a:lnSpc>
                <a:spcPct val="112000"/>
              </a:lnSpc>
              <a:spcBef>
                <a:spcPts val="0"/>
              </a:spcBef>
              <a:spcAft>
                <a:spcPts val="600"/>
              </a:spcAft>
            </a:pPr>
            <a:r>
              <a:rPr sz="1100" b="1">
                <a:solidFill>
                  <a:srgbClr val="00A972"/>
                </a:solidFill>
                <a:latin typeface="Segoe UI"/>
              </a:rPr>
              <a:t>▪   </a:t>
            </a:r>
            <a:r>
              <a:rPr sz="1100">
                <a:solidFill>
                  <a:srgbClr val="465257"/>
                </a:solidFill>
                <a:latin typeface="Segoe UI"/>
              </a:rPr>
              <a:t>Great for ML / AI</a:t>
            </a:r>
          </a:p>
        </p:txBody>
      </p:sp>
      <p:sp>
        <p:nvSpPr>
          <p:cNvPr id="26" name="TextBox 25"/>
          <p:cNvSpPr txBox="1"/>
          <p:nvPr/>
        </p:nvSpPr>
        <p:spPr>
          <a:xfrm>
            <a:off x="4709159" y="4041648"/>
            <a:ext cx="2971800" cy="27432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FF3621"/>
                </a:solidFill>
                <a:latin typeface="Segoe UI Semibold"/>
              </a:rPr>
              <a:t>LIMITATIONS</a:t>
            </a:r>
          </a:p>
        </p:txBody>
      </p:sp>
      <p:sp>
        <p:nvSpPr>
          <p:cNvPr id="27" name="TextBox 26"/>
          <p:cNvSpPr txBox="1"/>
          <p:nvPr/>
        </p:nvSpPr>
        <p:spPr>
          <a:xfrm>
            <a:off x="4709159" y="4315968"/>
            <a:ext cx="3017520" cy="1188720"/>
          </a:xfrm>
          <a:prstGeom prst="rect">
            <a:avLst/>
          </a:prstGeom>
          <a:noFill/>
        </p:spPr>
        <p:txBody>
          <a:bodyPr wrap="square" anchor="t" lIns="0" rIns="0" tIns="0" bIns="0">
            <a:spAutoFit/>
          </a:bodyPr>
          <a:lstStyle/>
          <a:p>
            <a:pPr marL="274320" indent="-274320">
              <a:lnSpc>
                <a:spcPct val="112000"/>
              </a:lnSpc>
              <a:spcBef>
                <a:spcPts val="0"/>
              </a:spcBef>
              <a:spcAft>
                <a:spcPts val="600"/>
              </a:spcAft>
            </a:pPr>
            <a:r>
              <a:rPr sz="1100" b="1">
                <a:solidFill>
                  <a:srgbClr val="FF3621"/>
                </a:solidFill>
                <a:latin typeface="Segoe UI"/>
              </a:rPr>
              <a:t>▪   </a:t>
            </a:r>
            <a:r>
              <a:rPr sz="1100">
                <a:solidFill>
                  <a:srgbClr val="465257"/>
                </a:solidFill>
                <a:latin typeface="Segoe UI"/>
              </a:rPr>
              <a:t>No reliability</a:t>
            </a:r>
          </a:p>
          <a:p>
            <a:pPr marL="274320" indent="-274320">
              <a:lnSpc>
                <a:spcPct val="112000"/>
              </a:lnSpc>
              <a:spcBef>
                <a:spcPts val="0"/>
              </a:spcBef>
              <a:spcAft>
                <a:spcPts val="600"/>
              </a:spcAft>
            </a:pPr>
            <a:r>
              <a:rPr sz="1100" b="1">
                <a:solidFill>
                  <a:srgbClr val="FF3621"/>
                </a:solidFill>
                <a:latin typeface="Segoe UI"/>
              </a:rPr>
              <a:t>▪   </a:t>
            </a:r>
            <a:r>
              <a:rPr sz="1100">
                <a:solidFill>
                  <a:srgbClr val="465257"/>
                </a:solidFill>
                <a:latin typeface="Segoe UI"/>
              </a:rPr>
              <a:t>Becomes a 'swamp'</a:t>
            </a:r>
          </a:p>
          <a:p>
            <a:pPr marL="274320" indent="-274320">
              <a:lnSpc>
                <a:spcPct val="112000"/>
              </a:lnSpc>
              <a:spcBef>
                <a:spcPts val="0"/>
              </a:spcBef>
              <a:spcAft>
                <a:spcPts val="600"/>
              </a:spcAft>
            </a:pPr>
            <a:r>
              <a:rPr sz="1100" b="1">
                <a:solidFill>
                  <a:srgbClr val="FF3621"/>
                </a:solidFill>
                <a:latin typeface="Segoe UI"/>
              </a:rPr>
              <a:t>▪   </a:t>
            </a:r>
            <a:r>
              <a:rPr sz="1100">
                <a:solidFill>
                  <a:srgbClr val="465257"/>
                </a:solidFill>
                <a:latin typeface="Segoe UI"/>
              </a:rPr>
              <a:t>Weak governance</a:t>
            </a:r>
          </a:p>
        </p:txBody>
      </p:sp>
      <p:sp>
        <p:nvSpPr>
          <p:cNvPr id="28" name="TextBox 27"/>
          <p:cNvSpPr txBox="1"/>
          <p:nvPr/>
        </p:nvSpPr>
        <p:spPr>
          <a:xfrm>
            <a:off x="4069080" y="3246120"/>
            <a:ext cx="457200" cy="731520"/>
          </a:xfrm>
          <a:prstGeom prst="rect">
            <a:avLst/>
          </a:prstGeom>
          <a:noFill/>
        </p:spPr>
        <p:txBody>
          <a:bodyPr wrap="square" anchor="t" lIns="0" rIns="0" tIns="0" bIns="0">
            <a:spAutoFit/>
          </a:bodyPr>
          <a:lstStyle/>
          <a:p>
            <a:pPr algn="ctr">
              <a:lnSpc>
                <a:spcPct val="100000"/>
              </a:lnSpc>
              <a:spcBef>
                <a:spcPts val="0"/>
              </a:spcBef>
              <a:spcAft>
                <a:spcPts val="200"/>
              </a:spcAft>
            </a:pPr>
            <a:r>
              <a:rPr sz="4000" b="1" i="0">
                <a:solidFill>
                  <a:srgbClr val="9AA6AB"/>
                </a:solidFill>
                <a:latin typeface="Segoe UI"/>
              </a:rPr>
              <a:t>+</a:t>
            </a:r>
          </a:p>
        </p:txBody>
      </p:sp>
      <p:sp>
        <p:nvSpPr>
          <p:cNvPr id="29" name="TextBox 28"/>
          <p:cNvSpPr txBox="1"/>
          <p:nvPr/>
        </p:nvSpPr>
        <p:spPr>
          <a:xfrm>
            <a:off x="7818120" y="3246120"/>
            <a:ext cx="548640" cy="731520"/>
          </a:xfrm>
          <a:prstGeom prst="rect">
            <a:avLst/>
          </a:prstGeom>
          <a:noFill/>
        </p:spPr>
        <p:txBody>
          <a:bodyPr wrap="square" anchor="t" lIns="0" rIns="0" tIns="0" bIns="0">
            <a:spAutoFit/>
          </a:bodyPr>
          <a:lstStyle/>
          <a:p>
            <a:pPr algn="ctr">
              <a:lnSpc>
                <a:spcPct val="100000"/>
              </a:lnSpc>
              <a:spcBef>
                <a:spcPts val="0"/>
              </a:spcBef>
              <a:spcAft>
                <a:spcPts val="200"/>
              </a:spcAft>
            </a:pPr>
            <a:r>
              <a:rPr sz="4000" b="1" i="0">
                <a:solidFill>
                  <a:srgbClr val="FF3621"/>
                </a:solidFill>
                <a:latin typeface="Segoe UI"/>
              </a:rPr>
              <a:t>=</a:t>
            </a:r>
          </a:p>
        </p:txBody>
      </p:sp>
      <p:sp>
        <p:nvSpPr>
          <p:cNvPr id="30" name="Rounded Rectangle 29"/>
          <p:cNvSpPr/>
          <p:nvPr/>
        </p:nvSpPr>
        <p:spPr>
          <a:xfrm>
            <a:off x="8412480" y="1874519"/>
            <a:ext cx="3212287" cy="356616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412480" y="1874519"/>
            <a:ext cx="3212287" cy="566928"/>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Isosceles Triangle 31"/>
          <p:cNvSpPr/>
          <p:nvPr/>
        </p:nvSpPr>
        <p:spPr>
          <a:xfrm>
            <a:off x="8677655" y="1985162"/>
            <a:ext cx="384048" cy="345643"/>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217152" y="1874519"/>
            <a:ext cx="2343607" cy="566928"/>
          </a:xfrm>
          <a:prstGeom prst="rect">
            <a:avLst/>
          </a:prstGeom>
          <a:noFill/>
        </p:spPr>
        <p:txBody>
          <a:bodyPr wrap="square" anchor="ctr" lIns="0" rIns="0" tIns="0" bIns="0">
            <a:spAutoFit/>
          </a:bodyPr>
          <a:lstStyle/>
          <a:p>
            <a:pPr algn="l">
              <a:lnSpc>
                <a:spcPct val="100000"/>
              </a:lnSpc>
              <a:spcBef>
                <a:spcPts val="0"/>
              </a:spcBef>
              <a:spcAft>
                <a:spcPts val="200"/>
              </a:spcAft>
            </a:pPr>
            <a:r>
              <a:rPr sz="1500" b="1" i="0">
                <a:solidFill>
                  <a:srgbClr val="FFFFFF"/>
                </a:solidFill>
                <a:latin typeface="Segoe UI"/>
              </a:rPr>
              <a:t>Lakehouse</a:t>
            </a:r>
          </a:p>
        </p:txBody>
      </p:sp>
      <p:sp>
        <p:nvSpPr>
          <p:cNvPr id="34" name="TextBox 33"/>
          <p:cNvSpPr txBox="1"/>
          <p:nvPr/>
        </p:nvSpPr>
        <p:spPr>
          <a:xfrm>
            <a:off x="8686800" y="2606040"/>
            <a:ext cx="2709367" cy="2743200"/>
          </a:xfrm>
          <a:prstGeom prst="rect">
            <a:avLst/>
          </a:prstGeom>
          <a:noFill/>
        </p:spPr>
        <p:txBody>
          <a:bodyPr wrap="square" anchor="t" lIns="0" rIns="0" tIns="0" bIns="0">
            <a:spAutoFit/>
          </a:bodyPr>
          <a:lstStyle/>
          <a:p>
            <a:pPr marL="274320" indent="-274320">
              <a:lnSpc>
                <a:spcPct val="112000"/>
              </a:lnSpc>
              <a:spcBef>
                <a:spcPts val="0"/>
              </a:spcBef>
              <a:spcAft>
                <a:spcPts val="850"/>
              </a:spcAft>
            </a:pPr>
            <a:r>
              <a:rPr sz="1130" b="1">
                <a:solidFill>
                  <a:srgbClr val="FF6B57"/>
                </a:solidFill>
                <a:latin typeface="Segoe UI"/>
              </a:rPr>
              <a:t>▪   </a:t>
            </a:r>
            <a:r>
              <a:rPr sz="1130">
                <a:solidFill>
                  <a:srgbClr val="D6DEE1"/>
                </a:solidFill>
                <a:latin typeface="Segoe UI"/>
              </a:rPr>
              <a:t>One open platform for all data</a:t>
            </a:r>
          </a:p>
          <a:p>
            <a:pPr marL="274320" indent="-274320">
              <a:lnSpc>
                <a:spcPct val="112000"/>
              </a:lnSpc>
              <a:spcBef>
                <a:spcPts val="0"/>
              </a:spcBef>
              <a:spcAft>
                <a:spcPts val="850"/>
              </a:spcAft>
            </a:pPr>
            <a:r>
              <a:rPr sz="1130" b="1">
                <a:solidFill>
                  <a:srgbClr val="FF6B57"/>
                </a:solidFill>
                <a:latin typeface="Segoe UI"/>
              </a:rPr>
              <a:t>▪   </a:t>
            </a:r>
            <a:r>
              <a:rPr sz="1130">
                <a:solidFill>
                  <a:srgbClr val="D6DEE1"/>
                </a:solidFill>
                <a:latin typeface="Segoe UI"/>
              </a:rPr>
              <a:t>ACID reliability on cheap storage</a:t>
            </a:r>
          </a:p>
          <a:p>
            <a:pPr marL="274320" indent="-274320">
              <a:lnSpc>
                <a:spcPct val="112000"/>
              </a:lnSpc>
              <a:spcBef>
                <a:spcPts val="0"/>
              </a:spcBef>
              <a:spcAft>
                <a:spcPts val="850"/>
              </a:spcAft>
            </a:pPr>
            <a:r>
              <a:rPr sz="1130" b="1">
                <a:solidFill>
                  <a:srgbClr val="FF6B57"/>
                </a:solidFill>
                <a:latin typeface="Segoe UI"/>
              </a:rPr>
              <a:t>▪   </a:t>
            </a:r>
            <a:r>
              <a:rPr sz="1130">
                <a:solidFill>
                  <a:srgbClr val="D6DEE1"/>
                </a:solidFill>
                <a:latin typeface="Segoe UI"/>
              </a:rPr>
              <a:t>BI + SQL + streaming + ML together</a:t>
            </a:r>
          </a:p>
          <a:p>
            <a:pPr marL="274320" indent="-274320">
              <a:lnSpc>
                <a:spcPct val="112000"/>
              </a:lnSpc>
              <a:spcBef>
                <a:spcPts val="0"/>
              </a:spcBef>
              <a:spcAft>
                <a:spcPts val="850"/>
              </a:spcAft>
            </a:pPr>
            <a:r>
              <a:rPr sz="1130" b="1">
                <a:solidFill>
                  <a:srgbClr val="FF6B57"/>
                </a:solidFill>
                <a:latin typeface="Segoe UI"/>
              </a:rPr>
              <a:t>▪   </a:t>
            </a:r>
            <a:r>
              <a:rPr sz="1130">
                <a:solidFill>
                  <a:srgbClr val="D6DEE1"/>
                </a:solidFill>
                <a:latin typeface="Segoe UI"/>
              </a:rPr>
              <a:t>Unified governance &amp; security</a:t>
            </a:r>
          </a:p>
          <a:p>
            <a:pPr marL="274320" indent="-274320">
              <a:lnSpc>
                <a:spcPct val="112000"/>
              </a:lnSpc>
              <a:spcBef>
                <a:spcPts val="0"/>
              </a:spcBef>
              <a:spcAft>
                <a:spcPts val="850"/>
              </a:spcAft>
            </a:pPr>
            <a:r>
              <a:rPr sz="1130" b="1">
                <a:solidFill>
                  <a:srgbClr val="FF6B57"/>
                </a:solidFill>
                <a:latin typeface="Segoe UI"/>
              </a:rPr>
              <a:t>▪   </a:t>
            </a:r>
            <a:r>
              <a:rPr sz="1130">
                <a:solidFill>
                  <a:srgbClr val="D6DEE1"/>
                </a:solidFill>
                <a:latin typeface="Segoe UI"/>
              </a:rPr>
              <a:t>No data duplication or silos</a:t>
            </a:r>
          </a:p>
          <a:p>
            <a:pPr marL="274320" indent="-274320">
              <a:lnSpc>
                <a:spcPct val="112000"/>
              </a:lnSpc>
              <a:spcBef>
                <a:spcPts val="0"/>
              </a:spcBef>
              <a:spcAft>
                <a:spcPts val="850"/>
              </a:spcAft>
            </a:pPr>
            <a:r>
              <a:rPr sz="1130" b="1">
                <a:solidFill>
                  <a:srgbClr val="FF6B57"/>
                </a:solidFill>
                <a:latin typeface="Segoe UI"/>
              </a:rPr>
              <a:t>▪   </a:t>
            </a:r>
            <a:r>
              <a:rPr sz="1130">
                <a:solidFill>
                  <a:srgbClr val="D6DEE1"/>
                </a:solidFill>
                <a:latin typeface="Segoe UI"/>
              </a:rPr>
              <a:t>Open formats — zero lock-in</a:t>
            </a:r>
          </a:p>
        </p:txBody>
      </p:sp>
      <p:sp>
        <p:nvSpPr>
          <p:cNvPr id="35" name="TextBox 34"/>
          <p:cNvSpPr txBox="1"/>
          <p:nvPr/>
        </p:nvSpPr>
        <p:spPr>
          <a:xfrm>
            <a:off x="566928" y="5650992"/>
            <a:ext cx="11057839" cy="457200"/>
          </a:xfrm>
          <a:prstGeom prst="rect">
            <a:avLst/>
          </a:prstGeom>
          <a:noFill/>
        </p:spPr>
        <p:txBody>
          <a:bodyPr wrap="square" anchor="t" lIns="0" rIns="0" tIns="0" bIns="0">
            <a:spAutoFit/>
          </a:bodyPr>
          <a:lstStyle/>
          <a:p>
            <a:pPr algn="ctr">
              <a:lnSpc>
                <a:spcPct val="100000"/>
              </a:lnSpc>
              <a:spcBef>
                <a:spcPts val="0"/>
              </a:spcBef>
              <a:spcAft>
                <a:spcPts val="200"/>
              </a:spcAft>
            </a:pPr>
            <a:r>
              <a:rPr sz="1230" b="0" i="1">
                <a:solidFill>
                  <a:srgbClr val="6B777C"/>
                </a:solidFill>
                <a:latin typeface="Segoe UI"/>
              </a:rPr>
              <a:t>Lakehouse  =  the reliability &amp; performance of a warehouse  </a:t>
            </a:r>
            <a:r>
              <a:rPr sz="1300" b="1" i="0">
                <a:solidFill>
                  <a:srgbClr val="FF3621"/>
                </a:solidFill>
                <a:latin typeface="Segoe UI"/>
              </a:rPr>
              <a:t>+</a:t>
            </a:r>
            <a:r>
              <a:rPr sz="1230" b="0" i="1">
                <a:solidFill>
                  <a:srgbClr val="6B777C"/>
                </a:solidFill>
                <a:latin typeface="Segoe UI"/>
              </a:rPr>
              <a:t>  the scale, openness &amp; flexibility of a lake</a:t>
            </a:r>
          </a:p>
        </p:txBody>
      </p:sp>
      <p:sp>
        <p:nvSpPr>
          <p:cNvPr id="36" name="TextBox 3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37" name="TextBox 3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INTRODUCTION TO DATABRICKS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One Unified Platform, Every Persona</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28800"/>
            <a:ext cx="1992111" cy="960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1306951" y="1901952"/>
            <a:ext cx="512064" cy="512064"/>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Lightning Bolt 8"/>
          <p:cNvSpPr/>
          <p:nvPr/>
        </p:nvSpPr>
        <p:spPr>
          <a:xfrm>
            <a:off x="1480541" y="2040209"/>
            <a:ext cx="164884" cy="235549"/>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21792" y="2432304"/>
            <a:ext cx="1882383" cy="320040"/>
          </a:xfrm>
          <a:prstGeom prst="rect">
            <a:avLst/>
          </a:prstGeom>
          <a:noFill/>
        </p:spPr>
        <p:txBody>
          <a:bodyPr wrap="square" anchor="t" lIns="0" rIns="0" tIns="0" bIns="0">
            <a:spAutoFit/>
          </a:bodyPr>
          <a:lstStyle/>
          <a:p>
            <a:pPr algn="ctr">
              <a:lnSpc>
                <a:spcPct val="95000"/>
              </a:lnSpc>
              <a:spcBef>
                <a:spcPts val="0"/>
              </a:spcBef>
              <a:spcAft>
                <a:spcPts val="200"/>
              </a:spcAft>
            </a:pPr>
            <a:r>
              <a:rPr sz="1080" b="1" i="0">
                <a:solidFill>
                  <a:srgbClr val="1B3139"/>
                </a:solidFill>
                <a:latin typeface="Segoe UI"/>
              </a:rPr>
              <a:t>Data Engineers</a:t>
            </a:r>
          </a:p>
        </p:txBody>
      </p:sp>
      <p:sp>
        <p:nvSpPr>
          <p:cNvPr id="11" name="Down Arrow 10"/>
          <p:cNvSpPr/>
          <p:nvPr/>
        </p:nvSpPr>
        <p:spPr>
          <a:xfrm>
            <a:off x="1498975" y="2852928"/>
            <a:ext cx="128016" cy="201168"/>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2833359" y="1828800"/>
            <a:ext cx="1992111" cy="960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3573383" y="1901952"/>
            <a:ext cx="512064" cy="512064"/>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3730484" y="2157984"/>
            <a:ext cx="47109" cy="117774"/>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3805860" y="2092030"/>
            <a:ext cx="47109" cy="18372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3881236" y="2040209"/>
            <a:ext cx="47109" cy="23554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888223" y="2432304"/>
            <a:ext cx="1882383" cy="320040"/>
          </a:xfrm>
          <a:prstGeom prst="rect">
            <a:avLst/>
          </a:prstGeom>
          <a:noFill/>
        </p:spPr>
        <p:txBody>
          <a:bodyPr wrap="square" anchor="t" lIns="0" rIns="0" tIns="0" bIns="0">
            <a:spAutoFit/>
          </a:bodyPr>
          <a:lstStyle/>
          <a:p>
            <a:pPr algn="ctr">
              <a:lnSpc>
                <a:spcPct val="95000"/>
              </a:lnSpc>
              <a:spcBef>
                <a:spcPts val="0"/>
              </a:spcBef>
              <a:spcAft>
                <a:spcPts val="200"/>
              </a:spcAft>
            </a:pPr>
            <a:r>
              <a:rPr sz="1080" b="1" i="0">
                <a:solidFill>
                  <a:srgbClr val="1B3139"/>
                </a:solidFill>
                <a:latin typeface="Segoe UI"/>
              </a:rPr>
              <a:t>Data Analysts</a:t>
            </a:r>
          </a:p>
        </p:txBody>
      </p:sp>
      <p:sp>
        <p:nvSpPr>
          <p:cNvPr id="18" name="Down Arrow 17"/>
          <p:cNvSpPr/>
          <p:nvPr/>
        </p:nvSpPr>
        <p:spPr>
          <a:xfrm>
            <a:off x="3765407" y="2852928"/>
            <a:ext cx="128016" cy="201168"/>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5099791" y="1828800"/>
            <a:ext cx="1992111" cy="960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5839815" y="1901952"/>
            <a:ext cx="512064" cy="512064"/>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6055804" y="2117940"/>
            <a:ext cx="80086" cy="8008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2" name="Connector 21"/>
          <p:cNvCxnSpPr/>
          <p:nvPr/>
        </p:nvCxnSpPr>
        <p:spPr>
          <a:xfrm flipH="1" flipV="1">
            <a:off x="5996916" y="2087319"/>
            <a:ext cx="98931" cy="70665"/>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971006" y="2061408"/>
            <a:ext cx="51820" cy="518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4" name="Connector 23"/>
          <p:cNvCxnSpPr/>
          <p:nvPr/>
        </p:nvCxnSpPr>
        <p:spPr>
          <a:xfrm flipV="1">
            <a:off x="6095847" y="2087319"/>
            <a:ext cx="98931" cy="70665"/>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168867" y="2061408"/>
            <a:ext cx="51820" cy="518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6" name="Connector 25"/>
          <p:cNvCxnSpPr/>
          <p:nvPr/>
        </p:nvCxnSpPr>
        <p:spPr>
          <a:xfrm>
            <a:off x="6095847" y="2157984"/>
            <a:ext cx="0" cy="103641"/>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6069937" y="2235715"/>
            <a:ext cx="51820" cy="518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154655" y="2432304"/>
            <a:ext cx="1882383" cy="320040"/>
          </a:xfrm>
          <a:prstGeom prst="rect">
            <a:avLst/>
          </a:prstGeom>
          <a:noFill/>
        </p:spPr>
        <p:txBody>
          <a:bodyPr wrap="square" anchor="t" lIns="0" rIns="0" tIns="0" bIns="0">
            <a:spAutoFit/>
          </a:bodyPr>
          <a:lstStyle/>
          <a:p>
            <a:pPr algn="ctr">
              <a:lnSpc>
                <a:spcPct val="95000"/>
              </a:lnSpc>
              <a:spcBef>
                <a:spcPts val="0"/>
              </a:spcBef>
              <a:spcAft>
                <a:spcPts val="200"/>
              </a:spcAft>
            </a:pPr>
            <a:r>
              <a:rPr sz="1080" b="1" i="0">
                <a:solidFill>
                  <a:srgbClr val="1B3139"/>
                </a:solidFill>
                <a:latin typeface="Segoe UI"/>
              </a:rPr>
              <a:t>Data Scientists</a:t>
            </a:r>
          </a:p>
        </p:txBody>
      </p:sp>
      <p:sp>
        <p:nvSpPr>
          <p:cNvPr id="29" name="Down Arrow 28"/>
          <p:cNvSpPr/>
          <p:nvPr/>
        </p:nvSpPr>
        <p:spPr>
          <a:xfrm>
            <a:off x="6031839" y="2852928"/>
            <a:ext cx="128016" cy="201168"/>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7366223" y="1828800"/>
            <a:ext cx="1992111" cy="960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8106247" y="1901952"/>
            <a:ext cx="512064" cy="512064"/>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Gear 6 31"/>
          <p:cNvSpPr/>
          <p:nvPr/>
        </p:nvSpPr>
        <p:spPr>
          <a:xfrm>
            <a:off x="8244504" y="2040209"/>
            <a:ext cx="235549" cy="235549"/>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421087" y="2432304"/>
            <a:ext cx="1882383" cy="320040"/>
          </a:xfrm>
          <a:prstGeom prst="rect">
            <a:avLst/>
          </a:prstGeom>
          <a:noFill/>
        </p:spPr>
        <p:txBody>
          <a:bodyPr wrap="square" anchor="t" lIns="0" rIns="0" tIns="0" bIns="0">
            <a:spAutoFit/>
          </a:bodyPr>
          <a:lstStyle/>
          <a:p>
            <a:pPr algn="ctr">
              <a:lnSpc>
                <a:spcPct val="95000"/>
              </a:lnSpc>
              <a:spcBef>
                <a:spcPts val="0"/>
              </a:spcBef>
              <a:spcAft>
                <a:spcPts val="200"/>
              </a:spcAft>
            </a:pPr>
            <a:r>
              <a:rPr sz="1080" b="1" i="0">
                <a:solidFill>
                  <a:srgbClr val="1B3139"/>
                </a:solidFill>
                <a:latin typeface="Segoe UI"/>
              </a:rPr>
              <a:t>ML Engineers</a:t>
            </a:r>
          </a:p>
        </p:txBody>
      </p:sp>
      <p:sp>
        <p:nvSpPr>
          <p:cNvPr id="34" name="Down Arrow 33"/>
          <p:cNvSpPr/>
          <p:nvPr/>
        </p:nvSpPr>
        <p:spPr>
          <a:xfrm>
            <a:off x="8298271" y="2852928"/>
            <a:ext cx="128016" cy="201168"/>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9632655" y="1828800"/>
            <a:ext cx="1992111" cy="960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10372679" y="1901952"/>
            <a:ext cx="512064" cy="512064"/>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10581601" y="2059053"/>
            <a:ext cx="94219" cy="9421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10548624" y="2167405"/>
            <a:ext cx="160173" cy="9893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687519" y="2432304"/>
            <a:ext cx="1882383" cy="320040"/>
          </a:xfrm>
          <a:prstGeom prst="rect">
            <a:avLst/>
          </a:prstGeom>
          <a:noFill/>
        </p:spPr>
        <p:txBody>
          <a:bodyPr wrap="square" anchor="t" lIns="0" rIns="0" tIns="0" bIns="0">
            <a:spAutoFit/>
          </a:bodyPr>
          <a:lstStyle/>
          <a:p>
            <a:pPr algn="ctr">
              <a:lnSpc>
                <a:spcPct val="95000"/>
              </a:lnSpc>
              <a:spcBef>
                <a:spcPts val="0"/>
              </a:spcBef>
              <a:spcAft>
                <a:spcPts val="200"/>
              </a:spcAft>
            </a:pPr>
            <a:r>
              <a:rPr sz="1080" b="1" i="0">
                <a:solidFill>
                  <a:srgbClr val="1B3139"/>
                </a:solidFill>
                <a:latin typeface="Segoe UI"/>
              </a:rPr>
              <a:t>Business / BI</a:t>
            </a:r>
          </a:p>
        </p:txBody>
      </p:sp>
      <p:sp>
        <p:nvSpPr>
          <p:cNvPr id="40" name="Down Arrow 39"/>
          <p:cNvSpPr/>
          <p:nvPr/>
        </p:nvSpPr>
        <p:spPr>
          <a:xfrm>
            <a:off x="10564703" y="2852928"/>
            <a:ext cx="128016" cy="201168"/>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566928" y="3200400"/>
            <a:ext cx="11057839" cy="141732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66928" y="3310128"/>
            <a:ext cx="11057839" cy="310896"/>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FF6B57"/>
                </a:solidFill>
                <a:latin typeface="Segoe UI Semibold"/>
              </a:rPr>
              <a:t>DATABRICKS DATA INTELLIGENCE PLATFORM</a:t>
            </a:r>
          </a:p>
        </p:txBody>
      </p:sp>
      <p:sp>
        <p:nvSpPr>
          <p:cNvPr id="43" name="Rounded Rectangle 42"/>
          <p:cNvSpPr/>
          <p:nvPr/>
        </p:nvSpPr>
        <p:spPr>
          <a:xfrm>
            <a:off x="886968" y="3712463"/>
            <a:ext cx="1937247" cy="768096"/>
          </a:xfrm>
          <a:prstGeom prst="roundRect">
            <a:avLst>
              <a:gd name="adj" fmla="val 14000"/>
            </a:avLst>
          </a:prstGeom>
          <a:solidFill>
            <a:srgbClr val="27444F"/>
          </a:solidFill>
          <a:ln w="17780">
            <a:solidFill>
              <a:srgbClr val="0E8C9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32688" y="3767328"/>
            <a:ext cx="1845807" cy="329184"/>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FFFFFF"/>
                </a:solidFill>
                <a:latin typeface="Segoe UI"/>
              </a:rPr>
              <a:t>Delta Lake</a:t>
            </a:r>
          </a:p>
        </p:txBody>
      </p:sp>
      <p:sp>
        <p:nvSpPr>
          <p:cNvPr id="45" name="TextBox 44"/>
          <p:cNvSpPr txBox="1"/>
          <p:nvPr/>
        </p:nvSpPr>
        <p:spPr>
          <a:xfrm>
            <a:off x="932688" y="4114800"/>
            <a:ext cx="1845807" cy="329184"/>
          </a:xfrm>
          <a:prstGeom prst="rect">
            <a:avLst/>
          </a:prstGeom>
          <a:noFill/>
        </p:spPr>
        <p:txBody>
          <a:bodyPr wrap="square" anchor="t" lIns="0" rIns="0" tIns="0" bIns="0">
            <a:spAutoFit/>
          </a:bodyPr>
          <a:lstStyle/>
          <a:p>
            <a:pPr algn="ctr">
              <a:lnSpc>
                <a:spcPct val="90000"/>
              </a:lnSpc>
              <a:spcBef>
                <a:spcPts val="0"/>
              </a:spcBef>
              <a:spcAft>
                <a:spcPts val="200"/>
              </a:spcAft>
            </a:pPr>
            <a:r>
              <a:rPr sz="880" b="0" i="0">
                <a:solidFill>
                  <a:srgbClr val="B6C2C6"/>
                </a:solidFill>
                <a:latin typeface="Segoe UI"/>
              </a:rPr>
              <a:t>ETL &amp; Streaming</a:t>
            </a:r>
          </a:p>
        </p:txBody>
      </p:sp>
      <p:sp>
        <p:nvSpPr>
          <p:cNvPr id="46" name="Rounded Rectangle 45"/>
          <p:cNvSpPr/>
          <p:nvPr/>
        </p:nvSpPr>
        <p:spPr>
          <a:xfrm>
            <a:off x="3007095" y="3712463"/>
            <a:ext cx="1937247" cy="768096"/>
          </a:xfrm>
          <a:prstGeom prst="roundRect">
            <a:avLst>
              <a:gd name="adj" fmla="val 14000"/>
            </a:avLst>
          </a:prstGeom>
          <a:solidFill>
            <a:srgbClr val="27444F"/>
          </a:solidFill>
          <a:ln w="17780">
            <a:solidFill>
              <a:srgbClr val="2272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3052815" y="3767328"/>
            <a:ext cx="1845807" cy="329184"/>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FFFFFF"/>
                </a:solidFill>
                <a:latin typeface="Segoe UI"/>
              </a:rPr>
              <a:t>Databricks SQL</a:t>
            </a:r>
          </a:p>
        </p:txBody>
      </p:sp>
      <p:sp>
        <p:nvSpPr>
          <p:cNvPr id="48" name="TextBox 47"/>
          <p:cNvSpPr txBox="1"/>
          <p:nvPr/>
        </p:nvSpPr>
        <p:spPr>
          <a:xfrm>
            <a:off x="3052815" y="4114800"/>
            <a:ext cx="1845807" cy="329184"/>
          </a:xfrm>
          <a:prstGeom prst="rect">
            <a:avLst/>
          </a:prstGeom>
          <a:noFill/>
        </p:spPr>
        <p:txBody>
          <a:bodyPr wrap="square" anchor="t" lIns="0" rIns="0" tIns="0" bIns="0">
            <a:spAutoFit/>
          </a:bodyPr>
          <a:lstStyle/>
          <a:p>
            <a:pPr algn="ctr">
              <a:lnSpc>
                <a:spcPct val="90000"/>
              </a:lnSpc>
              <a:spcBef>
                <a:spcPts val="0"/>
              </a:spcBef>
              <a:spcAft>
                <a:spcPts val="200"/>
              </a:spcAft>
            </a:pPr>
            <a:r>
              <a:rPr sz="880" b="0" i="0">
                <a:solidFill>
                  <a:srgbClr val="B6C2C6"/>
                </a:solidFill>
                <a:latin typeface="Segoe UI"/>
              </a:rPr>
              <a:t>Warehousing &amp; BI</a:t>
            </a:r>
          </a:p>
        </p:txBody>
      </p:sp>
      <p:sp>
        <p:nvSpPr>
          <p:cNvPr id="49" name="Rounded Rectangle 48"/>
          <p:cNvSpPr/>
          <p:nvPr/>
        </p:nvSpPr>
        <p:spPr>
          <a:xfrm>
            <a:off x="5127223" y="3712463"/>
            <a:ext cx="1937247" cy="768096"/>
          </a:xfrm>
          <a:prstGeom prst="roundRect">
            <a:avLst>
              <a:gd name="adj" fmla="val 14000"/>
            </a:avLst>
          </a:prstGeom>
          <a:solidFill>
            <a:srgbClr val="27444F"/>
          </a:solidFill>
          <a:ln w="17780">
            <a:solidFill>
              <a:srgbClr val="00A9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172943" y="3767328"/>
            <a:ext cx="1845807" cy="329184"/>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FFFFFF"/>
                </a:solidFill>
                <a:latin typeface="Segoe UI"/>
              </a:rPr>
              <a:t>Mosaic AI</a:t>
            </a:r>
          </a:p>
        </p:txBody>
      </p:sp>
      <p:sp>
        <p:nvSpPr>
          <p:cNvPr id="51" name="TextBox 50"/>
          <p:cNvSpPr txBox="1"/>
          <p:nvPr/>
        </p:nvSpPr>
        <p:spPr>
          <a:xfrm>
            <a:off x="5172943" y="4114800"/>
            <a:ext cx="1845807" cy="329184"/>
          </a:xfrm>
          <a:prstGeom prst="rect">
            <a:avLst/>
          </a:prstGeom>
          <a:noFill/>
        </p:spPr>
        <p:txBody>
          <a:bodyPr wrap="square" anchor="t" lIns="0" rIns="0" tIns="0" bIns="0">
            <a:spAutoFit/>
          </a:bodyPr>
          <a:lstStyle/>
          <a:p>
            <a:pPr algn="ctr">
              <a:lnSpc>
                <a:spcPct val="90000"/>
              </a:lnSpc>
              <a:spcBef>
                <a:spcPts val="0"/>
              </a:spcBef>
              <a:spcAft>
                <a:spcPts val="200"/>
              </a:spcAft>
            </a:pPr>
            <a:r>
              <a:rPr sz="880" b="0" i="0">
                <a:solidFill>
                  <a:srgbClr val="B6C2C6"/>
                </a:solidFill>
                <a:latin typeface="Segoe UI"/>
              </a:rPr>
              <a:t>ML &amp; GenAI</a:t>
            </a:r>
          </a:p>
        </p:txBody>
      </p:sp>
      <p:sp>
        <p:nvSpPr>
          <p:cNvPr id="52" name="Rounded Rectangle 51"/>
          <p:cNvSpPr/>
          <p:nvPr/>
        </p:nvSpPr>
        <p:spPr>
          <a:xfrm>
            <a:off x="7247351" y="3712463"/>
            <a:ext cx="1937247" cy="768096"/>
          </a:xfrm>
          <a:prstGeom prst="roundRect">
            <a:avLst>
              <a:gd name="adj" fmla="val 14000"/>
            </a:avLst>
          </a:prstGeom>
          <a:solidFill>
            <a:srgbClr val="27444F"/>
          </a:solidFill>
          <a:ln w="1778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293071" y="3767328"/>
            <a:ext cx="1845807" cy="329184"/>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FFFFFF"/>
                </a:solidFill>
                <a:latin typeface="Segoe UI"/>
              </a:rPr>
              <a:t>Workflows</a:t>
            </a:r>
          </a:p>
        </p:txBody>
      </p:sp>
      <p:sp>
        <p:nvSpPr>
          <p:cNvPr id="54" name="TextBox 53"/>
          <p:cNvSpPr txBox="1"/>
          <p:nvPr/>
        </p:nvSpPr>
        <p:spPr>
          <a:xfrm>
            <a:off x="7293071" y="4114800"/>
            <a:ext cx="1845807" cy="329184"/>
          </a:xfrm>
          <a:prstGeom prst="rect">
            <a:avLst/>
          </a:prstGeom>
          <a:noFill/>
        </p:spPr>
        <p:txBody>
          <a:bodyPr wrap="square" anchor="t" lIns="0" rIns="0" tIns="0" bIns="0">
            <a:spAutoFit/>
          </a:bodyPr>
          <a:lstStyle/>
          <a:p>
            <a:pPr algn="ctr">
              <a:lnSpc>
                <a:spcPct val="90000"/>
              </a:lnSpc>
              <a:spcBef>
                <a:spcPts val="0"/>
              </a:spcBef>
              <a:spcAft>
                <a:spcPts val="200"/>
              </a:spcAft>
            </a:pPr>
            <a:r>
              <a:rPr sz="880" b="0" i="0">
                <a:solidFill>
                  <a:srgbClr val="B6C2C6"/>
                </a:solidFill>
                <a:latin typeface="Segoe UI"/>
              </a:rPr>
              <a:t>Orchestration</a:t>
            </a:r>
          </a:p>
        </p:txBody>
      </p:sp>
      <p:sp>
        <p:nvSpPr>
          <p:cNvPr id="55" name="Rounded Rectangle 54"/>
          <p:cNvSpPr/>
          <p:nvPr/>
        </p:nvSpPr>
        <p:spPr>
          <a:xfrm>
            <a:off x="9367479" y="3712463"/>
            <a:ext cx="1937247" cy="768096"/>
          </a:xfrm>
          <a:prstGeom prst="roundRect">
            <a:avLst>
              <a:gd name="adj" fmla="val 14000"/>
            </a:avLst>
          </a:prstGeom>
          <a:solidFill>
            <a:srgbClr val="27444F"/>
          </a:solidFill>
          <a:ln w="17780">
            <a:solidFill>
              <a:srgbClr val="7C5C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9413199" y="3767328"/>
            <a:ext cx="1845807" cy="329184"/>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FFFFFF"/>
                </a:solidFill>
                <a:latin typeface="Segoe UI"/>
              </a:rPr>
              <a:t>Unity Catalog</a:t>
            </a:r>
          </a:p>
        </p:txBody>
      </p:sp>
      <p:sp>
        <p:nvSpPr>
          <p:cNvPr id="57" name="TextBox 56"/>
          <p:cNvSpPr txBox="1"/>
          <p:nvPr/>
        </p:nvSpPr>
        <p:spPr>
          <a:xfrm>
            <a:off x="9413199" y="4114800"/>
            <a:ext cx="1845807" cy="329184"/>
          </a:xfrm>
          <a:prstGeom prst="rect">
            <a:avLst/>
          </a:prstGeom>
          <a:noFill/>
        </p:spPr>
        <p:txBody>
          <a:bodyPr wrap="square" anchor="t" lIns="0" rIns="0" tIns="0" bIns="0">
            <a:spAutoFit/>
          </a:bodyPr>
          <a:lstStyle/>
          <a:p>
            <a:pPr algn="ctr">
              <a:lnSpc>
                <a:spcPct val="90000"/>
              </a:lnSpc>
              <a:spcBef>
                <a:spcPts val="0"/>
              </a:spcBef>
              <a:spcAft>
                <a:spcPts val="200"/>
              </a:spcAft>
            </a:pPr>
            <a:r>
              <a:rPr sz="880" b="0" i="0">
                <a:solidFill>
                  <a:srgbClr val="B6C2C6"/>
                </a:solidFill>
                <a:latin typeface="Segoe UI"/>
              </a:rPr>
              <a:t>Governance</a:t>
            </a:r>
          </a:p>
        </p:txBody>
      </p:sp>
      <p:sp>
        <p:nvSpPr>
          <p:cNvPr id="58" name="Rounded Rectangle 57"/>
          <p:cNvSpPr/>
          <p:nvPr/>
        </p:nvSpPr>
        <p:spPr>
          <a:xfrm>
            <a:off x="566928" y="4800600"/>
            <a:ext cx="11057839" cy="91440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566928" y="4882896"/>
            <a:ext cx="11057839" cy="292608"/>
          </a:xfrm>
          <a:prstGeom prst="rect">
            <a:avLst/>
          </a:prstGeom>
          <a:noFill/>
        </p:spPr>
        <p:txBody>
          <a:bodyPr wrap="square" anchor="t" lIns="0" rIns="0" tIns="0" bIns="0">
            <a:spAutoFit/>
          </a:bodyPr>
          <a:lstStyle/>
          <a:p>
            <a:pPr algn="ctr">
              <a:lnSpc>
                <a:spcPct val="100000"/>
              </a:lnSpc>
              <a:spcBef>
                <a:spcPts val="0"/>
              </a:spcBef>
              <a:spcAft>
                <a:spcPts val="200"/>
              </a:spcAft>
            </a:pPr>
            <a:r>
              <a:rPr sz="1100" b="1" i="0">
                <a:solidFill>
                  <a:srgbClr val="465257"/>
                </a:solidFill>
                <a:latin typeface="Segoe UI Semibold"/>
              </a:rPr>
              <a:t>OPEN DATA LAKE  ·  YOUR CLOUD STORAGE</a:t>
            </a:r>
          </a:p>
        </p:txBody>
      </p:sp>
      <p:sp>
        <p:nvSpPr>
          <p:cNvPr id="60" name="Rounded Rectangle 59"/>
          <p:cNvSpPr/>
          <p:nvPr/>
        </p:nvSpPr>
        <p:spPr>
          <a:xfrm>
            <a:off x="886968" y="5230368"/>
            <a:ext cx="2432989" cy="384048"/>
          </a:xfrm>
          <a:prstGeom prst="roundRect">
            <a:avLst>
              <a:gd name="adj" fmla="val 40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B3139"/>
                </a:solidFill>
                <a:latin typeface="Segoe UI Semibold"/>
              </a:rPr>
              <a:t>Amazon S3</a:t>
            </a:r>
          </a:p>
        </p:txBody>
      </p:sp>
      <p:sp>
        <p:nvSpPr>
          <p:cNvPr id="61" name="Rounded Rectangle 60"/>
          <p:cNvSpPr/>
          <p:nvPr/>
        </p:nvSpPr>
        <p:spPr>
          <a:xfrm>
            <a:off x="3548557" y="5230368"/>
            <a:ext cx="2432989" cy="384048"/>
          </a:xfrm>
          <a:prstGeom prst="roundRect">
            <a:avLst>
              <a:gd name="adj" fmla="val 40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B3139"/>
                </a:solidFill>
                <a:latin typeface="Segoe UI Semibold"/>
              </a:rPr>
              <a:t>Azure ADLS</a:t>
            </a:r>
          </a:p>
        </p:txBody>
      </p:sp>
      <p:sp>
        <p:nvSpPr>
          <p:cNvPr id="62" name="Rounded Rectangle 61"/>
          <p:cNvSpPr/>
          <p:nvPr/>
        </p:nvSpPr>
        <p:spPr>
          <a:xfrm>
            <a:off x="6210147" y="5230368"/>
            <a:ext cx="2432989" cy="384048"/>
          </a:xfrm>
          <a:prstGeom prst="roundRect">
            <a:avLst>
              <a:gd name="adj" fmla="val 40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B3139"/>
                </a:solidFill>
                <a:latin typeface="Segoe UI Semibold"/>
              </a:rPr>
              <a:t>Google Cloud Storage</a:t>
            </a:r>
          </a:p>
        </p:txBody>
      </p:sp>
      <p:sp>
        <p:nvSpPr>
          <p:cNvPr id="63" name="Rounded Rectangle 62"/>
          <p:cNvSpPr/>
          <p:nvPr/>
        </p:nvSpPr>
        <p:spPr>
          <a:xfrm>
            <a:off x="8871737" y="5230368"/>
            <a:ext cx="2432989" cy="384048"/>
          </a:xfrm>
          <a:prstGeom prst="roundRect">
            <a:avLst>
              <a:gd name="adj" fmla="val 40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B3139"/>
                </a:solidFill>
                <a:latin typeface="Segoe UI Semibold"/>
              </a:rPr>
              <a:t>Open Delta / Parquet / Iceberg</a:t>
            </a:r>
          </a:p>
        </p:txBody>
      </p:sp>
      <p:sp>
        <p:nvSpPr>
          <p:cNvPr id="64" name="TextBox 63"/>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5" name="TextBox 64"/>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INTRODUCTION TO DATABRICKS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Databricks Core Components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210312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2103120"/>
            <a:ext cx="1918959"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1060063" y="2295144"/>
            <a:ext cx="932688" cy="932688"/>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1440600" y="2581292"/>
            <a:ext cx="171614" cy="17161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1380535" y="2778649"/>
            <a:ext cx="291744" cy="18019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99211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13" name="TextBox 12"/>
          <p:cNvSpPr txBox="1"/>
          <p:nvPr/>
        </p:nvSpPr>
        <p:spPr>
          <a:xfrm>
            <a:off x="676656" y="323697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Workspace</a:t>
            </a:r>
          </a:p>
        </p:txBody>
      </p:sp>
      <p:sp>
        <p:nvSpPr>
          <p:cNvPr id="14" name="TextBox 13"/>
          <p:cNvSpPr txBox="1"/>
          <p:nvPr/>
        </p:nvSpPr>
        <p:spPr>
          <a:xfrm>
            <a:off x="713232" y="354787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Collaborative notebooks, repos &amp; dashboards for every team.</a:t>
            </a:r>
          </a:p>
        </p:txBody>
      </p:sp>
      <p:sp>
        <p:nvSpPr>
          <p:cNvPr id="15" name="Right Arrow 14"/>
          <p:cNvSpPr/>
          <p:nvPr/>
        </p:nvSpPr>
        <p:spPr>
          <a:xfrm>
            <a:off x="2522463" y="316382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2851647" y="210312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851647" y="2103120"/>
            <a:ext cx="1918959" cy="109728"/>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3344783" y="2295144"/>
            <a:ext cx="932688" cy="932688"/>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Lightning Bolt 18"/>
          <p:cNvSpPr/>
          <p:nvPr/>
        </p:nvSpPr>
        <p:spPr>
          <a:xfrm>
            <a:off x="3660964" y="2546969"/>
            <a:ext cx="300325" cy="429036"/>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427683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21" name="TextBox 20"/>
          <p:cNvSpPr txBox="1"/>
          <p:nvPr/>
        </p:nvSpPr>
        <p:spPr>
          <a:xfrm>
            <a:off x="2961375" y="323697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Spark + Photon</a:t>
            </a:r>
          </a:p>
        </p:txBody>
      </p:sp>
      <p:sp>
        <p:nvSpPr>
          <p:cNvPr id="22" name="TextBox 21"/>
          <p:cNvSpPr txBox="1"/>
          <p:nvPr/>
        </p:nvSpPr>
        <p:spPr>
          <a:xfrm>
            <a:off x="2997951" y="354787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Distributed engine with a vectorized C++ query accelerator.</a:t>
            </a:r>
          </a:p>
        </p:txBody>
      </p:sp>
      <p:sp>
        <p:nvSpPr>
          <p:cNvPr id="23" name="Right Arrow 22"/>
          <p:cNvSpPr/>
          <p:nvPr/>
        </p:nvSpPr>
        <p:spPr>
          <a:xfrm>
            <a:off x="4807183" y="316382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5136367" y="210312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136367" y="2103120"/>
            <a:ext cx="1918959" cy="109728"/>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629503" y="2295144"/>
            <a:ext cx="932688" cy="932688"/>
          </a:xfrm>
          <a:prstGeom prst="ellipse">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Isosceles Triangle 26"/>
          <p:cNvSpPr/>
          <p:nvPr/>
        </p:nvSpPr>
        <p:spPr>
          <a:xfrm>
            <a:off x="5881329" y="2568421"/>
            <a:ext cx="429036" cy="38613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656155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29" name="TextBox 28"/>
          <p:cNvSpPr txBox="1"/>
          <p:nvPr/>
        </p:nvSpPr>
        <p:spPr>
          <a:xfrm>
            <a:off x="5246095" y="323697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Delta Lake</a:t>
            </a:r>
          </a:p>
        </p:txBody>
      </p:sp>
      <p:sp>
        <p:nvSpPr>
          <p:cNvPr id="30" name="TextBox 29"/>
          <p:cNvSpPr txBox="1"/>
          <p:nvPr/>
        </p:nvSpPr>
        <p:spPr>
          <a:xfrm>
            <a:off x="5282671" y="354787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Open storage layer bringing ACID reliability to the lake.</a:t>
            </a:r>
          </a:p>
        </p:txBody>
      </p:sp>
      <p:sp>
        <p:nvSpPr>
          <p:cNvPr id="31" name="Right Arrow 30"/>
          <p:cNvSpPr/>
          <p:nvPr/>
        </p:nvSpPr>
        <p:spPr>
          <a:xfrm>
            <a:off x="7091903" y="316382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7421087" y="210312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7421087" y="2103120"/>
            <a:ext cx="1918959" cy="109728"/>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7914223" y="2295144"/>
            <a:ext cx="932688" cy="93268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307631" y="2688551"/>
            <a:ext cx="145872" cy="1458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6" name="Connector 35"/>
          <p:cNvCxnSpPr/>
          <p:nvPr/>
        </p:nvCxnSpPr>
        <p:spPr>
          <a:xfrm flipH="1" flipV="1">
            <a:off x="8200372" y="2632777"/>
            <a:ext cx="180195" cy="12871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8153178" y="2585583"/>
            <a:ext cx="94388" cy="943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8" name="Connector 37"/>
          <p:cNvCxnSpPr/>
          <p:nvPr/>
        </p:nvCxnSpPr>
        <p:spPr>
          <a:xfrm flipV="1">
            <a:off x="8380567" y="2632777"/>
            <a:ext cx="180195" cy="12871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8513568" y="2585583"/>
            <a:ext cx="94388" cy="943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0" name="Connector 39"/>
          <p:cNvCxnSpPr/>
          <p:nvPr/>
        </p:nvCxnSpPr>
        <p:spPr>
          <a:xfrm>
            <a:off x="8380567" y="2761487"/>
            <a:ext cx="0" cy="188777"/>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8333373" y="2903070"/>
            <a:ext cx="94388" cy="943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884627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4</a:t>
            </a:r>
          </a:p>
        </p:txBody>
      </p:sp>
      <p:sp>
        <p:nvSpPr>
          <p:cNvPr id="43" name="TextBox 42"/>
          <p:cNvSpPr txBox="1"/>
          <p:nvPr/>
        </p:nvSpPr>
        <p:spPr>
          <a:xfrm>
            <a:off x="7530815" y="323697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Mosaic AI</a:t>
            </a:r>
          </a:p>
        </p:txBody>
      </p:sp>
      <p:sp>
        <p:nvSpPr>
          <p:cNvPr id="44" name="TextBox 43"/>
          <p:cNvSpPr txBox="1"/>
          <p:nvPr/>
        </p:nvSpPr>
        <p:spPr>
          <a:xfrm>
            <a:off x="7567391" y="354787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MLflow &amp; GenAI lifecycle — track, tune, serve &amp; govern.</a:t>
            </a:r>
          </a:p>
        </p:txBody>
      </p:sp>
      <p:sp>
        <p:nvSpPr>
          <p:cNvPr id="45" name="Right Arrow 44"/>
          <p:cNvSpPr/>
          <p:nvPr/>
        </p:nvSpPr>
        <p:spPr>
          <a:xfrm>
            <a:off x="9376623" y="316382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9705807" y="210312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9705807" y="2103120"/>
            <a:ext cx="1918959" cy="109728"/>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Oval 47"/>
          <p:cNvSpPr/>
          <p:nvPr/>
        </p:nvSpPr>
        <p:spPr>
          <a:xfrm>
            <a:off x="10198943" y="2295144"/>
            <a:ext cx="932688" cy="932688"/>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ounded Rectangle 48"/>
          <p:cNvSpPr/>
          <p:nvPr/>
        </p:nvSpPr>
        <p:spPr>
          <a:xfrm>
            <a:off x="10519414" y="2740036"/>
            <a:ext cx="291744" cy="21451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Block Arc 49"/>
          <p:cNvSpPr/>
          <p:nvPr/>
        </p:nvSpPr>
        <p:spPr>
          <a:xfrm>
            <a:off x="10562318" y="2546969"/>
            <a:ext cx="205937" cy="214518"/>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111309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5</a:t>
            </a:r>
          </a:p>
        </p:txBody>
      </p:sp>
      <p:sp>
        <p:nvSpPr>
          <p:cNvPr id="52" name="TextBox 51"/>
          <p:cNvSpPr txBox="1"/>
          <p:nvPr/>
        </p:nvSpPr>
        <p:spPr>
          <a:xfrm>
            <a:off x="9815535" y="323697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Unity Catalog</a:t>
            </a:r>
          </a:p>
        </p:txBody>
      </p:sp>
      <p:sp>
        <p:nvSpPr>
          <p:cNvPr id="53" name="TextBox 52"/>
          <p:cNvSpPr txBox="1"/>
          <p:nvPr/>
        </p:nvSpPr>
        <p:spPr>
          <a:xfrm>
            <a:off x="9852111" y="354787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One governance layer: access, lineage, discovery &amp; sharing.</a:t>
            </a:r>
          </a:p>
        </p:txBody>
      </p:sp>
      <p:sp>
        <p:nvSpPr>
          <p:cNvPr id="54" name="Rounded Rectangle 53"/>
          <p:cNvSpPr/>
          <p:nvPr/>
        </p:nvSpPr>
        <p:spPr>
          <a:xfrm>
            <a:off x="566928" y="4754880"/>
            <a:ext cx="11057839" cy="100584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932688" y="4882896"/>
            <a:ext cx="10326319" cy="77724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Together these form the Lakehouse:  </a:t>
            </a:r>
            <a:r>
              <a:rPr sz="1250" b="0" i="0">
                <a:solidFill>
                  <a:srgbClr val="465257"/>
                </a:solidFill>
                <a:latin typeface="Segoe UI"/>
              </a:rPr>
              <a:t>the Workspace is where people work, Spark + Photon is the engine, Delta Lake is the reliable storage, Mosaic AI delivers intelligence, and Unity Catalog governs it all — one secure, open, collaborative system.</a:t>
            </a:r>
          </a:p>
        </p:txBody>
      </p:sp>
      <p:sp>
        <p:nvSpPr>
          <p:cNvPr id="56" name="TextBox 5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7" name="TextBox 5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INTRODUCTION TO DATABRICKS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Why Enterprises Choose Databricks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1828800"/>
            <a:ext cx="91440" cy="1929384"/>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740664" y="1975104"/>
            <a:ext cx="658368" cy="65836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Hexagon 9"/>
          <p:cNvSpPr/>
          <p:nvPr/>
        </p:nvSpPr>
        <p:spPr>
          <a:xfrm>
            <a:off x="918423" y="2168005"/>
            <a:ext cx="302849" cy="272564"/>
          </a:xfrm>
          <a:prstGeom prst="hexag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49961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Unified</a:t>
            </a:r>
          </a:p>
        </p:txBody>
      </p:sp>
      <p:sp>
        <p:nvSpPr>
          <p:cNvPr id="12" name="TextBox 11"/>
          <p:cNvSpPr txBox="1"/>
          <p:nvPr/>
        </p:nvSpPr>
        <p:spPr>
          <a:xfrm>
            <a:off x="841247"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Engineering, analytics, ML &amp; AI on one platform — no tool sprawl.</a:t>
            </a:r>
          </a:p>
        </p:txBody>
      </p:sp>
      <p:sp>
        <p:nvSpPr>
          <p:cNvPr id="13" name="Rounded Rectangle 12"/>
          <p:cNvSpPr/>
          <p:nvPr/>
        </p:nvSpPr>
        <p:spPr>
          <a:xfrm>
            <a:off x="433821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338218" y="1828800"/>
            <a:ext cx="91440" cy="1929384"/>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511954" y="1975104"/>
            <a:ext cx="658368" cy="658368"/>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Cube 15"/>
          <p:cNvSpPr/>
          <p:nvPr/>
        </p:nvSpPr>
        <p:spPr>
          <a:xfrm>
            <a:off x="4712427" y="2175577"/>
            <a:ext cx="257421" cy="257421"/>
          </a:xfrm>
          <a:prstGeom prst="cub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27090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Open &amp; Standard</a:t>
            </a:r>
          </a:p>
        </p:txBody>
      </p:sp>
      <p:sp>
        <p:nvSpPr>
          <p:cNvPr id="18" name="TextBox 17"/>
          <p:cNvSpPr txBox="1"/>
          <p:nvPr/>
        </p:nvSpPr>
        <p:spPr>
          <a:xfrm>
            <a:off x="461253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Delta, Spark, MLflow, Iceberg — open formats, zero vendor lock-in.</a:t>
            </a:r>
          </a:p>
        </p:txBody>
      </p:sp>
      <p:sp>
        <p:nvSpPr>
          <p:cNvPr id="19" name="Rounded Rectangle 18"/>
          <p:cNvSpPr/>
          <p:nvPr/>
        </p:nvSpPr>
        <p:spPr>
          <a:xfrm>
            <a:off x="810950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8109508" y="1828800"/>
            <a:ext cx="91440" cy="192938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8283244" y="1975104"/>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Lightning Bolt 21"/>
          <p:cNvSpPr/>
          <p:nvPr/>
        </p:nvSpPr>
        <p:spPr>
          <a:xfrm>
            <a:off x="8506431" y="2152863"/>
            <a:ext cx="211994" cy="302849"/>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04219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High Performance</a:t>
            </a:r>
          </a:p>
        </p:txBody>
      </p:sp>
      <p:sp>
        <p:nvSpPr>
          <p:cNvPr id="24" name="TextBox 23"/>
          <p:cNvSpPr txBox="1"/>
          <p:nvPr/>
        </p:nvSpPr>
        <p:spPr>
          <a:xfrm>
            <a:off x="838382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Photon engine &amp; optimized runtime deliver record price/performance.</a:t>
            </a:r>
          </a:p>
        </p:txBody>
      </p:sp>
      <p:sp>
        <p:nvSpPr>
          <p:cNvPr id="25" name="Rounded Rectangle 24"/>
          <p:cNvSpPr/>
          <p:nvPr/>
        </p:nvSpPr>
        <p:spPr>
          <a:xfrm>
            <a:off x="56692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66928" y="4014215"/>
            <a:ext cx="91440" cy="1929384"/>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740664" y="4160520"/>
            <a:ext cx="658368" cy="658368"/>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968090" y="4387946"/>
            <a:ext cx="82375" cy="82375"/>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1089230" y="4387946"/>
            <a:ext cx="82375" cy="82375"/>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68090" y="4509086"/>
            <a:ext cx="82375" cy="82375"/>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1089230" y="4509086"/>
            <a:ext cx="82375" cy="82375"/>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149961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Elastic Scale</a:t>
            </a:r>
          </a:p>
        </p:txBody>
      </p:sp>
      <p:sp>
        <p:nvSpPr>
          <p:cNvPr id="33" name="TextBox 32"/>
          <p:cNvSpPr txBox="1"/>
          <p:nvPr/>
        </p:nvSpPr>
        <p:spPr>
          <a:xfrm>
            <a:off x="841247"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Serverless &amp; autoscaling compute from gigabytes to petabytes.</a:t>
            </a:r>
          </a:p>
        </p:txBody>
      </p:sp>
      <p:sp>
        <p:nvSpPr>
          <p:cNvPr id="34" name="Rounded Rectangle 33"/>
          <p:cNvSpPr/>
          <p:nvPr/>
        </p:nvSpPr>
        <p:spPr>
          <a:xfrm>
            <a:off x="433821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4338218" y="4014215"/>
            <a:ext cx="91440" cy="192938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4511954" y="4160520"/>
            <a:ext cx="658368" cy="658368"/>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4780568" y="4362507"/>
            <a:ext cx="121139" cy="12113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4738169" y="4501817"/>
            <a:ext cx="205937" cy="1271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27090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Collaborative</a:t>
            </a:r>
          </a:p>
        </p:txBody>
      </p:sp>
      <p:sp>
        <p:nvSpPr>
          <p:cNvPr id="40" name="TextBox 39"/>
          <p:cNvSpPr txBox="1"/>
          <p:nvPr/>
        </p:nvSpPr>
        <p:spPr>
          <a:xfrm>
            <a:off x="461253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Shared notebooks, Git integration and reproducible workflows.</a:t>
            </a:r>
          </a:p>
        </p:txBody>
      </p:sp>
      <p:sp>
        <p:nvSpPr>
          <p:cNvPr id="41" name="Rounded Rectangle 40"/>
          <p:cNvSpPr/>
          <p:nvPr/>
        </p:nvSpPr>
        <p:spPr>
          <a:xfrm>
            <a:off x="810950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8109508" y="4014215"/>
            <a:ext cx="91440" cy="1929384"/>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8283244" y="4160520"/>
            <a:ext cx="658368" cy="65836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8509460" y="4474561"/>
            <a:ext cx="205937" cy="151424"/>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Block Arc 44"/>
          <p:cNvSpPr/>
          <p:nvPr/>
        </p:nvSpPr>
        <p:spPr>
          <a:xfrm>
            <a:off x="8539744" y="4338279"/>
            <a:ext cx="145367" cy="151424"/>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904219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Governed &amp; Secure</a:t>
            </a:r>
          </a:p>
        </p:txBody>
      </p:sp>
      <p:sp>
        <p:nvSpPr>
          <p:cNvPr id="47" name="TextBox 46"/>
          <p:cNvSpPr txBox="1"/>
          <p:nvPr/>
        </p:nvSpPr>
        <p:spPr>
          <a:xfrm>
            <a:off x="838382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Unity Catalog, fine-grained access, lineage and compliance built in.</a:t>
            </a:r>
          </a:p>
        </p:txBody>
      </p:sp>
      <p:sp>
        <p:nvSpPr>
          <p:cNvPr id="48" name="TextBox 47"/>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9" name="TextBox 48"/>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1463040"/>
            <a:ext cx="5486400" cy="2194560"/>
          </a:xfrm>
          <a:prstGeom prst="rect">
            <a:avLst/>
          </a:prstGeom>
          <a:noFill/>
        </p:spPr>
        <p:txBody>
          <a:bodyPr wrap="square" anchor="t" lIns="0" rIns="0" tIns="0" bIns="0">
            <a:spAutoFit/>
          </a:bodyPr>
          <a:lstStyle/>
          <a:p>
            <a:pPr algn="l">
              <a:lnSpc>
                <a:spcPct val="100000"/>
              </a:lnSpc>
              <a:spcBef>
                <a:spcPts val="0"/>
              </a:spcBef>
              <a:spcAft>
                <a:spcPts val="200"/>
              </a:spcAft>
            </a:pPr>
            <a:r>
              <a:rPr sz="20000" b="1" i="0">
                <a:solidFill>
                  <a:srgbClr val="27444F"/>
                </a:solidFill>
                <a:latin typeface="Segoe UI Light"/>
              </a:rPr>
              <a:t>03</a:t>
            </a:r>
          </a:p>
        </p:txBody>
      </p:sp>
      <p:sp>
        <p:nvSpPr>
          <p:cNvPr id="9" name="Rounded Rectangle 8"/>
          <p:cNvSpPr/>
          <p:nvPr/>
        </p:nvSpPr>
        <p:spPr>
          <a:xfrm>
            <a:off x="612648" y="3310128"/>
            <a:ext cx="777240" cy="914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12648" y="2743200"/>
            <a:ext cx="7315200" cy="36576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F3621"/>
                </a:solidFill>
                <a:latin typeface="Segoe UI Semibold"/>
              </a:rPr>
              <a:t>SECTION THREE</a:t>
            </a:r>
          </a:p>
        </p:txBody>
      </p:sp>
      <p:sp>
        <p:nvSpPr>
          <p:cNvPr id="11" name="TextBox 10"/>
          <p:cNvSpPr txBox="1"/>
          <p:nvPr/>
        </p:nvSpPr>
        <p:spPr>
          <a:xfrm>
            <a:off x="566928" y="3456432"/>
            <a:ext cx="7680960" cy="1097280"/>
          </a:xfrm>
          <a:prstGeom prst="rect">
            <a:avLst/>
          </a:prstGeom>
          <a:noFill/>
        </p:spPr>
        <p:txBody>
          <a:bodyPr wrap="square" anchor="t" lIns="0" rIns="0" tIns="0" bIns="0">
            <a:spAutoFit/>
          </a:bodyPr>
          <a:lstStyle/>
          <a:p>
            <a:pPr algn="l">
              <a:lnSpc>
                <a:spcPct val="98000"/>
              </a:lnSpc>
              <a:spcBef>
                <a:spcPts val="0"/>
              </a:spcBef>
              <a:spcAft>
                <a:spcPts val="200"/>
              </a:spcAft>
            </a:pPr>
            <a:r>
              <a:rPr sz="4000" b="1" i="0">
                <a:solidFill>
                  <a:srgbClr val="FFFFFF"/>
                </a:solidFill>
                <a:latin typeface="Segoe UI"/>
              </a:rPr>
              <a:t>Databricks Architecture</a:t>
            </a:r>
          </a:p>
        </p:txBody>
      </p:sp>
      <p:sp>
        <p:nvSpPr>
          <p:cNvPr id="12" name="TextBox 11"/>
          <p:cNvSpPr txBox="1"/>
          <p:nvPr/>
        </p:nvSpPr>
        <p:spPr>
          <a:xfrm>
            <a:off x="612648" y="4754880"/>
            <a:ext cx="6949440" cy="1463040"/>
          </a:xfrm>
          <a:prstGeom prst="rect">
            <a:avLst/>
          </a:prstGeom>
          <a:noFill/>
        </p:spPr>
        <p:txBody>
          <a:bodyPr wrap="square" anchor="t" lIns="0" rIns="0" tIns="0" bIns="0">
            <a:spAutoFit/>
          </a:bodyPr>
          <a:lstStyle/>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Control &amp; compute planes · Spark internals</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Delta Lake, medallion &amp; cluster architecture</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Security, end-to-end data flow &amp; integration</a:t>
            </a:r>
          </a:p>
        </p:txBody>
      </p:sp>
      <p:sp>
        <p:nvSpPr>
          <p:cNvPr id="13" name="Oval 12"/>
          <p:cNvSpPr/>
          <p:nvPr/>
        </p:nvSpPr>
        <p:spPr>
          <a:xfrm>
            <a:off x="8641080" y="2423160"/>
            <a:ext cx="2286000" cy="2286000"/>
          </a:xfrm>
          <a:prstGeom prst="ellipse">
            <a:avLst/>
          </a:prstGeom>
          <a:solidFill>
            <a:srgbClr val="FF3621"/>
          </a:solidFill>
          <a:ln w="15240">
            <a:solidFill>
              <a:srgbClr val="FF8A78"/>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9430755" y="3212835"/>
            <a:ext cx="286024" cy="28602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9851379" y="3212835"/>
            <a:ext cx="286024" cy="28602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9430755" y="3633459"/>
            <a:ext cx="286024" cy="28602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9851379" y="3633459"/>
            <a:ext cx="286024" cy="28602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7E9199"/>
                </a:solidFill>
                <a:latin typeface="Segoe UI"/>
              </a:rPr>
              <a:t>Big Data &amp; Databricks  ·  Enterprise Training Series</a:t>
            </a:r>
          </a:p>
        </p:txBody>
      </p:sp>
      <p:sp>
        <p:nvSpPr>
          <p:cNvPr id="19" name="TextBox 18"/>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7E9199"/>
                </a:solidFill>
                <a:latin typeface="Segoe U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DATABRICKS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Architecture Overview — Two Planes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28800"/>
            <a:ext cx="11057839" cy="169164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841247" y="2029968"/>
            <a:ext cx="2468880" cy="457200"/>
          </a:xfrm>
          <a:prstGeom prst="roundRect">
            <a:avLst>
              <a:gd name="adj" fmla="val 16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CONTROL PLANE</a:t>
            </a:r>
          </a:p>
        </p:txBody>
      </p:sp>
      <p:sp>
        <p:nvSpPr>
          <p:cNvPr id="9" name="TextBox 8"/>
          <p:cNvSpPr txBox="1"/>
          <p:nvPr/>
        </p:nvSpPr>
        <p:spPr>
          <a:xfrm>
            <a:off x="3493008" y="2029968"/>
            <a:ext cx="7857439" cy="457200"/>
          </a:xfrm>
          <a:prstGeom prst="rect">
            <a:avLst/>
          </a:prstGeom>
          <a:noFill/>
        </p:spPr>
        <p:txBody>
          <a:bodyPr wrap="square" anchor="ctr" lIns="0" rIns="0" tIns="0" bIns="0">
            <a:spAutoFit/>
          </a:bodyPr>
          <a:lstStyle/>
          <a:p>
            <a:pPr algn="l">
              <a:lnSpc>
                <a:spcPct val="100000"/>
              </a:lnSpc>
              <a:spcBef>
                <a:spcPts val="0"/>
              </a:spcBef>
              <a:spcAft>
                <a:spcPts val="200"/>
              </a:spcAft>
            </a:pPr>
            <a:r>
              <a:rPr sz="1150" b="0" i="1">
                <a:solidFill>
                  <a:srgbClr val="B6C2C6"/>
                </a:solidFill>
                <a:latin typeface="Segoe UI"/>
              </a:rPr>
              <a:t>Managed by Databricks  ·  no customer data at rest</a:t>
            </a:r>
          </a:p>
        </p:txBody>
      </p:sp>
      <p:sp>
        <p:nvSpPr>
          <p:cNvPr id="10" name="Rounded Rectangle 9"/>
          <p:cNvSpPr/>
          <p:nvPr/>
        </p:nvSpPr>
        <p:spPr>
          <a:xfrm>
            <a:off x="841247" y="2606040"/>
            <a:ext cx="1614373" cy="713232"/>
          </a:xfrm>
          <a:prstGeom prst="roundRect">
            <a:avLst>
              <a:gd name="adj" fmla="val 12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606040"/>
            <a:ext cx="1541221" cy="713232"/>
          </a:xfrm>
          <a:prstGeom prst="rect">
            <a:avLst/>
          </a:prstGeom>
          <a:noFill/>
        </p:spPr>
        <p:txBody>
          <a:bodyPr wrap="square" anchor="ctr" lIns="0" rIns="0" tIns="0" bIns="0">
            <a:spAutoFit/>
          </a:bodyPr>
          <a:lstStyle/>
          <a:p>
            <a:pPr algn="ctr">
              <a:lnSpc>
                <a:spcPct val="92000"/>
              </a:lnSpc>
              <a:spcBef>
                <a:spcPts val="0"/>
              </a:spcBef>
              <a:spcAft>
                <a:spcPts val="200"/>
              </a:spcAft>
            </a:pPr>
            <a:r>
              <a:rPr sz="1019" b="1" i="0">
                <a:solidFill>
                  <a:srgbClr val="FFFFFF"/>
                </a:solidFill>
                <a:latin typeface="Segoe UI"/>
              </a:rPr>
              <a:t>Web App &amp; UI</a:t>
            </a:r>
          </a:p>
        </p:txBody>
      </p:sp>
      <p:sp>
        <p:nvSpPr>
          <p:cNvPr id="12" name="Rounded Rectangle 11"/>
          <p:cNvSpPr/>
          <p:nvPr/>
        </p:nvSpPr>
        <p:spPr>
          <a:xfrm>
            <a:off x="2620213" y="2606040"/>
            <a:ext cx="1614373" cy="713232"/>
          </a:xfrm>
          <a:prstGeom prst="roundRect">
            <a:avLst>
              <a:gd name="adj" fmla="val 12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656789" y="2606040"/>
            <a:ext cx="1541221" cy="713232"/>
          </a:xfrm>
          <a:prstGeom prst="rect">
            <a:avLst/>
          </a:prstGeom>
          <a:noFill/>
        </p:spPr>
        <p:txBody>
          <a:bodyPr wrap="square" anchor="ctr" lIns="0" rIns="0" tIns="0" bIns="0">
            <a:spAutoFit/>
          </a:bodyPr>
          <a:lstStyle/>
          <a:p>
            <a:pPr algn="ctr">
              <a:lnSpc>
                <a:spcPct val="92000"/>
              </a:lnSpc>
              <a:spcBef>
                <a:spcPts val="0"/>
              </a:spcBef>
              <a:spcAft>
                <a:spcPts val="200"/>
              </a:spcAft>
            </a:pPr>
            <a:r>
              <a:rPr sz="1019" b="1" i="0">
                <a:solidFill>
                  <a:srgbClr val="FFFFFF"/>
                </a:solidFill>
                <a:latin typeface="Segoe UI"/>
              </a:rPr>
              <a:t>Notebooks &amp; Repos</a:t>
            </a:r>
          </a:p>
        </p:txBody>
      </p:sp>
      <p:sp>
        <p:nvSpPr>
          <p:cNvPr id="14" name="Rounded Rectangle 13"/>
          <p:cNvSpPr/>
          <p:nvPr/>
        </p:nvSpPr>
        <p:spPr>
          <a:xfrm>
            <a:off x="4399178" y="2606040"/>
            <a:ext cx="1614373" cy="713232"/>
          </a:xfrm>
          <a:prstGeom prst="roundRect">
            <a:avLst>
              <a:gd name="adj" fmla="val 12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435754" y="2606040"/>
            <a:ext cx="1541221" cy="713232"/>
          </a:xfrm>
          <a:prstGeom prst="rect">
            <a:avLst/>
          </a:prstGeom>
          <a:noFill/>
        </p:spPr>
        <p:txBody>
          <a:bodyPr wrap="square" anchor="ctr" lIns="0" rIns="0" tIns="0" bIns="0">
            <a:spAutoFit/>
          </a:bodyPr>
          <a:lstStyle/>
          <a:p>
            <a:pPr algn="ctr">
              <a:lnSpc>
                <a:spcPct val="92000"/>
              </a:lnSpc>
              <a:spcBef>
                <a:spcPts val="0"/>
              </a:spcBef>
              <a:spcAft>
                <a:spcPts val="200"/>
              </a:spcAft>
            </a:pPr>
            <a:r>
              <a:rPr sz="1019" b="1" i="0">
                <a:solidFill>
                  <a:srgbClr val="FFFFFF"/>
                </a:solidFill>
                <a:latin typeface="Segoe UI"/>
              </a:rPr>
              <a:t>Job Scheduler</a:t>
            </a:r>
          </a:p>
        </p:txBody>
      </p:sp>
      <p:sp>
        <p:nvSpPr>
          <p:cNvPr id="16" name="Rounded Rectangle 15"/>
          <p:cNvSpPr/>
          <p:nvPr/>
        </p:nvSpPr>
        <p:spPr>
          <a:xfrm>
            <a:off x="6178143" y="2606040"/>
            <a:ext cx="1614373" cy="713232"/>
          </a:xfrm>
          <a:prstGeom prst="roundRect">
            <a:avLst>
              <a:gd name="adj" fmla="val 12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4719" y="2606040"/>
            <a:ext cx="1541221" cy="713232"/>
          </a:xfrm>
          <a:prstGeom prst="rect">
            <a:avLst/>
          </a:prstGeom>
          <a:noFill/>
        </p:spPr>
        <p:txBody>
          <a:bodyPr wrap="square" anchor="ctr" lIns="0" rIns="0" tIns="0" bIns="0">
            <a:spAutoFit/>
          </a:bodyPr>
          <a:lstStyle/>
          <a:p>
            <a:pPr algn="ctr">
              <a:lnSpc>
                <a:spcPct val="92000"/>
              </a:lnSpc>
              <a:spcBef>
                <a:spcPts val="0"/>
              </a:spcBef>
              <a:spcAft>
                <a:spcPts val="200"/>
              </a:spcAft>
            </a:pPr>
            <a:r>
              <a:rPr sz="1019" b="1" i="0">
                <a:solidFill>
                  <a:srgbClr val="FFFFFF"/>
                </a:solidFill>
                <a:latin typeface="Segoe UI"/>
              </a:rPr>
              <a:t>Cluster Manager</a:t>
            </a:r>
          </a:p>
        </p:txBody>
      </p:sp>
      <p:sp>
        <p:nvSpPr>
          <p:cNvPr id="18" name="Rounded Rectangle 17"/>
          <p:cNvSpPr/>
          <p:nvPr/>
        </p:nvSpPr>
        <p:spPr>
          <a:xfrm>
            <a:off x="7957108" y="2606040"/>
            <a:ext cx="1614373" cy="713232"/>
          </a:xfrm>
          <a:prstGeom prst="roundRect">
            <a:avLst>
              <a:gd name="adj" fmla="val 12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993684" y="2606040"/>
            <a:ext cx="1541221" cy="713232"/>
          </a:xfrm>
          <a:prstGeom prst="rect">
            <a:avLst/>
          </a:prstGeom>
          <a:noFill/>
        </p:spPr>
        <p:txBody>
          <a:bodyPr wrap="square" anchor="ctr" lIns="0" rIns="0" tIns="0" bIns="0">
            <a:spAutoFit/>
          </a:bodyPr>
          <a:lstStyle/>
          <a:p>
            <a:pPr algn="ctr">
              <a:lnSpc>
                <a:spcPct val="92000"/>
              </a:lnSpc>
              <a:spcBef>
                <a:spcPts val="0"/>
              </a:spcBef>
              <a:spcAft>
                <a:spcPts val="200"/>
              </a:spcAft>
            </a:pPr>
            <a:r>
              <a:rPr sz="1019" b="1" i="0">
                <a:solidFill>
                  <a:srgbClr val="FFFFFF"/>
                </a:solidFill>
                <a:latin typeface="Segoe UI"/>
              </a:rPr>
              <a:t>Unity Catalog</a:t>
            </a:r>
          </a:p>
        </p:txBody>
      </p:sp>
      <p:sp>
        <p:nvSpPr>
          <p:cNvPr id="20" name="Rounded Rectangle 19"/>
          <p:cNvSpPr/>
          <p:nvPr/>
        </p:nvSpPr>
        <p:spPr>
          <a:xfrm>
            <a:off x="9736074" y="2606040"/>
            <a:ext cx="1614373" cy="713232"/>
          </a:xfrm>
          <a:prstGeom prst="roundRect">
            <a:avLst>
              <a:gd name="adj" fmla="val 12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772649" y="2606040"/>
            <a:ext cx="1541221" cy="713232"/>
          </a:xfrm>
          <a:prstGeom prst="rect">
            <a:avLst/>
          </a:prstGeom>
          <a:noFill/>
        </p:spPr>
        <p:txBody>
          <a:bodyPr wrap="square" anchor="ctr" lIns="0" rIns="0" tIns="0" bIns="0">
            <a:spAutoFit/>
          </a:bodyPr>
          <a:lstStyle/>
          <a:p>
            <a:pPr algn="ctr">
              <a:lnSpc>
                <a:spcPct val="92000"/>
              </a:lnSpc>
              <a:spcBef>
                <a:spcPts val="0"/>
              </a:spcBef>
              <a:spcAft>
                <a:spcPts val="200"/>
              </a:spcAft>
            </a:pPr>
            <a:r>
              <a:rPr sz="1019" b="1" i="0">
                <a:solidFill>
                  <a:srgbClr val="FFFFFF"/>
                </a:solidFill>
                <a:latin typeface="Segoe UI"/>
              </a:rPr>
              <a:t>REST APIs</a:t>
            </a:r>
          </a:p>
        </p:txBody>
      </p:sp>
      <p:sp>
        <p:nvSpPr>
          <p:cNvPr id="22" name="Left-Right Arrow 21"/>
          <p:cNvSpPr/>
          <p:nvPr/>
        </p:nvSpPr>
        <p:spPr>
          <a:xfrm rot="5400000">
            <a:off x="5715000" y="3657600"/>
            <a:ext cx="731520" cy="310896"/>
          </a:xfrm>
          <a:prstGeom prst="leftRight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92240" y="3621024"/>
            <a:ext cx="5029200" cy="365760"/>
          </a:xfrm>
          <a:prstGeom prst="rect">
            <a:avLst/>
          </a:prstGeom>
          <a:noFill/>
        </p:spPr>
        <p:txBody>
          <a:bodyPr wrap="square" anchor="t" lIns="0" rIns="0" tIns="0" bIns="0">
            <a:spAutoFit/>
          </a:bodyPr>
          <a:lstStyle/>
          <a:p>
            <a:pPr algn="l">
              <a:lnSpc>
                <a:spcPct val="100000"/>
              </a:lnSpc>
              <a:spcBef>
                <a:spcPts val="0"/>
              </a:spcBef>
              <a:spcAft>
                <a:spcPts val="200"/>
              </a:spcAft>
            </a:pPr>
            <a:r>
              <a:rPr sz="950" b="0" i="1">
                <a:solidFill>
                  <a:srgbClr val="9AA6AB"/>
                </a:solidFill>
                <a:latin typeface="Segoe UI"/>
              </a:rPr>
              <a:t>secure, encrypted control channel</a:t>
            </a:r>
          </a:p>
        </p:txBody>
      </p:sp>
      <p:sp>
        <p:nvSpPr>
          <p:cNvPr id="24" name="Rounded Rectangle 23"/>
          <p:cNvSpPr/>
          <p:nvPr/>
        </p:nvSpPr>
        <p:spPr>
          <a:xfrm>
            <a:off x="566928" y="4160520"/>
            <a:ext cx="11057839" cy="17830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841247" y="4361688"/>
            <a:ext cx="2743200" cy="457200"/>
          </a:xfrm>
          <a:prstGeom prst="roundRect">
            <a:avLst>
              <a:gd name="adj" fmla="val 16000"/>
            </a:avLst>
          </a:prstGeom>
          <a:solidFill>
            <a:srgbClr val="057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COMPUTE PLANE</a:t>
            </a:r>
          </a:p>
        </p:txBody>
      </p:sp>
      <p:sp>
        <p:nvSpPr>
          <p:cNvPr id="26" name="TextBox 25"/>
          <p:cNvSpPr txBox="1"/>
          <p:nvPr/>
        </p:nvSpPr>
        <p:spPr>
          <a:xfrm>
            <a:off x="3767328" y="4361688"/>
            <a:ext cx="7583119" cy="457200"/>
          </a:xfrm>
          <a:prstGeom prst="rect">
            <a:avLst/>
          </a:prstGeom>
          <a:noFill/>
        </p:spPr>
        <p:txBody>
          <a:bodyPr wrap="square" anchor="ctr" lIns="0" rIns="0" tIns="0" bIns="0">
            <a:spAutoFit/>
          </a:bodyPr>
          <a:lstStyle/>
          <a:p>
            <a:pPr algn="l">
              <a:lnSpc>
                <a:spcPct val="100000"/>
              </a:lnSpc>
              <a:spcBef>
                <a:spcPts val="0"/>
              </a:spcBef>
              <a:spcAft>
                <a:spcPts val="200"/>
              </a:spcAft>
            </a:pPr>
            <a:r>
              <a:rPr sz="1150" b="0" i="1">
                <a:solidFill>
                  <a:srgbClr val="6B777C"/>
                </a:solidFill>
                <a:latin typeface="Segoe UI"/>
              </a:rPr>
              <a:t>Runs in YOUR cloud account  ·  your data never leaves</a:t>
            </a:r>
          </a:p>
        </p:txBody>
      </p:sp>
      <p:sp>
        <p:nvSpPr>
          <p:cNvPr id="27" name="Rounded Rectangle 26"/>
          <p:cNvSpPr/>
          <p:nvPr/>
        </p:nvSpPr>
        <p:spPr>
          <a:xfrm>
            <a:off x="841247" y="4956048"/>
            <a:ext cx="1955535" cy="777240"/>
          </a:xfrm>
          <a:prstGeom prst="roundRect">
            <a:avLst>
              <a:gd name="adj" fmla="val 12000"/>
            </a:avLst>
          </a:prstGeom>
          <a:solidFill>
            <a:srgbClr val="EFECE6"/>
          </a:solidFill>
          <a:ln w="19050">
            <a:solidFill>
              <a:srgbClr val="FF36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841247" y="4956048"/>
            <a:ext cx="82296" cy="77724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87551" y="4956048"/>
            <a:ext cx="1754367" cy="777240"/>
          </a:xfrm>
          <a:prstGeom prst="rect">
            <a:avLst/>
          </a:prstGeom>
          <a:noFill/>
        </p:spPr>
        <p:txBody>
          <a:bodyPr wrap="square" anchor="ctr" lIns="0" rIns="0" tIns="0" bIns="0">
            <a:spAutoFit/>
          </a:bodyPr>
          <a:lstStyle/>
          <a:p>
            <a:pPr algn="ctr">
              <a:lnSpc>
                <a:spcPct val="95000"/>
              </a:lnSpc>
              <a:spcBef>
                <a:spcPts val="0"/>
              </a:spcBef>
              <a:spcAft>
                <a:spcPts val="200"/>
              </a:spcAft>
            </a:pPr>
            <a:r>
              <a:rPr sz="1050" b="1" i="0">
                <a:solidFill>
                  <a:srgbClr val="1B3139"/>
                </a:solidFill>
                <a:latin typeface="Segoe UI"/>
              </a:rPr>
              <a:t>Clusters &amp; Spark</a:t>
            </a:r>
          </a:p>
        </p:txBody>
      </p:sp>
      <p:sp>
        <p:nvSpPr>
          <p:cNvPr id="30" name="Rounded Rectangle 29"/>
          <p:cNvSpPr/>
          <p:nvPr/>
        </p:nvSpPr>
        <p:spPr>
          <a:xfrm>
            <a:off x="2979663" y="4956048"/>
            <a:ext cx="1955535" cy="777240"/>
          </a:xfrm>
          <a:prstGeom prst="roundRect">
            <a:avLst>
              <a:gd name="adj" fmla="val 12000"/>
            </a:avLst>
          </a:prstGeom>
          <a:solidFill>
            <a:srgbClr val="EFECE6"/>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79663" y="4956048"/>
            <a:ext cx="82296"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125967" y="4956048"/>
            <a:ext cx="1754367" cy="777240"/>
          </a:xfrm>
          <a:prstGeom prst="rect">
            <a:avLst/>
          </a:prstGeom>
          <a:noFill/>
        </p:spPr>
        <p:txBody>
          <a:bodyPr wrap="square" anchor="ctr" lIns="0" rIns="0" tIns="0" bIns="0">
            <a:spAutoFit/>
          </a:bodyPr>
          <a:lstStyle/>
          <a:p>
            <a:pPr algn="ctr">
              <a:lnSpc>
                <a:spcPct val="95000"/>
              </a:lnSpc>
              <a:spcBef>
                <a:spcPts val="0"/>
              </a:spcBef>
              <a:spcAft>
                <a:spcPts val="200"/>
              </a:spcAft>
            </a:pPr>
            <a:r>
              <a:rPr sz="1050" b="1" i="0">
                <a:solidFill>
                  <a:srgbClr val="1B3139"/>
                </a:solidFill>
                <a:latin typeface="Segoe UI"/>
              </a:rPr>
              <a:t>Photon Engine</a:t>
            </a:r>
          </a:p>
        </p:txBody>
      </p:sp>
      <p:sp>
        <p:nvSpPr>
          <p:cNvPr id="33" name="Rounded Rectangle 32"/>
          <p:cNvSpPr/>
          <p:nvPr/>
        </p:nvSpPr>
        <p:spPr>
          <a:xfrm>
            <a:off x="5118079" y="4956048"/>
            <a:ext cx="1955535" cy="777240"/>
          </a:xfrm>
          <a:prstGeom prst="roundRect">
            <a:avLst>
              <a:gd name="adj" fmla="val 12000"/>
            </a:avLst>
          </a:prstGeom>
          <a:solidFill>
            <a:srgbClr val="EFECE6"/>
          </a:solidFill>
          <a:ln w="19050">
            <a:solidFill>
              <a:srgbClr val="00A9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5118079" y="4956048"/>
            <a:ext cx="82296" cy="777240"/>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264383" y="4956048"/>
            <a:ext cx="1754367" cy="777240"/>
          </a:xfrm>
          <a:prstGeom prst="rect">
            <a:avLst/>
          </a:prstGeom>
          <a:noFill/>
        </p:spPr>
        <p:txBody>
          <a:bodyPr wrap="square" anchor="ctr" lIns="0" rIns="0" tIns="0" bIns="0">
            <a:spAutoFit/>
          </a:bodyPr>
          <a:lstStyle/>
          <a:p>
            <a:pPr algn="ctr">
              <a:lnSpc>
                <a:spcPct val="95000"/>
              </a:lnSpc>
              <a:spcBef>
                <a:spcPts val="0"/>
              </a:spcBef>
              <a:spcAft>
                <a:spcPts val="200"/>
              </a:spcAft>
            </a:pPr>
            <a:r>
              <a:rPr sz="1050" b="1" i="0">
                <a:solidFill>
                  <a:srgbClr val="1B3139"/>
                </a:solidFill>
                <a:latin typeface="Segoe UI"/>
              </a:rPr>
              <a:t>Serverless Compute</a:t>
            </a:r>
          </a:p>
        </p:txBody>
      </p:sp>
      <p:sp>
        <p:nvSpPr>
          <p:cNvPr id="36" name="Rounded Rectangle 35"/>
          <p:cNvSpPr/>
          <p:nvPr/>
        </p:nvSpPr>
        <p:spPr>
          <a:xfrm>
            <a:off x="7256495" y="4956048"/>
            <a:ext cx="1955535" cy="777240"/>
          </a:xfrm>
          <a:prstGeom prst="roundRect">
            <a:avLst>
              <a:gd name="adj" fmla="val 12000"/>
            </a:avLst>
          </a:prstGeom>
          <a:solidFill>
            <a:srgbClr val="EFECE6"/>
          </a:solidFill>
          <a:ln w="19050">
            <a:solidFill>
              <a:srgbClr val="0E8C9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7256495" y="4956048"/>
            <a:ext cx="82296" cy="777240"/>
          </a:xfrm>
          <a:prstGeom prst="rect">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402799" y="4956048"/>
            <a:ext cx="1754367" cy="777240"/>
          </a:xfrm>
          <a:prstGeom prst="rect">
            <a:avLst/>
          </a:prstGeom>
          <a:noFill/>
        </p:spPr>
        <p:txBody>
          <a:bodyPr wrap="square" anchor="ctr" lIns="0" rIns="0" tIns="0" bIns="0">
            <a:spAutoFit/>
          </a:bodyPr>
          <a:lstStyle/>
          <a:p>
            <a:pPr algn="ctr">
              <a:lnSpc>
                <a:spcPct val="95000"/>
              </a:lnSpc>
              <a:spcBef>
                <a:spcPts val="0"/>
              </a:spcBef>
              <a:spcAft>
                <a:spcPts val="200"/>
              </a:spcAft>
            </a:pPr>
            <a:r>
              <a:rPr sz="1050" b="1" i="0">
                <a:solidFill>
                  <a:srgbClr val="1B3139"/>
                </a:solidFill>
                <a:latin typeface="Segoe UI"/>
              </a:rPr>
              <a:t>Delta Lake Tables</a:t>
            </a:r>
          </a:p>
        </p:txBody>
      </p:sp>
      <p:sp>
        <p:nvSpPr>
          <p:cNvPr id="39" name="Rounded Rectangle 38"/>
          <p:cNvSpPr/>
          <p:nvPr/>
        </p:nvSpPr>
        <p:spPr>
          <a:xfrm>
            <a:off x="9394911" y="4956048"/>
            <a:ext cx="1955535" cy="777240"/>
          </a:xfrm>
          <a:prstGeom prst="roundRect">
            <a:avLst>
              <a:gd name="adj" fmla="val 12000"/>
            </a:avLst>
          </a:prstGeom>
          <a:solidFill>
            <a:srgbClr val="EFECE6"/>
          </a:solidFill>
          <a:ln w="19050">
            <a:solidFill>
              <a:srgbClr val="2272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9394911" y="4956048"/>
            <a:ext cx="82296" cy="777240"/>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541215" y="4956048"/>
            <a:ext cx="1754367" cy="777240"/>
          </a:xfrm>
          <a:prstGeom prst="rect">
            <a:avLst/>
          </a:prstGeom>
          <a:noFill/>
        </p:spPr>
        <p:txBody>
          <a:bodyPr wrap="square" anchor="ctr" lIns="0" rIns="0" tIns="0" bIns="0">
            <a:spAutoFit/>
          </a:bodyPr>
          <a:lstStyle/>
          <a:p>
            <a:pPr algn="ctr">
              <a:lnSpc>
                <a:spcPct val="95000"/>
              </a:lnSpc>
              <a:spcBef>
                <a:spcPts val="0"/>
              </a:spcBef>
              <a:spcAft>
                <a:spcPts val="200"/>
              </a:spcAft>
            </a:pPr>
            <a:r>
              <a:rPr sz="1050" b="1" i="0">
                <a:solidFill>
                  <a:srgbClr val="1B3139"/>
                </a:solidFill>
                <a:latin typeface="Segoe UI"/>
              </a:rPr>
              <a:t>Cloud Object Storage</a:t>
            </a:r>
          </a:p>
        </p:txBody>
      </p:sp>
      <p:sp>
        <p:nvSpPr>
          <p:cNvPr id="42" name="TextBox 41"/>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3" name="TextBox 42"/>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DATABRICKS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Control Plane &amp; Compute Plane in Detail</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74519"/>
            <a:ext cx="5394960" cy="40690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874519"/>
            <a:ext cx="5394960" cy="603504"/>
          </a:xfrm>
          <a:prstGeom prst="rect">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86968" y="1874519"/>
            <a:ext cx="4754880" cy="603504"/>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FFFFFF"/>
                </a:solidFill>
                <a:latin typeface="Segoe UI Semibold"/>
              </a:rPr>
              <a:t>CONTROL PLANE  ·  Databricks-Managed</a:t>
            </a:r>
          </a:p>
        </p:txBody>
      </p:sp>
      <p:sp>
        <p:nvSpPr>
          <p:cNvPr id="10" name="TextBox 9"/>
          <p:cNvSpPr txBox="1"/>
          <p:nvPr/>
        </p:nvSpPr>
        <p:spPr>
          <a:xfrm>
            <a:off x="886968" y="2615184"/>
            <a:ext cx="4754880" cy="274320"/>
          </a:xfrm>
          <a:prstGeom prst="rect">
            <a:avLst/>
          </a:prstGeom>
          <a:noFill/>
        </p:spPr>
        <p:txBody>
          <a:bodyPr wrap="square" anchor="t" lIns="0" rIns="0" tIns="0" bIns="0">
            <a:spAutoFit/>
          </a:bodyPr>
          <a:lstStyle/>
          <a:p>
            <a:pPr algn="l">
              <a:lnSpc>
                <a:spcPct val="100000"/>
              </a:lnSpc>
              <a:spcBef>
                <a:spcPts val="0"/>
              </a:spcBef>
              <a:spcAft>
                <a:spcPts val="200"/>
              </a:spcAft>
            </a:pPr>
            <a:r>
              <a:rPr sz="1050" b="1" i="1">
                <a:solidFill>
                  <a:srgbClr val="FF3621"/>
                </a:solidFill>
                <a:latin typeface="Segoe UI"/>
              </a:rPr>
              <a:t>Hosts the experience &amp; metadata</a:t>
            </a:r>
          </a:p>
        </p:txBody>
      </p:sp>
      <p:sp>
        <p:nvSpPr>
          <p:cNvPr id="11" name="TextBox 10"/>
          <p:cNvSpPr txBox="1"/>
          <p:nvPr/>
        </p:nvSpPr>
        <p:spPr>
          <a:xfrm>
            <a:off x="886968" y="2926080"/>
            <a:ext cx="4754880" cy="2926080"/>
          </a:xfrm>
          <a:prstGeom prst="rect">
            <a:avLst/>
          </a:prstGeom>
          <a:noFill/>
        </p:spPr>
        <p:txBody>
          <a:bodyPr wrap="square" anchor="t" lIns="0" rIns="0" tIns="0" bIns="0">
            <a:spAutoFit/>
          </a:bodyPr>
          <a:lstStyle/>
          <a:p>
            <a:pPr marL="274320" indent="-274320">
              <a:lnSpc>
                <a:spcPct val="112000"/>
              </a:lnSpc>
              <a:spcBef>
                <a:spcPts val="0"/>
              </a:spcBef>
              <a:spcAft>
                <a:spcPts val="1000"/>
              </a:spcAft>
            </a:pPr>
            <a:r>
              <a:rPr sz="1180" b="1">
                <a:solidFill>
                  <a:srgbClr val="FF3621"/>
                </a:solidFill>
                <a:latin typeface="Segoe UI"/>
              </a:rPr>
              <a:t>▪   </a:t>
            </a:r>
            <a:r>
              <a:rPr sz="1180">
                <a:solidFill>
                  <a:srgbClr val="465257"/>
                </a:solidFill>
                <a:latin typeface="Segoe UI"/>
              </a:rPr>
              <a:t>Web application, UI &amp; collaborative notebooks</a:t>
            </a:r>
          </a:p>
          <a:p>
            <a:pPr marL="274320" indent="-274320">
              <a:lnSpc>
                <a:spcPct val="112000"/>
              </a:lnSpc>
              <a:spcBef>
                <a:spcPts val="0"/>
              </a:spcBef>
              <a:spcAft>
                <a:spcPts val="1000"/>
              </a:spcAft>
            </a:pPr>
            <a:r>
              <a:rPr sz="1180" b="1">
                <a:solidFill>
                  <a:srgbClr val="FF3621"/>
                </a:solidFill>
                <a:latin typeface="Segoe UI"/>
              </a:rPr>
              <a:t>▪   </a:t>
            </a:r>
            <a:r>
              <a:rPr sz="1180">
                <a:solidFill>
                  <a:srgbClr val="465257"/>
                </a:solidFill>
                <a:latin typeface="Segoe UI"/>
              </a:rPr>
              <a:t>Jobs scheduler &amp; workflow orchestration</a:t>
            </a:r>
          </a:p>
          <a:p>
            <a:pPr marL="274320" indent="-274320">
              <a:lnSpc>
                <a:spcPct val="112000"/>
              </a:lnSpc>
              <a:spcBef>
                <a:spcPts val="0"/>
              </a:spcBef>
              <a:spcAft>
                <a:spcPts val="1000"/>
              </a:spcAft>
            </a:pPr>
            <a:r>
              <a:rPr sz="1180" b="1">
                <a:solidFill>
                  <a:srgbClr val="FF3621"/>
                </a:solidFill>
                <a:latin typeface="Segoe UI"/>
              </a:rPr>
              <a:t>▪   </a:t>
            </a:r>
            <a:r>
              <a:rPr sz="1180">
                <a:solidFill>
                  <a:srgbClr val="465257"/>
                </a:solidFill>
                <a:latin typeface="Segoe UI"/>
              </a:rPr>
              <a:t>Cluster lifecycle manager &amp; autoscaling logic</a:t>
            </a:r>
          </a:p>
          <a:p>
            <a:pPr marL="274320" indent="-274320">
              <a:lnSpc>
                <a:spcPct val="112000"/>
              </a:lnSpc>
              <a:spcBef>
                <a:spcPts val="0"/>
              </a:spcBef>
              <a:spcAft>
                <a:spcPts val="1000"/>
              </a:spcAft>
            </a:pPr>
            <a:r>
              <a:rPr sz="1180" b="1">
                <a:solidFill>
                  <a:srgbClr val="FF3621"/>
                </a:solidFill>
                <a:latin typeface="Segoe UI"/>
              </a:rPr>
              <a:t>▪   </a:t>
            </a:r>
            <a:r>
              <a:rPr sz="1180">
                <a:solidFill>
                  <a:srgbClr val="465257"/>
                </a:solidFill>
                <a:latin typeface="Segoe UI"/>
              </a:rPr>
              <a:t>Unity Catalog metastore — permissions &amp; lineage</a:t>
            </a:r>
          </a:p>
          <a:p>
            <a:pPr marL="274320" indent="-274320">
              <a:lnSpc>
                <a:spcPct val="112000"/>
              </a:lnSpc>
              <a:spcBef>
                <a:spcPts val="0"/>
              </a:spcBef>
              <a:spcAft>
                <a:spcPts val="1000"/>
              </a:spcAft>
            </a:pPr>
            <a:r>
              <a:rPr sz="1180" b="1">
                <a:solidFill>
                  <a:srgbClr val="FF3621"/>
                </a:solidFill>
                <a:latin typeface="Segoe UI"/>
              </a:rPr>
              <a:t>▪   </a:t>
            </a:r>
            <a:r>
              <a:rPr sz="1180">
                <a:solidFill>
                  <a:srgbClr val="465257"/>
                </a:solidFill>
                <a:latin typeface="Segoe UI"/>
              </a:rPr>
              <a:t>REST APIs, Git integration &amp; connectors</a:t>
            </a:r>
          </a:p>
          <a:p>
            <a:pPr marL="274320" indent="-274320">
              <a:lnSpc>
                <a:spcPct val="112000"/>
              </a:lnSpc>
              <a:spcBef>
                <a:spcPts val="0"/>
              </a:spcBef>
              <a:spcAft>
                <a:spcPts val="1000"/>
              </a:spcAft>
            </a:pPr>
            <a:r>
              <a:rPr sz="1180" b="1">
                <a:solidFill>
                  <a:srgbClr val="FF3621"/>
                </a:solidFill>
                <a:latin typeface="Segoe UI"/>
              </a:rPr>
              <a:t>▪   </a:t>
            </a:r>
            <a:r>
              <a:rPr sz="1180">
                <a:solidFill>
                  <a:srgbClr val="465257"/>
                </a:solidFill>
                <a:latin typeface="Segoe UI"/>
              </a:rPr>
              <a:t>No customer data stored at rest</a:t>
            </a:r>
          </a:p>
        </p:txBody>
      </p:sp>
      <p:sp>
        <p:nvSpPr>
          <p:cNvPr id="12" name="Rounded Rectangle 11"/>
          <p:cNvSpPr/>
          <p:nvPr/>
        </p:nvSpPr>
        <p:spPr>
          <a:xfrm>
            <a:off x="6217920" y="1874519"/>
            <a:ext cx="5394960" cy="40690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17920" y="1874519"/>
            <a:ext cx="5394960" cy="603504"/>
          </a:xfrm>
          <a:prstGeom prst="rect">
            <a:avLst/>
          </a:prstGeom>
          <a:solidFill>
            <a:srgbClr val="057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37960" y="1874519"/>
            <a:ext cx="4754880" cy="603504"/>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FFFFFF"/>
                </a:solidFill>
                <a:latin typeface="Segoe UI Semibold"/>
              </a:rPr>
              <a:t>COMPUTE PLANE  ·  Your Cloud Account</a:t>
            </a:r>
          </a:p>
        </p:txBody>
      </p:sp>
      <p:sp>
        <p:nvSpPr>
          <p:cNvPr id="15" name="TextBox 14"/>
          <p:cNvSpPr txBox="1"/>
          <p:nvPr/>
        </p:nvSpPr>
        <p:spPr>
          <a:xfrm>
            <a:off x="6537960" y="2615184"/>
            <a:ext cx="4754880" cy="274320"/>
          </a:xfrm>
          <a:prstGeom prst="rect">
            <a:avLst/>
          </a:prstGeom>
          <a:noFill/>
        </p:spPr>
        <p:txBody>
          <a:bodyPr wrap="square" anchor="t" lIns="0" rIns="0" tIns="0" bIns="0">
            <a:spAutoFit/>
          </a:bodyPr>
          <a:lstStyle/>
          <a:p>
            <a:pPr algn="l">
              <a:lnSpc>
                <a:spcPct val="100000"/>
              </a:lnSpc>
              <a:spcBef>
                <a:spcPts val="0"/>
              </a:spcBef>
              <a:spcAft>
                <a:spcPts val="200"/>
              </a:spcAft>
            </a:pPr>
            <a:r>
              <a:rPr sz="1050" b="1" i="1">
                <a:solidFill>
                  <a:srgbClr val="057A55"/>
                </a:solidFill>
                <a:latin typeface="Segoe UI"/>
              </a:rPr>
              <a:t>Where data is actually processed</a:t>
            </a:r>
          </a:p>
        </p:txBody>
      </p:sp>
      <p:sp>
        <p:nvSpPr>
          <p:cNvPr id="16" name="TextBox 15"/>
          <p:cNvSpPr txBox="1"/>
          <p:nvPr/>
        </p:nvSpPr>
        <p:spPr>
          <a:xfrm>
            <a:off x="6537960" y="2926080"/>
            <a:ext cx="4754880" cy="2926080"/>
          </a:xfrm>
          <a:prstGeom prst="rect">
            <a:avLst/>
          </a:prstGeom>
          <a:noFill/>
        </p:spPr>
        <p:txBody>
          <a:bodyPr wrap="square" anchor="t" lIns="0" rIns="0" tIns="0" bIns="0">
            <a:spAutoFit/>
          </a:bodyPr>
          <a:lstStyle/>
          <a:p>
            <a:pPr marL="274320" indent="-274320">
              <a:lnSpc>
                <a:spcPct val="112000"/>
              </a:lnSpc>
              <a:spcBef>
                <a:spcPts val="0"/>
              </a:spcBef>
              <a:spcAft>
                <a:spcPts val="900"/>
              </a:spcAft>
            </a:pPr>
            <a:r>
              <a:rPr sz="1180" b="1">
                <a:solidFill>
                  <a:srgbClr val="00A972"/>
                </a:solidFill>
                <a:latin typeface="Segoe UI"/>
              </a:rPr>
              <a:t>▪   </a:t>
            </a:r>
            <a:r>
              <a:rPr sz="1180">
                <a:solidFill>
                  <a:srgbClr val="465257"/>
                </a:solidFill>
                <a:latin typeface="Segoe UI"/>
              </a:rPr>
              <a:t>Clusters of VMs running Apache Spark + Photon</a:t>
            </a:r>
          </a:p>
          <a:p>
            <a:pPr marL="274320" indent="-274320">
              <a:lnSpc>
                <a:spcPct val="112000"/>
              </a:lnSpc>
              <a:spcBef>
                <a:spcPts val="0"/>
              </a:spcBef>
              <a:spcAft>
                <a:spcPts val="900"/>
              </a:spcAft>
            </a:pPr>
            <a:r>
              <a:rPr sz="1180" b="1">
                <a:solidFill>
                  <a:srgbClr val="00A972"/>
                </a:solidFill>
                <a:latin typeface="Segoe UI"/>
              </a:rPr>
              <a:t>▪   </a:t>
            </a:r>
            <a:r>
              <a:rPr sz="1180">
                <a:solidFill>
                  <a:srgbClr val="465257"/>
                </a:solidFill>
                <a:latin typeface="Segoe UI"/>
              </a:rPr>
              <a:t>Reads &amp; writes Delta tables in your object storage</a:t>
            </a:r>
          </a:p>
          <a:p>
            <a:pPr marL="512064" indent="-512064">
              <a:lnSpc>
                <a:spcPct val="112000"/>
              </a:lnSpc>
              <a:spcBef>
                <a:spcPts val="0"/>
              </a:spcBef>
              <a:spcAft>
                <a:spcPts val="900"/>
              </a:spcAft>
            </a:pPr>
            <a:r>
              <a:rPr sz="1180" b="1">
                <a:solidFill>
                  <a:srgbClr val="9AA6AB"/>
                </a:solidFill>
                <a:latin typeface="Segoe UI"/>
              </a:rPr>
              <a:t>–   </a:t>
            </a:r>
            <a:r>
              <a:rPr sz="1180">
                <a:solidFill>
                  <a:srgbClr val="465257"/>
                </a:solidFill>
                <a:latin typeface="Segoe UI"/>
              </a:rPr>
              <a:t>Classic compute — in your own cloud VPC/VNet</a:t>
            </a:r>
          </a:p>
          <a:p>
            <a:pPr marL="512064" indent="-512064">
              <a:lnSpc>
                <a:spcPct val="112000"/>
              </a:lnSpc>
              <a:spcBef>
                <a:spcPts val="0"/>
              </a:spcBef>
              <a:spcAft>
                <a:spcPts val="900"/>
              </a:spcAft>
            </a:pPr>
            <a:r>
              <a:rPr sz="1180" b="1">
                <a:solidFill>
                  <a:srgbClr val="9AA6AB"/>
                </a:solidFill>
                <a:latin typeface="Segoe UI"/>
              </a:rPr>
              <a:t>–   </a:t>
            </a:r>
            <a:r>
              <a:rPr sz="1180">
                <a:solidFill>
                  <a:srgbClr val="465257"/>
                </a:solidFill>
                <a:latin typeface="Segoe UI"/>
              </a:rPr>
              <a:t>Serverless compute — instant, Databricks-hosted pool</a:t>
            </a:r>
          </a:p>
          <a:p>
            <a:pPr marL="274320" indent="-274320">
              <a:lnSpc>
                <a:spcPct val="112000"/>
              </a:lnSpc>
              <a:spcBef>
                <a:spcPts val="0"/>
              </a:spcBef>
              <a:spcAft>
                <a:spcPts val="900"/>
              </a:spcAft>
            </a:pPr>
            <a:r>
              <a:rPr sz="1180" b="1">
                <a:solidFill>
                  <a:srgbClr val="00A972"/>
                </a:solidFill>
                <a:latin typeface="Segoe UI"/>
              </a:rPr>
              <a:t>▪   </a:t>
            </a:r>
            <a:r>
              <a:rPr sz="1180">
                <a:solidFill>
                  <a:srgbClr val="465257"/>
                </a:solidFill>
                <a:latin typeface="Segoe UI"/>
              </a:rPr>
              <a:t>Your data &amp; credentials never leave your tenancy</a:t>
            </a:r>
          </a:p>
          <a:p>
            <a:pPr marL="274320" indent="-274320">
              <a:lnSpc>
                <a:spcPct val="112000"/>
              </a:lnSpc>
              <a:spcBef>
                <a:spcPts val="0"/>
              </a:spcBef>
              <a:spcAft>
                <a:spcPts val="900"/>
              </a:spcAft>
            </a:pPr>
            <a:r>
              <a:rPr sz="1180" b="1">
                <a:solidFill>
                  <a:srgbClr val="00A972"/>
                </a:solidFill>
                <a:latin typeface="Segoe UI"/>
              </a:rPr>
              <a:t>▪   </a:t>
            </a:r>
            <a:r>
              <a:rPr sz="1180">
                <a:solidFill>
                  <a:srgbClr val="465257"/>
                </a:solidFill>
                <a:latin typeface="Segoe UI"/>
              </a:rPr>
              <a:t>Encrypted, network-isolated, compliance-ready</a:t>
            </a:r>
          </a:p>
        </p:txBody>
      </p:sp>
      <p:sp>
        <p:nvSpPr>
          <p:cNvPr id="17" name="TextBox 1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18" name="TextBox 1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DATABRICKS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Apache Spark — Distributed Execution</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965960"/>
            <a:ext cx="2926080" cy="182880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68095" y="2093976"/>
            <a:ext cx="603504" cy="603504"/>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Gear 6 8"/>
          <p:cNvSpPr/>
          <p:nvPr/>
        </p:nvSpPr>
        <p:spPr>
          <a:xfrm>
            <a:off x="931042" y="2256922"/>
            <a:ext cx="277611" cy="277611"/>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481328" y="2121408"/>
            <a:ext cx="1920240" cy="457200"/>
          </a:xfrm>
          <a:prstGeom prst="rect">
            <a:avLst/>
          </a:prstGeom>
          <a:noFill/>
        </p:spPr>
        <p:txBody>
          <a:bodyPr wrap="square" anchor="t" lIns="0" rIns="0" tIns="0" bIns="0">
            <a:spAutoFit/>
          </a:bodyPr>
          <a:lstStyle/>
          <a:p>
            <a:pPr algn="l">
              <a:lnSpc>
                <a:spcPct val="100000"/>
              </a:lnSpc>
              <a:spcBef>
                <a:spcPts val="0"/>
              </a:spcBef>
              <a:spcAft>
                <a:spcPts val="200"/>
              </a:spcAft>
            </a:pPr>
            <a:r>
              <a:rPr sz="1500" b="1" i="0">
                <a:solidFill>
                  <a:srgbClr val="FFFFFF"/>
                </a:solidFill>
                <a:latin typeface="Segoe UI"/>
              </a:rPr>
              <a:t>Driver</a:t>
            </a:r>
          </a:p>
        </p:txBody>
      </p:sp>
      <p:sp>
        <p:nvSpPr>
          <p:cNvPr id="11" name="TextBox 10"/>
          <p:cNvSpPr txBox="1"/>
          <p:nvPr/>
        </p:nvSpPr>
        <p:spPr>
          <a:xfrm>
            <a:off x="841247" y="2743200"/>
            <a:ext cx="2468880" cy="914400"/>
          </a:xfrm>
          <a:prstGeom prst="rect">
            <a:avLst/>
          </a:prstGeom>
          <a:noFill/>
        </p:spPr>
        <p:txBody>
          <a:bodyPr wrap="square" anchor="t" lIns="0" rIns="0" tIns="0" bIns="0">
            <a:spAutoFit/>
          </a:bodyPr>
          <a:lstStyle/>
          <a:p>
            <a:pPr algn="l">
              <a:lnSpc>
                <a:spcPct val="110000"/>
              </a:lnSpc>
              <a:spcBef>
                <a:spcPts val="0"/>
              </a:spcBef>
              <a:spcAft>
                <a:spcPts val="200"/>
              </a:spcAft>
            </a:pPr>
            <a:r>
              <a:rPr sz="1050" b="0" i="0">
                <a:solidFill>
                  <a:srgbClr val="C4D0D4"/>
                </a:solidFill>
                <a:latin typeface="Segoe UI"/>
              </a:rPr>
              <a:t>SparkContext · builds the DAG, plans &amp; schedules tasks across the cluster.</a:t>
            </a:r>
          </a:p>
        </p:txBody>
      </p:sp>
      <p:sp>
        <p:nvSpPr>
          <p:cNvPr id="12" name="Rounded Rectangle 11"/>
          <p:cNvSpPr/>
          <p:nvPr/>
        </p:nvSpPr>
        <p:spPr>
          <a:xfrm>
            <a:off x="749808" y="4069080"/>
            <a:ext cx="2560320" cy="548640"/>
          </a:xfrm>
          <a:prstGeom prst="roundRect">
            <a:avLst>
              <a:gd name="adj" fmla="val 16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a:solidFill>
                  <a:srgbClr val="FFFFFF"/>
                </a:solidFill>
                <a:latin typeface="Segoe UI Semibold"/>
              </a:rPr>
              <a:t>Cluster Manager</a:t>
            </a:r>
          </a:p>
        </p:txBody>
      </p:sp>
      <p:sp>
        <p:nvSpPr>
          <p:cNvPr id="13" name="TextBox 12"/>
          <p:cNvSpPr txBox="1"/>
          <p:nvPr/>
        </p:nvSpPr>
        <p:spPr>
          <a:xfrm>
            <a:off x="566928" y="4754880"/>
            <a:ext cx="3017520" cy="914400"/>
          </a:xfrm>
          <a:prstGeom prst="rect">
            <a:avLst/>
          </a:prstGeom>
          <a:noFill/>
        </p:spPr>
        <p:txBody>
          <a:bodyPr wrap="square" anchor="t" lIns="0" rIns="0" tIns="0" bIns="0">
            <a:spAutoFit/>
          </a:bodyPr>
          <a:lstStyle/>
          <a:p>
            <a:pPr algn="l">
              <a:lnSpc>
                <a:spcPct val="110000"/>
              </a:lnSpc>
              <a:spcBef>
                <a:spcPts val="0"/>
              </a:spcBef>
              <a:spcAft>
                <a:spcPts val="200"/>
              </a:spcAft>
            </a:pPr>
            <a:r>
              <a:rPr sz="1050" b="0" i="0">
                <a:solidFill>
                  <a:srgbClr val="6B777C"/>
                </a:solidFill>
                <a:latin typeface="Segoe UI"/>
              </a:rPr>
              <a:t>Allocates worker resources &amp; autoscales the cluster up or down.</a:t>
            </a:r>
          </a:p>
        </p:txBody>
      </p:sp>
      <p:cxnSp>
        <p:nvCxnSpPr>
          <p:cNvPr id="14" name="Connector 13"/>
          <p:cNvCxnSpPr/>
          <p:nvPr/>
        </p:nvCxnSpPr>
        <p:spPr>
          <a:xfrm flipV="1">
            <a:off x="3493008" y="2651760"/>
            <a:ext cx="987552" cy="228600"/>
          </a:xfrm>
          <a:prstGeom prst="line">
            <a:avLst/>
          </a:prstGeom>
          <a:ln w="20320">
            <a:solidFill>
              <a:srgbClr val="9AA6A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493008" y="2880360"/>
            <a:ext cx="987552" cy="777240"/>
          </a:xfrm>
          <a:prstGeom prst="line">
            <a:avLst/>
          </a:prstGeom>
          <a:ln w="20320">
            <a:solidFill>
              <a:srgbClr val="9AA6A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93008" y="2880360"/>
            <a:ext cx="987552" cy="1783080"/>
          </a:xfrm>
          <a:prstGeom prst="line">
            <a:avLst/>
          </a:prstGeom>
          <a:ln w="20320">
            <a:solidFill>
              <a:srgbClr val="9AA6A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480560" y="2103120"/>
            <a:ext cx="4023360" cy="1097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480560" y="2103120"/>
            <a:ext cx="91440" cy="109728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709160" y="2212848"/>
            <a:ext cx="1828800" cy="365760"/>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1B3139"/>
                </a:solidFill>
                <a:latin typeface="Segoe UI"/>
              </a:rPr>
              <a:t>Executor 1</a:t>
            </a:r>
          </a:p>
        </p:txBody>
      </p:sp>
      <p:sp>
        <p:nvSpPr>
          <p:cNvPr id="20" name="TextBox 19"/>
          <p:cNvSpPr txBox="1"/>
          <p:nvPr/>
        </p:nvSpPr>
        <p:spPr>
          <a:xfrm>
            <a:off x="4709160" y="2560320"/>
            <a:ext cx="1920240" cy="548640"/>
          </a:xfrm>
          <a:prstGeom prst="rect">
            <a:avLst/>
          </a:prstGeom>
          <a:noFill/>
        </p:spPr>
        <p:txBody>
          <a:bodyPr wrap="square" anchor="t" lIns="0" rIns="0" tIns="0" bIns="0">
            <a:spAutoFit/>
          </a:bodyPr>
          <a:lstStyle/>
          <a:p>
            <a:pPr algn="l">
              <a:lnSpc>
                <a:spcPct val="100000"/>
              </a:lnSpc>
              <a:spcBef>
                <a:spcPts val="0"/>
              </a:spcBef>
              <a:spcAft>
                <a:spcPts val="200"/>
              </a:spcAft>
            </a:pPr>
            <a:r>
              <a:rPr sz="950" b="0" i="0">
                <a:solidFill>
                  <a:srgbClr val="6B777C"/>
                </a:solidFill>
                <a:latin typeface="Segoe UI"/>
              </a:rPr>
              <a:t>JVM · cache · tasks</a:t>
            </a:r>
          </a:p>
        </p:txBody>
      </p:sp>
      <p:sp>
        <p:nvSpPr>
          <p:cNvPr id="21" name="Rounded Rectangle 20"/>
          <p:cNvSpPr/>
          <p:nvPr/>
        </p:nvSpPr>
        <p:spPr>
          <a:xfrm>
            <a:off x="6446520" y="2395727"/>
            <a:ext cx="411480" cy="512064"/>
          </a:xfrm>
          <a:prstGeom prst="roundRect">
            <a:avLst>
              <a:gd name="adj" fmla="val 18000"/>
            </a:avLst>
          </a:prstGeom>
          <a:solidFill>
            <a:srgbClr val="EFECE6"/>
          </a:solidFill>
          <a:ln w="15240">
            <a:solidFill>
              <a:srgbClr val="FF36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46520" y="2395727"/>
            <a:ext cx="411480" cy="512064"/>
          </a:xfrm>
          <a:prstGeom prst="rect">
            <a:avLst/>
          </a:prstGeom>
          <a:noFill/>
        </p:spPr>
        <p:txBody>
          <a:bodyPr wrap="square" anchor="ctr" lIns="0" rIns="0" tIns="0" bIns="0">
            <a:spAutoFit/>
          </a:bodyPr>
          <a:lstStyle/>
          <a:p>
            <a:pPr algn="ctr">
              <a:lnSpc>
                <a:spcPct val="100000"/>
              </a:lnSpc>
              <a:spcBef>
                <a:spcPts val="0"/>
              </a:spcBef>
              <a:spcAft>
                <a:spcPts val="200"/>
              </a:spcAft>
            </a:pPr>
            <a:r>
              <a:rPr sz="900" b="1" i="0">
                <a:solidFill>
                  <a:srgbClr val="FF3621"/>
                </a:solidFill>
                <a:latin typeface="Segoe UI"/>
              </a:rPr>
              <a:t>P1</a:t>
            </a:r>
          </a:p>
        </p:txBody>
      </p:sp>
      <p:sp>
        <p:nvSpPr>
          <p:cNvPr id="23" name="Rounded Rectangle 22"/>
          <p:cNvSpPr/>
          <p:nvPr/>
        </p:nvSpPr>
        <p:spPr>
          <a:xfrm>
            <a:off x="6949440" y="2395727"/>
            <a:ext cx="411480" cy="512064"/>
          </a:xfrm>
          <a:prstGeom prst="roundRect">
            <a:avLst>
              <a:gd name="adj" fmla="val 18000"/>
            </a:avLst>
          </a:prstGeom>
          <a:solidFill>
            <a:srgbClr val="EFECE6"/>
          </a:solidFill>
          <a:ln w="15240">
            <a:solidFill>
              <a:srgbClr val="FF36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949440" y="2395727"/>
            <a:ext cx="411480" cy="512064"/>
          </a:xfrm>
          <a:prstGeom prst="rect">
            <a:avLst/>
          </a:prstGeom>
          <a:noFill/>
        </p:spPr>
        <p:txBody>
          <a:bodyPr wrap="square" anchor="ctr" lIns="0" rIns="0" tIns="0" bIns="0">
            <a:spAutoFit/>
          </a:bodyPr>
          <a:lstStyle/>
          <a:p>
            <a:pPr algn="ctr">
              <a:lnSpc>
                <a:spcPct val="100000"/>
              </a:lnSpc>
              <a:spcBef>
                <a:spcPts val="0"/>
              </a:spcBef>
              <a:spcAft>
                <a:spcPts val="200"/>
              </a:spcAft>
            </a:pPr>
            <a:r>
              <a:rPr sz="900" b="1" i="0">
                <a:solidFill>
                  <a:srgbClr val="FF3621"/>
                </a:solidFill>
                <a:latin typeface="Segoe UI"/>
              </a:rPr>
              <a:t>P2</a:t>
            </a:r>
          </a:p>
        </p:txBody>
      </p:sp>
      <p:sp>
        <p:nvSpPr>
          <p:cNvPr id="25" name="Rounded Rectangle 24"/>
          <p:cNvSpPr/>
          <p:nvPr/>
        </p:nvSpPr>
        <p:spPr>
          <a:xfrm>
            <a:off x="7452360" y="2395727"/>
            <a:ext cx="411480" cy="512064"/>
          </a:xfrm>
          <a:prstGeom prst="roundRect">
            <a:avLst>
              <a:gd name="adj" fmla="val 18000"/>
            </a:avLst>
          </a:prstGeom>
          <a:solidFill>
            <a:srgbClr val="EFECE6"/>
          </a:solidFill>
          <a:ln w="15240">
            <a:solidFill>
              <a:srgbClr val="FF36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452360" y="2395727"/>
            <a:ext cx="411480" cy="512064"/>
          </a:xfrm>
          <a:prstGeom prst="rect">
            <a:avLst/>
          </a:prstGeom>
          <a:noFill/>
        </p:spPr>
        <p:txBody>
          <a:bodyPr wrap="square" anchor="ctr" lIns="0" rIns="0" tIns="0" bIns="0">
            <a:spAutoFit/>
          </a:bodyPr>
          <a:lstStyle/>
          <a:p>
            <a:pPr algn="ctr">
              <a:lnSpc>
                <a:spcPct val="100000"/>
              </a:lnSpc>
              <a:spcBef>
                <a:spcPts val="0"/>
              </a:spcBef>
              <a:spcAft>
                <a:spcPts val="200"/>
              </a:spcAft>
            </a:pPr>
            <a:r>
              <a:rPr sz="900" b="1" i="0">
                <a:solidFill>
                  <a:srgbClr val="FF3621"/>
                </a:solidFill>
                <a:latin typeface="Segoe UI"/>
              </a:rPr>
              <a:t>P3</a:t>
            </a:r>
          </a:p>
        </p:txBody>
      </p:sp>
      <p:sp>
        <p:nvSpPr>
          <p:cNvPr id="27" name="Rounded Rectangle 26"/>
          <p:cNvSpPr/>
          <p:nvPr/>
        </p:nvSpPr>
        <p:spPr>
          <a:xfrm>
            <a:off x="7955279" y="2395727"/>
            <a:ext cx="411480" cy="512064"/>
          </a:xfrm>
          <a:prstGeom prst="roundRect">
            <a:avLst>
              <a:gd name="adj" fmla="val 18000"/>
            </a:avLst>
          </a:prstGeom>
          <a:solidFill>
            <a:srgbClr val="EFECE6"/>
          </a:solidFill>
          <a:ln w="15240">
            <a:solidFill>
              <a:srgbClr val="FF36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955279" y="2395727"/>
            <a:ext cx="411480" cy="512064"/>
          </a:xfrm>
          <a:prstGeom prst="rect">
            <a:avLst/>
          </a:prstGeom>
          <a:noFill/>
        </p:spPr>
        <p:txBody>
          <a:bodyPr wrap="square" anchor="ctr" lIns="0" rIns="0" tIns="0" bIns="0">
            <a:spAutoFit/>
          </a:bodyPr>
          <a:lstStyle/>
          <a:p>
            <a:pPr algn="ctr">
              <a:lnSpc>
                <a:spcPct val="100000"/>
              </a:lnSpc>
              <a:spcBef>
                <a:spcPts val="0"/>
              </a:spcBef>
              <a:spcAft>
                <a:spcPts val="200"/>
              </a:spcAft>
            </a:pPr>
            <a:r>
              <a:rPr sz="900" b="1" i="0">
                <a:solidFill>
                  <a:srgbClr val="FF3621"/>
                </a:solidFill>
                <a:latin typeface="Segoe UI"/>
              </a:rPr>
              <a:t>P4</a:t>
            </a:r>
          </a:p>
        </p:txBody>
      </p:sp>
      <p:sp>
        <p:nvSpPr>
          <p:cNvPr id="29" name="Rounded Rectangle 28"/>
          <p:cNvSpPr/>
          <p:nvPr/>
        </p:nvSpPr>
        <p:spPr>
          <a:xfrm>
            <a:off x="4480560" y="3383279"/>
            <a:ext cx="4023360" cy="1097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480560" y="3383279"/>
            <a:ext cx="91440" cy="1097280"/>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709160" y="3493008"/>
            <a:ext cx="1828800" cy="365760"/>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1B3139"/>
                </a:solidFill>
                <a:latin typeface="Segoe UI"/>
              </a:rPr>
              <a:t>Executor 2</a:t>
            </a:r>
          </a:p>
        </p:txBody>
      </p:sp>
      <p:sp>
        <p:nvSpPr>
          <p:cNvPr id="32" name="TextBox 31"/>
          <p:cNvSpPr txBox="1"/>
          <p:nvPr/>
        </p:nvSpPr>
        <p:spPr>
          <a:xfrm>
            <a:off x="4709160" y="3840479"/>
            <a:ext cx="1920240" cy="548640"/>
          </a:xfrm>
          <a:prstGeom prst="rect">
            <a:avLst/>
          </a:prstGeom>
          <a:noFill/>
        </p:spPr>
        <p:txBody>
          <a:bodyPr wrap="square" anchor="t" lIns="0" rIns="0" tIns="0" bIns="0">
            <a:spAutoFit/>
          </a:bodyPr>
          <a:lstStyle/>
          <a:p>
            <a:pPr algn="l">
              <a:lnSpc>
                <a:spcPct val="100000"/>
              </a:lnSpc>
              <a:spcBef>
                <a:spcPts val="0"/>
              </a:spcBef>
              <a:spcAft>
                <a:spcPts val="200"/>
              </a:spcAft>
            </a:pPr>
            <a:r>
              <a:rPr sz="950" b="0" i="0">
                <a:solidFill>
                  <a:srgbClr val="6B777C"/>
                </a:solidFill>
                <a:latin typeface="Segoe UI"/>
              </a:rPr>
              <a:t>JVM · cache · tasks</a:t>
            </a:r>
          </a:p>
        </p:txBody>
      </p:sp>
      <p:sp>
        <p:nvSpPr>
          <p:cNvPr id="33" name="Rounded Rectangle 32"/>
          <p:cNvSpPr/>
          <p:nvPr/>
        </p:nvSpPr>
        <p:spPr>
          <a:xfrm>
            <a:off x="6446520" y="3675887"/>
            <a:ext cx="411480" cy="512064"/>
          </a:xfrm>
          <a:prstGeom prst="roundRect">
            <a:avLst>
              <a:gd name="adj" fmla="val 18000"/>
            </a:avLst>
          </a:prstGeom>
          <a:solidFill>
            <a:srgbClr val="EFECE6"/>
          </a:solidFill>
          <a:ln w="15240">
            <a:solidFill>
              <a:srgbClr val="2272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46520" y="3675887"/>
            <a:ext cx="411480" cy="512064"/>
          </a:xfrm>
          <a:prstGeom prst="rect">
            <a:avLst/>
          </a:prstGeom>
          <a:noFill/>
        </p:spPr>
        <p:txBody>
          <a:bodyPr wrap="square" anchor="ctr" lIns="0" rIns="0" tIns="0" bIns="0">
            <a:spAutoFit/>
          </a:bodyPr>
          <a:lstStyle/>
          <a:p>
            <a:pPr algn="ctr">
              <a:lnSpc>
                <a:spcPct val="100000"/>
              </a:lnSpc>
              <a:spcBef>
                <a:spcPts val="0"/>
              </a:spcBef>
              <a:spcAft>
                <a:spcPts val="200"/>
              </a:spcAft>
            </a:pPr>
            <a:r>
              <a:rPr sz="900" b="1" i="0">
                <a:solidFill>
                  <a:srgbClr val="2272B4"/>
                </a:solidFill>
                <a:latin typeface="Segoe UI"/>
              </a:rPr>
              <a:t>P1</a:t>
            </a:r>
          </a:p>
        </p:txBody>
      </p:sp>
      <p:sp>
        <p:nvSpPr>
          <p:cNvPr id="35" name="Rounded Rectangle 34"/>
          <p:cNvSpPr/>
          <p:nvPr/>
        </p:nvSpPr>
        <p:spPr>
          <a:xfrm>
            <a:off x="6949440" y="3675887"/>
            <a:ext cx="411480" cy="512064"/>
          </a:xfrm>
          <a:prstGeom prst="roundRect">
            <a:avLst>
              <a:gd name="adj" fmla="val 18000"/>
            </a:avLst>
          </a:prstGeom>
          <a:solidFill>
            <a:srgbClr val="EFECE6"/>
          </a:solidFill>
          <a:ln w="15240">
            <a:solidFill>
              <a:srgbClr val="2272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949440" y="3675887"/>
            <a:ext cx="411480" cy="512064"/>
          </a:xfrm>
          <a:prstGeom prst="rect">
            <a:avLst/>
          </a:prstGeom>
          <a:noFill/>
        </p:spPr>
        <p:txBody>
          <a:bodyPr wrap="square" anchor="ctr" lIns="0" rIns="0" tIns="0" bIns="0">
            <a:spAutoFit/>
          </a:bodyPr>
          <a:lstStyle/>
          <a:p>
            <a:pPr algn="ctr">
              <a:lnSpc>
                <a:spcPct val="100000"/>
              </a:lnSpc>
              <a:spcBef>
                <a:spcPts val="0"/>
              </a:spcBef>
              <a:spcAft>
                <a:spcPts val="200"/>
              </a:spcAft>
            </a:pPr>
            <a:r>
              <a:rPr sz="900" b="1" i="0">
                <a:solidFill>
                  <a:srgbClr val="2272B4"/>
                </a:solidFill>
                <a:latin typeface="Segoe UI"/>
              </a:rPr>
              <a:t>P2</a:t>
            </a:r>
          </a:p>
        </p:txBody>
      </p:sp>
      <p:sp>
        <p:nvSpPr>
          <p:cNvPr id="37" name="Rounded Rectangle 36"/>
          <p:cNvSpPr/>
          <p:nvPr/>
        </p:nvSpPr>
        <p:spPr>
          <a:xfrm>
            <a:off x="7452360" y="3675887"/>
            <a:ext cx="411480" cy="512064"/>
          </a:xfrm>
          <a:prstGeom prst="roundRect">
            <a:avLst>
              <a:gd name="adj" fmla="val 18000"/>
            </a:avLst>
          </a:prstGeom>
          <a:solidFill>
            <a:srgbClr val="EFECE6"/>
          </a:solidFill>
          <a:ln w="15240">
            <a:solidFill>
              <a:srgbClr val="2272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452360" y="3675887"/>
            <a:ext cx="411480" cy="512064"/>
          </a:xfrm>
          <a:prstGeom prst="rect">
            <a:avLst/>
          </a:prstGeom>
          <a:noFill/>
        </p:spPr>
        <p:txBody>
          <a:bodyPr wrap="square" anchor="ctr" lIns="0" rIns="0" tIns="0" bIns="0">
            <a:spAutoFit/>
          </a:bodyPr>
          <a:lstStyle/>
          <a:p>
            <a:pPr algn="ctr">
              <a:lnSpc>
                <a:spcPct val="100000"/>
              </a:lnSpc>
              <a:spcBef>
                <a:spcPts val="0"/>
              </a:spcBef>
              <a:spcAft>
                <a:spcPts val="200"/>
              </a:spcAft>
            </a:pPr>
            <a:r>
              <a:rPr sz="900" b="1" i="0">
                <a:solidFill>
                  <a:srgbClr val="2272B4"/>
                </a:solidFill>
                <a:latin typeface="Segoe UI"/>
              </a:rPr>
              <a:t>P3</a:t>
            </a:r>
          </a:p>
        </p:txBody>
      </p:sp>
      <p:sp>
        <p:nvSpPr>
          <p:cNvPr id="39" name="Rounded Rectangle 38"/>
          <p:cNvSpPr/>
          <p:nvPr/>
        </p:nvSpPr>
        <p:spPr>
          <a:xfrm>
            <a:off x="7955279" y="3675887"/>
            <a:ext cx="411480" cy="512064"/>
          </a:xfrm>
          <a:prstGeom prst="roundRect">
            <a:avLst>
              <a:gd name="adj" fmla="val 18000"/>
            </a:avLst>
          </a:prstGeom>
          <a:solidFill>
            <a:srgbClr val="EFECE6"/>
          </a:solidFill>
          <a:ln w="15240">
            <a:solidFill>
              <a:srgbClr val="2272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7955279" y="3675887"/>
            <a:ext cx="411480" cy="512064"/>
          </a:xfrm>
          <a:prstGeom prst="rect">
            <a:avLst/>
          </a:prstGeom>
          <a:noFill/>
        </p:spPr>
        <p:txBody>
          <a:bodyPr wrap="square" anchor="ctr" lIns="0" rIns="0" tIns="0" bIns="0">
            <a:spAutoFit/>
          </a:bodyPr>
          <a:lstStyle/>
          <a:p>
            <a:pPr algn="ctr">
              <a:lnSpc>
                <a:spcPct val="100000"/>
              </a:lnSpc>
              <a:spcBef>
                <a:spcPts val="0"/>
              </a:spcBef>
              <a:spcAft>
                <a:spcPts val="200"/>
              </a:spcAft>
            </a:pPr>
            <a:r>
              <a:rPr sz="900" b="1" i="0">
                <a:solidFill>
                  <a:srgbClr val="2272B4"/>
                </a:solidFill>
                <a:latin typeface="Segoe UI"/>
              </a:rPr>
              <a:t>P4</a:t>
            </a:r>
          </a:p>
        </p:txBody>
      </p:sp>
      <p:sp>
        <p:nvSpPr>
          <p:cNvPr id="41" name="Rounded Rectangle 40"/>
          <p:cNvSpPr/>
          <p:nvPr/>
        </p:nvSpPr>
        <p:spPr>
          <a:xfrm>
            <a:off x="4480560" y="4663440"/>
            <a:ext cx="4023360" cy="1097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4480560" y="4663440"/>
            <a:ext cx="91440" cy="1097280"/>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709160" y="4773168"/>
            <a:ext cx="1828800" cy="365760"/>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1B3139"/>
                </a:solidFill>
                <a:latin typeface="Segoe UI"/>
              </a:rPr>
              <a:t>Executor 3</a:t>
            </a:r>
          </a:p>
        </p:txBody>
      </p:sp>
      <p:sp>
        <p:nvSpPr>
          <p:cNvPr id="44" name="TextBox 43"/>
          <p:cNvSpPr txBox="1"/>
          <p:nvPr/>
        </p:nvSpPr>
        <p:spPr>
          <a:xfrm>
            <a:off x="4709160" y="5120640"/>
            <a:ext cx="1920240" cy="548640"/>
          </a:xfrm>
          <a:prstGeom prst="rect">
            <a:avLst/>
          </a:prstGeom>
          <a:noFill/>
        </p:spPr>
        <p:txBody>
          <a:bodyPr wrap="square" anchor="t" lIns="0" rIns="0" tIns="0" bIns="0">
            <a:spAutoFit/>
          </a:bodyPr>
          <a:lstStyle/>
          <a:p>
            <a:pPr algn="l">
              <a:lnSpc>
                <a:spcPct val="100000"/>
              </a:lnSpc>
              <a:spcBef>
                <a:spcPts val="0"/>
              </a:spcBef>
              <a:spcAft>
                <a:spcPts val="200"/>
              </a:spcAft>
            </a:pPr>
            <a:r>
              <a:rPr sz="950" b="0" i="0">
                <a:solidFill>
                  <a:srgbClr val="6B777C"/>
                </a:solidFill>
                <a:latin typeface="Segoe UI"/>
              </a:rPr>
              <a:t>JVM · cache · tasks</a:t>
            </a:r>
          </a:p>
        </p:txBody>
      </p:sp>
      <p:sp>
        <p:nvSpPr>
          <p:cNvPr id="45" name="Rounded Rectangle 44"/>
          <p:cNvSpPr/>
          <p:nvPr/>
        </p:nvSpPr>
        <p:spPr>
          <a:xfrm>
            <a:off x="6446520" y="4956048"/>
            <a:ext cx="411480" cy="512064"/>
          </a:xfrm>
          <a:prstGeom prst="roundRect">
            <a:avLst>
              <a:gd name="adj" fmla="val 18000"/>
            </a:avLst>
          </a:prstGeom>
          <a:solidFill>
            <a:srgbClr val="EFECE6"/>
          </a:solidFill>
          <a:ln w="15240">
            <a:solidFill>
              <a:srgbClr val="00A9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446520" y="4956048"/>
            <a:ext cx="411480" cy="512064"/>
          </a:xfrm>
          <a:prstGeom prst="rect">
            <a:avLst/>
          </a:prstGeom>
          <a:noFill/>
        </p:spPr>
        <p:txBody>
          <a:bodyPr wrap="square" anchor="ctr" lIns="0" rIns="0" tIns="0" bIns="0">
            <a:spAutoFit/>
          </a:bodyPr>
          <a:lstStyle/>
          <a:p>
            <a:pPr algn="ctr">
              <a:lnSpc>
                <a:spcPct val="100000"/>
              </a:lnSpc>
              <a:spcBef>
                <a:spcPts val="0"/>
              </a:spcBef>
              <a:spcAft>
                <a:spcPts val="200"/>
              </a:spcAft>
            </a:pPr>
            <a:r>
              <a:rPr sz="900" b="1" i="0">
                <a:solidFill>
                  <a:srgbClr val="00A972"/>
                </a:solidFill>
                <a:latin typeface="Segoe UI"/>
              </a:rPr>
              <a:t>P1</a:t>
            </a:r>
          </a:p>
        </p:txBody>
      </p:sp>
      <p:sp>
        <p:nvSpPr>
          <p:cNvPr id="47" name="Rounded Rectangle 46"/>
          <p:cNvSpPr/>
          <p:nvPr/>
        </p:nvSpPr>
        <p:spPr>
          <a:xfrm>
            <a:off x="6949440" y="4956048"/>
            <a:ext cx="411480" cy="512064"/>
          </a:xfrm>
          <a:prstGeom prst="roundRect">
            <a:avLst>
              <a:gd name="adj" fmla="val 18000"/>
            </a:avLst>
          </a:prstGeom>
          <a:solidFill>
            <a:srgbClr val="EFECE6"/>
          </a:solidFill>
          <a:ln w="15240">
            <a:solidFill>
              <a:srgbClr val="00A9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949440" y="4956048"/>
            <a:ext cx="411480" cy="512064"/>
          </a:xfrm>
          <a:prstGeom prst="rect">
            <a:avLst/>
          </a:prstGeom>
          <a:noFill/>
        </p:spPr>
        <p:txBody>
          <a:bodyPr wrap="square" anchor="ctr" lIns="0" rIns="0" tIns="0" bIns="0">
            <a:spAutoFit/>
          </a:bodyPr>
          <a:lstStyle/>
          <a:p>
            <a:pPr algn="ctr">
              <a:lnSpc>
                <a:spcPct val="100000"/>
              </a:lnSpc>
              <a:spcBef>
                <a:spcPts val="0"/>
              </a:spcBef>
              <a:spcAft>
                <a:spcPts val="200"/>
              </a:spcAft>
            </a:pPr>
            <a:r>
              <a:rPr sz="900" b="1" i="0">
                <a:solidFill>
                  <a:srgbClr val="00A972"/>
                </a:solidFill>
                <a:latin typeface="Segoe UI"/>
              </a:rPr>
              <a:t>P2</a:t>
            </a:r>
          </a:p>
        </p:txBody>
      </p:sp>
      <p:sp>
        <p:nvSpPr>
          <p:cNvPr id="49" name="Rounded Rectangle 48"/>
          <p:cNvSpPr/>
          <p:nvPr/>
        </p:nvSpPr>
        <p:spPr>
          <a:xfrm>
            <a:off x="7452360" y="4956048"/>
            <a:ext cx="411480" cy="512064"/>
          </a:xfrm>
          <a:prstGeom prst="roundRect">
            <a:avLst>
              <a:gd name="adj" fmla="val 18000"/>
            </a:avLst>
          </a:prstGeom>
          <a:solidFill>
            <a:srgbClr val="EFECE6"/>
          </a:solidFill>
          <a:ln w="15240">
            <a:solidFill>
              <a:srgbClr val="00A9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7452360" y="4956048"/>
            <a:ext cx="411480" cy="512064"/>
          </a:xfrm>
          <a:prstGeom prst="rect">
            <a:avLst/>
          </a:prstGeom>
          <a:noFill/>
        </p:spPr>
        <p:txBody>
          <a:bodyPr wrap="square" anchor="ctr" lIns="0" rIns="0" tIns="0" bIns="0">
            <a:spAutoFit/>
          </a:bodyPr>
          <a:lstStyle/>
          <a:p>
            <a:pPr algn="ctr">
              <a:lnSpc>
                <a:spcPct val="100000"/>
              </a:lnSpc>
              <a:spcBef>
                <a:spcPts val="0"/>
              </a:spcBef>
              <a:spcAft>
                <a:spcPts val="200"/>
              </a:spcAft>
            </a:pPr>
            <a:r>
              <a:rPr sz="900" b="1" i="0">
                <a:solidFill>
                  <a:srgbClr val="00A972"/>
                </a:solidFill>
                <a:latin typeface="Segoe UI"/>
              </a:rPr>
              <a:t>P3</a:t>
            </a:r>
          </a:p>
        </p:txBody>
      </p:sp>
      <p:sp>
        <p:nvSpPr>
          <p:cNvPr id="51" name="Rounded Rectangle 50"/>
          <p:cNvSpPr/>
          <p:nvPr/>
        </p:nvSpPr>
        <p:spPr>
          <a:xfrm>
            <a:off x="7955279" y="4956048"/>
            <a:ext cx="411480" cy="512064"/>
          </a:xfrm>
          <a:prstGeom prst="roundRect">
            <a:avLst>
              <a:gd name="adj" fmla="val 18000"/>
            </a:avLst>
          </a:prstGeom>
          <a:solidFill>
            <a:srgbClr val="EFECE6"/>
          </a:solidFill>
          <a:ln w="15240">
            <a:solidFill>
              <a:srgbClr val="00A9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7955279" y="4956048"/>
            <a:ext cx="411480" cy="512064"/>
          </a:xfrm>
          <a:prstGeom prst="rect">
            <a:avLst/>
          </a:prstGeom>
          <a:noFill/>
        </p:spPr>
        <p:txBody>
          <a:bodyPr wrap="square" anchor="ctr" lIns="0" rIns="0" tIns="0" bIns="0">
            <a:spAutoFit/>
          </a:bodyPr>
          <a:lstStyle/>
          <a:p>
            <a:pPr algn="ctr">
              <a:lnSpc>
                <a:spcPct val="100000"/>
              </a:lnSpc>
              <a:spcBef>
                <a:spcPts val="0"/>
              </a:spcBef>
              <a:spcAft>
                <a:spcPts val="200"/>
              </a:spcAft>
            </a:pPr>
            <a:r>
              <a:rPr sz="900" b="1" i="0">
                <a:solidFill>
                  <a:srgbClr val="00A972"/>
                </a:solidFill>
                <a:latin typeface="Segoe UI"/>
              </a:rPr>
              <a:t>P4</a:t>
            </a:r>
          </a:p>
        </p:txBody>
      </p:sp>
      <p:sp>
        <p:nvSpPr>
          <p:cNvPr id="53" name="TextBox 52"/>
          <p:cNvSpPr txBox="1"/>
          <p:nvPr/>
        </p:nvSpPr>
        <p:spPr>
          <a:xfrm>
            <a:off x="6446520" y="1783080"/>
            <a:ext cx="2103120" cy="274320"/>
          </a:xfrm>
          <a:prstGeom prst="rect">
            <a:avLst/>
          </a:prstGeom>
          <a:noFill/>
        </p:spPr>
        <p:txBody>
          <a:bodyPr wrap="square" anchor="t" lIns="0" rIns="0" tIns="0" bIns="0">
            <a:spAutoFit/>
          </a:bodyPr>
          <a:lstStyle/>
          <a:p>
            <a:pPr algn="l">
              <a:lnSpc>
                <a:spcPct val="100000"/>
              </a:lnSpc>
              <a:spcBef>
                <a:spcPts val="0"/>
              </a:spcBef>
              <a:spcAft>
                <a:spcPts val="200"/>
              </a:spcAft>
            </a:pPr>
            <a:r>
              <a:rPr sz="900" b="0" i="1">
                <a:solidFill>
                  <a:srgbClr val="9AA6AB"/>
                </a:solidFill>
                <a:latin typeface="Segoe UI"/>
              </a:rPr>
              <a:t>Parallel tasks on partitions</a:t>
            </a:r>
          </a:p>
        </p:txBody>
      </p:sp>
      <p:sp>
        <p:nvSpPr>
          <p:cNvPr id="54" name="Rounded Rectangle 53"/>
          <p:cNvSpPr/>
          <p:nvPr/>
        </p:nvSpPr>
        <p:spPr>
          <a:xfrm>
            <a:off x="8732520" y="2103120"/>
            <a:ext cx="2880360" cy="338328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8961120" y="2286000"/>
            <a:ext cx="640080" cy="6400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Lightning Bolt 55"/>
          <p:cNvSpPr/>
          <p:nvPr/>
        </p:nvSpPr>
        <p:spPr>
          <a:xfrm>
            <a:off x="9178107" y="2458821"/>
            <a:ext cx="206105" cy="294436"/>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692640" y="2331720"/>
            <a:ext cx="1828800" cy="502920"/>
          </a:xfrm>
          <a:prstGeom prst="rect">
            <a:avLst/>
          </a:prstGeom>
          <a:noFill/>
        </p:spPr>
        <p:txBody>
          <a:bodyPr wrap="square" anchor="ctr" lIns="0" rIns="0" tIns="0" bIns="0">
            <a:spAutoFit/>
          </a:bodyPr>
          <a:lstStyle/>
          <a:p>
            <a:pPr algn="l">
              <a:lnSpc>
                <a:spcPct val="100000"/>
              </a:lnSpc>
              <a:spcBef>
                <a:spcPts val="0"/>
              </a:spcBef>
              <a:spcAft>
                <a:spcPts val="200"/>
              </a:spcAft>
            </a:pPr>
            <a:r>
              <a:rPr sz="1500" b="1" i="0">
                <a:solidFill>
                  <a:srgbClr val="FFFFFF"/>
                </a:solidFill>
                <a:latin typeface="Segoe UI"/>
              </a:rPr>
              <a:t>Photon</a:t>
            </a:r>
          </a:p>
        </p:txBody>
      </p:sp>
      <p:sp>
        <p:nvSpPr>
          <p:cNvPr id="58" name="TextBox 57"/>
          <p:cNvSpPr txBox="1"/>
          <p:nvPr/>
        </p:nvSpPr>
        <p:spPr>
          <a:xfrm>
            <a:off x="9692640" y="2788920"/>
            <a:ext cx="1828800" cy="274320"/>
          </a:xfrm>
          <a:prstGeom prst="rect">
            <a:avLst/>
          </a:prstGeom>
          <a:noFill/>
        </p:spPr>
        <p:txBody>
          <a:bodyPr wrap="square" anchor="t" lIns="0" rIns="0" tIns="0" bIns="0">
            <a:spAutoFit/>
          </a:bodyPr>
          <a:lstStyle/>
          <a:p>
            <a:pPr algn="l">
              <a:lnSpc>
                <a:spcPct val="100000"/>
              </a:lnSpc>
              <a:spcBef>
                <a:spcPts val="0"/>
              </a:spcBef>
              <a:spcAft>
                <a:spcPts val="200"/>
              </a:spcAft>
            </a:pPr>
            <a:r>
              <a:rPr sz="950" b="0" i="1">
                <a:solidFill>
                  <a:srgbClr val="F59E0B"/>
                </a:solidFill>
                <a:latin typeface="Segoe UI"/>
              </a:rPr>
              <a:t>Vectorized engine</a:t>
            </a:r>
          </a:p>
        </p:txBody>
      </p:sp>
      <p:sp>
        <p:nvSpPr>
          <p:cNvPr id="59" name="TextBox 58"/>
          <p:cNvSpPr txBox="1"/>
          <p:nvPr/>
        </p:nvSpPr>
        <p:spPr>
          <a:xfrm>
            <a:off x="8961120" y="3246120"/>
            <a:ext cx="2468880" cy="2103120"/>
          </a:xfrm>
          <a:prstGeom prst="rect">
            <a:avLst/>
          </a:prstGeom>
          <a:noFill/>
        </p:spPr>
        <p:txBody>
          <a:bodyPr wrap="square" anchor="t" lIns="0" rIns="0" tIns="0" bIns="0">
            <a:spAutoFit/>
          </a:bodyPr>
          <a:lstStyle/>
          <a:p>
            <a:pPr marL="274320" indent="-274320">
              <a:lnSpc>
                <a:spcPct val="112000"/>
              </a:lnSpc>
              <a:spcBef>
                <a:spcPts val="0"/>
              </a:spcBef>
              <a:spcAft>
                <a:spcPts val="700"/>
              </a:spcAft>
            </a:pPr>
            <a:r>
              <a:rPr sz="1030" b="1">
                <a:solidFill>
                  <a:srgbClr val="F59E0B"/>
                </a:solidFill>
                <a:latin typeface="Segoe UI"/>
              </a:rPr>
              <a:t>▪   </a:t>
            </a:r>
            <a:r>
              <a:rPr sz="1030">
                <a:solidFill>
                  <a:srgbClr val="CCD6DA"/>
                </a:solidFill>
                <a:latin typeface="Segoe UI"/>
              </a:rPr>
              <a:t>Native C++ rewrite of Spark execution</a:t>
            </a:r>
          </a:p>
          <a:p>
            <a:pPr marL="274320" indent="-274320">
              <a:lnSpc>
                <a:spcPct val="112000"/>
              </a:lnSpc>
              <a:spcBef>
                <a:spcPts val="0"/>
              </a:spcBef>
              <a:spcAft>
                <a:spcPts val="700"/>
              </a:spcAft>
            </a:pPr>
            <a:r>
              <a:rPr sz="1030" b="1">
                <a:solidFill>
                  <a:srgbClr val="F59E0B"/>
                </a:solidFill>
                <a:latin typeface="Segoe UI"/>
              </a:rPr>
              <a:t>▪   </a:t>
            </a:r>
            <a:r>
              <a:rPr sz="1030">
                <a:solidFill>
                  <a:srgbClr val="CCD6DA"/>
                </a:solidFill>
                <a:latin typeface="Segoe UI"/>
              </a:rPr>
              <a:t>Vectorized, SIMD-optimized processing</a:t>
            </a:r>
          </a:p>
          <a:p>
            <a:pPr marL="274320" indent="-274320">
              <a:lnSpc>
                <a:spcPct val="112000"/>
              </a:lnSpc>
              <a:spcBef>
                <a:spcPts val="0"/>
              </a:spcBef>
              <a:spcAft>
                <a:spcPts val="700"/>
              </a:spcAft>
            </a:pPr>
            <a:r>
              <a:rPr sz="1030" b="1">
                <a:solidFill>
                  <a:srgbClr val="F59E0B"/>
                </a:solidFill>
                <a:latin typeface="Segoe UI"/>
              </a:rPr>
              <a:t>▪   </a:t>
            </a:r>
            <a:r>
              <a:rPr sz="1030">
                <a:solidFill>
                  <a:srgbClr val="CCD6DA"/>
                </a:solidFill>
                <a:latin typeface="Segoe UI"/>
              </a:rPr>
              <a:t>Drop-in — no code changes</a:t>
            </a:r>
          </a:p>
          <a:p>
            <a:pPr marL="274320" indent="-274320">
              <a:lnSpc>
                <a:spcPct val="112000"/>
              </a:lnSpc>
              <a:spcBef>
                <a:spcPts val="0"/>
              </a:spcBef>
              <a:spcAft>
                <a:spcPts val="700"/>
              </a:spcAft>
            </a:pPr>
            <a:r>
              <a:rPr sz="1030" b="1">
                <a:solidFill>
                  <a:srgbClr val="F59E0B"/>
                </a:solidFill>
                <a:latin typeface="Segoe UI"/>
              </a:rPr>
              <a:t>▪   </a:t>
            </a:r>
            <a:r>
              <a:rPr sz="1030">
                <a:solidFill>
                  <a:srgbClr val="CCD6DA"/>
                </a:solidFill>
                <a:latin typeface="Segoe UI"/>
              </a:rPr>
              <a:t>Up to 2-3x faster SQL &amp; DataFrames</a:t>
            </a:r>
          </a:p>
          <a:p>
            <a:pPr marL="274320" indent="-274320">
              <a:lnSpc>
                <a:spcPct val="112000"/>
              </a:lnSpc>
              <a:spcBef>
                <a:spcPts val="0"/>
              </a:spcBef>
              <a:spcAft>
                <a:spcPts val="700"/>
              </a:spcAft>
            </a:pPr>
            <a:r>
              <a:rPr sz="1030" b="1">
                <a:solidFill>
                  <a:srgbClr val="F59E0B"/>
                </a:solidFill>
                <a:latin typeface="Segoe UI"/>
              </a:rPr>
              <a:t>▪   </a:t>
            </a:r>
            <a:r>
              <a:rPr sz="1030">
                <a:solidFill>
                  <a:srgbClr val="CCD6DA"/>
                </a:solidFill>
                <a:latin typeface="Segoe UI"/>
              </a:rPr>
              <a:t>Lower cost per query</a:t>
            </a:r>
          </a:p>
        </p:txBody>
      </p:sp>
      <p:sp>
        <p:nvSpPr>
          <p:cNvPr id="60" name="TextBox 59"/>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1" name="TextBox 60"/>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DATABRICKS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Delta Lake — Reliability on the Lake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920240"/>
            <a:ext cx="5669280" cy="39319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86968" y="2103120"/>
            <a:ext cx="5120640" cy="310896"/>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3621"/>
                </a:solidFill>
                <a:latin typeface="Segoe UI Semibold"/>
              </a:rPr>
              <a:t>HOW IT WORKS</a:t>
            </a:r>
          </a:p>
        </p:txBody>
      </p:sp>
      <p:sp>
        <p:nvSpPr>
          <p:cNvPr id="9" name="Rounded Rectangle 8"/>
          <p:cNvSpPr/>
          <p:nvPr/>
        </p:nvSpPr>
        <p:spPr>
          <a:xfrm>
            <a:off x="886968" y="2505456"/>
            <a:ext cx="5029200" cy="914400"/>
          </a:xfrm>
          <a:prstGeom prst="roundRect">
            <a:avLst>
              <a:gd name="adj" fmla="val 100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24128" y="2578608"/>
            <a:ext cx="4754880" cy="274320"/>
          </a:xfrm>
          <a:prstGeom prst="rect">
            <a:avLst/>
          </a:prstGeom>
          <a:noFill/>
        </p:spPr>
        <p:txBody>
          <a:bodyPr wrap="square" anchor="t" lIns="0" rIns="0" tIns="0" bIns="0">
            <a:spAutoFit/>
          </a:bodyPr>
          <a:lstStyle/>
          <a:p>
            <a:pPr algn="l">
              <a:lnSpc>
                <a:spcPct val="100000"/>
              </a:lnSpc>
              <a:spcBef>
                <a:spcPts val="0"/>
              </a:spcBef>
              <a:spcAft>
                <a:spcPts val="200"/>
              </a:spcAft>
            </a:pPr>
            <a:r>
              <a:rPr sz="1050" b="1" i="0">
                <a:solidFill>
                  <a:srgbClr val="465257"/>
                </a:solidFill>
                <a:latin typeface="Segoe UI"/>
              </a:rPr>
              <a:t>Cloud Object Storage</a:t>
            </a:r>
          </a:p>
        </p:txBody>
      </p:sp>
      <p:sp>
        <p:nvSpPr>
          <p:cNvPr id="11" name="Rounded Rectangle 10"/>
          <p:cNvSpPr/>
          <p:nvPr/>
        </p:nvSpPr>
        <p:spPr>
          <a:xfrm>
            <a:off x="1069848" y="2907792"/>
            <a:ext cx="841248" cy="420624"/>
          </a:xfrm>
          <a:prstGeom prst="roundRect">
            <a:avLst>
              <a:gd name="adj" fmla="val 16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69848" y="2907792"/>
            <a:ext cx="841248" cy="420624"/>
          </a:xfrm>
          <a:prstGeom prst="rect">
            <a:avLst/>
          </a:prstGeom>
          <a:noFill/>
        </p:spPr>
        <p:txBody>
          <a:bodyPr wrap="square" anchor="ctr" lIns="0" rIns="0" tIns="0" bIns="0">
            <a:spAutoFit/>
          </a:bodyPr>
          <a:lstStyle/>
          <a:p>
            <a:pPr algn="ctr">
              <a:lnSpc>
                <a:spcPct val="100000"/>
              </a:lnSpc>
              <a:spcBef>
                <a:spcPts val="0"/>
              </a:spcBef>
              <a:spcAft>
                <a:spcPts val="200"/>
              </a:spcAft>
            </a:pPr>
            <a:r>
              <a:rPr sz="830" b="1" i="0">
                <a:solidFill>
                  <a:srgbClr val="FFFFFF"/>
                </a:solidFill>
                <a:latin typeface="Segoe UI"/>
              </a:rPr>
              <a:t>.parquet</a:t>
            </a:r>
          </a:p>
        </p:txBody>
      </p:sp>
      <p:sp>
        <p:nvSpPr>
          <p:cNvPr id="13" name="Rounded Rectangle 12"/>
          <p:cNvSpPr/>
          <p:nvPr/>
        </p:nvSpPr>
        <p:spPr>
          <a:xfrm>
            <a:off x="2020824" y="2907792"/>
            <a:ext cx="841248" cy="420624"/>
          </a:xfrm>
          <a:prstGeom prst="roundRect">
            <a:avLst>
              <a:gd name="adj" fmla="val 16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20824" y="2907792"/>
            <a:ext cx="841248" cy="420624"/>
          </a:xfrm>
          <a:prstGeom prst="rect">
            <a:avLst/>
          </a:prstGeom>
          <a:noFill/>
        </p:spPr>
        <p:txBody>
          <a:bodyPr wrap="square" anchor="ctr" lIns="0" rIns="0" tIns="0" bIns="0">
            <a:spAutoFit/>
          </a:bodyPr>
          <a:lstStyle/>
          <a:p>
            <a:pPr algn="ctr">
              <a:lnSpc>
                <a:spcPct val="100000"/>
              </a:lnSpc>
              <a:spcBef>
                <a:spcPts val="0"/>
              </a:spcBef>
              <a:spcAft>
                <a:spcPts val="200"/>
              </a:spcAft>
            </a:pPr>
            <a:r>
              <a:rPr sz="830" b="1" i="0">
                <a:solidFill>
                  <a:srgbClr val="FFFFFF"/>
                </a:solidFill>
                <a:latin typeface="Segoe UI"/>
              </a:rPr>
              <a:t>.parquet</a:t>
            </a:r>
          </a:p>
        </p:txBody>
      </p:sp>
      <p:sp>
        <p:nvSpPr>
          <p:cNvPr id="15" name="Rounded Rectangle 14"/>
          <p:cNvSpPr/>
          <p:nvPr/>
        </p:nvSpPr>
        <p:spPr>
          <a:xfrm>
            <a:off x="2971800" y="2907792"/>
            <a:ext cx="841248" cy="420624"/>
          </a:xfrm>
          <a:prstGeom prst="roundRect">
            <a:avLst>
              <a:gd name="adj" fmla="val 16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971800" y="2907792"/>
            <a:ext cx="841248" cy="420624"/>
          </a:xfrm>
          <a:prstGeom prst="rect">
            <a:avLst/>
          </a:prstGeom>
          <a:noFill/>
        </p:spPr>
        <p:txBody>
          <a:bodyPr wrap="square" anchor="ctr" lIns="0" rIns="0" tIns="0" bIns="0">
            <a:spAutoFit/>
          </a:bodyPr>
          <a:lstStyle/>
          <a:p>
            <a:pPr algn="ctr">
              <a:lnSpc>
                <a:spcPct val="100000"/>
              </a:lnSpc>
              <a:spcBef>
                <a:spcPts val="0"/>
              </a:spcBef>
              <a:spcAft>
                <a:spcPts val="200"/>
              </a:spcAft>
            </a:pPr>
            <a:r>
              <a:rPr sz="830" b="1" i="0">
                <a:solidFill>
                  <a:srgbClr val="FFFFFF"/>
                </a:solidFill>
                <a:latin typeface="Segoe UI"/>
              </a:rPr>
              <a:t>.parquet</a:t>
            </a:r>
          </a:p>
        </p:txBody>
      </p:sp>
      <p:sp>
        <p:nvSpPr>
          <p:cNvPr id="17" name="Rounded Rectangle 16"/>
          <p:cNvSpPr/>
          <p:nvPr/>
        </p:nvSpPr>
        <p:spPr>
          <a:xfrm>
            <a:off x="3922776" y="2907792"/>
            <a:ext cx="841248" cy="420624"/>
          </a:xfrm>
          <a:prstGeom prst="roundRect">
            <a:avLst>
              <a:gd name="adj" fmla="val 16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922776" y="2907792"/>
            <a:ext cx="841248" cy="420624"/>
          </a:xfrm>
          <a:prstGeom prst="rect">
            <a:avLst/>
          </a:prstGeom>
          <a:noFill/>
        </p:spPr>
        <p:txBody>
          <a:bodyPr wrap="square" anchor="ctr" lIns="0" rIns="0" tIns="0" bIns="0">
            <a:spAutoFit/>
          </a:bodyPr>
          <a:lstStyle/>
          <a:p>
            <a:pPr algn="ctr">
              <a:lnSpc>
                <a:spcPct val="100000"/>
              </a:lnSpc>
              <a:spcBef>
                <a:spcPts val="0"/>
              </a:spcBef>
              <a:spcAft>
                <a:spcPts val="200"/>
              </a:spcAft>
            </a:pPr>
            <a:r>
              <a:rPr sz="830" b="1" i="0">
                <a:solidFill>
                  <a:srgbClr val="FFFFFF"/>
                </a:solidFill>
                <a:latin typeface="Segoe UI"/>
              </a:rPr>
              <a:t>.parquet</a:t>
            </a:r>
          </a:p>
        </p:txBody>
      </p:sp>
      <p:sp>
        <p:nvSpPr>
          <p:cNvPr id="19" name="Rounded Rectangle 18"/>
          <p:cNvSpPr/>
          <p:nvPr/>
        </p:nvSpPr>
        <p:spPr>
          <a:xfrm>
            <a:off x="4873752" y="2907792"/>
            <a:ext cx="841248" cy="420624"/>
          </a:xfrm>
          <a:prstGeom prst="roundRect">
            <a:avLst>
              <a:gd name="adj" fmla="val 16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873752" y="2907792"/>
            <a:ext cx="841248" cy="420624"/>
          </a:xfrm>
          <a:prstGeom prst="rect">
            <a:avLst/>
          </a:prstGeom>
          <a:noFill/>
        </p:spPr>
        <p:txBody>
          <a:bodyPr wrap="square" anchor="ctr" lIns="0" rIns="0" tIns="0" bIns="0">
            <a:spAutoFit/>
          </a:bodyPr>
          <a:lstStyle/>
          <a:p>
            <a:pPr algn="ctr">
              <a:lnSpc>
                <a:spcPct val="100000"/>
              </a:lnSpc>
              <a:spcBef>
                <a:spcPts val="0"/>
              </a:spcBef>
              <a:spcAft>
                <a:spcPts val="200"/>
              </a:spcAft>
            </a:pPr>
            <a:r>
              <a:rPr sz="830" b="1" i="0">
                <a:solidFill>
                  <a:srgbClr val="FFFFFF"/>
                </a:solidFill>
                <a:latin typeface="Segoe UI"/>
              </a:rPr>
              <a:t>.parquet</a:t>
            </a:r>
          </a:p>
        </p:txBody>
      </p:sp>
      <p:sp>
        <p:nvSpPr>
          <p:cNvPr id="21" name="Rounded Rectangle 20"/>
          <p:cNvSpPr/>
          <p:nvPr/>
        </p:nvSpPr>
        <p:spPr>
          <a:xfrm>
            <a:off x="886968" y="3611880"/>
            <a:ext cx="5029200" cy="566928"/>
          </a:xfrm>
          <a:prstGeom prst="roundRect">
            <a:avLst>
              <a:gd name="adj" fmla="val 14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024128" y="3611880"/>
            <a:ext cx="4754880" cy="566928"/>
          </a:xfrm>
          <a:prstGeom prst="rect">
            <a:avLst/>
          </a:prstGeom>
          <a:noFill/>
        </p:spPr>
        <p:txBody>
          <a:bodyPr wrap="square" anchor="ctr" lIns="0" rIns="0" tIns="0" bIns="0">
            <a:spAutoFit/>
          </a:bodyPr>
          <a:lstStyle/>
          <a:p>
            <a:pPr algn="l">
              <a:lnSpc>
                <a:spcPct val="100000"/>
              </a:lnSpc>
              <a:spcBef>
                <a:spcPts val="0"/>
              </a:spcBef>
              <a:spcAft>
                <a:spcPts val="200"/>
              </a:spcAft>
            </a:pPr>
            <a:r>
              <a:rPr sz="1100" b="1" i="0">
                <a:solidFill>
                  <a:srgbClr val="FF6B57"/>
                </a:solidFill>
                <a:latin typeface="Segoe UI"/>
              </a:rPr>
              <a:t>_delta_log/</a:t>
            </a:r>
            <a:r>
              <a:rPr sz="1050" b="0" i="0">
                <a:solidFill>
                  <a:srgbClr val="FFFFFF"/>
                </a:solidFill>
                <a:latin typeface="Segoe UI"/>
              </a:rPr>
              <a:t>   transaction log  →  ACID, versions, schema</a:t>
            </a:r>
          </a:p>
        </p:txBody>
      </p:sp>
      <p:sp>
        <p:nvSpPr>
          <p:cNvPr id="23" name="Up Arrow 22"/>
          <p:cNvSpPr/>
          <p:nvPr/>
        </p:nvSpPr>
        <p:spPr>
          <a:xfrm>
            <a:off x="3310128" y="3346704"/>
            <a:ext cx="274320" cy="292608"/>
          </a:xfrm>
          <a:prstGeom prst="upArrow">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886968" y="4370832"/>
            <a:ext cx="5029200" cy="566928"/>
          </a:xfrm>
          <a:prstGeom prst="roundRect">
            <a:avLst>
              <a:gd name="adj" fmla="val 14000"/>
            </a:avLst>
          </a:prstGeom>
          <a:solidFill>
            <a:srgbClr val="057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24128" y="4370832"/>
            <a:ext cx="4754880" cy="566928"/>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FFFFFF"/>
                </a:solidFill>
                <a:latin typeface="Segoe UI"/>
              </a:rPr>
              <a:t>=  One reliable, governed Delta TABLE</a:t>
            </a:r>
          </a:p>
        </p:txBody>
      </p:sp>
      <p:sp>
        <p:nvSpPr>
          <p:cNvPr id="26" name="TextBox 25"/>
          <p:cNvSpPr txBox="1"/>
          <p:nvPr/>
        </p:nvSpPr>
        <p:spPr>
          <a:xfrm>
            <a:off x="886968" y="5120640"/>
            <a:ext cx="5120640" cy="640080"/>
          </a:xfrm>
          <a:prstGeom prst="rect">
            <a:avLst/>
          </a:prstGeom>
          <a:noFill/>
        </p:spPr>
        <p:txBody>
          <a:bodyPr wrap="square" anchor="t" lIns="0" rIns="0" tIns="0" bIns="0">
            <a:spAutoFit/>
          </a:bodyPr>
          <a:lstStyle/>
          <a:p>
            <a:pPr algn="l">
              <a:lnSpc>
                <a:spcPct val="110000"/>
              </a:lnSpc>
              <a:spcBef>
                <a:spcPts val="0"/>
              </a:spcBef>
              <a:spcAft>
                <a:spcPts val="200"/>
              </a:spcAft>
            </a:pPr>
            <a:r>
              <a:rPr sz="1050" b="0" i="1">
                <a:solidFill>
                  <a:srgbClr val="6B777C"/>
                </a:solidFill>
                <a:latin typeface="Segoe UI"/>
              </a:rPr>
              <a:t>Parquet data files + a JSON transaction log turn a folder of files into a database-grade table.</a:t>
            </a:r>
          </a:p>
        </p:txBody>
      </p:sp>
      <p:sp>
        <p:nvSpPr>
          <p:cNvPr id="27" name="Rounded Rectangle 26"/>
          <p:cNvSpPr/>
          <p:nvPr/>
        </p:nvSpPr>
        <p:spPr>
          <a:xfrm>
            <a:off x="6492240" y="1920240"/>
            <a:ext cx="5132527" cy="832103"/>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6675120" y="2061972"/>
            <a:ext cx="548640" cy="548640"/>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rot="2700000">
            <a:off x="6878775" y="2341339"/>
            <a:ext cx="75712" cy="4037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rot="18480000">
            <a:off x="6934297" y="2285817"/>
            <a:ext cx="146377" cy="4037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360919" y="2011680"/>
            <a:ext cx="4126687" cy="310896"/>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1B3139"/>
                </a:solidFill>
                <a:latin typeface="Segoe UI"/>
              </a:rPr>
              <a:t>ACID Transactions</a:t>
            </a:r>
          </a:p>
        </p:txBody>
      </p:sp>
      <p:sp>
        <p:nvSpPr>
          <p:cNvPr id="32" name="TextBox 31"/>
          <p:cNvSpPr txBox="1"/>
          <p:nvPr/>
        </p:nvSpPr>
        <p:spPr>
          <a:xfrm>
            <a:off x="7360919" y="2313432"/>
            <a:ext cx="4126687" cy="374903"/>
          </a:xfrm>
          <a:prstGeom prst="rect">
            <a:avLst/>
          </a:prstGeom>
          <a:noFill/>
        </p:spPr>
        <p:txBody>
          <a:bodyPr wrap="square" anchor="t" lIns="0" rIns="0" tIns="0" bIns="0">
            <a:spAutoFit/>
          </a:bodyPr>
          <a:lstStyle/>
          <a:p>
            <a:pPr algn="l">
              <a:lnSpc>
                <a:spcPct val="105000"/>
              </a:lnSpc>
              <a:spcBef>
                <a:spcPts val="0"/>
              </a:spcBef>
              <a:spcAft>
                <a:spcPts val="200"/>
              </a:spcAft>
            </a:pPr>
            <a:r>
              <a:rPr sz="1000" b="0" i="0">
                <a:solidFill>
                  <a:srgbClr val="6B777C"/>
                </a:solidFill>
                <a:latin typeface="Segoe UI"/>
              </a:rPr>
              <a:t>Reliable concurrent reads &amp; writes — no corrupt, partial data.</a:t>
            </a:r>
          </a:p>
        </p:txBody>
      </p:sp>
      <p:sp>
        <p:nvSpPr>
          <p:cNvPr id="33" name="Rounded Rectangle 32"/>
          <p:cNvSpPr/>
          <p:nvPr/>
        </p:nvSpPr>
        <p:spPr>
          <a:xfrm>
            <a:off x="6492240" y="2953512"/>
            <a:ext cx="5132527" cy="832103"/>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6675120" y="3095244"/>
            <a:ext cx="548640" cy="548640"/>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Down Arrow 34"/>
          <p:cNvSpPr/>
          <p:nvPr/>
        </p:nvSpPr>
        <p:spPr>
          <a:xfrm>
            <a:off x="6871203" y="3243376"/>
            <a:ext cx="156472" cy="252374"/>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360919" y="3044952"/>
            <a:ext cx="4126687" cy="310896"/>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1B3139"/>
                </a:solidFill>
                <a:latin typeface="Segoe UI"/>
              </a:rPr>
              <a:t>Time Travel</a:t>
            </a:r>
          </a:p>
        </p:txBody>
      </p:sp>
      <p:sp>
        <p:nvSpPr>
          <p:cNvPr id="37" name="TextBox 36"/>
          <p:cNvSpPr txBox="1"/>
          <p:nvPr/>
        </p:nvSpPr>
        <p:spPr>
          <a:xfrm>
            <a:off x="7360919" y="3346704"/>
            <a:ext cx="4126687" cy="374903"/>
          </a:xfrm>
          <a:prstGeom prst="rect">
            <a:avLst/>
          </a:prstGeom>
          <a:noFill/>
        </p:spPr>
        <p:txBody>
          <a:bodyPr wrap="square" anchor="t" lIns="0" rIns="0" tIns="0" bIns="0">
            <a:spAutoFit/>
          </a:bodyPr>
          <a:lstStyle/>
          <a:p>
            <a:pPr algn="l">
              <a:lnSpc>
                <a:spcPct val="105000"/>
              </a:lnSpc>
              <a:spcBef>
                <a:spcPts val="0"/>
              </a:spcBef>
              <a:spcAft>
                <a:spcPts val="200"/>
              </a:spcAft>
            </a:pPr>
            <a:r>
              <a:rPr sz="1000" b="0" i="0">
                <a:solidFill>
                  <a:srgbClr val="6B777C"/>
                </a:solidFill>
                <a:latin typeface="Segoe UI"/>
              </a:rPr>
              <a:t>Query or roll back to any previous version of the table.</a:t>
            </a:r>
          </a:p>
        </p:txBody>
      </p:sp>
      <p:sp>
        <p:nvSpPr>
          <p:cNvPr id="38" name="Rounded Rectangle 37"/>
          <p:cNvSpPr/>
          <p:nvPr/>
        </p:nvSpPr>
        <p:spPr>
          <a:xfrm>
            <a:off x="6492240" y="3986783"/>
            <a:ext cx="5132527" cy="832103"/>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6675120" y="4128515"/>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Pentagon 39"/>
          <p:cNvSpPr/>
          <p:nvPr/>
        </p:nvSpPr>
        <p:spPr>
          <a:xfrm rot="5400000">
            <a:off x="6843442" y="4281696"/>
            <a:ext cx="211994" cy="232184"/>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360919" y="4078223"/>
            <a:ext cx="4126687" cy="310896"/>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1B3139"/>
                </a:solidFill>
                <a:latin typeface="Segoe UI"/>
              </a:rPr>
              <a:t>Schema Enforcement</a:t>
            </a:r>
          </a:p>
        </p:txBody>
      </p:sp>
      <p:sp>
        <p:nvSpPr>
          <p:cNvPr id="42" name="TextBox 41"/>
          <p:cNvSpPr txBox="1"/>
          <p:nvPr/>
        </p:nvSpPr>
        <p:spPr>
          <a:xfrm>
            <a:off x="7360919" y="4379975"/>
            <a:ext cx="4126687" cy="374903"/>
          </a:xfrm>
          <a:prstGeom prst="rect">
            <a:avLst/>
          </a:prstGeom>
          <a:noFill/>
        </p:spPr>
        <p:txBody>
          <a:bodyPr wrap="square" anchor="t" lIns="0" rIns="0" tIns="0" bIns="0">
            <a:spAutoFit/>
          </a:bodyPr>
          <a:lstStyle/>
          <a:p>
            <a:pPr algn="l">
              <a:lnSpc>
                <a:spcPct val="105000"/>
              </a:lnSpc>
              <a:spcBef>
                <a:spcPts val="0"/>
              </a:spcBef>
              <a:spcAft>
                <a:spcPts val="200"/>
              </a:spcAft>
            </a:pPr>
            <a:r>
              <a:rPr sz="1000" b="0" i="0">
                <a:solidFill>
                  <a:srgbClr val="6B777C"/>
                </a:solidFill>
                <a:latin typeface="Segoe UI"/>
              </a:rPr>
              <a:t>Rejects bad data; supports safe schema evolution.</a:t>
            </a:r>
          </a:p>
        </p:txBody>
      </p:sp>
      <p:sp>
        <p:nvSpPr>
          <p:cNvPr id="43" name="Rounded Rectangle 42"/>
          <p:cNvSpPr/>
          <p:nvPr/>
        </p:nvSpPr>
        <p:spPr>
          <a:xfrm>
            <a:off x="6492240" y="5020056"/>
            <a:ext cx="5132527" cy="832103"/>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6675120" y="5161788"/>
            <a:ext cx="548640" cy="548640"/>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Lightning Bolt 44"/>
          <p:cNvSpPr/>
          <p:nvPr/>
        </p:nvSpPr>
        <p:spPr>
          <a:xfrm>
            <a:off x="6861108" y="5309920"/>
            <a:ext cx="176662" cy="252374"/>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360919" y="5111496"/>
            <a:ext cx="4126687" cy="310896"/>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1B3139"/>
                </a:solidFill>
                <a:latin typeface="Segoe UI"/>
              </a:rPr>
              <a:t>Batch + Streaming</a:t>
            </a:r>
          </a:p>
        </p:txBody>
      </p:sp>
      <p:sp>
        <p:nvSpPr>
          <p:cNvPr id="47" name="TextBox 46"/>
          <p:cNvSpPr txBox="1"/>
          <p:nvPr/>
        </p:nvSpPr>
        <p:spPr>
          <a:xfrm>
            <a:off x="7360919" y="5413248"/>
            <a:ext cx="4126687" cy="374903"/>
          </a:xfrm>
          <a:prstGeom prst="rect">
            <a:avLst/>
          </a:prstGeom>
          <a:noFill/>
        </p:spPr>
        <p:txBody>
          <a:bodyPr wrap="square" anchor="t" lIns="0" rIns="0" tIns="0" bIns="0">
            <a:spAutoFit/>
          </a:bodyPr>
          <a:lstStyle/>
          <a:p>
            <a:pPr algn="l">
              <a:lnSpc>
                <a:spcPct val="105000"/>
              </a:lnSpc>
              <a:spcBef>
                <a:spcPts val="0"/>
              </a:spcBef>
              <a:spcAft>
                <a:spcPts val="200"/>
              </a:spcAft>
            </a:pPr>
            <a:r>
              <a:rPr sz="1000" b="0" i="0">
                <a:solidFill>
                  <a:srgbClr val="6B777C"/>
                </a:solidFill>
                <a:latin typeface="Segoe UI"/>
              </a:rPr>
              <a:t>One table for both, with MERGE/upsert &amp; OPTIMIZE / Z-ORDER.</a:t>
            </a:r>
          </a:p>
        </p:txBody>
      </p:sp>
      <p:sp>
        <p:nvSpPr>
          <p:cNvPr id="48" name="TextBox 47"/>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9" name="TextBox 48"/>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DATABRICKS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Medallion Architecture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2057400"/>
            <a:ext cx="3350666" cy="24688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2057400"/>
            <a:ext cx="3350666" cy="777240"/>
          </a:xfrm>
          <a:prstGeom prst="rect">
            <a:avLst/>
          </a:prstGeom>
          <a:solidFill>
            <a:srgbClr val="B06A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Can 8"/>
          <p:cNvSpPr/>
          <p:nvPr/>
        </p:nvSpPr>
        <p:spPr>
          <a:xfrm>
            <a:off x="943112" y="2221992"/>
            <a:ext cx="344911" cy="420624"/>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527048" y="2057400"/>
            <a:ext cx="2344826" cy="777240"/>
          </a:xfrm>
          <a:prstGeom prst="rect">
            <a:avLst/>
          </a:prstGeom>
          <a:noFill/>
        </p:spPr>
        <p:txBody>
          <a:bodyPr wrap="square" anchor="ctr" lIns="0" rIns="0" tIns="0" bIns="0">
            <a:spAutoFit/>
          </a:bodyPr>
          <a:lstStyle/>
          <a:p>
            <a:pPr algn="l">
              <a:lnSpc>
                <a:spcPct val="100000"/>
              </a:lnSpc>
              <a:spcBef>
                <a:spcPts val="0"/>
              </a:spcBef>
              <a:spcAft>
                <a:spcPts val="200"/>
              </a:spcAft>
            </a:pPr>
            <a:r>
              <a:rPr sz="1800" b="1" i="0">
                <a:solidFill>
                  <a:srgbClr val="FFFFFF"/>
                </a:solidFill>
                <a:latin typeface="Segoe UI"/>
              </a:rPr>
              <a:t>Bronze</a:t>
            </a:r>
          </a:p>
        </p:txBody>
      </p:sp>
      <p:sp>
        <p:nvSpPr>
          <p:cNvPr id="11" name="TextBox 10"/>
          <p:cNvSpPr txBox="1"/>
          <p:nvPr/>
        </p:nvSpPr>
        <p:spPr>
          <a:xfrm>
            <a:off x="841247" y="2971800"/>
            <a:ext cx="2802026" cy="1097280"/>
          </a:xfrm>
          <a:prstGeom prst="rect">
            <a:avLst/>
          </a:prstGeom>
          <a:noFill/>
        </p:spPr>
        <p:txBody>
          <a:bodyPr wrap="square" anchor="t" lIns="0" rIns="0" tIns="0" bIns="0">
            <a:spAutoFit/>
          </a:bodyPr>
          <a:lstStyle/>
          <a:p>
            <a:pPr algn="l">
              <a:lnSpc>
                <a:spcPct val="118000"/>
              </a:lnSpc>
              <a:spcBef>
                <a:spcPts val="0"/>
              </a:spcBef>
              <a:spcAft>
                <a:spcPts val="200"/>
              </a:spcAft>
            </a:pPr>
            <a:r>
              <a:rPr sz="1150" b="0" i="0">
                <a:solidFill>
                  <a:srgbClr val="465257"/>
                </a:solidFill>
                <a:latin typeface="Segoe UI"/>
              </a:rPr>
              <a:t>RAW — ingest as-is from source. Full history, append-only, schema-light.</a:t>
            </a:r>
          </a:p>
        </p:txBody>
      </p:sp>
      <p:sp>
        <p:nvSpPr>
          <p:cNvPr id="12" name="TextBox 11"/>
          <p:cNvSpPr txBox="1"/>
          <p:nvPr/>
        </p:nvSpPr>
        <p:spPr>
          <a:xfrm>
            <a:off x="841247" y="4069080"/>
            <a:ext cx="2802026" cy="36576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B06A3B"/>
                </a:solidFill>
                <a:latin typeface="Segoe UI"/>
              </a:rPr>
              <a:t>▸  </a:t>
            </a:r>
            <a:r>
              <a:rPr sz="1050" b="0" i="1">
                <a:solidFill>
                  <a:srgbClr val="6B777C"/>
                </a:solidFill>
                <a:latin typeface="Segoe UI"/>
              </a:rPr>
              <a:t>Source of truth, replayable</a:t>
            </a:r>
          </a:p>
        </p:txBody>
      </p:sp>
      <p:sp>
        <p:nvSpPr>
          <p:cNvPr id="13" name="Right Arrow 12"/>
          <p:cNvSpPr/>
          <p:nvPr/>
        </p:nvSpPr>
        <p:spPr>
          <a:xfrm>
            <a:off x="3990746" y="3172968"/>
            <a:ext cx="365760" cy="237744"/>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420514" y="2057400"/>
            <a:ext cx="3350666" cy="24688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20514" y="2057400"/>
            <a:ext cx="3350666" cy="777240"/>
          </a:xfrm>
          <a:prstGeom prst="rect">
            <a:avLst/>
          </a:prstGeom>
          <a:solidFill>
            <a:srgbClr val="8D9A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Gear 6 15"/>
          <p:cNvSpPr/>
          <p:nvPr/>
        </p:nvSpPr>
        <p:spPr>
          <a:xfrm>
            <a:off x="4758842" y="2221992"/>
            <a:ext cx="420624" cy="420624"/>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80634" y="2057400"/>
            <a:ext cx="2344826" cy="777240"/>
          </a:xfrm>
          <a:prstGeom prst="rect">
            <a:avLst/>
          </a:prstGeom>
          <a:noFill/>
        </p:spPr>
        <p:txBody>
          <a:bodyPr wrap="square" anchor="ctr" lIns="0" rIns="0" tIns="0" bIns="0">
            <a:spAutoFit/>
          </a:bodyPr>
          <a:lstStyle/>
          <a:p>
            <a:pPr algn="l">
              <a:lnSpc>
                <a:spcPct val="100000"/>
              </a:lnSpc>
              <a:spcBef>
                <a:spcPts val="0"/>
              </a:spcBef>
              <a:spcAft>
                <a:spcPts val="200"/>
              </a:spcAft>
            </a:pPr>
            <a:r>
              <a:rPr sz="1800" b="1" i="0">
                <a:solidFill>
                  <a:srgbClr val="FFFFFF"/>
                </a:solidFill>
                <a:latin typeface="Segoe UI"/>
              </a:rPr>
              <a:t>Silver</a:t>
            </a:r>
          </a:p>
        </p:txBody>
      </p:sp>
      <p:sp>
        <p:nvSpPr>
          <p:cNvPr id="18" name="TextBox 17"/>
          <p:cNvSpPr txBox="1"/>
          <p:nvPr/>
        </p:nvSpPr>
        <p:spPr>
          <a:xfrm>
            <a:off x="4694834" y="2971800"/>
            <a:ext cx="2802026" cy="1097280"/>
          </a:xfrm>
          <a:prstGeom prst="rect">
            <a:avLst/>
          </a:prstGeom>
          <a:noFill/>
        </p:spPr>
        <p:txBody>
          <a:bodyPr wrap="square" anchor="t" lIns="0" rIns="0" tIns="0" bIns="0">
            <a:spAutoFit/>
          </a:bodyPr>
          <a:lstStyle/>
          <a:p>
            <a:pPr algn="l">
              <a:lnSpc>
                <a:spcPct val="118000"/>
              </a:lnSpc>
              <a:spcBef>
                <a:spcPts val="0"/>
              </a:spcBef>
              <a:spcAft>
                <a:spcPts val="200"/>
              </a:spcAft>
            </a:pPr>
            <a:r>
              <a:rPr sz="1150" b="0" i="0">
                <a:solidFill>
                  <a:srgbClr val="465257"/>
                </a:solidFill>
                <a:latin typeface="Segoe UI"/>
              </a:rPr>
              <a:t>CLEANSED — validated, de-duplicated, conformed &amp; joined. Queryable.</a:t>
            </a:r>
          </a:p>
        </p:txBody>
      </p:sp>
      <p:sp>
        <p:nvSpPr>
          <p:cNvPr id="19" name="TextBox 18"/>
          <p:cNvSpPr txBox="1"/>
          <p:nvPr/>
        </p:nvSpPr>
        <p:spPr>
          <a:xfrm>
            <a:off x="4694834" y="4069080"/>
            <a:ext cx="2802026" cy="36576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8D9AA3"/>
                </a:solidFill>
                <a:latin typeface="Segoe UI"/>
              </a:rPr>
              <a:t>▸  </a:t>
            </a:r>
            <a:r>
              <a:rPr sz="1050" b="0" i="1">
                <a:solidFill>
                  <a:srgbClr val="6B777C"/>
                </a:solidFill>
                <a:latin typeface="Segoe UI"/>
              </a:rPr>
              <a:t>Single version of the cleaned data</a:t>
            </a:r>
          </a:p>
        </p:txBody>
      </p:sp>
      <p:sp>
        <p:nvSpPr>
          <p:cNvPr id="20" name="Right Arrow 19"/>
          <p:cNvSpPr/>
          <p:nvPr/>
        </p:nvSpPr>
        <p:spPr>
          <a:xfrm>
            <a:off x="7844332" y="3172968"/>
            <a:ext cx="365760" cy="237744"/>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8274100" y="2057400"/>
            <a:ext cx="3350666" cy="24688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274100" y="2057400"/>
            <a:ext cx="3350666" cy="777240"/>
          </a:xfrm>
          <a:prstGeom prst="rect">
            <a:avLst/>
          </a:prstGeom>
          <a:solidFill>
            <a:srgbClr val="D8A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Diamond 22"/>
          <p:cNvSpPr/>
          <p:nvPr/>
        </p:nvSpPr>
        <p:spPr>
          <a:xfrm>
            <a:off x="8629253" y="2221992"/>
            <a:ext cx="386974" cy="420624"/>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34220" y="2057400"/>
            <a:ext cx="2344826" cy="777240"/>
          </a:xfrm>
          <a:prstGeom prst="rect">
            <a:avLst/>
          </a:prstGeom>
          <a:noFill/>
        </p:spPr>
        <p:txBody>
          <a:bodyPr wrap="square" anchor="ctr" lIns="0" rIns="0" tIns="0" bIns="0">
            <a:spAutoFit/>
          </a:bodyPr>
          <a:lstStyle/>
          <a:p>
            <a:pPr algn="l">
              <a:lnSpc>
                <a:spcPct val="100000"/>
              </a:lnSpc>
              <a:spcBef>
                <a:spcPts val="0"/>
              </a:spcBef>
              <a:spcAft>
                <a:spcPts val="200"/>
              </a:spcAft>
            </a:pPr>
            <a:r>
              <a:rPr sz="1800" b="1" i="0">
                <a:solidFill>
                  <a:srgbClr val="FFFFFF"/>
                </a:solidFill>
                <a:latin typeface="Segoe UI"/>
              </a:rPr>
              <a:t>Gold</a:t>
            </a:r>
          </a:p>
        </p:txBody>
      </p:sp>
      <p:sp>
        <p:nvSpPr>
          <p:cNvPr id="25" name="TextBox 24"/>
          <p:cNvSpPr txBox="1"/>
          <p:nvPr/>
        </p:nvSpPr>
        <p:spPr>
          <a:xfrm>
            <a:off x="8548420" y="2971800"/>
            <a:ext cx="2802026" cy="1097280"/>
          </a:xfrm>
          <a:prstGeom prst="rect">
            <a:avLst/>
          </a:prstGeom>
          <a:noFill/>
        </p:spPr>
        <p:txBody>
          <a:bodyPr wrap="square" anchor="t" lIns="0" rIns="0" tIns="0" bIns="0">
            <a:spAutoFit/>
          </a:bodyPr>
          <a:lstStyle/>
          <a:p>
            <a:pPr algn="l">
              <a:lnSpc>
                <a:spcPct val="118000"/>
              </a:lnSpc>
              <a:spcBef>
                <a:spcPts val="0"/>
              </a:spcBef>
              <a:spcAft>
                <a:spcPts val="200"/>
              </a:spcAft>
            </a:pPr>
            <a:r>
              <a:rPr sz="1150" b="0" i="0">
                <a:solidFill>
                  <a:srgbClr val="465257"/>
                </a:solidFill>
                <a:latin typeface="Segoe UI"/>
              </a:rPr>
              <a:t>CURATED — business-level aggregates &amp; features for BI, ML &amp; reporting.</a:t>
            </a:r>
          </a:p>
        </p:txBody>
      </p:sp>
      <p:sp>
        <p:nvSpPr>
          <p:cNvPr id="26" name="TextBox 25"/>
          <p:cNvSpPr txBox="1"/>
          <p:nvPr/>
        </p:nvSpPr>
        <p:spPr>
          <a:xfrm>
            <a:off x="8548420" y="4069080"/>
            <a:ext cx="2802026" cy="36576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D8A32B"/>
                </a:solidFill>
                <a:latin typeface="Segoe UI"/>
              </a:rPr>
              <a:t>▸  </a:t>
            </a:r>
            <a:r>
              <a:rPr sz="1050" b="0" i="1">
                <a:solidFill>
                  <a:srgbClr val="6B777C"/>
                </a:solidFill>
                <a:latin typeface="Segoe UI"/>
              </a:rPr>
              <a:t>Ready for dashboards &amp; models</a:t>
            </a:r>
          </a:p>
        </p:txBody>
      </p:sp>
      <p:sp>
        <p:nvSpPr>
          <p:cNvPr id="27" name="Rectangle 26"/>
          <p:cNvSpPr/>
          <p:nvPr/>
        </p:nvSpPr>
        <p:spPr>
          <a:xfrm>
            <a:off x="566928" y="4892040"/>
            <a:ext cx="11057839" cy="457200"/>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41247" y="4892040"/>
            <a:ext cx="3657600" cy="457200"/>
          </a:xfrm>
          <a:prstGeom prst="rect">
            <a:avLst/>
          </a:prstGeom>
          <a:noFill/>
        </p:spPr>
        <p:txBody>
          <a:bodyPr wrap="square" anchor="ctr" lIns="0" rIns="0" tIns="0" bIns="0">
            <a:spAutoFit/>
          </a:bodyPr>
          <a:lstStyle/>
          <a:p>
            <a:pPr algn="l">
              <a:lnSpc>
                <a:spcPct val="100000"/>
              </a:lnSpc>
              <a:spcBef>
                <a:spcPts val="0"/>
              </a:spcBef>
              <a:spcAft>
                <a:spcPts val="200"/>
              </a:spcAft>
            </a:pPr>
            <a:r>
              <a:rPr sz="1100" b="1" i="0">
                <a:solidFill>
                  <a:srgbClr val="1B3139"/>
                </a:solidFill>
                <a:latin typeface="Segoe UI"/>
              </a:rPr>
              <a:t>Data quality &amp; business value</a:t>
            </a:r>
          </a:p>
        </p:txBody>
      </p:sp>
      <p:sp>
        <p:nvSpPr>
          <p:cNvPr id="29" name="Rounded Rectangle 28"/>
          <p:cNvSpPr/>
          <p:nvPr/>
        </p:nvSpPr>
        <p:spPr>
          <a:xfrm>
            <a:off x="4498848" y="4992624"/>
            <a:ext cx="6400800" cy="256032"/>
          </a:xfrm>
          <a:prstGeom prst="roundRect">
            <a:avLst>
              <a:gd name="adj" fmla="val 50000"/>
            </a:avLst>
          </a:prstGeom>
          <a:gradFill rotWithShape="1">
            <a:gsLst>
              <a:gs pos="0">
                <a:srgbClr val="B06A3B"/>
              </a:gs>
              <a:gs pos="100000">
                <a:srgbClr val="D8A32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ight Arrow 29"/>
          <p:cNvSpPr/>
          <p:nvPr/>
        </p:nvSpPr>
        <p:spPr>
          <a:xfrm>
            <a:off x="10378440" y="4983480"/>
            <a:ext cx="640080" cy="274320"/>
          </a:xfrm>
          <a:prstGeom prst="rightArrow">
            <a:avLst/>
          </a:prstGeom>
          <a:solidFill>
            <a:srgbClr val="D8A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66928" y="5532120"/>
            <a:ext cx="11057839" cy="502920"/>
          </a:xfrm>
          <a:prstGeom prst="rect">
            <a:avLst/>
          </a:prstGeom>
          <a:noFill/>
        </p:spPr>
        <p:txBody>
          <a:bodyPr wrap="square" anchor="t" lIns="0" rIns="0" tIns="0" bIns="0">
            <a:spAutoFit/>
          </a:bodyPr>
          <a:lstStyle/>
          <a:p>
            <a:pPr algn="ctr">
              <a:lnSpc>
                <a:spcPct val="100000"/>
              </a:lnSpc>
              <a:spcBef>
                <a:spcPts val="0"/>
              </a:spcBef>
              <a:spcAft>
                <a:spcPts val="200"/>
              </a:spcAft>
            </a:pPr>
            <a:r>
              <a:rPr sz="1200" b="0" i="1">
                <a:solidFill>
                  <a:srgbClr val="6B777C"/>
                </a:solidFill>
                <a:latin typeface="Segoe UI"/>
              </a:rPr>
              <a:t>A proven, incremental refinement pattern — raw data is progressively cleaned and enriched into trusted, analytics-ready tables.</a:t>
            </a:r>
          </a:p>
        </p:txBody>
      </p:sp>
      <p:sp>
        <p:nvSpPr>
          <p:cNvPr id="32" name="TextBox 31"/>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33" name="TextBox 32"/>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DATABRICKS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Cluster &amp; Compute Architecture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74519"/>
            <a:ext cx="5486400" cy="3977639"/>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86968" y="2048256"/>
            <a:ext cx="493776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3621"/>
                </a:solidFill>
                <a:latin typeface="Segoe UI Semibold"/>
              </a:rPr>
              <a:t>ANATOMY OF A CLUSTER</a:t>
            </a:r>
          </a:p>
        </p:txBody>
      </p:sp>
      <p:sp>
        <p:nvSpPr>
          <p:cNvPr id="9" name="Rounded Rectangle 8"/>
          <p:cNvSpPr/>
          <p:nvPr/>
        </p:nvSpPr>
        <p:spPr>
          <a:xfrm>
            <a:off x="886968" y="2432304"/>
            <a:ext cx="4846320" cy="640080"/>
          </a:xfrm>
          <a:prstGeom prst="roundRect">
            <a:avLst>
              <a:gd name="adj" fmla="val 12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24128" y="2432304"/>
            <a:ext cx="4572000" cy="640080"/>
          </a:xfrm>
          <a:prstGeom prst="rect">
            <a:avLst/>
          </a:prstGeom>
          <a:noFill/>
        </p:spPr>
        <p:txBody>
          <a:bodyPr wrap="square" anchor="ctr" lIns="0" rIns="0" tIns="0" bIns="0">
            <a:spAutoFit/>
          </a:bodyPr>
          <a:lstStyle/>
          <a:p>
            <a:pPr algn="l">
              <a:lnSpc>
                <a:spcPct val="100000"/>
              </a:lnSpc>
              <a:spcBef>
                <a:spcPts val="0"/>
              </a:spcBef>
              <a:spcAft>
                <a:spcPts val="200"/>
              </a:spcAft>
            </a:pPr>
            <a:r>
              <a:rPr sz="1200" b="1" i="0">
                <a:solidFill>
                  <a:srgbClr val="FFFFFF"/>
                </a:solidFill>
                <a:latin typeface="Segoe UI"/>
              </a:rPr>
              <a:t>Driver Node  ·  coordinates the cluster</a:t>
            </a:r>
          </a:p>
        </p:txBody>
      </p:sp>
      <p:sp>
        <p:nvSpPr>
          <p:cNvPr id="11" name="Rounded Rectangle 10"/>
          <p:cNvSpPr/>
          <p:nvPr/>
        </p:nvSpPr>
        <p:spPr>
          <a:xfrm>
            <a:off x="886968" y="3246120"/>
            <a:ext cx="1124712" cy="685800"/>
          </a:xfrm>
          <a:prstGeom prst="roundRect">
            <a:avLst>
              <a:gd name="adj" fmla="val 12000"/>
            </a:avLst>
          </a:prstGeom>
          <a:solidFill>
            <a:srgbClr val="EFECE6"/>
          </a:solidFill>
          <a:ln w="19050">
            <a:solidFill>
              <a:srgbClr val="2272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86968" y="3246120"/>
            <a:ext cx="1124712" cy="685800"/>
          </a:xfrm>
          <a:prstGeom prst="rect">
            <a:avLst/>
          </a:prstGeom>
          <a:noFill/>
        </p:spPr>
        <p:txBody>
          <a:bodyPr wrap="square" anchor="ctr" lIns="0" rIns="0" tIns="0" bIns="0">
            <a:spAutoFit/>
          </a:bodyPr>
          <a:lstStyle/>
          <a:p>
            <a:pPr algn="ctr">
              <a:lnSpc>
                <a:spcPct val="100000"/>
              </a:lnSpc>
              <a:spcBef>
                <a:spcPts val="0"/>
              </a:spcBef>
              <a:spcAft>
                <a:spcPts val="200"/>
              </a:spcAft>
            </a:pPr>
            <a:r>
              <a:rPr sz="1050" b="1" i="0">
                <a:solidFill>
                  <a:srgbClr val="1B3139"/>
                </a:solidFill>
                <a:latin typeface="Segoe UI"/>
              </a:rPr>
              <a:t>Worker 1</a:t>
            </a:r>
          </a:p>
        </p:txBody>
      </p:sp>
      <p:sp>
        <p:nvSpPr>
          <p:cNvPr id="13" name="Rounded Rectangle 12"/>
          <p:cNvSpPr/>
          <p:nvPr/>
        </p:nvSpPr>
        <p:spPr>
          <a:xfrm>
            <a:off x="2125980" y="3246120"/>
            <a:ext cx="1124712" cy="685800"/>
          </a:xfrm>
          <a:prstGeom prst="roundRect">
            <a:avLst>
              <a:gd name="adj" fmla="val 12000"/>
            </a:avLst>
          </a:prstGeom>
          <a:solidFill>
            <a:srgbClr val="EFECE6"/>
          </a:solidFill>
          <a:ln w="19050">
            <a:solidFill>
              <a:srgbClr val="2272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25980" y="3246120"/>
            <a:ext cx="1124712" cy="685800"/>
          </a:xfrm>
          <a:prstGeom prst="rect">
            <a:avLst/>
          </a:prstGeom>
          <a:noFill/>
        </p:spPr>
        <p:txBody>
          <a:bodyPr wrap="square" anchor="ctr" lIns="0" rIns="0" tIns="0" bIns="0">
            <a:spAutoFit/>
          </a:bodyPr>
          <a:lstStyle/>
          <a:p>
            <a:pPr algn="ctr">
              <a:lnSpc>
                <a:spcPct val="100000"/>
              </a:lnSpc>
              <a:spcBef>
                <a:spcPts val="0"/>
              </a:spcBef>
              <a:spcAft>
                <a:spcPts val="200"/>
              </a:spcAft>
            </a:pPr>
            <a:r>
              <a:rPr sz="1050" b="1" i="0">
                <a:solidFill>
                  <a:srgbClr val="1B3139"/>
                </a:solidFill>
                <a:latin typeface="Segoe UI"/>
              </a:rPr>
              <a:t>Worker 2</a:t>
            </a:r>
          </a:p>
        </p:txBody>
      </p:sp>
      <p:sp>
        <p:nvSpPr>
          <p:cNvPr id="15" name="Rounded Rectangle 14"/>
          <p:cNvSpPr/>
          <p:nvPr/>
        </p:nvSpPr>
        <p:spPr>
          <a:xfrm>
            <a:off x="3364991" y="3246120"/>
            <a:ext cx="1124712" cy="685800"/>
          </a:xfrm>
          <a:prstGeom prst="roundRect">
            <a:avLst>
              <a:gd name="adj" fmla="val 12000"/>
            </a:avLst>
          </a:prstGeom>
          <a:solidFill>
            <a:srgbClr val="EFECE6"/>
          </a:solidFill>
          <a:ln w="19050">
            <a:solidFill>
              <a:srgbClr val="2272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364991" y="3246120"/>
            <a:ext cx="1124712" cy="685800"/>
          </a:xfrm>
          <a:prstGeom prst="rect">
            <a:avLst/>
          </a:prstGeom>
          <a:noFill/>
        </p:spPr>
        <p:txBody>
          <a:bodyPr wrap="square" anchor="ctr" lIns="0" rIns="0" tIns="0" bIns="0">
            <a:spAutoFit/>
          </a:bodyPr>
          <a:lstStyle/>
          <a:p>
            <a:pPr algn="ctr">
              <a:lnSpc>
                <a:spcPct val="100000"/>
              </a:lnSpc>
              <a:spcBef>
                <a:spcPts val="0"/>
              </a:spcBef>
              <a:spcAft>
                <a:spcPts val="200"/>
              </a:spcAft>
            </a:pPr>
            <a:r>
              <a:rPr sz="1050" b="1" i="0">
                <a:solidFill>
                  <a:srgbClr val="1B3139"/>
                </a:solidFill>
                <a:latin typeface="Segoe UI"/>
              </a:rPr>
              <a:t>Worker 3</a:t>
            </a:r>
          </a:p>
        </p:txBody>
      </p:sp>
      <p:sp>
        <p:nvSpPr>
          <p:cNvPr id="17" name="Rounded Rectangle 16"/>
          <p:cNvSpPr/>
          <p:nvPr/>
        </p:nvSpPr>
        <p:spPr>
          <a:xfrm>
            <a:off x="4604003" y="3246120"/>
            <a:ext cx="1124712" cy="685800"/>
          </a:xfrm>
          <a:prstGeom prst="roundRect">
            <a:avLst>
              <a:gd name="adj" fmla="val 12000"/>
            </a:avLst>
          </a:prstGeom>
          <a:noFill/>
          <a:ln w="19050">
            <a:solidFill>
              <a:srgbClr val="00A9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604003" y="3246120"/>
            <a:ext cx="1124712" cy="685800"/>
          </a:xfrm>
          <a:prstGeom prst="rect">
            <a:avLst/>
          </a:prstGeom>
          <a:noFill/>
        </p:spPr>
        <p:txBody>
          <a:bodyPr wrap="square" anchor="ctr" lIns="0" rIns="0" tIns="0" bIns="0">
            <a:spAutoFit/>
          </a:bodyPr>
          <a:lstStyle/>
          <a:p>
            <a:pPr algn="ctr">
              <a:lnSpc>
                <a:spcPct val="100000"/>
              </a:lnSpc>
              <a:spcBef>
                <a:spcPts val="0"/>
              </a:spcBef>
              <a:spcAft>
                <a:spcPts val="200"/>
              </a:spcAft>
            </a:pPr>
            <a:r>
              <a:rPr sz="1000" b="1" i="0">
                <a:solidFill>
                  <a:srgbClr val="057A55"/>
                </a:solidFill>
                <a:latin typeface="Segoe UI"/>
              </a:rPr>
              <a:t>+ auto</a:t>
            </a:r>
          </a:p>
        </p:txBody>
      </p:sp>
      <p:sp>
        <p:nvSpPr>
          <p:cNvPr id="19" name="TextBox 18"/>
          <p:cNvSpPr txBox="1"/>
          <p:nvPr/>
        </p:nvSpPr>
        <p:spPr>
          <a:xfrm>
            <a:off x="886968" y="4069080"/>
            <a:ext cx="4937760" cy="274320"/>
          </a:xfrm>
          <a:prstGeom prst="rect">
            <a:avLst/>
          </a:prstGeom>
          <a:noFill/>
        </p:spPr>
        <p:txBody>
          <a:bodyPr wrap="square" anchor="t" lIns="0" rIns="0" tIns="0" bIns="0">
            <a:spAutoFit/>
          </a:bodyPr>
          <a:lstStyle/>
          <a:p>
            <a:pPr algn="l">
              <a:lnSpc>
                <a:spcPct val="100000"/>
              </a:lnSpc>
              <a:spcBef>
                <a:spcPts val="0"/>
              </a:spcBef>
              <a:spcAft>
                <a:spcPts val="200"/>
              </a:spcAft>
            </a:pPr>
            <a:r>
              <a:rPr sz="1050" b="1" i="0">
                <a:solidFill>
                  <a:srgbClr val="057A55"/>
                </a:solidFill>
                <a:latin typeface="Segoe UI"/>
              </a:rPr>
              <a:t>Autoscaling </a:t>
            </a:r>
            <a:r>
              <a:rPr sz="1050" b="0" i="1">
                <a:solidFill>
                  <a:srgbClr val="6B777C"/>
                </a:solidFill>
                <a:latin typeface="Segoe UI"/>
              </a:rPr>
              <a:t>adds/removes workers with load</a:t>
            </a:r>
          </a:p>
        </p:txBody>
      </p:sp>
      <p:sp>
        <p:nvSpPr>
          <p:cNvPr id="20" name="Rectangle 19"/>
          <p:cNvSpPr/>
          <p:nvPr/>
        </p:nvSpPr>
        <p:spPr>
          <a:xfrm>
            <a:off x="886968" y="4434840"/>
            <a:ext cx="4846320" cy="10972"/>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86968" y="4553712"/>
            <a:ext cx="4937760" cy="274320"/>
          </a:xfrm>
          <a:prstGeom prst="rect">
            <a:avLst/>
          </a:prstGeom>
          <a:noFill/>
        </p:spPr>
        <p:txBody>
          <a:bodyPr wrap="square" anchor="t" lIns="0" rIns="0" tIns="0" bIns="0">
            <a:spAutoFit/>
          </a:bodyPr>
          <a:lstStyle/>
          <a:p>
            <a:pPr algn="l">
              <a:lnSpc>
                <a:spcPct val="100000"/>
              </a:lnSpc>
              <a:spcBef>
                <a:spcPts val="0"/>
              </a:spcBef>
              <a:spcAft>
                <a:spcPts val="200"/>
              </a:spcAft>
            </a:pPr>
            <a:r>
              <a:rPr sz="1050" b="1" i="0">
                <a:solidFill>
                  <a:srgbClr val="1B3139"/>
                </a:solidFill>
                <a:latin typeface="Segoe UI"/>
              </a:rPr>
              <a:t>Databricks Runtime (DBR)</a:t>
            </a:r>
          </a:p>
        </p:txBody>
      </p:sp>
      <p:sp>
        <p:nvSpPr>
          <p:cNvPr id="22" name="TextBox 21"/>
          <p:cNvSpPr txBox="1"/>
          <p:nvPr/>
        </p:nvSpPr>
        <p:spPr>
          <a:xfrm>
            <a:off x="886968" y="4846320"/>
            <a:ext cx="4937760" cy="1005840"/>
          </a:xfrm>
          <a:prstGeom prst="rect">
            <a:avLst/>
          </a:prstGeom>
          <a:noFill/>
        </p:spPr>
        <p:txBody>
          <a:bodyPr wrap="square" anchor="t" lIns="0" rIns="0" tIns="0" bIns="0">
            <a:spAutoFit/>
          </a:bodyPr>
          <a:lstStyle/>
          <a:p>
            <a:pPr marL="274320" indent="-274320">
              <a:lnSpc>
                <a:spcPct val="112000"/>
              </a:lnSpc>
              <a:spcBef>
                <a:spcPts val="0"/>
              </a:spcBef>
              <a:spcAft>
                <a:spcPts val="500"/>
              </a:spcAft>
            </a:pPr>
            <a:r>
              <a:rPr sz="1030" b="1">
                <a:solidFill>
                  <a:srgbClr val="FF3621"/>
                </a:solidFill>
                <a:latin typeface="Segoe UI"/>
              </a:rPr>
              <a:t>▪   </a:t>
            </a:r>
            <a:r>
              <a:rPr sz="1030">
                <a:solidFill>
                  <a:srgbClr val="465257"/>
                </a:solidFill>
                <a:latin typeface="Segoe UI"/>
              </a:rPr>
              <a:t>Pre-tuned Spark + Photon + Delta + libraries</a:t>
            </a:r>
          </a:p>
          <a:p>
            <a:pPr marL="274320" indent="-274320">
              <a:lnSpc>
                <a:spcPct val="112000"/>
              </a:lnSpc>
              <a:spcBef>
                <a:spcPts val="0"/>
              </a:spcBef>
              <a:spcAft>
                <a:spcPts val="500"/>
              </a:spcAft>
            </a:pPr>
            <a:r>
              <a:rPr sz="1030" b="1">
                <a:solidFill>
                  <a:srgbClr val="FF3621"/>
                </a:solidFill>
                <a:latin typeface="Segoe UI"/>
              </a:rPr>
              <a:t>▪   </a:t>
            </a:r>
            <a:r>
              <a:rPr sz="1030">
                <a:solidFill>
                  <a:srgbClr val="465257"/>
                </a:solidFill>
                <a:latin typeface="Segoe UI"/>
              </a:rPr>
              <a:t>ML runtime variant bundles PyTorch / TF / CUDA</a:t>
            </a:r>
          </a:p>
        </p:txBody>
      </p:sp>
      <p:sp>
        <p:nvSpPr>
          <p:cNvPr id="23" name="Rounded Rectangle 22"/>
          <p:cNvSpPr/>
          <p:nvPr/>
        </p:nvSpPr>
        <p:spPr>
          <a:xfrm>
            <a:off x="6309360" y="1874519"/>
            <a:ext cx="5315407" cy="857249"/>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83096" y="2037968"/>
            <a:ext cx="530352" cy="530352"/>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6699479" y="2200680"/>
            <a:ext cx="97584" cy="975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665324" y="2312903"/>
            <a:ext cx="165894" cy="10246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150608" y="1947672"/>
            <a:ext cx="4355287" cy="292608"/>
          </a:xfrm>
          <a:prstGeom prst="rect">
            <a:avLst/>
          </a:prstGeom>
          <a:noFill/>
        </p:spPr>
        <p:txBody>
          <a:bodyPr wrap="square" anchor="t" lIns="0" rIns="0" tIns="0" bIns="0">
            <a:spAutoFit/>
          </a:bodyPr>
          <a:lstStyle/>
          <a:p>
            <a:pPr algn="l">
              <a:lnSpc>
                <a:spcPct val="100000"/>
              </a:lnSpc>
              <a:spcBef>
                <a:spcPts val="0"/>
              </a:spcBef>
              <a:spcAft>
                <a:spcPts val="200"/>
              </a:spcAft>
            </a:pPr>
            <a:r>
              <a:rPr sz="1200" b="1" i="0">
                <a:solidFill>
                  <a:srgbClr val="1B3139"/>
                </a:solidFill>
                <a:latin typeface="Segoe UI"/>
              </a:rPr>
              <a:t>All-Purpose</a:t>
            </a:r>
          </a:p>
        </p:txBody>
      </p:sp>
      <p:sp>
        <p:nvSpPr>
          <p:cNvPr id="28" name="TextBox 27"/>
          <p:cNvSpPr txBox="1"/>
          <p:nvPr/>
        </p:nvSpPr>
        <p:spPr>
          <a:xfrm>
            <a:off x="7150608" y="2221991"/>
            <a:ext cx="4355287" cy="445769"/>
          </a:xfrm>
          <a:prstGeom prst="rect">
            <a:avLst/>
          </a:prstGeom>
          <a:noFill/>
        </p:spPr>
        <p:txBody>
          <a:bodyPr wrap="square" anchor="t" lIns="0" rIns="0" tIns="0" bIns="0">
            <a:spAutoFit/>
          </a:bodyPr>
          <a:lstStyle/>
          <a:p>
            <a:pPr algn="l">
              <a:lnSpc>
                <a:spcPct val="102000"/>
              </a:lnSpc>
              <a:spcBef>
                <a:spcPts val="0"/>
              </a:spcBef>
              <a:spcAft>
                <a:spcPts val="200"/>
              </a:spcAft>
            </a:pPr>
            <a:r>
              <a:rPr sz="960" b="0" i="0">
                <a:solidFill>
                  <a:srgbClr val="6B777C"/>
                </a:solidFill>
                <a:latin typeface="Segoe UI"/>
              </a:rPr>
              <a:t>Interactive, shared clusters for collaborative development in notebooks.</a:t>
            </a:r>
          </a:p>
        </p:txBody>
      </p:sp>
      <p:sp>
        <p:nvSpPr>
          <p:cNvPr id="29" name="Rounded Rectangle 28"/>
          <p:cNvSpPr/>
          <p:nvPr/>
        </p:nvSpPr>
        <p:spPr>
          <a:xfrm>
            <a:off x="6309360" y="2914650"/>
            <a:ext cx="5315407" cy="857249"/>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83096" y="3078099"/>
            <a:ext cx="530352" cy="530352"/>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ight Arrow 30"/>
          <p:cNvSpPr/>
          <p:nvPr/>
        </p:nvSpPr>
        <p:spPr>
          <a:xfrm>
            <a:off x="6626291" y="3270086"/>
            <a:ext cx="243961" cy="146377"/>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150608" y="2987802"/>
            <a:ext cx="4355287" cy="292608"/>
          </a:xfrm>
          <a:prstGeom prst="rect">
            <a:avLst/>
          </a:prstGeom>
          <a:noFill/>
        </p:spPr>
        <p:txBody>
          <a:bodyPr wrap="square" anchor="t" lIns="0" rIns="0" tIns="0" bIns="0">
            <a:spAutoFit/>
          </a:bodyPr>
          <a:lstStyle/>
          <a:p>
            <a:pPr algn="l">
              <a:lnSpc>
                <a:spcPct val="100000"/>
              </a:lnSpc>
              <a:spcBef>
                <a:spcPts val="0"/>
              </a:spcBef>
              <a:spcAft>
                <a:spcPts val="200"/>
              </a:spcAft>
            </a:pPr>
            <a:r>
              <a:rPr sz="1200" b="1" i="0">
                <a:solidFill>
                  <a:srgbClr val="1B3139"/>
                </a:solidFill>
                <a:latin typeface="Segoe UI"/>
              </a:rPr>
              <a:t>Job Clusters</a:t>
            </a:r>
          </a:p>
        </p:txBody>
      </p:sp>
      <p:sp>
        <p:nvSpPr>
          <p:cNvPr id="33" name="TextBox 32"/>
          <p:cNvSpPr txBox="1"/>
          <p:nvPr/>
        </p:nvSpPr>
        <p:spPr>
          <a:xfrm>
            <a:off x="7150608" y="3262122"/>
            <a:ext cx="4355287" cy="445769"/>
          </a:xfrm>
          <a:prstGeom prst="rect">
            <a:avLst/>
          </a:prstGeom>
          <a:noFill/>
        </p:spPr>
        <p:txBody>
          <a:bodyPr wrap="square" anchor="t" lIns="0" rIns="0" tIns="0" bIns="0">
            <a:spAutoFit/>
          </a:bodyPr>
          <a:lstStyle/>
          <a:p>
            <a:pPr algn="l">
              <a:lnSpc>
                <a:spcPct val="102000"/>
              </a:lnSpc>
              <a:spcBef>
                <a:spcPts val="0"/>
              </a:spcBef>
              <a:spcAft>
                <a:spcPts val="200"/>
              </a:spcAft>
            </a:pPr>
            <a:r>
              <a:rPr sz="960" b="0" i="0">
                <a:solidFill>
                  <a:srgbClr val="6B777C"/>
                </a:solidFill>
                <a:latin typeface="Segoe UI"/>
              </a:rPr>
              <a:t>Ephemeral compute created for a job and torn down after — cost-efficient.</a:t>
            </a:r>
          </a:p>
        </p:txBody>
      </p:sp>
      <p:sp>
        <p:nvSpPr>
          <p:cNvPr id="34" name="Rounded Rectangle 33"/>
          <p:cNvSpPr/>
          <p:nvPr/>
        </p:nvSpPr>
        <p:spPr>
          <a:xfrm>
            <a:off x="6309360" y="3954779"/>
            <a:ext cx="5315407" cy="857249"/>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6483096" y="4118228"/>
            <a:ext cx="530352" cy="530352"/>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6645807" y="4383404"/>
            <a:ext cx="48792" cy="12198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6723875" y="4315095"/>
            <a:ext cx="48792" cy="19029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6801943" y="4261424"/>
            <a:ext cx="48792" cy="243961"/>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150608" y="4027931"/>
            <a:ext cx="4355287" cy="292608"/>
          </a:xfrm>
          <a:prstGeom prst="rect">
            <a:avLst/>
          </a:prstGeom>
          <a:noFill/>
        </p:spPr>
        <p:txBody>
          <a:bodyPr wrap="square" anchor="t" lIns="0" rIns="0" tIns="0" bIns="0">
            <a:spAutoFit/>
          </a:bodyPr>
          <a:lstStyle/>
          <a:p>
            <a:pPr algn="l">
              <a:lnSpc>
                <a:spcPct val="100000"/>
              </a:lnSpc>
              <a:spcBef>
                <a:spcPts val="0"/>
              </a:spcBef>
              <a:spcAft>
                <a:spcPts val="200"/>
              </a:spcAft>
            </a:pPr>
            <a:r>
              <a:rPr sz="1200" b="1" i="0">
                <a:solidFill>
                  <a:srgbClr val="1B3139"/>
                </a:solidFill>
                <a:latin typeface="Segoe UI"/>
              </a:rPr>
              <a:t>SQL Warehouses</a:t>
            </a:r>
          </a:p>
        </p:txBody>
      </p:sp>
      <p:sp>
        <p:nvSpPr>
          <p:cNvPr id="40" name="TextBox 39"/>
          <p:cNvSpPr txBox="1"/>
          <p:nvPr/>
        </p:nvSpPr>
        <p:spPr>
          <a:xfrm>
            <a:off x="7150608" y="4302251"/>
            <a:ext cx="4355287" cy="445769"/>
          </a:xfrm>
          <a:prstGeom prst="rect">
            <a:avLst/>
          </a:prstGeom>
          <a:noFill/>
        </p:spPr>
        <p:txBody>
          <a:bodyPr wrap="square" anchor="t" lIns="0" rIns="0" tIns="0" bIns="0">
            <a:spAutoFit/>
          </a:bodyPr>
          <a:lstStyle/>
          <a:p>
            <a:pPr algn="l">
              <a:lnSpc>
                <a:spcPct val="102000"/>
              </a:lnSpc>
              <a:spcBef>
                <a:spcPts val="0"/>
              </a:spcBef>
              <a:spcAft>
                <a:spcPts val="200"/>
              </a:spcAft>
            </a:pPr>
            <a:r>
              <a:rPr sz="960" b="0" i="0">
                <a:solidFill>
                  <a:srgbClr val="6B777C"/>
                </a:solidFill>
                <a:latin typeface="Segoe UI"/>
              </a:rPr>
              <a:t>Optimized Photon compute for BI &amp; SQL analytics workloads.</a:t>
            </a:r>
          </a:p>
        </p:txBody>
      </p:sp>
      <p:sp>
        <p:nvSpPr>
          <p:cNvPr id="41" name="Rounded Rectangle 40"/>
          <p:cNvSpPr/>
          <p:nvPr/>
        </p:nvSpPr>
        <p:spPr>
          <a:xfrm>
            <a:off x="6309360" y="4994909"/>
            <a:ext cx="5315407" cy="857249"/>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6483096" y="5158358"/>
            <a:ext cx="530352" cy="530352"/>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Cloud 42"/>
          <p:cNvSpPr/>
          <p:nvPr/>
        </p:nvSpPr>
        <p:spPr>
          <a:xfrm>
            <a:off x="6607993" y="5319851"/>
            <a:ext cx="280556" cy="207367"/>
          </a:xfrm>
          <a:prstGeom prst="clou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150608" y="5068062"/>
            <a:ext cx="4355287" cy="292608"/>
          </a:xfrm>
          <a:prstGeom prst="rect">
            <a:avLst/>
          </a:prstGeom>
          <a:noFill/>
        </p:spPr>
        <p:txBody>
          <a:bodyPr wrap="square" anchor="t" lIns="0" rIns="0" tIns="0" bIns="0">
            <a:spAutoFit/>
          </a:bodyPr>
          <a:lstStyle/>
          <a:p>
            <a:pPr algn="l">
              <a:lnSpc>
                <a:spcPct val="100000"/>
              </a:lnSpc>
              <a:spcBef>
                <a:spcPts val="0"/>
              </a:spcBef>
              <a:spcAft>
                <a:spcPts val="200"/>
              </a:spcAft>
            </a:pPr>
            <a:r>
              <a:rPr sz="1200" b="1" i="0">
                <a:solidFill>
                  <a:srgbClr val="1B3139"/>
                </a:solidFill>
                <a:latin typeface="Segoe UI"/>
              </a:rPr>
              <a:t>Serverless</a:t>
            </a:r>
          </a:p>
        </p:txBody>
      </p:sp>
      <p:sp>
        <p:nvSpPr>
          <p:cNvPr id="45" name="TextBox 44"/>
          <p:cNvSpPr txBox="1"/>
          <p:nvPr/>
        </p:nvSpPr>
        <p:spPr>
          <a:xfrm>
            <a:off x="7150608" y="5342381"/>
            <a:ext cx="4355287" cy="445769"/>
          </a:xfrm>
          <a:prstGeom prst="rect">
            <a:avLst/>
          </a:prstGeom>
          <a:noFill/>
        </p:spPr>
        <p:txBody>
          <a:bodyPr wrap="square" anchor="t" lIns="0" rIns="0" tIns="0" bIns="0">
            <a:spAutoFit/>
          </a:bodyPr>
          <a:lstStyle/>
          <a:p>
            <a:pPr algn="l">
              <a:lnSpc>
                <a:spcPct val="102000"/>
              </a:lnSpc>
              <a:spcBef>
                <a:spcPts val="0"/>
              </a:spcBef>
              <a:spcAft>
                <a:spcPts val="200"/>
              </a:spcAft>
            </a:pPr>
            <a:r>
              <a:rPr sz="960" b="0" i="0">
                <a:solidFill>
                  <a:srgbClr val="6B777C"/>
                </a:solidFill>
                <a:latin typeface="Segoe UI"/>
              </a:rPr>
              <a:t>Instant, fully-managed pools — no infrastructure to configure.</a:t>
            </a:r>
          </a:p>
        </p:txBody>
      </p:sp>
      <p:sp>
        <p:nvSpPr>
          <p:cNvPr id="46" name="TextBox 4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7" name="TextBox 4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DATABRICKS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Security &amp; Governance — Unity Catalog</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74519"/>
            <a:ext cx="4846320" cy="40233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86968" y="2066543"/>
            <a:ext cx="420624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3621"/>
                </a:solidFill>
                <a:latin typeface="Segoe UI Semibold"/>
              </a:rPr>
              <a:t>ONE NAMESPACE, ALL ASSETS</a:t>
            </a:r>
          </a:p>
        </p:txBody>
      </p:sp>
      <p:sp>
        <p:nvSpPr>
          <p:cNvPr id="9" name="Rounded Rectangle 8"/>
          <p:cNvSpPr/>
          <p:nvPr/>
        </p:nvSpPr>
        <p:spPr>
          <a:xfrm>
            <a:off x="886968" y="2468880"/>
            <a:ext cx="4114800" cy="603504"/>
          </a:xfrm>
          <a:prstGeom prst="roundRect">
            <a:avLst>
              <a:gd name="adj" fmla="val 16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24128" y="2468880"/>
            <a:ext cx="3840480" cy="603504"/>
          </a:xfrm>
          <a:prstGeom prst="rect">
            <a:avLst/>
          </a:prstGeom>
          <a:noFill/>
        </p:spPr>
        <p:txBody>
          <a:bodyPr wrap="square" anchor="ctr" lIns="0" rIns="0" tIns="0" bIns="0">
            <a:spAutoFit/>
          </a:bodyPr>
          <a:lstStyle/>
          <a:p>
            <a:pPr algn="l">
              <a:lnSpc>
                <a:spcPct val="100000"/>
              </a:lnSpc>
              <a:spcBef>
                <a:spcPts val="0"/>
              </a:spcBef>
              <a:spcAft>
                <a:spcPts val="200"/>
              </a:spcAft>
            </a:pPr>
            <a:r>
              <a:rPr sz="1200" b="1" i="0">
                <a:solidFill>
                  <a:srgbClr val="FFFFFF"/>
                </a:solidFill>
                <a:latin typeface="Segoe UI"/>
              </a:rPr>
              <a:t>Catalog</a:t>
            </a:r>
            <a:r>
              <a:rPr sz="900" b="0" i="1">
                <a:solidFill>
                  <a:srgbClr val="EAF2F0"/>
                </a:solidFill>
                <a:latin typeface="Segoe UI"/>
              </a:rPr>
              <a:t>   top-level container</a:t>
            </a:r>
          </a:p>
        </p:txBody>
      </p:sp>
      <p:sp>
        <p:nvSpPr>
          <p:cNvPr id="11" name="Down Arrow 10"/>
          <p:cNvSpPr/>
          <p:nvPr/>
        </p:nvSpPr>
        <p:spPr>
          <a:xfrm>
            <a:off x="1207007" y="3072384"/>
            <a:ext cx="164592" cy="146304"/>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1207007" y="3218688"/>
            <a:ext cx="3794760" cy="603504"/>
          </a:xfrm>
          <a:prstGeom prst="roundRect">
            <a:avLst>
              <a:gd name="adj" fmla="val 16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344168" y="3218688"/>
            <a:ext cx="3520440" cy="603504"/>
          </a:xfrm>
          <a:prstGeom prst="rect">
            <a:avLst/>
          </a:prstGeom>
          <a:noFill/>
        </p:spPr>
        <p:txBody>
          <a:bodyPr wrap="square" anchor="ctr" lIns="0" rIns="0" tIns="0" bIns="0">
            <a:spAutoFit/>
          </a:bodyPr>
          <a:lstStyle/>
          <a:p>
            <a:pPr algn="l">
              <a:lnSpc>
                <a:spcPct val="100000"/>
              </a:lnSpc>
              <a:spcBef>
                <a:spcPts val="0"/>
              </a:spcBef>
              <a:spcAft>
                <a:spcPts val="200"/>
              </a:spcAft>
            </a:pPr>
            <a:r>
              <a:rPr sz="1200" b="1" i="0">
                <a:solidFill>
                  <a:srgbClr val="FFFFFF"/>
                </a:solidFill>
                <a:latin typeface="Segoe UI"/>
              </a:rPr>
              <a:t>Schema</a:t>
            </a:r>
            <a:r>
              <a:rPr sz="900" b="0" i="1">
                <a:solidFill>
                  <a:srgbClr val="EAF2F0"/>
                </a:solidFill>
                <a:latin typeface="Segoe UI"/>
              </a:rPr>
              <a:t>   database / namespace</a:t>
            </a:r>
          </a:p>
        </p:txBody>
      </p:sp>
      <p:sp>
        <p:nvSpPr>
          <p:cNvPr id="14" name="Down Arrow 13"/>
          <p:cNvSpPr/>
          <p:nvPr/>
        </p:nvSpPr>
        <p:spPr>
          <a:xfrm>
            <a:off x="1527048" y="3822191"/>
            <a:ext cx="164592" cy="146304"/>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1527048" y="3968496"/>
            <a:ext cx="3474720" cy="603504"/>
          </a:xfrm>
          <a:prstGeom prst="roundRect">
            <a:avLst>
              <a:gd name="adj" fmla="val 16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664208" y="3968496"/>
            <a:ext cx="3200400" cy="603504"/>
          </a:xfrm>
          <a:prstGeom prst="rect">
            <a:avLst/>
          </a:prstGeom>
          <a:noFill/>
        </p:spPr>
        <p:txBody>
          <a:bodyPr wrap="square" anchor="ctr" lIns="0" rIns="0" tIns="0" bIns="0">
            <a:spAutoFit/>
          </a:bodyPr>
          <a:lstStyle/>
          <a:p>
            <a:pPr algn="l">
              <a:lnSpc>
                <a:spcPct val="100000"/>
              </a:lnSpc>
              <a:spcBef>
                <a:spcPts val="0"/>
              </a:spcBef>
              <a:spcAft>
                <a:spcPts val="200"/>
              </a:spcAft>
            </a:pPr>
            <a:r>
              <a:rPr sz="1200" b="1" i="0">
                <a:solidFill>
                  <a:srgbClr val="FFFFFF"/>
                </a:solidFill>
                <a:latin typeface="Segoe UI"/>
              </a:rPr>
              <a:t>Table / View / Volume / Model</a:t>
            </a:r>
            <a:r>
              <a:rPr sz="900" b="0" i="1">
                <a:solidFill>
                  <a:srgbClr val="EAF2F0"/>
                </a:solidFill>
                <a:latin typeface="Segoe UI"/>
              </a:rPr>
              <a:t>   the governed asset</a:t>
            </a:r>
          </a:p>
        </p:txBody>
      </p:sp>
      <p:sp>
        <p:nvSpPr>
          <p:cNvPr id="17" name="Rounded Rectangle 16"/>
          <p:cNvSpPr/>
          <p:nvPr/>
        </p:nvSpPr>
        <p:spPr>
          <a:xfrm>
            <a:off x="886968" y="5074920"/>
            <a:ext cx="4206240" cy="566928"/>
          </a:xfrm>
          <a:prstGeom prst="roundRect">
            <a:avLst>
              <a:gd name="adj" fmla="val 16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6B57"/>
                </a:solidFill>
                <a:latin typeface="Segoe UI Semibold"/>
              </a:rPr>
              <a:t>catalog . schema . table</a:t>
            </a:r>
          </a:p>
        </p:txBody>
      </p:sp>
      <p:sp>
        <p:nvSpPr>
          <p:cNvPr id="18" name="TextBox 17"/>
          <p:cNvSpPr txBox="1"/>
          <p:nvPr/>
        </p:nvSpPr>
        <p:spPr>
          <a:xfrm>
            <a:off x="886968" y="5669280"/>
            <a:ext cx="4297680" cy="274320"/>
          </a:xfrm>
          <a:prstGeom prst="rect">
            <a:avLst/>
          </a:prstGeom>
          <a:noFill/>
        </p:spPr>
        <p:txBody>
          <a:bodyPr wrap="square" anchor="t" lIns="0" rIns="0" tIns="0" bIns="0">
            <a:spAutoFit/>
          </a:bodyPr>
          <a:lstStyle/>
          <a:p>
            <a:pPr algn="l">
              <a:lnSpc>
                <a:spcPct val="100000"/>
              </a:lnSpc>
              <a:spcBef>
                <a:spcPts val="0"/>
              </a:spcBef>
              <a:spcAft>
                <a:spcPts val="200"/>
              </a:spcAft>
            </a:pPr>
            <a:r>
              <a:rPr sz="930" b="0" i="1">
                <a:solidFill>
                  <a:srgbClr val="6B777C"/>
                </a:solidFill>
                <a:latin typeface="Segoe UI"/>
              </a:rPr>
              <a:t>One consistent name &amp; permission across all clouds &amp; workspaces</a:t>
            </a:r>
          </a:p>
        </p:txBody>
      </p:sp>
      <p:sp>
        <p:nvSpPr>
          <p:cNvPr id="19" name="Rounded Rectangle 18"/>
          <p:cNvSpPr/>
          <p:nvPr/>
        </p:nvSpPr>
        <p:spPr>
          <a:xfrm>
            <a:off x="5989320" y="1874519"/>
            <a:ext cx="2703423"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5989320" y="1874519"/>
            <a:ext cx="91440" cy="189738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6190488" y="2048255"/>
            <a:ext cx="603504" cy="603504"/>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397851" y="2336127"/>
            <a:ext cx="188776" cy="138805"/>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Block Arc 22"/>
          <p:cNvSpPr/>
          <p:nvPr/>
        </p:nvSpPr>
        <p:spPr>
          <a:xfrm>
            <a:off x="6425613" y="2211202"/>
            <a:ext cx="133253" cy="138805"/>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922008" y="2039112"/>
            <a:ext cx="1624431"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Fine-Grained Access</a:t>
            </a:r>
          </a:p>
        </p:txBody>
      </p:sp>
      <p:sp>
        <p:nvSpPr>
          <p:cNvPr id="25" name="TextBox 24"/>
          <p:cNvSpPr txBox="1"/>
          <p:nvPr/>
        </p:nvSpPr>
        <p:spPr>
          <a:xfrm>
            <a:off x="6263640" y="2743200"/>
            <a:ext cx="2191359" cy="937260"/>
          </a:xfrm>
          <a:prstGeom prst="rect">
            <a:avLst/>
          </a:prstGeom>
          <a:noFill/>
        </p:spPr>
        <p:txBody>
          <a:bodyPr wrap="square" anchor="t" lIns="0" rIns="0" tIns="0" bIns="0">
            <a:spAutoFit/>
          </a:bodyPr>
          <a:lstStyle/>
          <a:p>
            <a:pPr algn="l">
              <a:lnSpc>
                <a:spcPct val="108000"/>
              </a:lnSpc>
              <a:spcBef>
                <a:spcPts val="0"/>
              </a:spcBef>
              <a:spcAft>
                <a:spcPts val="200"/>
              </a:spcAft>
            </a:pPr>
            <a:r>
              <a:rPr sz="1000" b="0" i="0">
                <a:solidFill>
                  <a:srgbClr val="6B777C"/>
                </a:solidFill>
                <a:latin typeface="Segoe UI"/>
              </a:rPr>
              <a:t>Row/column-level security, ANSI SQL GRANTs, identity &amp; SSO integration.</a:t>
            </a:r>
          </a:p>
        </p:txBody>
      </p:sp>
      <p:sp>
        <p:nvSpPr>
          <p:cNvPr id="26" name="Rounded Rectangle 25"/>
          <p:cNvSpPr/>
          <p:nvPr/>
        </p:nvSpPr>
        <p:spPr>
          <a:xfrm>
            <a:off x="8921343" y="1874519"/>
            <a:ext cx="2703423"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8921343" y="1874519"/>
            <a:ext cx="91440" cy="1897380"/>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122511" y="2048255"/>
            <a:ext cx="603504" cy="603504"/>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9313218" y="2300037"/>
            <a:ext cx="122149" cy="99940"/>
          </a:xfrm>
          <a:prstGeom prst="roundRect">
            <a:avLst>
              <a:gd name="adj" fmla="val 50000"/>
            </a:avLst>
          </a:prstGeom>
          <a:noFill/>
          <a:ln w="34701">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413159" y="2300037"/>
            <a:ext cx="122149" cy="99940"/>
          </a:xfrm>
          <a:prstGeom prst="roundRect">
            <a:avLst>
              <a:gd name="adj" fmla="val 50000"/>
            </a:avLst>
          </a:prstGeom>
          <a:noFill/>
          <a:ln w="34701">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854031" y="2039112"/>
            <a:ext cx="1624431"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Automated Lineage</a:t>
            </a:r>
          </a:p>
        </p:txBody>
      </p:sp>
      <p:sp>
        <p:nvSpPr>
          <p:cNvPr id="32" name="TextBox 31"/>
          <p:cNvSpPr txBox="1"/>
          <p:nvPr/>
        </p:nvSpPr>
        <p:spPr>
          <a:xfrm>
            <a:off x="9195663" y="2743200"/>
            <a:ext cx="2191359" cy="937260"/>
          </a:xfrm>
          <a:prstGeom prst="rect">
            <a:avLst/>
          </a:prstGeom>
          <a:noFill/>
        </p:spPr>
        <p:txBody>
          <a:bodyPr wrap="square" anchor="t" lIns="0" rIns="0" tIns="0" bIns="0">
            <a:spAutoFit/>
          </a:bodyPr>
          <a:lstStyle/>
          <a:p>
            <a:pPr algn="l">
              <a:lnSpc>
                <a:spcPct val="108000"/>
              </a:lnSpc>
              <a:spcBef>
                <a:spcPts val="0"/>
              </a:spcBef>
              <a:spcAft>
                <a:spcPts val="200"/>
              </a:spcAft>
            </a:pPr>
            <a:r>
              <a:rPr sz="1000" b="0" i="0">
                <a:solidFill>
                  <a:srgbClr val="6B777C"/>
                </a:solidFill>
                <a:latin typeface="Segoe UI"/>
              </a:rPr>
              <a:t>Column-level lineage and audit logs across notebooks, jobs &amp; dashboards.</a:t>
            </a:r>
          </a:p>
        </p:txBody>
      </p:sp>
      <p:sp>
        <p:nvSpPr>
          <p:cNvPr id="33" name="Rounded Rectangle 32"/>
          <p:cNvSpPr/>
          <p:nvPr/>
        </p:nvSpPr>
        <p:spPr>
          <a:xfrm>
            <a:off x="5989320" y="4000500"/>
            <a:ext cx="2703423"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5989320" y="4000500"/>
            <a:ext cx="91440" cy="1897380"/>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6190488" y="4174235"/>
            <a:ext cx="603504" cy="603504"/>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6364538" y="4348286"/>
            <a:ext cx="255402" cy="255402"/>
          </a:xfrm>
          <a:prstGeom prst="ellipse">
            <a:avLst/>
          </a:prstGeom>
          <a:noFill/>
          <a:ln w="3084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6442269" y="4348286"/>
            <a:ext cx="99940" cy="255402"/>
          </a:xfrm>
          <a:prstGeom prst="ellipse">
            <a:avLst/>
          </a:prstGeom>
          <a:noFill/>
          <a:ln w="2313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364538" y="4467659"/>
            <a:ext cx="255402" cy="1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922008" y="4165091"/>
            <a:ext cx="1624431"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Discovery &amp; Sharing</a:t>
            </a:r>
          </a:p>
        </p:txBody>
      </p:sp>
      <p:sp>
        <p:nvSpPr>
          <p:cNvPr id="40" name="TextBox 39"/>
          <p:cNvSpPr txBox="1"/>
          <p:nvPr/>
        </p:nvSpPr>
        <p:spPr>
          <a:xfrm>
            <a:off x="6263640" y="4869180"/>
            <a:ext cx="2191359" cy="937260"/>
          </a:xfrm>
          <a:prstGeom prst="rect">
            <a:avLst/>
          </a:prstGeom>
          <a:noFill/>
        </p:spPr>
        <p:txBody>
          <a:bodyPr wrap="square" anchor="t" lIns="0" rIns="0" tIns="0" bIns="0">
            <a:spAutoFit/>
          </a:bodyPr>
          <a:lstStyle/>
          <a:p>
            <a:pPr algn="l">
              <a:lnSpc>
                <a:spcPct val="108000"/>
              </a:lnSpc>
              <a:spcBef>
                <a:spcPts val="0"/>
              </a:spcBef>
              <a:spcAft>
                <a:spcPts val="200"/>
              </a:spcAft>
            </a:pPr>
            <a:r>
              <a:rPr sz="1000" b="0" i="0">
                <a:solidFill>
                  <a:srgbClr val="6B777C"/>
                </a:solidFill>
                <a:latin typeface="Segoe UI"/>
              </a:rPr>
              <a:t>Search, tags &amp; Delta Sharing — open data sharing across organizations.</a:t>
            </a:r>
          </a:p>
        </p:txBody>
      </p:sp>
      <p:sp>
        <p:nvSpPr>
          <p:cNvPr id="41" name="Rounded Rectangle 40"/>
          <p:cNvSpPr/>
          <p:nvPr/>
        </p:nvSpPr>
        <p:spPr>
          <a:xfrm>
            <a:off x="8921343" y="4000500"/>
            <a:ext cx="2703423"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8921343" y="4000500"/>
            <a:ext cx="91440" cy="1897380"/>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9122511" y="4174235"/>
            <a:ext cx="603504" cy="603504"/>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Pentagon 43"/>
          <p:cNvSpPr/>
          <p:nvPr/>
        </p:nvSpPr>
        <p:spPr>
          <a:xfrm rot="5400000">
            <a:off x="9307666" y="4342734"/>
            <a:ext cx="233193" cy="255402"/>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9854031" y="4165091"/>
            <a:ext cx="1624431"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Protection &amp; Compliance</a:t>
            </a:r>
          </a:p>
        </p:txBody>
      </p:sp>
      <p:sp>
        <p:nvSpPr>
          <p:cNvPr id="46" name="TextBox 45"/>
          <p:cNvSpPr txBox="1"/>
          <p:nvPr/>
        </p:nvSpPr>
        <p:spPr>
          <a:xfrm>
            <a:off x="9195663" y="4869180"/>
            <a:ext cx="2191359" cy="937260"/>
          </a:xfrm>
          <a:prstGeom prst="rect">
            <a:avLst/>
          </a:prstGeom>
          <a:noFill/>
        </p:spPr>
        <p:txBody>
          <a:bodyPr wrap="square" anchor="t" lIns="0" rIns="0" tIns="0" bIns="0">
            <a:spAutoFit/>
          </a:bodyPr>
          <a:lstStyle/>
          <a:p>
            <a:pPr algn="l">
              <a:lnSpc>
                <a:spcPct val="108000"/>
              </a:lnSpc>
              <a:spcBef>
                <a:spcPts val="0"/>
              </a:spcBef>
              <a:spcAft>
                <a:spcPts val="200"/>
              </a:spcAft>
            </a:pPr>
            <a:r>
              <a:rPr sz="1000" b="0" i="0">
                <a:solidFill>
                  <a:srgbClr val="6B777C"/>
                </a:solidFill>
                <a:latin typeface="Segoe UI"/>
              </a:rPr>
              <a:t>Encryption, network isolation, GDPR / HIPAA / SOC 2 readiness.</a:t>
            </a:r>
          </a:p>
        </p:txBody>
      </p:sp>
      <p:sp>
        <p:nvSpPr>
          <p:cNvPr id="47" name="TextBox 4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8" name="TextBox 4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DATABRICKS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End-to-End Data Flow</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783080"/>
            <a:ext cx="2286000" cy="365760"/>
          </a:xfrm>
          <a:prstGeom prst="roundRect">
            <a:avLst>
              <a:gd name="adj" fmla="val 3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Segoe UI Semibold"/>
              </a:rPr>
              <a:t>USERS &amp; CONTROL</a:t>
            </a:r>
          </a:p>
        </p:txBody>
      </p:sp>
      <p:sp>
        <p:nvSpPr>
          <p:cNvPr id="8" name="Rounded Rectangle 7"/>
          <p:cNvSpPr/>
          <p:nvPr/>
        </p:nvSpPr>
        <p:spPr>
          <a:xfrm>
            <a:off x="3035808" y="1783080"/>
            <a:ext cx="2651760" cy="365760"/>
          </a:xfrm>
          <a:prstGeom prst="roundRect">
            <a:avLst>
              <a:gd name="adj" fmla="val 30000"/>
            </a:avLst>
          </a:prstGeom>
          <a:solidFill>
            <a:srgbClr val="057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Segoe UI Semibold"/>
              </a:rPr>
              <a:t>COMPUTE PLANE (your cloud)</a:t>
            </a:r>
          </a:p>
        </p:txBody>
      </p:sp>
      <p:sp>
        <p:nvSpPr>
          <p:cNvPr id="9" name="Rounded Rectangle 8"/>
          <p:cNvSpPr/>
          <p:nvPr/>
        </p:nvSpPr>
        <p:spPr>
          <a:xfrm>
            <a:off x="5870448" y="1783080"/>
            <a:ext cx="2377440" cy="365760"/>
          </a:xfrm>
          <a:prstGeom prst="roundRect">
            <a:avLst>
              <a:gd name="adj" fmla="val 3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Segoe UI Semibold"/>
              </a:rPr>
              <a:t>OPEN STORAGE</a:t>
            </a:r>
          </a:p>
        </p:txBody>
      </p:sp>
      <p:sp>
        <p:nvSpPr>
          <p:cNvPr id="10" name="Rounded Rectangle 9"/>
          <p:cNvSpPr/>
          <p:nvPr/>
        </p:nvSpPr>
        <p:spPr>
          <a:xfrm>
            <a:off x="8430767" y="1783080"/>
            <a:ext cx="2194560" cy="365760"/>
          </a:xfrm>
          <a:prstGeom prst="roundRect">
            <a:avLst>
              <a:gd name="adj" fmla="val 3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Segoe UI Semibold"/>
              </a:rPr>
              <a:t>CONSUMPTION</a:t>
            </a:r>
          </a:p>
        </p:txBody>
      </p:sp>
      <p:sp>
        <p:nvSpPr>
          <p:cNvPr id="11" name="Rounded Rectangle 10"/>
          <p:cNvSpPr/>
          <p:nvPr/>
        </p:nvSpPr>
        <p:spPr>
          <a:xfrm>
            <a:off x="566928" y="2377440"/>
            <a:ext cx="1454287"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66928" y="2377440"/>
            <a:ext cx="1454287" cy="9144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928311" y="2651760"/>
            <a:ext cx="731520" cy="731520"/>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1226772" y="2876190"/>
            <a:ext cx="134599" cy="13459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1179662" y="3030979"/>
            <a:ext cx="228819" cy="14132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03504" y="3474720"/>
            <a:ext cx="1381135" cy="502920"/>
          </a:xfrm>
          <a:prstGeom prst="rect">
            <a:avLst/>
          </a:prstGeom>
          <a:noFill/>
        </p:spPr>
        <p:txBody>
          <a:bodyPr wrap="square" anchor="t" lIns="0" rIns="0" tIns="0" bIns="0">
            <a:spAutoFit/>
          </a:bodyPr>
          <a:lstStyle/>
          <a:p>
            <a:pPr algn="ctr">
              <a:lnSpc>
                <a:spcPct val="90000"/>
              </a:lnSpc>
              <a:spcBef>
                <a:spcPts val="0"/>
              </a:spcBef>
              <a:spcAft>
                <a:spcPts val="200"/>
              </a:spcAft>
            </a:pPr>
            <a:r>
              <a:rPr sz="1130" b="1" i="0">
                <a:solidFill>
                  <a:srgbClr val="1B3139"/>
                </a:solidFill>
                <a:latin typeface="Segoe UI"/>
              </a:rPr>
              <a:t>Users</a:t>
            </a:r>
          </a:p>
        </p:txBody>
      </p:sp>
      <p:sp>
        <p:nvSpPr>
          <p:cNvPr id="17" name="TextBox 16"/>
          <p:cNvSpPr txBox="1"/>
          <p:nvPr/>
        </p:nvSpPr>
        <p:spPr>
          <a:xfrm>
            <a:off x="603504" y="3950208"/>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40" b="0" i="0">
                <a:solidFill>
                  <a:srgbClr val="6B777C"/>
                </a:solidFill>
                <a:latin typeface="Segoe UI"/>
              </a:rPr>
              <a:t>Engineers · Analysts
Scientists</a:t>
            </a:r>
          </a:p>
        </p:txBody>
      </p:sp>
      <p:sp>
        <p:nvSpPr>
          <p:cNvPr id="18" name="Oval 17"/>
          <p:cNvSpPr/>
          <p:nvPr/>
        </p:nvSpPr>
        <p:spPr>
          <a:xfrm>
            <a:off x="649224" y="2459736"/>
            <a:ext cx="310896" cy="310896"/>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1</a:t>
            </a:r>
          </a:p>
        </p:txBody>
      </p:sp>
      <p:sp>
        <p:nvSpPr>
          <p:cNvPr id="19" name="Right Arrow 18"/>
          <p:cNvSpPr/>
          <p:nvPr/>
        </p:nvSpPr>
        <p:spPr>
          <a:xfrm>
            <a:off x="2021215" y="347014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167519" y="2377440"/>
            <a:ext cx="1454287"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2167519" y="2377440"/>
            <a:ext cx="1454287" cy="91440"/>
          </a:xfrm>
          <a:prstGeom prst="rect">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2528903" y="2651760"/>
            <a:ext cx="731520" cy="731520"/>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Folded Corner 22"/>
          <p:cNvSpPr/>
          <p:nvPr/>
        </p:nvSpPr>
        <p:spPr>
          <a:xfrm>
            <a:off x="2786984" y="2876190"/>
            <a:ext cx="215359" cy="282659"/>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204095" y="3474720"/>
            <a:ext cx="1381135" cy="502920"/>
          </a:xfrm>
          <a:prstGeom prst="rect">
            <a:avLst/>
          </a:prstGeom>
          <a:noFill/>
        </p:spPr>
        <p:txBody>
          <a:bodyPr wrap="square" anchor="t" lIns="0" rIns="0" tIns="0" bIns="0">
            <a:spAutoFit/>
          </a:bodyPr>
          <a:lstStyle/>
          <a:p>
            <a:pPr algn="ctr">
              <a:lnSpc>
                <a:spcPct val="90000"/>
              </a:lnSpc>
              <a:spcBef>
                <a:spcPts val="0"/>
              </a:spcBef>
              <a:spcAft>
                <a:spcPts val="200"/>
              </a:spcAft>
            </a:pPr>
            <a:r>
              <a:rPr sz="1130" b="1" i="0">
                <a:solidFill>
                  <a:srgbClr val="1B3139"/>
                </a:solidFill>
                <a:latin typeface="Segoe UI"/>
              </a:rPr>
              <a:t>Workspace</a:t>
            </a:r>
          </a:p>
        </p:txBody>
      </p:sp>
      <p:sp>
        <p:nvSpPr>
          <p:cNvPr id="25" name="TextBox 24"/>
          <p:cNvSpPr txBox="1"/>
          <p:nvPr/>
        </p:nvSpPr>
        <p:spPr>
          <a:xfrm>
            <a:off x="2204095" y="3950208"/>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40" b="0" i="0">
                <a:solidFill>
                  <a:srgbClr val="6B777C"/>
                </a:solidFill>
                <a:latin typeface="Segoe UI"/>
              </a:rPr>
              <a:t>Notebooks · SQL
Jobs · Dashboards</a:t>
            </a:r>
          </a:p>
        </p:txBody>
      </p:sp>
      <p:sp>
        <p:nvSpPr>
          <p:cNvPr id="26" name="Oval 25"/>
          <p:cNvSpPr/>
          <p:nvPr/>
        </p:nvSpPr>
        <p:spPr>
          <a:xfrm>
            <a:off x="2249815" y="2459736"/>
            <a:ext cx="310896" cy="310896"/>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2</a:t>
            </a:r>
          </a:p>
        </p:txBody>
      </p:sp>
      <p:sp>
        <p:nvSpPr>
          <p:cNvPr id="27" name="Right Arrow 26"/>
          <p:cNvSpPr/>
          <p:nvPr/>
        </p:nvSpPr>
        <p:spPr>
          <a:xfrm>
            <a:off x="3621807" y="347014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3768111" y="2377440"/>
            <a:ext cx="1454287"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768111" y="2377440"/>
            <a:ext cx="1454287" cy="91440"/>
          </a:xfrm>
          <a:prstGeom prst="rect">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129495" y="2651760"/>
            <a:ext cx="731520" cy="731520"/>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4382191" y="2904456"/>
            <a:ext cx="91527" cy="91527"/>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4516791" y="2904456"/>
            <a:ext cx="91527" cy="91527"/>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4382191" y="3039055"/>
            <a:ext cx="91527" cy="91527"/>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4516791" y="3039055"/>
            <a:ext cx="91527" cy="91527"/>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804687" y="3474720"/>
            <a:ext cx="1381135" cy="502920"/>
          </a:xfrm>
          <a:prstGeom prst="rect">
            <a:avLst/>
          </a:prstGeom>
          <a:noFill/>
        </p:spPr>
        <p:txBody>
          <a:bodyPr wrap="square" anchor="t" lIns="0" rIns="0" tIns="0" bIns="0">
            <a:spAutoFit/>
          </a:bodyPr>
          <a:lstStyle/>
          <a:p>
            <a:pPr algn="ctr">
              <a:lnSpc>
                <a:spcPct val="90000"/>
              </a:lnSpc>
              <a:spcBef>
                <a:spcPts val="0"/>
              </a:spcBef>
              <a:spcAft>
                <a:spcPts val="200"/>
              </a:spcAft>
            </a:pPr>
            <a:r>
              <a:rPr sz="1130" b="1" i="0">
                <a:solidFill>
                  <a:srgbClr val="1B3139"/>
                </a:solidFill>
                <a:latin typeface="Segoe UI"/>
              </a:rPr>
              <a:t>Clusters</a:t>
            </a:r>
          </a:p>
        </p:txBody>
      </p:sp>
      <p:sp>
        <p:nvSpPr>
          <p:cNvPr id="36" name="TextBox 35"/>
          <p:cNvSpPr txBox="1"/>
          <p:nvPr/>
        </p:nvSpPr>
        <p:spPr>
          <a:xfrm>
            <a:off x="3804687" y="3950208"/>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40" b="0" i="0">
                <a:solidFill>
                  <a:srgbClr val="6B777C"/>
                </a:solidFill>
                <a:latin typeface="Segoe UI"/>
              </a:rPr>
              <a:t>Driver + Workers
Autoscaling</a:t>
            </a:r>
          </a:p>
        </p:txBody>
      </p:sp>
      <p:sp>
        <p:nvSpPr>
          <p:cNvPr id="37" name="Oval 36"/>
          <p:cNvSpPr/>
          <p:nvPr/>
        </p:nvSpPr>
        <p:spPr>
          <a:xfrm>
            <a:off x="3850407" y="2459736"/>
            <a:ext cx="310896" cy="310896"/>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3</a:t>
            </a:r>
          </a:p>
        </p:txBody>
      </p:sp>
      <p:sp>
        <p:nvSpPr>
          <p:cNvPr id="38" name="Right Arrow 37"/>
          <p:cNvSpPr/>
          <p:nvPr/>
        </p:nvSpPr>
        <p:spPr>
          <a:xfrm>
            <a:off x="5222399" y="347014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5368703" y="2377440"/>
            <a:ext cx="1454287"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5368703" y="2377440"/>
            <a:ext cx="145428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5730087" y="26517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Lightning Bolt 41"/>
          <p:cNvSpPr/>
          <p:nvPr/>
        </p:nvSpPr>
        <p:spPr>
          <a:xfrm>
            <a:off x="5978072" y="2849270"/>
            <a:ext cx="235549" cy="336499"/>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405279" y="3474720"/>
            <a:ext cx="1381135" cy="502920"/>
          </a:xfrm>
          <a:prstGeom prst="rect">
            <a:avLst/>
          </a:prstGeom>
          <a:noFill/>
        </p:spPr>
        <p:txBody>
          <a:bodyPr wrap="square" anchor="t" lIns="0" rIns="0" tIns="0" bIns="0">
            <a:spAutoFit/>
          </a:bodyPr>
          <a:lstStyle/>
          <a:p>
            <a:pPr algn="ctr">
              <a:lnSpc>
                <a:spcPct val="90000"/>
              </a:lnSpc>
              <a:spcBef>
                <a:spcPts val="0"/>
              </a:spcBef>
              <a:spcAft>
                <a:spcPts val="200"/>
              </a:spcAft>
            </a:pPr>
            <a:r>
              <a:rPr sz="1130" b="1" i="0">
                <a:solidFill>
                  <a:srgbClr val="1B3139"/>
                </a:solidFill>
                <a:latin typeface="Segoe UI"/>
              </a:rPr>
              <a:t>Spark + Photon</a:t>
            </a:r>
          </a:p>
        </p:txBody>
      </p:sp>
      <p:sp>
        <p:nvSpPr>
          <p:cNvPr id="44" name="TextBox 43"/>
          <p:cNvSpPr txBox="1"/>
          <p:nvPr/>
        </p:nvSpPr>
        <p:spPr>
          <a:xfrm>
            <a:off x="5405279" y="3950208"/>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40" b="0" i="0">
                <a:solidFill>
                  <a:srgbClr val="6B777C"/>
                </a:solidFill>
                <a:latin typeface="Segoe UI"/>
              </a:rPr>
              <a:t>Distributed
processing engine</a:t>
            </a:r>
          </a:p>
        </p:txBody>
      </p:sp>
      <p:sp>
        <p:nvSpPr>
          <p:cNvPr id="45" name="Oval 44"/>
          <p:cNvSpPr/>
          <p:nvPr/>
        </p:nvSpPr>
        <p:spPr>
          <a:xfrm>
            <a:off x="5450999" y="2459736"/>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4</a:t>
            </a:r>
          </a:p>
        </p:txBody>
      </p:sp>
      <p:sp>
        <p:nvSpPr>
          <p:cNvPr id="46" name="Right Arrow 45"/>
          <p:cNvSpPr/>
          <p:nvPr/>
        </p:nvSpPr>
        <p:spPr>
          <a:xfrm>
            <a:off x="6822991" y="347014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6969295" y="2377440"/>
            <a:ext cx="1454287"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6969295" y="2377440"/>
            <a:ext cx="1454287" cy="91440"/>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Oval 48"/>
          <p:cNvSpPr/>
          <p:nvPr/>
        </p:nvSpPr>
        <p:spPr>
          <a:xfrm>
            <a:off x="7330679" y="2651760"/>
            <a:ext cx="731520" cy="731520"/>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Isosceles Triangle 49"/>
          <p:cNvSpPr/>
          <p:nvPr/>
        </p:nvSpPr>
        <p:spPr>
          <a:xfrm>
            <a:off x="7528189" y="2866095"/>
            <a:ext cx="336499" cy="302849"/>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005871" y="3474720"/>
            <a:ext cx="1381135" cy="502920"/>
          </a:xfrm>
          <a:prstGeom prst="rect">
            <a:avLst/>
          </a:prstGeom>
          <a:noFill/>
        </p:spPr>
        <p:txBody>
          <a:bodyPr wrap="square" anchor="t" lIns="0" rIns="0" tIns="0" bIns="0">
            <a:spAutoFit/>
          </a:bodyPr>
          <a:lstStyle/>
          <a:p>
            <a:pPr algn="ctr">
              <a:lnSpc>
                <a:spcPct val="90000"/>
              </a:lnSpc>
              <a:spcBef>
                <a:spcPts val="0"/>
              </a:spcBef>
              <a:spcAft>
                <a:spcPts val="200"/>
              </a:spcAft>
            </a:pPr>
            <a:r>
              <a:rPr sz="1130" b="1" i="0">
                <a:solidFill>
                  <a:srgbClr val="1B3139"/>
                </a:solidFill>
                <a:latin typeface="Segoe UI"/>
              </a:rPr>
              <a:t>Delta Lake</a:t>
            </a:r>
          </a:p>
        </p:txBody>
      </p:sp>
      <p:sp>
        <p:nvSpPr>
          <p:cNvPr id="52" name="TextBox 51"/>
          <p:cNvSpPr txBox="1"/>
          <p:nvPr/>
        </p:nvSpPr>
        <p:spPr>
          <a:xfrm>
            <a:off x="7005871" y="3950208"/>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40" b="0" i="0">
                <a:solidFill>
                  <a:srgbClr val="6B777C"/>
                </a:solidFill>
                <a:latin typeface="Segoe UI"/>
              </a:rPr>
              <a:t>Bronze · Silver · Gold
ACID tables</a:t>
            </a:r>
          </a:p>
        </p:txBody>
      </p:sp>
      <p:sp>
        <p:nvSpPr>
          <p:cNvPr id="53" name="Oval 52"/>
          <p:cNvSpPr/>
          <p:nvPr/>
        </p:nvSpPr>
        <p:spPr>
          <a:xfrm>
            <a:off x="7051591" y="2459736"/>
            <a:ext cx="310896" cy="310896"/>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5</a:t>
            </a:r>
          </a:p>
        </p:txBody>
      </p:sp>
      <p:sp>
        <p:nvSpPr>
          <p:cNvPr id="54" name="Right Arrow 53"/>
          <p:cNvSpPr/>
          <p:nvPr/>
        </p:nvSpPr>
        <p:spPr>
          <a:xfrm>
            <a:off x="8423583" y="347014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ounded Rectangle 54"/>
          <p:cNvSpPr/>
          <p:nvPr/>
        </p:nvSpPr>
        <p:spPr>
          <a:xfrm>
            <a:off x="8569887" y="2377440"/>
            <a:ext cx="1454287"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8569887" y="2377440"/>
            <a:ext cx="1454287" cy="91440"/>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Oval 56"/>
          <p:cNvSpPr/>
          <p:nvPr/>
        </p:nvSpPr>
        <p:spPr>
          <a:xfrm>
            <a:off x="8931271" y="2651760"/>
            <a:ext cx="731520" cy="731520"/>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Cloud 57"/>
          <p:cNvSpPr/>
          <p:nvPr/>
        </p:nvSpPr>
        <p:spPr>
          <a:xfrm>
            <a:off x="9103544" y="2874507"/>
            <a:ext cx="386974" cy="286024"/>
          </a:xfrm>
          <a:prstGeom prst="clou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8606463" y="3474720"/>
            <a:ext cx="1381135" cy="502920"/>
          </a:xfrm>
          <a:prstGeom prst="rect">
            <a:avLst/>
          </a:prstGeom>
          <a:noFill/>
        </p:spPr>
        <p:txBody>
          <a:bodyPr wrap="square" anchor="t" lIns="0" rIns="0" tIns="0" bIns="0">
            <a:spAutoFit/>
          </a:bodyPr>
          <a:lstStyle/>
          <a:p>
            <a:pPr algn="ctr">
              <a:lnSpc>
                <a:spcPct val="90000"/>
              </a:lnSpc>
              <a:spcBef>
                <a:spcPts val="0"/>
              </a:spcBef>
              <a:spcAft>
                <a:spcPts val="200"/>
              </a:spcAft>
            </a:pPr>
            <a:r>
              <a:rPr sz="1130" b="1" i="0">
                <a:solidFill>
                  <a:srgbClr val="1B3139"/>
                </a:solidFill>
                <a:latin typeface="Segoe UI"/>
              </a:rPr>
              <a:t>Cloud Storage</a:t>
            </a:r>
          </a:p>
        </p:txBody>
      </p:sp>
      <p:sp>
        <p:nvSpPr>
          <p:cNvPr id="60" name="TextBox 59"/>
          <p:cNvSpPr txBox="1"/>
          <p:nvPr/>
        </p:nvSpPr>
        <p:spPr>
          <a:xfrm>
            <a:off x="8606463" y="3950208"/>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40" b="0" i="0">
                <a:solidFill>
                  <a:srgbClr val="6B777C"/>
                </a:solidFill>
                <a:latin typeface="Segoe UI"/>
              </a:rPr>
              <a:t>S3 · ADLS · GCS
open formats</a:t>
            </a:r>
          </a:p>
        </p:txBody>
      </p:sp>
      <p:sp>
        <p:nvSpPr>
          <p:cNvPr id="61" name="Oval 60"/>
          <p:cNvSpPr/>
          <p:nvPr/>
        </p:nvSpPr>
        <p:spPr>
          <a:xfrm>
            <a:off x="8652183" y="2459736"/>
            <a:ext cx="310896" cy="310896"/>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6</a:t>
            </a:r>
          </a:p>
        </p:txBody>
      </p:sp>
      <p:sp>
        <p:nvSpPr>
          <p:cNvPr id="62" name="Right Arrow 61"/>
          <p:cNvSpPr/>
          <p:nvPr/>
        </p:nvSpPr>
        <p:spPr>
          <a:xfrm>
            <a:off x="10024175" y="347014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ounded Rectangle 62"/>
          <p:cNvSpPr/>
          <p:nvPr/>
        </p:nvSpPr>
        <p:spPr>
          <a:xfrm>
            <a:off x="10170479" y="2377440"/>
            <a:ext cx="1454287"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10170479" y="2377440"/>
            <a:ext cx="1454287" cy="91440"/>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Oval 64"/>
          <p:cNvSpPr/>
          <p:nvPr/>
        </p:nvSpPr>
        <p:spPr>
          <a:xfrm>
            <a:off x="10531863" y="2651760"/>
            <a:ext cx="731520" cy="731520"/>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ounded Rectangle 65"/>
          <p:cNvSpPr/>
          <p:nvPr/>
        </p:nvSpPr>
        <p:spPr>
          <a:xfrm>
            <a:off x="10756293" y="3017520"/>
            <a:ext cx="67299" cy="16824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ounded Rectangle 66"/>
          <p:cNvSpPr/>
          <p:nvPr/>
        </p:nvSpPr>
        <p:spPr>
          <a:xfrm>
            <a:off x="10863973" y="2923300"/>
            <a:ext cx="67299" cy="26246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ounded Rectangle 67"/>
          <p:cNvSpPr/>
          <p:nvPr/>
        </p:nvSpPr>
        <p:spPr>
          <a:xfrm>
            <a:off x="10971653" y="2849270"/>
            <a:ext cx="67299" cy="33649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10207055" y="3474720"/>
            <a:ext cx="1381135" cy="502920"/>
          </a:xfrm>
          <a:prstGeom prst="rect">
            <a:avLst/>
          </a:prstGeom>
          <a:noFill/>
        </p:spPr>
        <p:txBody>
          <a:bodyPr wrap="square" anchor="t" lIns="0" rIns="0" tIns="0" bIns="0">
            <a:spAutoFit/>
          </a:bodyPr>
          <a:lstStyle/>
          <a:p>
            <a:pPr algn="ctr">
              <a:lnSpc>
                <a:spcPct val="90000"/>
              </a:lnSpc>
              <a:spcBef>
                <a:spcPts val="0"/>
              </a:spcBef>
              <a:spcAft>
                <a:spcPts val="200"/>
              </a:spcAft>
            </a:pPr>
            <a:r>
              <a:rPr sz="1130" b="1" i="0">
                <a:solidFill>
                  <a:srgbClr val="1B3139"/>
                </a:solidFill>
                <a:latin typeface="Segoe UI"/>
              </a:rPr>
              <a:t>BI &amp; AI</a:t>
            </a:r>
          </a:p>
        </p:txBody>
      </p:sp>
      <p:sp>
        <p:nvSpPr>
          <p:cNvPr id="70" name="TextBox 69"/>
          <p:cNvSpPr txBox="1"/>
          <p:nvPr/>
        </p:nvSpPr>
        <p:spPr>
          <a:xfrm>
            <a:off x="10207055" y="3950208"/>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40" b="0" i="0">
                <a:solidFill>
                  <a:srgbClr val="6B777C"/>
                </a:solidFill>
                <a:latin typeface="Segoe UI"/>
              </a:rPr>
              <a:t>Dashboards · ML
Power BI · Tableau</a:t>
            </a:r>
          </a:p>
        </p:txBody>
      </p:sp>
      <p:sp>
        <p:nvSpPr>
          <p:cNvPr id="71" name="Oval 70"/>
          <p:cNvSpPr/>
          <p:nvPr/>
        </p:nvSpPr>
        <p:spPr>
          <a:xfrm>
            <a:off x="10252775" y="2459736"/>
            <a:ext cx="310896" cy="310896"/>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7</a:t>
            </a:r>
          </a:p>
        </p:txBody>
      </p:sp>
      <p:sp>
        <p:nvSpPr>
          <p:cNvPr id="72" name="Rounded Rectangle 71"/>
          <p:cNvSpPr/>
          <p:nvPr/>
        </p:nvSpPr>
        <p:spPr>
          <a:xfrm>
            <a:off x="566928" y="4892040"/>
            <a:ext cx="11057839" cy="658368"/>
          </a:xfrm>
          <a:prstGeom prst="roundRect">
            <a:avLst>
              <a:gd name="adj" fmla="val 20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ounded Rectangle 72"/>
          <p:cNvSpPr/>
          <p:nvPr/>
        </p:nvSpPr>
        <p:spPr>
          <a:xfrm>
            <a:off x="912205" y="5204764"/>
            <a:ext cx="223845" cy="164592"/>
          </a:xfrm>
          <a:prstGeom prst="roundRect">
            <a:avLst>
              <a:gd name="adj" fmla="val 18000"/>
            </a:avLst>
          </a:prstGeom>
          <a:solidFill>
            <a:srgbClr val="FF6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Block Arc 73"/>
          <p:cNvSpPr/>
          <p:nvPr/>
        </p:nvSpPr>
        <p:spPr>
          <a:xfrm>
            <a:off x="945123" y="5056632"/>
            <a:ext cx="158008" cy="164592"/>
          </a:xfrm>
          <a:prstGeom prst="blockArc">
            <a:avLst>
              <a:gd name="adj1" fmla="val 314159"/>
              <a:gd name="adj2" fmla="val 0"/>
              <a:gd name="adj3" fmla="val 25000"/>
            </a:avLst>
          </a:prstGeom>
          <a:solidFill>
            <a:srgbClr val="FF6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1435607" y="4892040"/>
            <a:ext cx="9960559" cy="658368"/>
          </a:xfrm>
          <a:prstGeom prst="rect">
            <a:avLst/>
          </a:prstGeom>
          <a:noFill/>
        </p:spPr>
        <p:txBody>
          <a:bodyPr wrap="square" anchor="ctr" lIns="0" rIns="0" tIns="0" bIns="0">
            <a:spAutoFit/>
          </a:bodyPr>
          <a:lstStyle/>
          <a:p>
            <a:pPr algn="l">
              <a:lnSpc>
                <a:spcPct val="100000"/>
              </a:lnSpc>
              <a:spcBef>
                <a:spcPts val="0"/>
              </a:spcBef>
              <a:spcAft>
                <a:spcPts val="200"/>
              </a:spcAft>
            </a:pPr>
            <a:r>
              <a:rPr sz="1200" b="1" i="0">
                <a:solidFill>
                  <a:srgbClr val="FF6B57"/>
                </a:solidFill>
                <a:latin typeface="Segoe UI"/>
              </a:rPr>
              <a:t>Unity Catalog</a:t>
            </a:r>
            <a:r>
              <a:rPr sz="1150" b="0" i="0">
                <a:solidFill>
                  <a:srgbClr val="FFFFFF"/>
                </a:solidFill>
                <a:latin typeface="Segoe UI"/>
              </a:rPr>
              <a:t>  governs every step — access control, lineage, audit &amp; discovery across the entire flow</a:t>
            </a:r>
          </a:p>
        </p:txBody>
      </p:sp>
      <p:sp>
        <p:nvSpPr>
          <p:cNvPr id="76" name="TextBox 75"/>
          <p:cNvSpPr txBox="1"/>
          <p:nvPr/>
        </p:nvSpPr>
        <p:spPr>
          <a:xfrm>
            <a:off x="566928" y="5669280"/>
            <a:ext cx="11057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150" b="0" i="1">
                <a:solidFill>
                  <a:srgbClr val="6B777C"/>
                </a:solidFill>
                <a:latin typeface="Segoe UI"/>
              </a:rPr>
              <a:t>From a user's query to a governed dashboard — one platform, your data, end to end.</a:t>
            </a:r>
          </a:p>
        </p:txBody>
      </p:sp>
      <p:sp>
        <p:nvSpPr>
          <p:cNvPr id="77" name="TextBox 7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78" name="TextBox 7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DATABRICKS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Integration Architecture — An Open Hub</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 name="Connector 6"/>
          <p:cNvCxnSpPr/>
          <p:nvPr/>
        </p:nvCxnSpPr>
        <p:spPr>
          <a:xfrm flipH="1" flipV="1">
            <a:off x="2331720" y="2606040"/>
            <a:ext cx="3764127" cy="1371599"/>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965960" y="3977639"/>
            <a:ext cx="4129887" cy="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2331720" y="3977639"/>
            <a:ext cx="3764127" cy="1371601"/>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095847" y="2606040"/>
            <a:ext cx="3733953" cy="1371599"/>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3977639"/>
            <a:ext cx="4099713" cy="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3977639"/>
            <a:ext cx="3733953" cy="1371601"/>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165860" y="2185416"/>
            <a:ext cx="2331720" cy="84124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1339595" y="2322576"/>
            <a:ext cx="566928" cy="566928"/>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Cloud 14"/>
          <p:cNvSpPr/>
          <p:nvPr/>
        </p:nvSpPr>
        <p:spPr>
          <a:xfrm>
            <a:off x="1473107" y="2495205"/>
            <a:ext cx="299904" cy="221668"/>
          </a:xfrm>
          <a:prstGeom prst="clou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07107" y="2276856"/>
            <a:ext cx="1417319" cy="310896"/>
          </a:xfrm>
          <a:prstGeom prst="rect">
            <a:avLst/>
          </a:prstGeom>
          <a:noFill/>
        </p:spPr>
        <p:txBody>
          <a:bodyPr wrap="square" anchor="t" lIns="0" rIns="0" tIns="0" bIns="0">
            <a:spAutoFit/>
          </a:bodyPr>
          <a:lstStyle/>
          <a:p>
            <a:pPr algn="l">
              <a:lnSpc>
                <a:spcPct val="100000"/>
              </a:lnSpc>
              <a:spcBef>
                <a:spcPts val="0"/>
              </a:spcBef>
              <a:spcAft>
                <a:spcPts val="200"/>
              </a:spcAft>
            </a:pPr>
            <a:r>
              <a:rPr sz="1180" b="1" i="0">
                <a:solidFill>
                  <a:srgbClr val="1B3139"/>
                </a:solidFill>
                <a:latin typeface="Segoe UI"/>
              </a:rPr>
              <a:t>Cloud Storage</a:t>
            </a:r>
          </a:p>
        </p:txBody>
      </p:sp>
      <p:sp>
        <p:nvSpPr>
          <p:cNvPr id="17" name="TextBox 16"/>
          <p:cNvSpPr txBox="1"/>
          <p:nvPr/>
        </p:nvSpPr>
        <p:spPr>
          <a:xfrm>
            <a:off x="2007107" y="2596896"/>
            <a:ext cx="1417319" cy="384048"/>
          </a:xfrm>
          <a:prstGeom prst="rect">
            <a:avLst/>
          </a:prstGeom>
          <a:noFill/>
        </p:spPr>
        <p:txBody>
          <a:bodyPr wrap="square" anchor="t" lIns="0" rIns="0" tIns="0" bIns="0">
            <a:spAutoFit/>
          </a:bodyPr>
          <a:lstStyle/>
          <a:p>
            <a:pPr algn="l">
              <a:lnSpc>
                <a:spcPct val="98000"/>
              </a:lnSpc>
              <a:spcBef>
                <a:spcPts val="0"/>
              </a:spcBef>
              <a:spcAft>
                <a:spcPts val="200"/>
              </a:spcAft>
            </a:pPr>
            <a:r>
              <a:rPr sz="880" b="0" i="0">
                <a:solidFill>
                  <a:srgbClr val="6B777C"/>
                </a:solidFill>
                <a:latin typeface="Segoe UI"/>
              </a:rPr>
              <a:t>S3 · ADLS · GCS</a:t>
            </a:r>
          </a:p>
        </p:txBody>
      </p:sp>
      <p:sp>
        <p:nvSpPr>
          <p:cNvPr id="18" name="Rounded Rectangle 17"/>
          <p:cNvSpPr/>
          <p:nvPr/>
        </p:nvSpPr>
        <p:spPr>
          <a:xfrm>
            <a:off x="800100" y="3557015"/>
            <a:ext cx="2331720" cy="84124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973836" y="3694176"/>
            <a:ext cx="566928" cy="566928"/>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Down Arrow 19"/>
          <p:cNvSpPr/>
          <p:nvPr/>
        </p:nvSpPr>
        <p:spPr>
          <a:xfrm>
            <a:off x="1176456" y="3847246"/>
            <a:ext cx="161687" cy="260786"/>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641348" y="3648456"/>
            <a:ext cx="1417319" cy="310896"/>
          </a:xfrm>
          <a:prstGeom prst="rect">
            <a:avLst/>
          </a:prstGeom>
          <a:noFill/>
        </p:spPr>
        <p:txBody>
          <a:bodyPr wrap="square" anchor="t" lIns="0" rIns="0" tIns="0" bIns="0">
            <a:spAutoFit/>
          </a:bodyPr>
          <a:lstStyle/>
          <a:p>
            <a:pPr algn="l">
              <a:lnSpc>
                <a:spcPct val="100000"/>
              </a:lnSpc>
              <a:spcBef>
                <a:spcPts val="0"/>
              </a:spcBef>
              <a:spcAft>
                <a:spcPts val="200"/>
              </a:spcAft>
            </a:pPr>
            <a:r>
              <a:rPr sz="1180" b="1" i="0">
                <a:solidFill>
                  <a:srgbClr val="1B3139"/>
                </a:solidFill>
                <a:latin typeface="Segoe UI"/>
              </a:rPr>
              <a:t>Ingestion</a:t>
            </a:r>
          </a:p>
        </p:txBody>
      </p:sp>
      <p:sp>
        <p:nvSpPr>
          <p:cNvPr id="22" name="TextBox 21"/>
          <p:cNvSpPr txBox="1"/>
          <p:nvPr/>
        </p:nvSpPr>
        <p:spPr>
          <a:xfrm>
            <a:off x="1641348" y="3968496"/>
            <a:ext cx="1417319" cy="384048"/>
          </a:xfrm>
          <a:prstGeom prst="rect">
            <a:avLst/>
          </a:prstGeom>
          <a:noFill/>
        </p:spPr>
        <p:txBody>
          <a:bodyPr wrap="square" anchor="t" lIns="0" rIns="0" tIns="0" bIns="0">
            <a:spAutoFit/>
          </a:bodyPr>
          <a:lstStyle/>
          <a:p>
            <a:pPr algn="l">
              <a:lnSpc>
                <a:spcPct val="98000"/>
              </a:lnSpc>
              <a:spcBef>
                <a:spcPts val="0"/>
              </a:spcBef>
              <a:spcAft>
                <a:spcPts val="200"/>
              </a:spcAft>
            </a:pPr>
            <a:r>
              <a:rPr sz="880" b="0" i="0">
                <a:solidFill>
                  <a:srgbClr val="6B777C"/>
                </a:solidFill>
                <a:latin typeface="Segoe UI"/>
              </a:rPr>
              <a:t>Kafka · Fivetran · Lakeflow</a:t>
            </a:r>
          </a:p>
        </p:txBody>
      </p:sp>
      <p:sp>
        <p:nvSpPr>
          <p:cNvPr id="23" name="Rounded Rectangle 22"/>
          <p:cNvSpPr/>
          <p:nvPr/>
        </p:nvSpPr>
        <p:spPr>
          <a:xfrm>
            <a:off x="1165860" y="4928616"/>
            <a:ext cx="2331720" cy="84124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1339595" y="5065776"/>
            <a:ext cx="566928" cy="566928"/>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ight Arrow 24"/>
          <p:cNvSpPr/>
          <p:nvPr/>
        </p:nvSpPr>
        <p:spPr>
          <a:xfrm>
            <a:off x="1492666" y="5271003"/>
            <a:ext cx="260786" cy="156472"/>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007107" y="5020055"/>
            <a:ext cx="1417319" cy="310896"/>
          </a:xfrm>
          <a:prstGeom prst="rect">
            <a:avLst/>
          </a:prstGeom>
          <a:noFill/>
        </p:spPr>
        <p:txBody>
          <a:bodyPr wrap="square" anchor="t" lIns="0" rIns="0" tIns="0" bIns="0">
            <a:spAutoFit/>
          </a:bodyPr>
          <a:lstStyle/>
          <a:p>
            <a:pPr algn="l">
              <a:lnSpc>
                <a:spcPct val="100000"/>
              </a:lnSpc>
              <a:spcBef>
                <a:spcPts val="0"/>
              </a:spcBef>
              <a:spcAft>
                <a:spcPts val="200"/>
              </a:spcAft>
            </a:pPr>
            <a:r>
              <a:rPr sz="1180" b="1" i="0">
                <a:solidFill>
                  <a:srgbClr val="1B3139"/>
                </a:solidFill>
                <a:latin typeface="Segoe UI"/>
              </a:rPr>
              <a:t>Orchestration</a:t>
            </a:r>
          </a:p>
        </p:txBody>
      </p:sp>
      <p:sp>
        <p:nvSpPr>
          <p:cNvPr id="27" name="TextBox 26"/>
          <p:cNvSpPr txBox="1"/>
          <p:nvPr/>
        </p:nvSpPr>
        <p:spPr>
          <a:xfrm>
            <a:off x="2007107" y="5340096"/>
            <a:ext cx="1417319" cy="384048"/>
          </a:xfrm>
          <a:prstGeom prst="rect">
            <a:avLst/>
          </a:prstGeom>
          <a:noFill/>
        </p:spPr>
        <p:txBody>
          <a:bodyPr wrap="square" anchor="t" lIns="0" rIns="0" tIns="0" bIns="0">
            <a:spAutoFit/>
          </a:bodyPr>
          <a:lstStyle/>
          <a:p>
            <a:pPr algn="l">
              <a:lnSpc>
                <a:spcPct val="98000"/>
              </a:lnSpc>
              <a:spcBef>
                <a:spcPts val="0"/>
              </a:spcBef>
              <a:spcAft>
                <a:spcPts val="200"/>
              </a:spcAft>
            </a:pPr>
            <a:r>
              <a:rPr sz="880" b="0" i="0">
                <a:solidFill>
                  <a:srgbClr val="6B777C"/>
                </a:solidFill>
                <a:latin typeface="Segoe UI"/>
              </a:rPr>
              <a:t>Airflow · Workflows · dbt</a:t>
            </a:r>
          </a:p>
        </p:txBody>
      </p:sp>
      <p:sp>
        <p:nvSpPr>
          <p:cNvPr id="28" name="Rounded Rectangle 27"/>
          <p:cNvSpPr/>
          <p:nvPr/>
        </p:nvSpPr>
        <p:spPr>
          <a:xfrm>
            <a:off x="8663940" y="2185416"/>
            <a:ext cx="2331720" cy="84124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8837676" y="2322576"/>
            <a:ext cx="566928" cy="56692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011609" y="2606040"/>
            <a:ext cx="52157" cy="130393"/>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9095061" y="2533019"/>
            <a:ext cx="52157" cy="203413"/>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9178513" y="2475646"/>
            <a:ext cx="52157" cy="260786"/>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505188" y="2276856"/>
            <a:ext cx="1417319" cy="310896"/>
          </a:xfrm>
          <a:prstGeom prst="rect">
            <a:avLst/>
          </a:prstGeom>
          <a:noFill/>
        </p:spPr>
        <p:txBody>
          <a:bodyPr wrap="square" anchor="t" lIns="0" rIns="0" tIns="0" bIns="0">
            <a:spAutoFit/>
          </a:bodyPr>
          <a:lstStyle/>
          <a:p>
            <a:pPr algn="l">
              <a:lnSpc>
                <a:spcPct val="100000"/>
              </a:lnSpc>
              <a:spcBef>
                <a:spcPts val="0"/>
              </a:spcBef>
              <a:spcAft>
                <a:spcPts val="200"/>
              </a:spcAft>
            </a:pPr>
            <a:r>
              <a:rPr sz="1180" b="1" i="0">
                <a:solidFill>
                  <a:srgbClr val="1B3139"/>
                </a:solidFill>
                <a:latin typeface="Segoe UI"/>
              </a:rPr>
              <a:t>BI &amp; Reporting</a:t>
            </a:r>
          </a:p>
        </p:txBody>
      </p:sp>
      <p:sp>
        <p:nvSpPr>
          <p:cNvPr id="34" name="TextBox 33"/>
          <p:cNvSpPr txBox="1"/>
          <p:nvPr/>
        </p:nvSpPr>
        <p:spPr>
          <a:xfrm>
            <a:off x="9505188" y="2596896"/>
            <a:ext cx="1417319" cy="384048"/>
          </a:xfrm>
          <a:prstGeom prst="rect">
            <a:avLst/>
          </a:prstGeom>
          <a:noFill/>
        </p:spPr>
        <p:txBody>
          <a:bodyPr wrap="square" anchor="t" lIns="0" rIns="0" tIns="0" bIns="0">
            <a:spAutoFit/>
          </a:bodyPr>
          <a:lstStyle/>
          <a:p>
            <a:pPr algn="l">
              <a:lnSpc>
                <a:spcPct val="98000"/>
              </a:lnSpc>
              <a:spcBef>
                <a:spcPts val="0"/>
              </a:spcBef>
              <a:spcAft>
                <a:spcPts val="200"/>
              </a:spcAft>
            </a:pPr>
            <a:r>
              <a:rPr sz="880" b="0" i="0">
                <a:solidFill>
                  <a:srgbClr val="6B777C"/>
                </a:solidFill>
                <a:latin typeface="Segoe UI"/>
              </a:rPr>
              <a:t>Power BI · Tableau</a:t>
            </a:r>
          </a:p>
        </p:txBody>
      </p:sp>
      <p:sp>
        <p:nvSpPr>
          <p:cNvPr id="35" name="Rounded Rectangle 34"/>
          <p:cNvSpPr/>
          <p:nvPr/>
        </p:nvSpPr>
        <p:spPr>
          <a:xfrm>
            <a:off x="9029700" y="3557015"/>
            <a:ext cx="2331720" cy="84124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9203436" y="3694176"/>
            <a:ext cx="566928" cy="5669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9442566" y="3933306"/>
            <a:ext cx="88667" cy="8866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8" name="Connector 37"/>
          <p:cNvCxnSpPr/>
          <p:nvPr/>
        </p:nvCxnSpPr>
        <p:spPr>
          <a:xfrm flipH="1" flipV="1">
            <a:off x="9377369" y="3899403"/>
            <a:ext cx="109531" cy="78236"/>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9348682" y="3870717"/>
            <a:ext cx="57373" cy="5737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0" name="Connector 39"/>
          <p:cNvCxnSpPr/>
          <p:nvPr/>
        </p:nvCxnSpPr>
        <p:spPr>
          <a:xfrm flipV="1">
            <a:off x="9486900" y="3899403"/>
            <a:ext cx="109530" cy="78236"/>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9567743" y="3870717"/>
            <a:ext cx="57373" cy="5737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2" name="Connector 41"/>
          <p:cNvCxnSpPr/>
          <p:nvPr/>
        </p:nvCxnSpPr>
        <p:spPr>
          <a:xfrm>
            <a:off x="9486900" y="3977639"/>
            <a:ext cx="0" cy="114747"/>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9458213" y="4063699"/>
            <a:ext cx="57373" cy="5737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870948" y="3648456"/>
            <a:ext cx="1417319" cy="310896"/>
          </a:xfrm>
          <a:prstGeom prst="rect">
            <a:avLst/>
          </a:prstGeom>
          <a:noFill/>
        </p:spPr>
        <p:txBody>
          <a:bodyPr wrap="square" anchor="t" lIns="0" rIns="0" tIns="0" bIns="0">
            <a:spAutoFit/>
          </a:bodyPr>
          <a:lstStyle/>
          <a:p>
            <a:pPr algn="l">
              <a:lnSpc>
                <a:spcPct val="100000"/>
              </a:lnSpc>
              <a:spcBef>
                <a:spcPts val="0"/>
              </a:spcBef>
              <a:spcAft>
                <a:spcPts val="200"/>
              </a:spcAft>
            </a:pPr>
            <a:r>
              <a:rPr sz="1180" b="1" i="0">
                <a:solidFill>
                  <a:srgbClr val="1B3139"/>
                </a:solidFill>
                <a:latin typeface="Segoe UI"/>
              </a:rPr>
              <a:t>ML &amp; AI</a:t>
            </a:r>
          </a:p>
        </p:txBody>
      </p:sp>
      <p:sp>
        <p:nvSpPr>
          <p:cNvPr id="45" name="TextBox 44"/>
          <p:cNvSpPr txBox="1"/>
          <p:nvPr/>
        </p:nvSpPr>
        <p:spPr>
          <a:xfrm>
            <a:off x="9870948" y="3968496"/>
            <a:ext cx="1417319" cy="384048"/>
          </a:xfrm>
          <a:prstGeom prst="rect">
            <a:avLst/>
          </a:prstGeom>
          <a:noFill/>
        </p:spPr>
        <p:txBody>
          <a:bodyPr wrap="square" anchor="t" lIns="0" rIns="0" tIns="0" bIns="0">
            <a:spAutoFit/>
          </a:bodyPr>
          <a:lstStyle/>
          <a:p>
            <a:pPr algn="l">
              <a:lnSpc>
                <a:spcPct val="98000"/>
              </a:lnSpc>
              <a:spcBef>
                <a:spcPts val="0"/>
              </a:spcBef>
              <a:spcAft>
                <a:spcPts val="200"/>
              </a:spcAft>
            </a:pPr>
            <a:r>
              <a:rPr sz="880" b="0" i="0">
                <a:solidFill>
                  <a:srgbClr val="6B777C"/>
                </a:solidFill>
                <a:latin typeface="Segoe UI"/>
              </a:rPr>
              <a:t>MLflow · HuggingFace</a:t>
            </a:r>
          </a:p>
        </p:txBody>
      </p:sp>
      <p:sp>
        <p:nvSpPr>
          <p:cNvPr id="46" name="Rounded Rectangle 45"/>
          <p:cNvSpPr/>
          <p:nvPr/>
        </p:nvSpPr>
        <p:spPr>
          <a:xfrm>
            <a:off x="8663940" y="4928616"/>
            <a:ext cx="2331720" cy="84124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8837676" y="506577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9032472" y="5336200"/>
            <a:ext cx="177335" cy="130393"/>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Block Arc 48"/>
          <p:cNvSpPr/>
          <p:nvPr/>
        </p:nvSpPr>
        <p:spPr>
          <a:xfrm>
            <a:off x="9058551" y="5218846"/>
            <a:ext cx="125177" cy="130393"/>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9505188" y="5020055"/>
            <a:ext cx="1417319" cy="310896"/>
          </a:xfrm>
          <a:prstGeom prst="rect">
            <a:avLst/>
          </a:prstGeom>
          <a:noFill/>
        </p:spPr>
        <p:txBody>
          <a:bodyPr wrap="square" anchor="t" lIns="0" rIns="0" tIns="0" bIns="0">
            <a:spAutoFit/>
          </a:bodyPr>
          <a:lstStyle/>
          <a:p>
            <a:pPr algn="l">
              <a:lnSpc>
                <a:spcPct val="100000"/>
              </a:lnSpc>
              <a:spcBef>
                <a:spcPts val="0"/>
              </a:spcBef>
              <a:spcAft>
                <a:spcPts val="200"/>
              </a:spcAft>
            </a:pPr>
            <a:r>
              <a:rPr sz="1180" b="1" i="0">
                <a:solidFill>
                  <a:srgbClr val="1B3139"/>
                </a:solidFill>
                <a:latin typeface="Segoe UI"/>
              </a:rPr>
              <a:t>Governance</a:t>
            </a:r>
          </a:p>
        </p:txBody>
      </p:sp>
      <p:sp>
        <p:nvSpPr>
          <p:cNvPr id="51" name="TextBox 50"/>
          <p:cNvSpPr txBox="1"/>
          <p:nvPr/>
        </p:nvSpPr>
        <p:spPr>
          <a:xfrm>
            <a:off x="9505188" y="5340096"/>
            <a:ext cx="1417319" cy="384048"/>
          </a:xfrm>
          <a:prstGeom prst="rect">
            <a:avLst/>
          </a:prstGeom>
          <a:noFill/>
        </p:spPr>
        <p:txBody>
          <a:bodyPr wrap="square" anchor="t" lIns="0" rIns="0" tIns="0" bIns="0">
            <a:spAutoFit/>
          </a:bodyPr>
          <a:lstStyle/>
          <a:p>
            <a:pPr algn="l">
              <a:lnSpc>
                <a:spcPct val="98000"/>
              </a:lnSpc>
              <a:spcBef>
                <a:spcPts val="0"/>
              </a:spcBef>
              <a:spcAft>
                <a:spcPts val="200"/>
              </a:spcAft>
            </a:pPr>
            <a:r>
              <a:rPr sz="880" b="0" i="0">
                <a:solidFill>
                  <a:srgbClr val="6B777C"/>
                </a:solidFill>
                <a:latin typeface="Segoe UI"/>
              </a:rPr>
              <a:t>Purview · Collibra</a:t>
            </a:r>
          </a:p>
        </p:txBody>
      </p:sp>
      <p:sp>
        <p:nvSpPr>
          <p:cNvPr id="52" name="Oval 51"/>
          <p:cNvSpPr/>
          <p:nvPr/>
        </p:nvSpPr>
        <p:spPr>
          <a:xfrm>
            <a:off x="5227167" y="3108959"/>
            <a:ext cx="1737360" cy="1737360"/>
          </a:xfrm>
          <a:prstGeom prst="ellipse">
            <a:avLst/>
          </a:prstGeom>
          <a:solidFill>
            <a:srgbClr val="FF3621"/>
          </a:solidFill>
          <a:ln w="3810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5346039" y="3227832"/>
            <a:ext cx="1499616" cy="1499616"/>
          </a:xfrm>
          <a:prstGeom prst="ellipse">
            <a:avLst/>
          </a:prstGeom>
          <a:noFill/>
          <a:ln w="17780">
            <a:solidFill>
              <a:srgbClr val="FF8A7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5227167" y="3593591"/>
            <a:ext cx="1737360" cy="822960"/>
          </a:xfrm>
          <a:prstGeom prst="rect">
            <a:avLst/>
          </a:prstGeom>
          <a:noFill/>
        </p:spPr>
        <p:txBody>
          <a:bodyPr wrap="square" anchor="ctr" lIns="0" rIns="0" tIns="0" bIns="0">
            <a:spAutoFit/>
          </a:bodyPr>
          <a:lstStyle/>
          <a:p>
            <a:pPr algn="ctr">
              <a:lnSpc>
                <a:spcPct val="95000"/>
              </a:lnSpc>
              <a:spcBef>
                <a:spcPts val="0"/>
              </a:spcBef>
              <a:spcAft>
                <a:spcPts val="200"/>
              </a:spcAft>
            </a:pPr>
            <a:r>
              <a:rPr sz="1500" b="1" i="0">
                <a:solidFill>
                  <a:srgbClr val="FFFFFF"/>
                </a:solidFill>
                <a:latin typeface="Segoe UI"/>
              </a:rPr>
              <a:t>Databricks
Lakehouse</a:t>
            </a:r>
          </a:p>
        </p:txBody>
      </p:sp>
      <p:sp>
        <p:nvSpPr>
          <p:cNvPr id="55" name="TextBox 54"/>
          <p:cNvSpPr txBox="1"/>
          <p:nvPr/>
        </p:nvSpPr>
        <p:spPr>
          <a:xfrm>
            <a:off x="4267047" y="3063240"/>
            <a:ext cx="3657600" cy="274320"/>
          </a:xfrm>
          <a:prstGeom prst="rect">
            <a:avLst/>
          </a:prstGeom>
          <a:noFill/>
        </p:spPr>
        <p:txBody>
          <a:bodyPr wrap="square" anchor="t" lIns="0" rIns="0" tIns="0" bIns="0">
            <a:spAutoFit/>
          </a:bodyPr>
          <a:lstStyle/>
          <a:p>
            <a:pPr algn="ctr">
              <a:lnSpc>
                <a:spcPct val="100000"/>
              </a:lnSpc>
              <a:spcBef>
                <a:spcPts val="0"/>
              </a:spcBef>
              <a:spcAft>
                <a:spcPts val="200"/>
              </a:spcAft>
            </a:pPr>
            <a:r>
              <a:rPr sz="1000" b="0" i="1">
                <a:solidFill>
                  <a:srgbClr val="9AA6AB"/>
                </a:solidFill>
                <a:latin typeface="Segoe UI"/>
              </a:rPr>
              <a:t>SQL · Python · Scala · R</a:t>
            </a:r>
          </a:p>
        </p:txBody>
      </p:sp>
      <p:sp>
        <p:nvSpPr>
          <p:cNvPr id="56" name="TextBox 5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7" name="TextBox 5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WRAP-UP</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Key Takeaways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28800"/>
            <a:ext cx="3472586" cy="25603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828800"/>
            <a:ext cx="3472586" cy="109728"/>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768095" y="2075688"/>
            <a:ext cx="603504" cy="603504"/>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Segoe UI Semibold"/>
              </a:rPr>
              <a:t>1</a:t>
            </a:r>
          </a:p>
        </p:txBody>
      </p:sp>
      <p:sp>
        <p:nvSpPr>
          <p:cNvPr id="10" name="TextBox 9"/>
          <p:cNvSpPr txBox="1"/>
          <p:nvPr/>
        </p:nvSpPr>
        <p:spPr>
          <a:xfrm>
            <a:off x="1527048" y="2103120"/>
            <a:ext cx="2375306" cy="548640"/>
          </a:xfrm>
          <a:prstGeom prst="rect">
            <a:avLst/>
          </a:prstGeom>
          <a:noFill/>
        </p:spPr>
        <p:txBody>
          <a:bodyPr wrap="square" anchor="ctr" lIns="0" rIns="0" tIns="0" bIns="0">
            <a:spAutoFit/>
          </a:bodyPr>
          <a:lstStyle/>
          <a:p>
            <a:pPr algn="l">
              <a:lnSpc>
                <a:spcPct val="95000"/>
              </a:lnSpc>
              <a:spcBef>
                <a:spcPts val="0"/>
              </a:spcBef>
              <a:spcAft>
                <a:spcPts val="200"/>
              </a:spcAft>
            </a:pPr>
            <a:r>
              <a:rPr sz="1350" b="1" i="0">
                <a:solidFill>
                  <a:srgbClr val="1B3139"/>
                </a:solidFill>
                <a:latin typeface="Segoe UI"/>
              </a:rPr>
              <a:t>Big Data Fundamentals</a:t>
            </a:r>
          </a:p>
        </p:txBody>
      </p:sp>
      <p:sp>
        <p:nvSpPr>
          <p:cNvPr id="11" name="TextBox 10"/>
          <p:cNvSpPr txBox="1"/>
          <p:nvPr/>
        </p:nvSpPr>
        <p:spPr>
          <a:xfrm>
            <a:off x="859536" y="2907792"/>
            <a:ext cx="2923946" cy="1371600"/>
          </a:xfrm>
          <a:prstGeom prst="rect">
            <a:avLst/>
          </a:prstGeom>
          <a:noFill/>
        </p:spPr>
        <p:txBody>
          <a:bodyPr wrap="square" anchor="t" lIns="0" rIns="0" tIns="0" bIns="0">
            <a:spAutoFit/>
          </a:bodyPr>
          <a:lstStyle/>
          <a:p>
            <a:pPr marL="274320" indent="-274320">
              <a:lnSpc>
                <a:spcPct val="112000"/>
              </a:lnSpc>
              <a:spcBef>
                <a:spcPts val="0"/>
              </a:spcBef>
              <a:spcAft>
                <a:spcPts val="900"/>
              </a:spcAft>
            </a:pPr>
            <a:r>
              <a:rPr sz="1130" b="1">
                <a:solidFill>
                  <a:srgbClr val="2272B4"/>
                </a:solidFill>
                <a:latin typeface="Segoe UI"/>
              </a:rPr>
              <a:t>▪   </a:t>
            </a:r>
            <a:r>
              <a:rPr sz="1130">
                <a:solidFill>
                  <a:srgbClr val="465257"/>
                </a:solidFill>
                <a:latin typeface="Segoe UI"/>
              </a:rPr>
              <a:t>Scale OUT, not up — distributed compute</a:t>
            </a:r>
          </a:p>
          <a:p>
            <a:pPr marL="274320" indent="-274320">
              <a:lnSpc>
                <a:spcPct val="112000"/>
              </a:lnSpc>
              <a:spcBef>
                <a:spcPts val="0"/>
              </a:spcBef>
              <a:spcAft>
                <a:spcPts val="900"/>
              </a:spcAft>
            </a:pPr>
            <a:r>
              <a:rPr sz="1130" b="1">
                <a:solidFill>
                  <a:srgbClr val="2272B4"/>
                </a:solidFill>
                <a:latin typeface="Segoe UI"/>
              </a:rPr>
              <a:t>▪   </a:t>
            </a:r>
            <a:r>
              <a:rPr sz="1130">
                <a:solidFill>
                  <a:srgbClr val="465257"/>
                </a:solidFill>
                <a:latin typeface="Segoe UI"/>
              </a:rPr>
              <a:t>The 5 V's define the problem space</a:t>
            </a:r>
          </a:p>
          <a:p>
            <a:pPr marL="274320" indent="-274320">
              <a:lnSpc>
                <a:spcPct val="112000"/>
              </a:lnSpc>
              <a:spcBef>
                <a:spcPts val="0"/>
              </a:spcBef>
              <a:spcAft>
                <a:spcPts val="900"/>
              </a:spcAft>
            </a:pPr>
            <a:r>
              <a:rPr sz="1130" b="1">
                <a:solidFill>
                  <a:srgbClr val="2272B4"/>
                </a:solidFill>
                <a:latin typeface="Segoe UI"/>
              </a:rPr>
              <a:t>▪   </a:t>
            </a:r>
            <a:r>
              <a:rPr sz="1130">
                <a:solidFill>
                  <a:srgbClr val="465257"/>
                </a:solidFill>
                <a:latin typeface="Segoe UI"/>
              </a:rPr>
              <a:t>Sources → ... → Visualization pipeline</a:t>
            </a:r>
          </a:p>
        </p:txBody>
      </p:sp>
      <p:sp>
        <p:nvSpPr>
          <p:cNvPr id="12" name="Rounded Rectangle 11"/>
          <p:cNvSpPr/>
          <p:nvPr/>
        </p:nvSpPr>
        <p:spPr>
          <a:xfrm>
            <a:off x="4359554" y="1828800"/>
            <a:ext cx="3472586" cy="25603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59554" y="1828800"/>
            <a:ext cx="3472586" cy="109728"/>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4560722" y="2075688"/>
            <a:ext cx="603504" cy="603504"/>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Segoe UI Semibold"/>
              </a:rPr>
              <a:t>2</a:t>
            </a:r>
          </a:p>
        </p:txBody>
      </p:sp>
      <p:sp>
        <p:nvSpPr>
          <p:cNvPr id="15" name="TextBox 14"/>
          <p:cNvSpPr txBox="1"/>
          <p:nvPr/>
        </p:nvSpPr>
        <p:spPr>
          <a:xfrm>
            <a:off x="5319674" y="2103120"/>
            <a:ext cx="2375306" cy="548640"/>
          </a:xfrm>
          <a:prstGeom prst="rect">
            <a:avLst/>
          </a:prstGeom>
          <a:noFill/>
        </p:spPr>
        <p:txBody>
          <a:bodyPr wrap="square" anchor="ctr" lIns="0" rIns="0" tIns="0" bIns="0">
            <a:spAutoFit/>
          </a:bodyPr>
          <a:lstStyle/>
          <a:p>
            <a:pPr algn="l">
              <a:lnSpc>
                <a:spcPct val="95000"/>
              </a:lnSpc>
              <a:spcBef>
                <a:spcPts val="0"/>
              </a:spcBef>
              <a:spcAft>
                <a:spcPts val="200"/>
              </a:spcAft>
            </a:pPr>
            <a:r>
              <a:rPr sz="1350" b="1" i="0">
                <a:solidFill>
                  <a:srgbClr val="1B3139"/>
                </a:solidFill>
                <a:latin typeface="Segoe UI"/>
              </a:rPr>
              <a:t>Databricks</a:t>
            </a:r>
          </a:p>
        </p:txBody>
      </p:sp>
      <p:sp>
        <p:nvSpPr>
          <p:cNvPr id="16" name="TextBox 15"/>
          <p:cNvSpPr txBox="1"/>
          <p:nvPr/>
        </p:nvSpPr>
        <p:spPr>
          <a:xfrm>
            <a:off x="4652162" y="2907792"/>
            <a:ext cx="2923946" cy="1371600"/>
          </a:xfrm>
          <a:prstGeom prst="rect">
            <a:avLst/>
          </a:prstGeom>
          <a:noFill/>
        </p:spPr>
        <p:txBody>
          <a:bodyPr wrap="square" anchor="t" lIns="0" rIns="0" tIns="0" bIns="0">
            <a:spAutoFit/>
          </a:bodyPr>
          <a:lstStyle/>
          <a:p>
            <a:pPr marL="274320" indent="-274320">
              <a:lnSpc>
                <a:spcPct val="112000"/>
              </a:lnSpc>
              <a:spcBef>
                <a:spcPts val="0"/>
              </a:spcBef>
              <a:spcAft>
                <a:spcPts val="900"/>
              </a:spcAft>
            </a:pPr>
            <a:r>
              <a:rPr sz="1130" b="1">
                <a:solidFill>
                  <a:srgbClr val="FF3621"/>
                </a:solidFill>
                <a:latin typeface="Segoe UI"/>
              </a:rPr>
              <a:t>▪   </a:t>
            </a:r>
            <a:r>
              <a:rPr sz="1130">
                <a:solidFill>
                  <a:srgbClr val="465257"/>
                </a:solidFill>
                <a:latin typeface="Segoe UI"/>
              </a:rPr>
              <a:t>Unified Lakehouse for data + AI</a:t>
            </a:r>
          </a:p>
          <a:p>
            <a:pPr marL="274320" indent="-274320">
              <a:lnSpc>
                <a:spcPct val="112000"/>
              </a:lnSpc>
              <a:spcBef>
                <a:spcPts val="0"/>
              </a:spcBef>
              <a:spcAft>
                <a:spcPts val="900"/>
              </a:spcAft>
            </a:pPr>
            <a:r>
              <a:rPr sz="1130" b="1">
                <a:solidFill>
                  <a:srgbClr val="FF3621"/>
                </a:solidFill>
                <a:latin typeface="Segoe UI"/>
              </a:rPr>
              <a:t>▪   </a:t>
            </a:r>
            <a:r>
              <a:rPr sz="1130">
                <a:solidFill>
                  <a:srgbClr val="465257"/>
                </a:solidFill>
                <a:latin typeface="Segoe UI"/>
              </a:rPr>
              <a:t>Warehouse reliability + lake openness</a:t>
            </a:r>
          </a:p>
          <a:p>
            <a:pPr marL="274320" indent="-274320">
              <a:lnSpc>
                <a:spcPct val="112000"/>
              </a:lnSpc>
              <a:spcBef>
                <a:spcPts val="0"/>
              </a:spcBef>
              <a:spcAft>
                <a:spcPts val="900"/>
              </a:spcAft>
            </a:pPr>
            <a:r>
              <a:rPr sz="1130" b="1">
                <a:solidFill>
                  <a:srgbClr val="FF3621"/>
                </a:solidFill>
                <a:latin typeface="Segoe UI"/>
              </a:rPr>
              <a:t>▪   </a:t>
            </a:r>
            <a:r>
              <a:rPr sz="1130">
                <a:solidFill>
                  <a:srgbClr val="465257"/>
                </a:solidFill>
                <a:latin typeface="Segoe UI"/>
              </a:rPr>
              <a:t>Spark, Delta, MLflow, Unity Catalog</a:t>
            </a:r>
          </a:p>
        </p:txBody>
      </p:sp>
      <p:sp>
        <p:nvSpPr>
          <p:cNvPr id="17" name="Rounded Rectangle 16"/>
          <p:cNvSpPr/>
          <p:nvPr/>
        </p:nvSpPr>
        <p:spPr>
          <a:xfrm>
            <a:off x="8152180" y="1828800"/>
            <a:ext cx="3472586" cy="25603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152180" y="1828800"/>
            <a:ext cx="3472586" cy="109728"/>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353348" y="2075688"/>
            <a:ext cx="603504" cy="603504"/>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Segoe UI Semibold"/>
              </a:rPr>
              <a:t>3</a:t>
            </a:r>
          </a:p>
        </p:txBody>
      </p:sp>
      <p:sp>
        <p:nvSpPr>
          <p:cNvPr id="20" name="TextBox 19"/>
          <p:cNvSpPr txBox="1"/>
          <p:nvPr/>
        </p:nvSpPr>
        <p:spPr>
          <a:xfrm>
            <a:off x="9112300" y="2103120"/>
            <a:ext cx="2375306" cy="548640"/>
          </a:xfrm>
          <a:prstGeom prst="rect">
            <a:avLst/>
          </a:prstGeom>
          <a:noFill/>
        </p:spPr>
        <p:txBody>
          <a:bodyPr wrap="square" anchor="ctr" lIns="0" rIns="0" tIns="0" bIns="0">
            <a:spAutoFit/>
          </a:bodyPr>
          <a:lstStyle/>
          <a:p>
            <a:pPr algn="l">
              <a:lnSpc>
                <a:spcPct val="95000"/>
              </a:lnSpc>
              <a:spcBef>
                <a:spcPts val="0"/>
              </a:spcBef>
              <a:spcAft>
                <a:spcPts val="200"/>
              </a:spcAft>
            </a:pPr>
            <a:r>
              <a:rPr sz="1350" b="1" i="0">
                <a:solidFill>
                  <a:srgbClr val="1B3139"/>
                </a:solidFill>
                <a:latin typeface="Segoe UI"/>
              </a:rPr>
              <a:t>Architecture</a:t>
            </a:r>
          </a:p>
        </p:txBody>
      </p:sp>
      <p:sp>
        <p:nvSpPr>
          <p:cNvPr id="21" name="TextBox 20"/>
          <p:cNvSpPr txBox="1"/>
          <p:nvPr/>
        </p:nvSpPr>
        <p:spPr>
          <a:xfrm>
            <a:off x="8444788" y="2907792"/>
            <a:ext cx="2923946" cy="1371600"/>
          </a:xfrm>
          <a:prstGeom prst="rect">
            <a:avLst/>
          </a:prstGeom>
          <a:noFill/>
        </p:spPr>
        <p:txBody>
          <a:bodyPr wrap="square" anchor="t" lIns="0" rIns="0" tIns="0" bIns="0">
            <a:spAutoFit/>
          </a:bodyPr>
          <a:lstStyle/>
          <a:p>
            <a:pPr marL="274320" indent="-274320">
              <a:lnSpc>
                <a:spcPct val="112000"/>
              </a:lnSpc>
              <a:spcBef>
                <a:spcPts val="0"/>
              </a:spcBef>
              <a:spcAft>
                <a:spcPts val="900"/>
              </a:spcAft>
            </a:pPr>
            <a:r>
              <a:rPr sz="1130" b="1">
                <a:solidFill>
                  <a:srgbClr val="00A972"/>
                </a:solidFill>
                <a:latin typeface="Segoe UI"/>
              </a:rPr>
              <a:t>▪   </a:t>
            </a:r>
            <a:r>
              <a:rPr sz="1130">
                <a:solidFill>
                  <a:srgbClr val="465257"/>
                </a:solidFill>
                <a:latin typeface="Segoe UI"/>
              </a:rPr>
              <a:t>Control plane vs. your compute plane</a:t>
            </a:r>
          </a:p>
          <a:p>
            <a:pPr marL="274320" indent="-274320">
              <a:lnSpc>
                <a:spcPct val="112000"/>
              </a:lnSpc>
              <a:spcBef>
                <a:spcPts val="0"/>
              </a:spcBef>
              <a:spcAft>
                <a:spcPts val="900"/>
              </a:spcAft>
            </a:pPr>
            <a:r>
              <a:rPr sz="1130" b="1">
                <a:solidFill>
                  <a:srgbClr val="00A972"/>
                </a:solidFill>
                <a:latin typeface="Segoe UI"/>
              </a:rPr>
              <a:t>▪   </a:t>
            </a:r>
            <a:r>
              <a:rPr sz="1130">
                <a:solidFill>
                  <a:srgbClr val="465257"/>
                </a:solidFill>
                <a:latin typeface="Segoe UI"/>
              </a:rPr>
              <a:t>Delta + Medallion = trusted data</a:t>
            </a:r>
          </a:p>
          <a:p>
            <a:pPr marL="274320" indent="-274320">
              <a:lnSpc>
                <a:spcPct val="112000"/>
              </a:lnSpc>
              <a:spcBef>
                <a:spcPts val="0"/>
              </a:spcBef>
              <a:spcAft>
                <a:spcPts val="900"/>
              </a:spcAft>
            </a:pPr>
            <a:r>
              <a:rPr sz="1130" b="1">
                <a:solidFill>
                  <a:srgbClr val="00A972"/>
                </a:solidFill>
                <a:latin typeface="Segoe UI"/>
              </a:rPr>
              <a:t>▪   </a:t>
            </a:r>
            <a:r>
              <a:rPr sz="1130">
                <a:solidFill>
                  <a:srgbClr val="465257"/>
                </a:solidFill>
                <a:latin typeface="Segoe UI"/>
              </a:rPr>
              <a:t>Unity Catalog governs end to end</a:t>
            </a:r>
          </a:p>
        </p:txBody>
      </p:sp>
      <p:sp>
        <p:nvSpPr>
          <p:cNvPr id="22" name="Rounded Rectangle 21"/>
          <p:cNvSpPr/>
          <p:nvPr/>
        </p:nvSpPr>
        <p:spPr>
          <a:xfrm>
            <a:off x="566928" y="4553712"/>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58952" y="4663440"/>
            <a:ext cx="530352" cy="530352"/>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5-Point Star 23"/>
          <p:cNvSpPr/>
          <p:nvPr/>
        </p:nvSpPr>
        <p:spPr>
          <a:xfrm>
            <a:off x="902147" y="4806635"/>
            <a:ext cx="243961" cy="243961"/>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435607" y="4553712"/>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The Lakehouse unifies all data, analytics &amp; AI on one open, governed platform.</a:t>
            </a:r>
          </a:p>
        </p:txBody>
      </p:sp>
      <p:sp>
        <p:nvSpPr>
          <p:cNvPr id="26" name="Rounded Rectangle 25"/>
          <p:cNvSpPr/>
          <p:nvPr/>
        </p:nvSpPr>
        <p:spPr>
          <a:xfrm>
            <a:off x="6233007" y="4553712"/>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425031" y="4663440"/>
            <a:ext cx="530352" cy="530352"/>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rot="2700000">
            <a:off x="6621898" y="4933495"/>
            <a:ext cx="73188" cy="3903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rot="18480000">
            <a:off x="6675569" y="4879823"/>
            <a:ext cx="141497" cy="3903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101687" y="4553712"/>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Your data stays in your cloud — Databricks manages the experience, you keep control.</a:t>
            </a:r>
          </a:p>
        </p:txBody>
      </p:sp>
      <p:sp>
        <p:nvSpPr>
          <p:cNvPr id="31" name="Rounded Rectangle 30"/>
          <p:cNvSpPr/>
          <p:nvPr/>
        </p:nvSpPr>
        <p:spPr>
          <a:xfrm>
            <a:off x="566928" y="5376672"/>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58952" y="5486400"/>
            <a:ext cx="530352" cy="530352"/>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Isosceles Triangle 32"/>
          <p:cNvSpPr/>
          <p:nvPr/>
        </p:nvSpPr>
        <p:spPr>
          <a:xfrm>
            <a:off x="902147" y="5641793"/>
            <a:ext cx="243961" cy="219565"/>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435607" y="5376672"/>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Delta Lake + the medallion pattern turn raw files into trusted tables.</a:t>
            </a:r>
          </a:p>
        </p:txBody>
      </p:sp>
      <p:sp>
        <p:nvSpPr>
          <p:cNvPr id="35" name="Rounded Rectangle 34"/>
          <p:cNvSpPr/>
          <p:nvPr/>
        </p:nvSpPr>
        <p:spPr>
          <a:xfrm>
            <a:off x="6233007" y="5376672"/>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6425031" y="5486400"/>
            <a:ext cx="530352" cy="530352"/>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6607260" y="5739377"/>
            <a:ext cx="165894" cy="12198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Block Arc 37"/>
          <p:cNvSpPr/>
          <p:nvPr/>
        </p:nvSpPr>
        <p:spPr>
          <a:xfrm>
            <a:off x="6631656" y="5629595"/>
            <a:ext cx="117101" cy="121980"/>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101687" y="5376672"/>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One governance model (Unity Catalog) secures every asset, every step.</a:t>
            </a:r>
          </a:p>
        </p:txBody>
      </p:sp>
      <p:sp>
        <p:nvSpPr>
          <p:cNvPr id="40" name="TextBox 39"/>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1" name="TextBox 40"/>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REINFORCE &amp; ASSESS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Knowledge Check &amp; Interview Questions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74519"/>
            <a:ext cx="5486400" cy="40690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874519"/>
            <a:ext cx="5486400" cy="548640"/>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rot="2700000">
            <a:off x="886236" y="2155423"/>
            <a:ext cx="98755" cy="5266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rot="18480000">
            <a:off x="958656" y="2083003"/>
            <a:ext cx="190926" cy="5266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344168" y="1874519"/>
            <a:ext cx="4572000" cy="548640"/>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FFFFFF"/>
                </a:solidFill>
                <a:latin typeface="Segoe UI Semibold"/>
              </a:rPr>
              <a:t>KNOWLEDGE CHECK</a:t>
            </a:r>
          </a:p>
        </p:txBody>
      </p:sp>
      <p:sp>
        <p:nvSpPr>
          <p:cNvPr id="12" name="TextBox 11"/>
          <p:cNvSpPr txBox="1"/>
          <p:nvPr/>
        </p:nvSpPr>
        <p:spPr>
          <a:xfrm>
            <a:off x="886968" y="2606040"/>
            <a:ext cx="4937760" cy="3200400"/>
          </a:xfrm>
          <a:prstGeom prst="rect">
            <a:avLst/>
          </a:prstGeom>
          <a:noFill/>
        </p:spPr>
        <p:txBody>
          <a:bodyPr wrap="square" anchor="t" lIns="0" rIns="0" tIns="0" bIns="0">
            <a:spAutoFit/>
          </a:bodyPr>
          <a:lstStyle/>
          <a:p>
            <a:pPr marL="274320" indent="-274320">
              <a:lnSpc>
                <a:spcPct val="112000"/>
              </a:lnSpc>
              <a:spcBef>
                <a:spcPts val="0"/>
              </a:spcBef>
              <a:spcAft>
                <a:spcPts val="1200"/>
              </a:spcAft>
            </a:pPr>
            <a:r>
              <a:rPr sz="1180" b="1">
                <a:solidFill>
                  <a:srgbClr val="2272B4"/>
                </a:solidFill>
                <a:latin typeface="Segoe UI"/>
              </a:rPr>
              <a:t>▪   </a:t>
            </a:r>
            <a:r>
              <a:rPr sz="1180">
                <a:solidFill>
                  <a:srgbClr val="465257"/>
                </a:solidFill>
                <a:latin typeface="Segoe UI"/>
              </a:rPr>
              <a:t>Q1.  Name the 5 V's of Big Data — which two decide success?</a:t>
            </a:r>
          </a:p>
          <a:p>
            <a:pPr marL="274320" indent="-274320">
              <a:lnSpc>
                <a:spcPct val="112000"/>
              </a:lnSpc>
              <a:spcBef>
                <a:spcPts val="0"/>
              </a:spcBef>
              <a:spcAft>
                <a:spcPts val="1200"/>
              </a:spcAft>
            </a:pPr>
            <a:r>
              <a:rPr sz="1180" b="1">
                <a:solidFill>
                  <a:srgbClr val="2272B4"/>
                </a:solidFill>
                <a:latin typeface="Segoe UI"/>
              </a:rPr>
              <a:t>▪   </a:t>
            </a:r>
            <a:r>
              <a:rPr sz="1180">
                <a:solidFill>
                  <a:srgbClr val="465257"/>
                </a:solidFill>
                <a:latin typeface="Segoe UI"/>
              </a:rPr>
              <a:t>Q2.  Scale UP vs scale OUT — which is Big Data, and why?</a:t>
            </a:r>
          </a:p>
          <a:p>
            <a:pPr marL="274320" indent="-274320">
              <a:lnSpc>
                <a:spcPct val="112000"/>
              </a:lnSpc>
              <a:spcBef>
                <a:spcPts val="0"/>
              </a:spcBef>
              <a:spcAft>
                <a:spcPts val="1200"/>
              </a:spcAft>
            </a:pPr>
            <a:r>
              <a:rPr sz="1180" b="1">
                <a:solidFill>
                  <a:srgbClr val="2272B4"/>
                </a:solidFill>
                <a:latin typeface="Segoe UI"/>
              </a:rPr>
              <a:t>▪   </a:t>
            </a:r>
            <a:r>
              <a:rPr sz="1180">
                <a:solidFill>
                  <a:srgbClr val="465257"/>
                </a:solidFill>
                <a:latin typeface="Segoe UI"/>
              </a:rPr>
              <a:t>Q3.  What does Delta Lake add on top of Parquet files?</a:t>
            </a:r>
          </a:p>
          <a:p>
            <a:pPr marL="274320" indent="-274320">
              <a:lnSpc>
                <a:spcPct val="112000"/>
              </a:lnSpc>
              <a:spcBef>
                <a:spcPts val="0"/>
              </a:spcBef>
              <a:spcAft>
                <a:spcPts val="1200"/>
              </a:spcAft>
            </a:pPr>
            <a:r>
              <a:rPr sz="1180" b="1">
                <a:solidFill>
                  <a:srgbClr val="2272B4"/>
                </a:solidFill>
                <a:latin typeface="Segoe UI"/>
              </a:rPr>
              <a:t>▪   </a:t>
            </a:r>
            <a:r>
              <a:rPr sz="1180">
                <a:solidFill>
                  <a:srgbClr val="465257"/>
                </a:solidFill>
                <a:latin typeface="Segoe UI"/>
              </a:rPr>
              <a:t>Q4.  Control plane vs compute plane — where does your data live?</a:t>
            </a:r>
          </a:p>
          <a:p>
            <a:pPr marL="274320" indent="-274320">
              <a:lnSpc>
                <a:spcPct val="112000"/>
              </a:lnSpc>
              <a:spcBef>
                <a:spcPts val="0"/>
              </a:spcBef>
              <a:spcAft>
                <a:spcPts val="1200"/>
              </a:spcAft>
            </a:pPr>
            <a:r>
              <a:rPr sz="1180" b="1">
                <a:solidFill>
                  <a:srgbClr val="2272B4"/>
                </a:solidFill>
                <a:latin typeface="Segoe UI"/>
              </a:rPr>
              <a:t>▪   </a:t>
            </a:r>
            <a:r>
              <a:rPr sz="1180">
                <a:solidFill>
                  <a:srgbClr val="465257"/>
                </a:solidFill>
                <a:latin typeface="Segoe UI"/>
              </a:rPr>
              <a:t>Q5.  List the three medallion layers in order.</a:t>
            </a:r>
          </a:p>
        </p:txBody>
      </p:sp>
      <p:sp>
        <p:nvSpPr>
          <p:cNvPr id="13" name="Rounded Rectangle 12"/>
          <p:cNvSpPr/>
          <p:nvPr/>
        </p:nvSpPr>
        <p:spPr>
          <a:xfrm>
            <a:off x="6355080" y="1874519"/>
            <a:ext cx="5269687" cy="406908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355080" y="1874519"/>
            <a:ext cx="5269687" cy="54864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5-Point Star 14"/>
          <p:cNvSpPr/>
          <p:nvPr/>
        </p:nvSpPr>
        <p:spPr>
          <a:xfrm>
            <a:off x="6601968" y="1984248"/>
            <a:ext cx="329184" cy="329184"/>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132320" y="1874519"/>
            <a:ext cx="4114800" cy="548640"/>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FFFFFF"/>
                </a:solidFill>
                <a:latin typeface="Segoe UI Semibold"/>
              </a:rPr>
              <a:t>COMMON INTERVIEW QUESTIONS</a:t>
            </a:r>
          </a:p>
        </p:txBody>
      </p:sp>
      <p:sp>
        <p:nvSpPr>
          <p:cNvPr id="17" name="TextBox 16"/>
          <p:cNvSpPr txBox="1"/>
          <p:nvPr/>
        </p:nvSpPr>
        <p:spPr>
          <a:xfrm>
            <a:off x="6675120" y="2606040"/>
            <a:ext cx="4629607" cy="3200400"/>
          </a:xfrm>
          <a:prstGeom prst="rect">
            <a:avLst/>
          </a:prstGeom>
          <a:noFill/>
        </p:spPr>
        <p:txBody>
          <a:bodyPr wrap="square" anchor="t" lIns="0" rIns="0" tIns="0" bIns="0">
            <a:spAutoFit/>
          </a:bodyPr>
          <a:lstStyle/>
          <a:p>
            <a:pPr marL="274320" indent="-274320">
              <a:lnSpc>
                <a:spcPct val="112000"/>
              </a:lnSpc>
              <a:spcBef>
                <a:spcPts val="0"/>
              </a:spcBef>
              <a:spcAft>
                <a:spcPts val="1100"/>
              </a:spcAft>
            </a:pPr>
            <a:r>
              <a:rPr sz="1150" b="1">
                <a:solidFill>
                  <a:srgbClr val="FF6B57"/>
                </a:solidFill>
                <a:latin typeface="Segoe UI"/>
              </a:rPr>
              <a:t>▪   </a:t>
            </a:r>
            <a:r>
              <a:rPr sz="1150">
                <a:solidFill>
                  <a:srgbClr val="D6DEE1"/>
                </a:solidFill>
                <a:latin typeface="Segoe UI"/>
              </a:rPr>
              <a:t>Explain the Lakehouse — how does it differ from a warehouse and a lake?</a:t>
            </a:r>
          </a:p>
          <a:p>
            <a:pPr marL="274320" indent="-274320">
              <a:lnSpc>
                <a:spcPct val="112000"/>
              </a:lnSpc>
              <a:spcBef>
                <a:spcPts val="0"/>
              </a:spcBef>
              <a:spcAft>
                <a:spcPts val="1100"/>
              </a:spcAft>
            </a:pPr>
            <a:r>
              <a:rPr sz="1150" b="1">
                <a:solidFill>
                  <a:srgbClr val="FF6B57"/>
                </a:solidFill>
                <a:latin typeface="Segoe UI"/>
              </a:rPr>
              <a:t>▪   </a:t>
            </a:r>
            <a:r>
              <a:rPr sz="1150">
                <a:solidFill>
                  <a:srgbClr val="D6DEE1"/>
                </a:solidFill>
                <a:latin typeface="Segoe UI"/>
              </a:rPr>
              <a:t>How does Spark execute a job? (driver, executors, partitions)</a:t>
            </a:r>
          </a:p>
          <a:p>
            <a:pPr marL="274320" indent="-274320">
              <a:lnSpc>
                <a:spcPct val="112000"/>
              </a:lnSpc>
              <a:spcBef>
                <a:spcPts val="0"/>
              </a:spcBef>
              <a:spcAft>
                <a:spcPts val="1100"/>
              </a:spcAft>
            </a:pPr>
            <a:r>
              <a:rPr sz="1150" b="1">
                <a:solidFill>
                  <a:srgbClr val="FF6B57"/>
                </a:solidFill>
                <a:latin typeface="Segoe UI"/>
              </a:rPr>
              <a:t>▪   </a:t>
            </a:r>
            <a:r>
              <a:rPr sz="1150">
                <a:solidFill>
                  <a:srgbClr val="D6DEE1"/>
                </a:solidFill>
                <a:latin typeface="Segoe UI"/>
              </a:rPr>
              <a:t>What problems does Unity Catalog solve?</a:t>
            </a:r>
          </a:p>
          <a:p>
            <a:pPr marL="274320" indent="-274320">
              <a:lnSpc>
                <a:spcPct val="112000"/>
              </a:lnSpc>
              <a:spcBef>
                <a:spcPts val="0"/>
              </a:spcBef>
              <a:spcAft>
                <a:spcPts val="1100"/>
              </a:spcAft>
            </a:pPr>
            <a:r>
              <a:rPr sz="1150" b="1">
                <a:solidFill>
                  <a:srgbClr val="FF6B57"/>
                </a:solidFill>
                <a:latin typeface="Segoe UI"/>
              </a:rPr>
              <a:t>▪   </a:t>
            </a:r>
            <a:r>
              <a:rPr sz="1150">
                <a:solidFill>
                  <a:srgbClr val="D6DEE1"/>
                </a:solidFill>
                <a:latin typeface="Segoe UI"/>
              </a:rPr>
              <a:t>Describe ACID &amp; time travel in Delta Lake.</a:t>
            </a:r>
          </a:p>
          <a:p>
            <a:pPr marL="274320" indent="-274320">
              <a:lnSpc>
                <a:spcPct val="112000"/>
              </a:lnSpc>
              <a:spcBef>
                <a:spcPts val="0"/>
              </a:spcBef>
              <a:spcAft>
                <a:spcPts val="1100"/>
              </a:spcAft>
            </a:pPr>
            <a:r>
              <a:rPr sz="1150" b="1">
                <a:solidFill>
                  <a:srgbClr val="FF6B57"/>
                </a:solidFill>
                <a:latin typeface="Segoe UI"/>
              </a:rPr>
              <a:t>▪   </a:t>
            </a:r>
            <a:r>
              <a:rPr sz="1150">
                <a:solidFill>
                  <a:srgbClr val="D6DEE1"/>
                </a:solidFill>
                <a:latin typeface="Segoe UI"/>
              </a:rPr>
              <a:t>When would you use job vs all-purpose vs serverless clusters?</a:t>
            </a:r>
          </a:p>
        </p:txBody>
      </p:sp>
      <p:sp>
        <p:nvSpPr>
          <p:cNvPr id="18" name="TextBox 17"/>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19" name="TextBox 18"/>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2011680"/>
            <a:ext cx="82296" cy="137160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7" y="1920240"/>
            <a:ext cx="9144000" cy="1005840"/>
          </a:xfrm>
          <a:prstGeom prst="rect">
            <a:avLst/>
          </a:prstGeom>
          <a:noFill/>
        </p:spPr>
        <p:txBody>
          <a:bodyPr wrap="square" anchor="t" lIns="0" rIns="0" tIns="0" bIns="0">
            <a:spAutoFit/>
          </a:bodyPr>
          <a:lstStyle/>
          <a:p>
            <a:pPr algn="l">
              <a:lnSpc>
                <a:spcPct val="100000"/>
              </a:lnSpc>
              <a:spcBef>
                <a:spcPts val="0"/>
              </a:spcBef>
              <a:spcAft>
                <a:spcPts val="200"/>
              </a:spcAft>
            </a:pPr>
            <a:r>
              <a:rPr sz="5400" b="1" i="0">
                <a:solidFill>
                  <a:srgbClr val="FFFFFF"/>
                </a:solidFill>
                <a:latin typeface="Segoe UI"/>
              </a:rPr>
              <a:t>Thank You</a:t>
            </a:r>
          </a:p>
        </p:txBody>
      </p:sp>
      <p:sp>
        <p:nvSpPr>
          <p:cNvPr id="10" name="TextBox 9"/>
          <p:cNvSpPr txBox="1"/>
          <p:nvPr/>
        </p:nvSpPr>
        <p:spPr>
          <a:xfrm>
            <a:off x="859536" y="3017520"/>
            <a:ext cx="9601200" cy="548640"/>
          </a:xfrm>
          <a:prstGeom prst="rect">
            <a:avLst/>
          </a:prstGeom>
          <a:noFill/>
        </p:spPr>
        <p:txBody>
          <a:bodyPr wrap="square" anchor="t" lIns="0" rIns="0" tIns="0" bIns="0">
            <a:spAutoFit/>
          </a:bodyPr>
          <a:lstStyle/>
          <a:p>
            <a:pPr algn="l">
              <a:lnSpc>
                <a:spcPct val="120000"/>
              </a:lnSpc>
              <a:spcBef>
                <a:spcPts val="0"/>
              </a:spcBef>
              <a:spcAft>
                <a:spcPts val="200"/>
              </a:spcAft>
            </a:pPr>
            <a:r>
              <a:rPr sz="1500" b="0" i="0">
                <a:solidFill>
                  <a:srgbClr val="C4D0D4"/>
                </a:solidFill>
                <a:latin typeface="Segoe UI"/>
              </a:rPr>
              <a:t>You now have the full picture — from Big Data fundamentals to the Databricks Lakehouse architecture.</a:t>
            </a:r>
          </a:p>
        </p:txBody>
      </p:sp>
      <p:sp>
        <p:nvSpPr>
          <p:cNvPr id="11" name="TextBox 10"/>
          <p:cNvSpPr txBox="1"/>
          <p:nvPr/>
        </p:nvSpPr>
        <p:spPr>
          <a:xfrm>
            <a:off x="859536" y="3886200"/>
            <a:ext cx="7315200"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6B57"/>
                </a:solidFill>
                <a:latin typeface="Segoe UI Semibold"/>
              </a:rPr>
              <a:t>KEEP LEARNING</a:t>
            </a:r>
          </a:p>
        </p:txBody>
      </p:sp>
      <p:sp>
        <p:nvSpPr>
          <p:cNvPr id="12" name="Rounded Rectangle 11"/>
          <p:cNvSpPr/>
          <p:nvPr/>
        </p:nvSpPr>
        <p:spPr>
          <a:xfrm>
            <a:off x="859536" y="4224528"/>
            <a:ext cx="2116836"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docs.databricks.com</a:t>
            </a:r>
          </a:p>
        </p:txBody>
      </p:sp>
      <p:sp>
        <p:nvSpPr>
          <p:cNvPr id="13" name="Rounded Rectangle 12"/>
          <p:cNvSpPr/>
          <p:nvPr/>
        </p:nvSpPr>
        <p:spPr>
          <a:xfrm>
            <a:off x="3177540" y="4224528"/>
            <a:ext cx="2020824"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Databricks Academy</a:t>
            </a:r>
          </a:p>
        </p:txBody>
      </p:sp>
      <p:sp>
        <p:nvSpPr>
          <p:cNvPr id="14" name="Rounded Rectangle 13"/>
          <p:cNvSpPr/>
          <p:nvPr/>
        </p:nvSpPr>
        <p:spPr>
          <a:xfrm>
            <a:off x="5399532" y="4224528"/>
            <a:ext cx="2404872"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Free Community Edition</a:t>
            </a:r>
          </a:p>
        </p:txBody>
      </p:sp>
      <p:sp>
        <p:nvSpPr>
          <p:cNvPr id="15" name="Rounded Rectangle 14"/>
          <p:cNvSpPr/>
          <p:nvPr/>
        </p:nvSpPr>
        <p:spPr>
          <a:xfrm>
            <a:off x="8005572" y="4224528"/>
            <a:ext cx="2500884"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Delta Lake &amp; Spark docs</a:t>
            </a:r>
          </a:p>
        </p:txBody>
      </p:sp>
      <p:sp>
        <p:nvSpPr>
          <p:cNvPr id="16" name="Oval 15"/>
          <p:cNvSpPr/>
          <p:nvPr/>
        </p:nvSpPr>
        <p:spPr>
          <a:xfrm>
            <a:off x="868679" y="4992624"/>
            <a:ext cx="713232" cy="713232"/>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Can 16"/>
          <p:cNvSpPr/>
          <p:nvPr/>
        </p:nvSpPr>
        <p:spPr>
          <a:xfrm>
            <a:off x="1090780" y="5185196"/>
            <a:ext cx="269031" cy="328086"/>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6809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Big Data</a:t>
            </a:r>
          </a:p>
        </p:txBody>
      </p:sp>
      <p:sp>
        <p:nvSpPr>
          <p:cNvPr id="19" name="Oval 18"/>
          <p:cNvSpPr/>
          <p:nvPr/>
        </p:nvSpPr>
        <p:spPr>
          <a:xfrm>
            <a:off x="1920239" y="4992624"/>
            <a:ext cx="713232" cy="713232"/>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Isosceles Triangle 19"/>
          <p:cNvSpPr/>
          <p:nvPr/>
        </p:nvSpPr>
        <p:spPr>
          <a:xfrm>
            <a:off x="2112812" y="5201600"/>
            <a:ext cx="328086" cy="295278"/>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819655"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Lakehouse</a:t>
            </a:r>
          </a:p>
        </p:txBody>
      </p:sp>
      <p:sp>
        <p:nvSpPr>
          <p:cNvPr id="22" name="Oval 21"/>
          <p:cNvSpPr/>
          <p:nvPr/>
        </p:nvSpPr>
        <p:spPr>
          <a:xfrm>
            <a:off x="2971799" y="4992624"/>
            <a:ext cx="713232" cy="713232"/>
          </a:xfrm>
          <a:prstGeom prst="ellipse">
            <a:avLst/>
          </a:prstGeom>
          <a:solidFill>
            <a:srgbClr val="F59E0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Lightning Bolt 22"/>
          <p:cNvSpPr/>
          <p:nvPr/>
        </p:nvSpPr>
        <p:spPr>
          <a:xfrm>
            <a:off x="3213585" y="5185196"/>
            <a:ext cx="229660" cy="328086"/>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871215"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Spark</a:t>
            </a:r>
          </a:p>
        </p:txBody>
      </p:sp>
      <p:sp>
        <p:nvSpPr>
          <p:cNvPr id="25" name="Oval 24"/>
          <p:cNvSpPr/>
          <p:nvPr/>
        </p:nvSpPr>
        <p:spPr>
          <a:xfrm>
            <a:off x="4023360" y="4992624"/>
            <a:ext cx="713232" cy="713232"/>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rot="2700000">
            <a:off x="4288111" y="5355801"/>
            <a:ext cx="98426" cy="5249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rot="18480000">
            <a:off x="4360290" y="5283622"/>
            <a:ext cx="190290" cy="5249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92277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Delta</a:t>
            </a:r>
          </a:p>
        </p:txBody>
      </p:sp>
      <p:sp>
        <p:nvSpPr>
          <p:cNvPr id="29" name="Oval 28"/>
          <p:cNvSpPr/>
          <p:nvPr/>
        </p:nvSpPr>
        <p:spPr>
          <a:xfrm>
            <a:off x="5074920" y="4992624"/>
            <a:ext cx="713232" cy="713232"/>
          </a:xfrm>
          <a:prstGeom prst="ellipse">
            <a:avLst/>
          </a:prstGeom>
          <a:solidFill>
            <a:srgbClr val="D8A32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Diamond 29"/>
          <p:cNvSpPr/>
          <p:nvPr/>
        </p:nvSpPr>
        <p:spPr>
          <a:xfrm>
            <a:off x="5280616" y="5185196"/>
            <a:ext cx="301839" cy="328086"/>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97433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Medallion</a:t>
            </a:r>
          </a:p>
        </p:txBody>
      </p:sp>
      <p:sp>
        <p:nvSpPr>
          <p:cNvPr id="32" name="Oval 31"/>
          <p:cNvSpPr/>
          <p:nvPr/>
        </p:nvSpPr>
        <p:spPr>
          <a:xfrm>
            <a:off x="6126480" y="4992624"/>
            <a:ext cx="713232" cy="713232"/>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6371546" y="5332835"/>
            <a:ext cx="223098" cy="164043"/>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Block Arc 33"/>
          <p:cNvSpPr/>
          <p:nvPr/>
        </p:nvSpPr>
        <p:spPr>
          <a:xfrm>
            <a:off x="6404355" y="5185196"/>
            <a:ext cx="157481" cy="164043"/>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02589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Unity Catalog</a:t>
            </a:r>
          </a:p>
        </p:txBody>
      </p:sp>
      <p:sp>
        <p:nvSpPr>
          <p:cNvPr id="36" name="TextBox 35"/>
          <p:cNvSpPr txBox="1"/>
          <p:nvPr/>
        </p:nvSpPr>
        <p:spPr>
          <a:xfrm>
            <a:off x="7955279" y="5989320"/>
            <a:ext cx="3669487" cy="274320"/>
          </a:xfrm>
          <a:prstGeom prst="rect">
            <a:avLst/>
          </a:prstGeom>
          <a:noFill/>
        </p:spPr>
        <p:txBody>
          <a:bodyPr wrap="square" anchor="t" lIns="0" rIns="0" tIns="0" bIns="0">
            <a:spAutoFit/>
          </a:bodyPr>
          <a:lstStyle/>
          <a:p>
            <a:pPr algn="r">
              <a:lnSpc>
                <a:spcPct val="100000"/>
              </a:lnSpc>
              <a:spcBef>
                <a:spcPts val="0"/>
              </a:spcBef>
              <a:spcAft>
                <a:spcPts val="200"/>
              </a:spcAft>
            </a:pPr>
            <a:r>
              <a:rPr sz="1200" b="0" i="1">
                <a:solidFill>
                  <a:srgbClr val="9AA6AB"/>
                </a:solidFill>
                <a:latin typeface="Segoe UI"/>
              </a:rPr>
              <a:t>Questions &amp;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&amp; Databricks — From Fundamentals to the Lakehouse</dc:title>
  <dc:subject>Big Data Fundamentals · Introduction to Databricks · Databricks Architecture</dc:subject>
  <dc:creator>Enterprise Data Platform Training Series</dc:creator>
  <cp:keywords>Databricks, Lakehouse, Delta Lake, Apache Spark, Big Data, Unity Catalog</cp:keywords>
  <dc:description>generated using python-pptx</dc:description>
  <cp:lastModifiedBy>Steve Canny</cp:lastModifiedBy>
  <cp:revision>1</cp:revision>
  <dcterms:created xsi:type="dcterms:W3CDTF">2013-01-27T09:14:16Z</dcterms:created>
  <dcterms:modified xsi:type="dcterms:W3CDTF">2013-01-27T09:15:58Z</dcterms:modified>
  <cp:category>Technical Training</cp:category>
</cp:coreProperties>
</file>